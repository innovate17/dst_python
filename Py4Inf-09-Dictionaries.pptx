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 id="2147483704" r:id="rId2"/>
    <p:sldMasterId id="2147483705" r:id="rId3"/>
    <p:sldMasterId id="2147483706" r:id="rId4"/>
  </p:sldMasterIdLst>
  <p:notesMasterIdLst>
    <p:notesMasterId r:id="rId34"/>
  </p:notesMasterIdLst>
  <p:sldIdLst>
    <p:sldId id="256" r:id="rId5"/>
    <p:sldId id="257" r:id="rId6"/>
    <p:sldId id="258" r:id="rId7"/>
    <p:sldId id="259" r:id="rId8"/>
    <p:sldId id="260" r:id="rId9"/>
    <p:sldId id="262" r:id="rId10"/>
    <p:sldId id="263" r:id="rId11"/>
    <p:sldId id="264" r:id="rId12"/>
    <p:sldId id="265" r:id="rId13"/>
    <p:sldId id="267"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6256000" cy="9144000"/>
  <p:notesSz cx="6858000" cy="9144000"/>
  <p:embeddedFontLst>
    <p:embeddedFont>
      <p:font typeface="Cabin" charset="0"/>
      <p:regular r:id="rId35"/>
      <p:bold r:id="rId36"/>
      <p:italic r:id="rId37"/>
      <p:boldItalic r:id="rId38"/>
    </p:embeddedFont>
  </p:embeddedFontLst>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1" d="100"/>
          <a:sy n="51" d="100"/>
        </p:scale>
        <p:origin x="-786" y="-108"/>
      </p:cViewPr>
      <p:guideLst>
        <p:guide orient="horz" pos="2880"/>
        <p:guide pos="51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rnd" cmpd="sng">
            <a:solidFill>
              <a:srgbClr val="000000"/>
            </a:solidFill>
            <a:prstDash val="solid"/>
            <a:miter/>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Tree>
    <p:extLst>
      <p:ext uri="{BB962C8B-B14F-4D97-AF65-F5344CB8AC3E}">
        <p14:creationId xmlns:p14="http://schemas.microsoft.com/office/powerpoint/2010/main" val="1782781284"/>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Shape 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lang="en-US" dirty="0">
              <a:solidFill>
                <a:schemeClr val="dk2"/>
              </a:solidFill>
            </a:endParaRPr>
          </a:p>
        </p:txBody>
      </p:sp>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Shape 9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97" name="Shape 9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Shape 10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4" name="Shape 10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15" name="Shape 11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Shape 16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66" name="Shape 1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Shape 18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81" name="Shape 1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Shape 18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89" name="Shape 1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Shape 21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11" name="Shape 21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Shape 21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18" name="Shape 21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Shape 24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42" name="Shape 24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Shape 2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47" name="Shape 24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Shape 26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65" name="Shape 26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Shape 29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94" name="Shape 29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Shape 3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01" name="Shape 3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Shape 30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09" name="Shape 30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Shape 31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19" name="Shape 31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Shape 3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29" name="Shape 32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Shape 33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37" name="Shape 33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Shape 34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44" name="Shape 34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50" name="Shape 35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Shape 35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57" name="Shape 35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Shape 36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65" name="Shape 36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Shape 37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72" name="Shape 37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Shape 37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79" name="Shape 37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88" name="Shape 38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Shape 40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03" name="Shape 4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Shape 40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10" name="Shape 41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Shape 45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55" name="Shape 45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Shape 6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9" name="Shape 64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
        <p:cNvGrpSpPr/>
        <p:nvPr/>
      </p:nvGrpSpPr>
      <p:grpSpPr>
        <a:xfrm>
          <a:off x="0" y="0"/>
          <a:ext cx="0" cy="0"/>
          <a:chOff x="0" y="0"/>
          <a:chExt cx="0" cy="0"/>
        </a:xfrm>
      </p:grpSpPr>
      <p:sp>
        <p:nvSpPr>
          <p:cNvPr id="8" name="Shape 8"/>
          <p:cNvSpPr txBox="1">
            <a:spLocks noGrp="1"/>
          </p:cNvSpPr>
          <p:nvPr>
            <p:ph type="title"/>
          </p:nvPr>
        </p:nvSpPr>
        <p:spPr>
          <a:xfrm rot="5400000">
            <a:off x="11231562" y="1909762"/>
            <a:ext cx="4229100" cy="3482975"/>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9" name="Shape 9"/>
          <p:cNvSpPr txBox="1">
            <a:spLocks noGrp="1"/>
          </p:cNvSpPr>
          <p:nvPr>
            <p:ph type="body" idx="1"/>
          </p:nvPr>
        </p:nvSpPr>
        <p:spPr>
          <a:xfrm rot="5400000">
            <a:off x="4189412" y="-1497012"/>
            <a:ext cx="4229100" cy="10296524"/>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2" name="Shape 12"/>
          <p:cNvSpPr txBox="1">
            <a:spLocks noGrp="1"/>
          </p:cNvSpPr>
          <p:nvPr>
            <p:ph type="body" idx="1"/>
          </p:nvPr>
        </p:nvSpPr>
        <p:spPr>
          <a:xfrm rot="5400000">
            <a:off x="7594599" y="-1727200"/>
            <a:ext cx="1054100" cy="139319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5" name="Shape 15"/>
          <p:cNvSpPr>
            <a:spLocks noGrp="1"/>
          </p:cNvSpPr>
          <p:nvPr>
            <p:ph type="pic" idx="2"/>
          </p:nvPr>
        </p:nvSpPr>
        <p:spPr>
          <a:xfrm>
            <a:off x="3186113" y="817562"/>
            <a:ext cx="9753599" cy="5486399"/>
          </a:xfrm>
          <a:prstGeom prst="rect">
            <a:avLst/>
          </a:prstGeom>
          <a:noFill/>
          <a:ln>
            <a:noFill/>
          </a:ln>
        </p:spPr>
      </p:sp>
      <p:sp>
        <p:nvSpPr>
          <p:cNvPr id="16" name="Shape 16"/>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9" name="Shape 19"/>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0" name="Shape 20"/>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812800" y="366712"/>
            <a:ext cx="14630400" cy="1524000"/>
          </a:xfrm>
          <a:prstGeom prst="rect">
            <a:avLst/>
          </a:prstGeom>
          <a:noFill/>
          <a:ln>
            <a:noFill/>
          </a:ln>
        </p:spPr>
        <p:txBody>
          <a:bodyPr lIns="91425" tIns="91425" rIns="91425" bIns="91425" anchor="b"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6" name="Shape 26"/>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7" name="Shape 27"/>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8" name="Shape 28"/>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9" name="Shape 29"/>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2" name="Shape 32"/>
          <p:cNvSpPr txBox="1">
            <a:spLocks noGrp="1"/>
          </p:cNvSpPr>
          <p:nvPr>
            <p:ph type="body" idx="1"/>
          </p:nvPr>
        </p:nvSpPr>
        <p:spPr>
          <a:xfrm>
            <a:off x="115570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3" name="Shape 33"/>
          <p:cNvSpPr txBox="1">
            <a:spLocks noGrp="1"/>
          </p:cNvSpPr>
          <p:nvPr>
            <p:ph type="body" idx="2"/>
          </p:nvPr>
        </p:nvSpPr>
        <p:spPr>
          <a:xfrm>
            <a:off x="819785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34"/>
        <p:cNvGrpSpPr/>
        <p:nvPr/>
      </p:nvGrpSpPr>
      <p:grpSpPr>
        <a:xfrm>
          <a:off x="0" y="0"/>
          <a:ext cx="0" cy="0"/>
          <a:chOff x="0" y="0"/>
          <a:chExt cx="0" cy="0"/>
        </a:xfrm>
      </p:grpSpPr>
      <p:sp>
        <p:nvSpPr>
          <p:cNvPr id="35" name="Shape 35"/>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6" name="Shape 36"/>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9" name="Shape 39"/>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0"/>
        <p:cNvGrpSpPr/>
        <p:nvPr/>
      </p:nvGrpSpPr>
      <p:grpSpPr>
        <a:xfrm>
          <a:off x="0" y="0"/>
          <a:ext cx="0" cy="0"/>
          <a:chOff x="0" y="0"/>
          <a:chExt cx="0" cy="0"/>
        </a:xfrm>
      </p:grpSpPr>
      <p:sp>
        <p:nvSpPr>
          <p:cNvPr id="41" name="Shape 41"/>
          <p:cNvSpPr txBox="1">
            <a:spLocks noGrp="1"/>
          </p:cNvSpPr>
          <p:nvPr>
            <p:ph type="ctrTitle"/>
          </p:nvPr>
        </p:nvSpPr>
        <p:spPr>
          <a:xfrm>
            <a:off x="1219200" y="2840038"/>
            <a:ext cx="13817599" cy="1960561"/>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2" name="Shape 42"/>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0"/>
              </a:spcBef>
              <a:spcAft>
                <a:spcPts val="0"/>
              </a:spcAft>
              <a:buClr>
                <a:schemeClr val="lt1"/>
              </a:buClr>
              <a:buFont typeface="Cabin"/>
              <a:buNone/>
              <a:defRPr/>
            </a:lvl1pPr>
            <a:lvl2pPr marL="457200" marR="0" indent="0" algn="ctr" rtl="0">
              <a:spcBef>
                <a:spcPts val="0"/>
              </a:spcBef>
              <a:spcAft>
                <a:spcPts val="0"/>
              </a:spcAft>
              <a:buClr>
                <a:schemeClr val="lt1"/>
              </a:buClr>
              <a:buFont typeface="Cabin"/>
              <a:buNone/>
              <a:defRPr/>
            </a:lvl2pPr>
            <a:lvl3pPr marL="914400" marR="0" indent="0" algn="ctr" rtl="0">
              <a:spcBef>
                <a:spcPts val="0"/>
              </a:spcBef>
              <a:spcAft>
                <a:spcPts val="0"/>
              </a:spcAft>
              <a:buClr>
                <a:schemeClr val="lt1"/>
              </a:buClr>
              <a:buFont typeface="Cabin"/>
              <a:buNone/>
              <a:defRPr/>
            </a:lvl3pPr>
            <a:lvl4pPr marL="1371600" marR="0" indent="0" algn="ctr" rtl="0">
              <a:spcBef>
                <a:spcPts val="0"/>
              </a:spcBef>
              <a:spcAft>
                <a:spcPts val="0"/>
              </a:spcAft>
              <a:buClr>
                <a:schemeClr val="lt1"/>
              </a:buClr>
              <a:buFont typeface="Cabin"/>
              <a:buNone/>
              <a:defRPr/>
            </a:lvl4pPr>
            <a:lvl5pPr marL="1828800" marR="0" indent="0" algn="ctr" rtl="0">
              <a:spcBef>
                <a:spcPts val="0"/>
              </a:spcBef>
              <a:spcAft>
                <a:spcPts val="0"/>
              </a:spcAft>
              <a:buClr>
                <a:schemeClr val="lt1"/>
              </a:buClr>
              <a:buFont typeface="Cabin"/>
              <a:buNone/>
              <a:defRPr/>
            </a:lvl5pPr>
            <a:lvl6pPr marL="2286000" marR="0" indent="0" algn="ctr" rtl="0">
              <a:spcBef>
                <a:spcPts val="0"/>
              </a:spcBef>
              <a:spcAft>
                <a:spcPts val="0"/>
              </a:spcAft>
              <a:buClr>
                <a:schemeClr val="lt1"/>
              </a:buClr>
              <a:buFont typeface="Cabin"/>
              <a:buNone/>
              <a:defRPr/>
            </a:lvl6pPr>
            <a:lvl7pPr marL="2743200" marR="0" indent="0" algn="ctr" rtl="0">
              <a:spcBef>
                <a:spcPts val="0"/>
              </a:spcBef>
              <a:spcAft>
                <a:spcPts val="0"/>
              </a:spcAft>
              <a:buClr>
                <a:schemeClr val="lt1"/>
              </a:buClr>
              <a:buFont typeface="Cabin"/>
              <a:buNone/>
              <a:defRPr/>
            </a:lvl7pPr>
            <a:lvl8pPr marL="3200400" marR="0" indent="0" algn="ctr" rtl="0">
              <a:spcBef>
                <a:spcPts val="0"/>
              </a:spcBef>
              <a:spcAft>
                <a:spcPts val="0"/>
              </a:spcAft>
              <a:buClr>
                <a:schemeClr val="lt1"/>
              </a:buClr>
              <a:buFont typeface="Cabin"/>
              <a:buNone/>
              <a:defRPr/>
            </a:lvl8pPr>
            <a:lvl9pPr marL="3657600" marR="0" indent="0" algn="ctr" rtl="0">
              <a:spcBef>
                <a:spcPts val="0"/>
              </a:spcBef>
              <a:spcAft>
                <a:spcPts val="0"/>
              </a:spcAft>
              <a:buClr>
                <a:schemeClr val="lt1"/>
              </a:buClr>
              <a:buFont typeface="Cabin"/>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rot="5400000">
            <a:off x="9313862" y="2532062"/>
            <a:ext cx="8064499" cy="3482975"/>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57" name="Shape 57"/>
          <p:cNvSpPr txBox="1">
            <a:spLocks noGrp="1"/>
          </p:cNvSpPr>
          <p:nvPr>
            <p:ph type="body" idx="1"/>
          </p:nvPr>
        </p:nvSpPr>
        <p:spPr>
          <a:xfrm rot="5400000">
            <a:off x="2271712" y="-874712"/>
            <a:ext cx="8064499" cy="10296524"/>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0" name="Shape 60"/>
          <p:cNvSpPr txBox="1">
            <a:spLocks noGrp="1"/>
          </p:cNvSpPr>
          <p:nvPr>
            <p:ph type="body" idx="1"/>
          </p:nvPr>
        </p:nvSpPr>
        <p:spPr>
          <a:xfrm rot="5400000">
            <a:off x="5270500" y="-1511300"/>
            <a:ext cx="5702299" cy="13931900"/>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3" name="Shape 63"/>
          <p:cNvSpPr>
            <a:spLocks noGrp="1"/>
          </p:cNvSpPr>
          <p:nvPr>
            <p:ph type="pic" idx="2"/>
          </p:nvPr>
        </p:nvSpPr>
        <p:spPr>
          <a:xfrm>
            <a:off x="3186113" y="817562"/>
            <a:ext cx="9753599" cy="5486399"/>
          </a:xfrm>
          <a:prstGeom prst="rect">
            <a:avLst/>
          </a:prstGeom>
          <a:noFill/>
          <a:ln>
            <a:noFill/>
          </a:ln>
        </p:spPr>
      </p:sp>
      <p:sp>
        <p:nvSpPr>
          <p:cNvPr id="64" name="Shape 64"/>
          <p:cNvSpPr txBox="1">
            <a:spLocks noGrp="1"/>
          </p:cNvSpPr>
          <p:nvPr>
            <p:ph type="body" idx="1"/>
          </p:nvPr>
        </p:nvSpPr>
        <p:spPr>
          <a:xfrm>
            <a:off x="3186113" y="7156450"/>
            <a:ext cx="9753599" cy="1073150"/>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7" name="Shape 67"/>
          <p:cNvSpPr txBox="1">
            <a:spLocks noGrp="1"/>
          </p:cNvSpPr>
          <p:nvPr>
            <p:ph type="body" idx="1"/>
          </p:nvPr>
        </p:nvSpPr>
        <p:spPr>
          <a:xfrm>
            <a:off x="6356350" y="363537"/>
            <a:ext cx="9086849" cy="780415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8" name="Shape 68"/>
          <p:cNvSpPr txBox="1">
            <a:spLocks noGrp="1"/>
          </p:cNvSpPr>
          <p:nvPr>
            <p:ph type="body" idx="2"/>
          </p:nvPr>
        </p:nvSpPr>
        <p:spPr>
          <a:xfrm>
            <a:off x="812800" y="1912938"/>
            <a:ext cx="5348287" cy="625474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9"/>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4" name="Shape 74"/>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5" name="Shape 75"/>
          <p:cNvSpPr txBox="1">
            <a:spLocks noGrp="1"/>
          </p:cNvSpPr>
          <p:nvPr>
            <p:ph type="body" idx="2"/>
          </p:nvPr>
        </p:nvSpPr>
        <p:spPr>
          <a:xfrm>
            <a:off x="812800" y="2900363"/>
            <a:ext cx="7181849"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6" name="Shape 76"/>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7" name="Shape 77"/>
          <p:cNvSpPr txBox="1">
            <a:spLocks noGrp="1"/>
          </p:cNvSpPr>
          <p:nvPr>
            <p:ph type="body" idx="4"/>
          </p:nvPr>
        </p:nvSpPr>
        <p:spPr>
          <a:xfrm>
            <a:off x="8258175" y="2900363"/>
            <a:ext cx="7185024"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78"/>
        <p:cNvGrpSpPr/>
        <p:nvPr/>
      </p:nvGrpSpPr>
      <p:grpSpPr>
        <a:xfrm>
          <a:off x="0" y="0"/>
          <a:ext cx="0" cy="0"/>
          <a:chOff x="0" y="0"/>
          <a:chExt cx="0" cy="0"/>
        </a:xfrm>
      </p:grpSpPr>
      <p:sp>
        <p:nvSpPr>
          <p:cNvPr id="79" name="Shape 79"/>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0" name="Shape 80"/>
          <p:cNvSpPr txBox="1">
            <a:spLocks noGrp="1"/>
          </p:cNvSpPr>
          <p:nvPr>
            <p:ph type="body" idx="1"/>
          </p:nvPr>
        </p:nvSpPr>
        <p:spPr>
          <a:xfrm>
            <a:off x="115570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1" name="Shape 81"/>
          <p:cNvSpPr txBox="1">
            <a:spLocks noGrp="1"/>
          </p:cNvSpPr>
          <p:nvPr>
            <p:ph type="body" idx="2"/>
          </p:nvPr>
        </p:nvSpPr>
        <p:spPr>
          <a:xfrm>
            <a:off x="819785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82"/>
        <p:cNvGrpSpPr/>
        <p:nvPr/>
      </p:nvGrpSpPr>
      <p:grpSpPr>
        <a:xfrm>
          <a:off x="0" y="0"/>
          <a:ext cx="0" cy="0"/>
          <a:chOff x="0" y="0"/>
          <a:chExt cx="0" cy="0"/>
        </a:xfrm>
      </p:grpSpPr>
      <p:sp>
        <p:nvSpPr>
          <p:cNvPr id="83" name="Shape 83"/>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4" name="Shape 84"/>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85"/>
        <p:cNvGrpSpPr/>
        <p:nvPr/>
      </p:nvGrpSpPr>
      <p:grpSpPr>
        <a:xfrm>
          <a:off x="0" y="0"/>
          <a:ext cx="0" cy="0"/>
          <a:chOff x="0" y="0"/>
          <a:chExt cx="0" cy="0"/>
        </a:xfrm>
      </p:grpSpPr>
      <p:sp>
        <p:nvSpPr>
          <p:cNvPr id="86" name="Shape 86"/>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7" name="Shape 87"/>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88"/>
        <p:cNvGrpSpPr/>
        <p:nvPr/>
      </p:nvGrpSpPr>
      <p:grpSpPr>
        <a:xfrm>
          <a:off x="0" y="0"/>
          <a:ext cx="0" cy="0"/>
          <a:chOff x="0" y="0"/>
          <a:chExt cx="0" cy="0"/>
        </a:xfrm>
      </p:grpSpPr>
      <p:sp>
        <p:nvSpPr>
          <p:cNvPr id="89" name="Shape 89"/>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90" name="Shape 90"/>
          <p:cNvSpPr txBox="1">
            <a:spLocks noGrp="1"/>
          </p:cNvSpPr>
          <p:nvPr>
            <p:ph type="subTitle" idx="1"/>
          </p:nvPr>
        </p:nvSpPr>
        <p:spPr>
          <a:xfrm>
            <a:off x="2438400" y="5181600"/>
            <a:ext cx="11379200" cy="2336800"/>
          </a:xfrm>
          <a:prstGeom prst="rect">
            <a:avLst/>
          </a:prstGeom>
          <a:noFill/>
          <a:ln>
            <a:noFill/>
          </a:ln>
        </p:spPr>
        <p:txBody>
          <a:bodyPr lIns="91425" tIns="91425" rIns="91425" bIns="91425" anchor="ctr"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118"/>
        <p:cNvGrpSpPr/>
        <p:nvPr/>
      </p:nvGrpSpPr>
      <p:grpSpPr>
        <a:xfrm>
          <a:off x="0" y="0"/>
          <a:ext cx="0" cy="0"/>
          <a:chOff x="0" y="0"/>
          <a:chExt cx="0" cy="0"/>
        </a:xfrm>
      </p:grpSpPr>
      <p:sp>
        <p:nvSpPr>
          <p:cNvPr id="119" name="Shape 119"/>
          <p:cNvSpPr txBox="1">
            <a:spLocks noGrp="1"/>
          </p:cNvSpPr>
          <p:nvPr>
            <p:ph type="title"/>
          </p:nvPr>
        </p:nvSpPr>
        <p:spPr>
          <a:xfrm rot="5400000">
            <a:off x="10597356" y="3321843"/>
            <a:ext cx="6034087" cy="3657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20" name="Shape 120"/>
          <p:cNvSpPr txBox="1">
            <a:spLocks noGrp="1"/>
          </p:cNvSpPr>
          <p:nvPr>
            <p:ph type="body" idx="1"/>
          </p:nvPr>
        </p:nvSpPr>
        <p:spPr>
          <a:xfrm rot="5400000">
            <a:off x="3205956" y="-259556"/>
            <a:ext cx="6034087" cy="108204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121"/>
        <p:cNvGrpSpPr/>
        <p:nvPr/>
      </p:nvGrpSpPr>
      <p:grpSpPr>
        <a:xfrm>
          <a:off x="0" y="0"/>
          <a:ext cx="0" cy="0"/>
          <a:chOff x="0" y="0"/>
          <a:chExt cx="0" cy="0"/>
        </a:xfrm>
      </p:grpSpPr>
      <p:sp>
        <p:nvSpPr>
          <p:cNvPr id="122" name="Shape 122"/>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23" name="Shape 123"/>
          <p:cNvSpPr txBox="1">
            <a:spLocks noGrp="1"/>
          </p:cNvSpPr>
          <p:nvPr>
            <p:ph type="body" idx="1"/>
          </p:nvPr>
        </p:nvSpPr>
        <p:spPr>
          <a:xfrm rot="5400000">
            <a:off x="5110956" y="-2164556"/>
            <a:ext cx="6034087" cy="14630400"/>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124"/>
        <p:cNvGrpSpPr/>
        <p:nvPr/>
      </p:nvGrpSpPr>
      <p:grpSpPr>
        <a:xfrm>
          <a:off x="0" y="0"/>
          <a:ext cx="0" cy="0"/>
          <a:chOff x="0" y="0"/>
          <a:chExt cx="0" cy="0"/>
        </a:xfrm>
      </p:grpSpPr>
      <p:sp>
        <p:nvSpPr>
          <p:cNvPr id="125" name="Shape 125"/>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26" name="Shape 126"/>
          <p:cNvSpPr>
            <a:spLocks noGrp="1"/>
          </p:cNvSpPr>
          <p:nvPr>
            <p:ph type="pic" idx="2"/>
          </p:nvPr>
        </p:nvSpPr>
        <p:spPr>
          <a:xfrm>
            <a:off x="3186113" y="817562"/>
            <a:ext cx="9753599" cy="5486399"/>
          </a:xfrm>
          <a:prstGeom prst="rect">
            <a:avLst/>
          </a:prstGeom>
          <a:noFill/>
          <a:ln>
            <a:noFill/>
          </a:ln>
        </p:spPr>
      </p:sp>
      <p:sp>
        <p:nvSpPr>
          <p:cNvPr id="127" name="Shape 127"/>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128"/>
        <p:cNvGrpSpPr/>
        <p:nvPr/>
      </p:nvGrpSpPr>
      <p:grpSpPr>
        <a:xfrm>
          <a:off x="0" y="0"/>
          <a:ext cx="0" cy="0"/>
          <a:chOff x="0" y="0"/>
          <a:chExt cx="0" cy="0"/>
        </a:xfrm>
      </p:grpSpPr>
      <p:sp>
        <p:nvSpPr>
          <p:cNvPr id="129" name="Shape 129"/>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30" name="Shape 130"/>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31" name="Shape 131"/>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32"/>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33"/>
        <p:cNvGrpSpPr/>
        <p:nvPr/>
      </p:nvGrpSpPr>
      <p:grpSpPr>
        <a:xfrm>
          <a:off x="0" y="0"/>
          <a:ext cx="0" cy="0"/>
          <a:chOff x="0" y="0"/>
          <a:chExt cx="0" cy="0"/>
        </a:xfrm>
      </p:grpSpPr>
      <p:sp>
        <p:nvSpPr>
          <p:cNvPr id="134" name="Shape 134"/>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135"/>
        <p:cNvGrpSpPr/>
        <p:nvPr/>
      </p:nvGrpSpPr>
      <p:grpSpPr>
        <a:xfrm>
          <a:off x="0" y="0"/>
          <a:ext cx="0" cy="0"/>
          <a:chOff x="0" y="0"/>
          <a:chExt cx="0" cy="0"/>
        </a:xfrm>
      </p:grpSpPr>
      <p:sp>
        <p:nvSpPr>
          <p:cNvPr id="136" name="Shape 136"/>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37" name="Shape 137"/>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138" name="Shape 138"/>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39" name="Shape 139"/>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140" name="Shape 140"/>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141"/>
        <p:cNvGrpSpPr/>
        <p:nvPr/>
      </p:nvGrpSpPr>
      <p:grpSpPr>
        <a:xfrm>
          <a:off x="0" y="0"/>
          <a:ext cx="0" cy="0"/>
          <a:chOff x="0" y="0"/>
          <a:chExt cx="0" cy="0"/>
        </a:xfrm>
      </p:grpSpPr>
      <p:sp>
        <p:nvSpPr>
          <p:cNvPr id="142" name="Shape 142"/>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43" name="Shape 143"/>
          <p:cNvSpPr txBox="1">
            <a:spLocks noGrp="1"/>
          </p:cNvSpPr>
          <p:nvPr>
            <p:ph type="body" idx="1"/>
          </p:nvPr>
        </p:nvSpPr>
        <p:spPr>
          <a:xfrm>
            <a:off x="812800" y="2133600"/>
            <a:ext cx="7239000" cy="60340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44" name="Shape 144"/>
          <p:cNvSpPr txBox="1">
            <a:spLocks noGrp="1"/>
          </p:cNvSpPr>
          <p:nvPr>
            <p:ph type="body" idx="2"/>
          </p:nvPr>
        </p:nvSpPr>
        <p:spPr>
          <a:xfrm>
            <a:off x="8204200" y="2133600"/>
            <a:ext cx="7239000" cy="60340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45"/>
        <p:cNvGrpSpPr/>
        <p:nvPr/>
      </p:nvGrpSpPr>
      <p:grpSpPr>
        <a:xfrm>
          <a:off x="0" y="0"/>
          <a:ext cx="0" cy="0"/>
          <a:chOff x="0" y="0"/>
          <a:chExt cx="0" cy="0"/>
        </a:xfrm>
      </p:grpSpPr>
      <p:sp>
        <p:nvSpPr>
          <p:cNvPr id="146" name="Shape 146"/>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47" name="Shape 147"/>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48"/>
        <p:cNvGrpSpPr/>
        <p:nvPr/>
      </p:nvGrpSpPr>
      <p:grpSpPr>
        <a:xfrm>
          <a:off x="0" y="0"/>
          <a:ext cx="0" cy="0"/>
          <a:chOff x="0" y="0"/>
          <a:chExt cx="0" cy="0"/>
        </a:xfrm>
      </p:grpSpPr>
      <p:sp>
        <p:nvSpPr>
          <p:cNvPr id="149" name="Shape 149"/>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50" name="Shape 150"/>
          <p:cNvSpPr txBox="1">
            <a:spLocks noGrp="1"/>
          </p:cNvSpPr>
          <p:nvPr>
            <p:ph type="body" idx="1"/>
          </p:nvPr>
        </p:nvSpPr>
        <p:spPr>
          <a:xfrm>
            <a:off x="812800" y="2133600"/>
            <a:ext cx="14630400" cy="6034087"/>
          </a:xfrm>
          <a:prstGeom prst="rect">
            <a:avLst/>
          </a:prstGeom>
          <a:noFill/>
          <a:ln>
            <a:noFill/>
          </a:ln>
        </p:spPr>
        <p:txBody>
          <a:bodyPr lIns="91425" tIns="91425" rIns="91425" bIns="91425" anchor="t"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51"/>
        <p:cNvGrpSpPr/>
        <p:nvPr/>
      </p:nvGrpSpPr>
      <p:grpSpPr>
        <a:xfrm>
          <a:off x="0" y="0"/>
          <a:ext cx="0" cy="0"/>
          <a:chOff x="0" y="0"/>
          <a:chExt cx="0" cy="0"/>
        </a:xfrm>
      </p:grpSpPr>
      <p:sp>
        <p:nvSpPr>
          <p:cNvPr id="152" name="Shape 152"/>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153" name="Shape 153"/>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0"/>
              </a:spcBef>
              <a:spcAft>
                <a:spcPts val="0"/>
              </a:spcAft>
              <a:buClr>
                <a:schemeClr val="lt1"/>
              </a:buClr>
              <a:buFont typeface="Cabin"/>
              <a:buNone/>
              <a:defRPr/>
            </a:lvl1pPr>
            <a:lvl2pPr marL="457200" marR="0" indent="0" algn="ctr" rtl="0">
              <a:spcBef>
                <a:spcPts val="0"/>
              </a:spcBef>
              <a:spcAft>
                <a:spcPts val="0"/>
              </a:spcAft>
              <a:buClr>
                <a:schemeClr val="lt1"/>
              </a:buClr>
              <a:buFont typeface="Cabin"/>
              <a:buNone/>
              <a:defRPr/>
            </a:lvl2pPr>
            <a:lvl3pPr marL="914400" marR="0" indent="0" algn="ctr" rtl="0">
              <a:spcBef>
                <a:spcPts val="0"/>
              </a:spcBef>
              <a:spcAft>
                <a:spcPts val="0"/>
              </a:spcAft>
              <a:buClr>
                <a:schemeClr val="lt1"/>
              </a:buClr>
              <a:buFont typeface="Cabin"/>
              <a:buNone/>
              <a:defRPr/>
            </a:lvl3pPr>
            <a:lvl4pPr marL="1371600" marR="0" indent="0" algn="ctr" rtl="0">
              <a:spcBef>
                <a:spcPts val="0"/>
              </a:spcBef>
              <a:spcAft>
                <a:spcPts val="0"/>
              </a:spcAft>
              <a:buClr>
                <a:schemeClr val="lt1"/>
              </a:buClr>
              <a:buFont typeface="Cabin"/>
              <a:buNone/>
              <a:defRPr/>
            </a:lvl4pPr>
            <a:lvl5pPr marL="1828800" marR="0" indent="0" algn="ctr" rtl="0">
              <a:spcBef>
                <a:spcPts val="0"/>
              </a:spcBef>
              <a:spcAft>
                <a:spcPts val="0"/>
              </a:spcAft>
              <a:buClr>
                <a:schemeClr val="lt1"/>
              </a:buClr>
              <a:buFont typeface="Cabin"/>
              <a:buNone/>
              <a:defRPr/>
            </a:lvl5pPr>
            <a:lvl6pPr marL="2286000" marR="0" indent="0" algn="ctr" rtl="0">
              <a:spcBef>
                <a:spcPts val="0"/>
              </a:spcBef>
              <a:spcAft>
                <a:spcPts val="0"/>
              </a:spcAft>
              <a:buClr>
                <a:schemeClr val="lt1"/>
              </a:buClr>
              <a:buFont typeface="Cabin"/>
              <a:buNone/>
              <a:defRPr/>
            </a:lvl6pPr>
            <a:lvl7pPr marL="2743200" marR="0" indent="0" algn="ctr" rtl="0">
              <a:spcBef>
                <a:spcPts val="0"/>
              </a:spcBef>
              <a:spcAft>
                <a:spcPts val="0"/>
              </a:spcAft>
              <a:buClr>
                <a:schemeClr val="lt1"/>
              </a:buClr>
              <a:buFont typeface="Cabin"/>
              <a:buNone/>
              <a:defRPr/>
            </a:lvl7pPr>
            <a:lvl8pPr marL="3200400" marR="0" indent="0" algn="ctr" rtl="0">
              <a:spcBef>
                <a:spcPts val="0"/>
              </a:spcBef>
              <a:spcAft>
                <a:spcPts val="0"/>
              </a:spcAft>
              <a:buClr>
                <a:schemeClr val="lt1"/>
              </a:buClr>
              <a:buFont typeface="Cabin"/>
              <a:buNone/>
              <a:defRPr/>
            </a:lvl8pPr>
            <a:lvl9pPr marL="3657600" marR="0" indent="0" algn="ctr" rtl="0">
              <a:spcBef>
                <a:spcPts val="0"/>
              </a:spcBef>
              <a:spcAft>
                <a:spcPts val="0"/>
              </a:spcAft>
              <a:buClr>
                <a:schemeClr val="lt1"/>
              </a:buClr>
              <a:buFont typeface="Cabin"/>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414"/>
        <p:cNvGrpSpPr/>
        <p:nvPr/>
      </p:nvGrpSpPr>
      <p:grpSpPr>
        <a:xfrm>
          <a:off x="0" y="0"/>
          <a:ext cx="0" cy="0"/>
          <a:chOff x="0" y="0"/>
          <a:chExt cx="0" cy="0"/>
        </a:xfrm>
      </p:grpSpPr>
      <p:sp>
        <p:nvSpPr>
          <p:cNvPr id="415" name="Shape 415"/>
          <p:cNvSpPr txBox="1">
            <a:spLocks noGrp="1"/>
          </p:cNvSpPr>
          <p:nvPr>
            <p:ph type="title"/>
          </p:nvPr>
        </p:nvSpPr>
        <p:spPr>
          <a:xfrm rot="5400000">
            <a:off x="9313862" y="2532062"/>
            <a:ext cx="8064499" cy="3482975"/>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16" name="Shape 416"/>
          <p:cNvSpPr txBox="1">
            <a:spLocks noGrp="1"/>
          </p:cNvSpPr>
          <p:nvPr>
            <p:ph type="body" idx="1"/>
          </p:nvPr>
        </p:nvSpPr>
        <p:spPr>
          <a:xfrm rot="5400000">
            <a:off x="2271712" y="-874712"/>
            <a:ext cx="8064499" cy="10296524"/>
          </a:xfrm>
          <a:prstGeom prst="rect">
            <a:avLst/>
          </a:prstGeom>
          <a:noFill/>
          <a:ln>
            <a:noFill/>
          </a:ln>
        </p:spPr>
        <p:txBody>
          <a:bodyPr lIns="91425" tIns="91425" rIns="91425" bIns="91425" anchor="t" anchorCtr="0"/>
          <a:lstStyle>
            <a:lvl1pPr marL="647700" indent="-165861" algn="l" rtl="0">
              <a:spcBef>
                <a:spcPts val="3500"/>
              </a:spcBef>
              <a:spcAft>
                <a:spcPts val="0"/>
              </a:spcAft>
              <a:buClr>
                <a:schemeClr val="lt1"/>
              </a:buClr>
              <a:buFont typeface="Cabin"/>
              <a:buChar char="•"/>
              <a:defRPr/>
            </a:lvl1pPr>
            <a:lvl2pPr marL="939800" indent="-165861" algn="l" rtl="0">
              <a:spcBef>
                <a:spcPts val="3500"/>
              </a:spcBef>
              <a:spcAft>
                <a:spcPts val="0"/>
              </a:spcAft>
              <a:buClr>
                <a:schemeClr val="lt1"/>
              </a:buClr>
              <a:buFont typeface="Cabin"/>
              <a:buChar char="•"/>
              <a:defRPr/>
            </a:lvl2pPr>
            <a:lvl3pPr marL="1231900" indent="-165861" algn="l" rtl="0">
              <a:spcBef>
                <a:spcPts val="3500"/>
              </a:spcBef>
              <a:spcAft>
                <a:spcPts val="0"/>
              </a:spcAft>
              <a:buClr>
                <a:schemeClr val="lt1"/>
              </a:buClr>
              <a:buFont typeface="Cabin"/>
              <a:buChar char="•"/>
              <a:defRPr/>
            </a:lvl3pPr>
            <a:lvl4pPr marL="1536700" indent="-165861" algn="l" rtl="0">
              <a:spcBef>
                <a:spcPts val="3500"/>
              </a:spcBef>
              <a:spcAft>
                <a:spcPts val="0"/>
              </a:spcAft>
              <a:buClr>
                <a:schemeClr val="lt1"/>
              </a:buClr>
              <a:buFont typeface="Cabin"/>
              <a:buChar char="•"/>
              <a:defRPr/>
            </a:lvl4pPr>
            <a:lvl5pPr marL="1828800" indent="-165861" algn="l" rtl="0">
              <a:spcBef>
                <a:spcPts val="3500"/>
              </a:spcBef>
              <a:spcAft>
                <a:spcPts val="0"/>
              </a:spcAft>
              <a:buClr>
                <a:schemeClr val="lt1"/>
              </a:buClr>
              <a:buFont typeface="Cabin"/>
              <a:buChar char="•"/>
              <a:defRPr/>
            </a:lvl5pPr>
            <a:lvl6pPr marL="2286000" indent="-165861" algn="l" rtl="0">
              <a:spcBef>
                <a:spcPts val="3500"/>
              </a:spcBef>
              <a:spcAft>
                <a:spcPts val="0"/>
              </a:spcAft>
              <a:buClr>
                <a:schemeClr val="lt1"/>
              </a:buClr>
              <a:buFont typeface="Cabin"/>
              <a:buChar char="•"/>
              <a:defRPr/>
            </a:lvl6pPr>
            <a:lvl7pPr marL="2743200" indent="-165861" algn="l" rtl="0">
              <a:spcBef>
                <a:spcPts val="3500"/>
              </a:spcBef>
              <a:spcAft>
                <a:spcPts val="0"/>
              </a:spcAft>
              <a:buClr>
                <a:schemeClr val="lt1"/>
              </a:buClr>
              <a:buFont typeface="Cabin"/>
              <a:buChar char="•"/>
              <a:defRPr/>
            </a:lvl7pPr>
            <a:lvl8pPr marL="3200400" indent="-165861" algn="l" rtl="0">
              <a:spcBef>
                <a:spcPts val="3500"/>
              </a:spcBef>
              <a:spcAft>
                <a:spcPts val="0"/>
              </a:spcAft>
              <a:buClr>
                <a:schemeClr val="lt1"/>
              </a:buClr>
              <a:buFont typeface="Cabin"/>
              <a:buChar char="•"/>
              <a:defRPr/>
            </a:lvl8pPr>
            <a:lvl9pPr marL="3657600" indent="-165861"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417"/>
        <p:cNvGrpSpPr/>
        <p:nvPr/>
      </p:nvGrpSpPr>
      <p:grpSpPr>
        <a:xfrm>
          <a:off x="0" y="0"/>
          <a:ext cx="0" cy="0"/>
          <a:chOff x="0" y="0"/>
          <a:chExt cx="0" cy="0"/>
        </a:xfrm>
      </p:grpSpPr>
      <p:sp>
        <p:nvSpPr>
          <p:cNvPr id="418" name="Shape 418"/>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19" name="Shape 419"/>
          <p:cNvSpPr txBox="1">
            <a:spLocks noGrp="1"/>
          </p:cNvSpPr>
          <p:nvPr>
            <p:ph type="body" idx="1"/>
          </p:nvPr>
        </p:nvSpPr>
        <p:spPr>
          <a:xfrm rot="5400000">
            <a:off x="5270500" y="-1511300"/>
            <a:ext cx="5702299" cy="13931900"/>
          </a:xfrm>
          <a:prstGeom prst="rect">
            <a:avLst/>
          </a:prstGeom>
          <a:noFill/>
          <a:ln>
            <a:noFill/>
          </a:ln>
        </p:spPr>
        <p:txBody>
          <a:bodyPr lIns="91425" tIns="91425" rIns="91425" bIns="91425" anchor="t" anchorCtr="0"/>
          <a:lstStyle>
            <a:lvl1pPr marL="647700" indent="-165861" algn="l" rtl="0">
              <a:spcBef>
                <a:spcPts val="3500"/>
              </a:spcBef>
              <a:spcAft>
                <a:spcPts val="0"/>
              </a:spcAft>
              <a:buClr>
                <a:schemeClr val="lt1"/>
              </a:buClr>
              <a:buFont typeface="Cabin"/>
              <a:buChar char="•"/>
              <a:defRPr/>
            </a:lvl1pPr>
            <a:lvl2pPr marL="939800" indent="-165861" algn="l" rtl="0">
              <a:spcBef>
                <a:spcPts val="3500"/>
              </a:spcBef>
              <a:spcAft>
                <a:spcPts val="0"/>
              </a:spcAft>
              <a:buClr>
                <a:schemeClr val="lt1"/>
              </a:buClr>
              <a:buFont typeface="Cabin"/>
              <a:buChar char="•"/>
              <a:defRPr/>
            </a:lvl2pPr>
            <a:lvl3pPr marL="1231900" indent="-165861" algn="l" rtl="0">
              <a:spcBef>
                <a:spcPts val="3500"/>
              </a:spcBef>
              <a:spcAft>
                <a:spcPts val="0"/>
              </a:spcAft>
              <a:buClr>
                <a:schemeClr val="lt1"/>
              </a:buClr>
              <a:buFont typeface="Cabin"/>
              <a:buChar char="•"/>
              <a:defRPr/>
            </a:lvl3pPr>
            <a:lvl4pPr marL="1536700" indent="-165861" algn="l" rtl="0">
              <a:spcBef>
                <a:spcPts val="3500"/>
              </a:spcBef>
              <a:spcAft>
                <a:spcPts val="0"/>
              </a:spcAft>
              <a:buClr>
                <a:schemeClr val="lt1"/>
              </a:buClr>
              <a:buFont typeface="Cabin"/>
              <a:buChar char="•"/>
              <a:defRPr/>
            </a:lvl4pPr>
            <a:lvl5pPr marL="1828800" indent="-165861" algn="l" rtl="0">
              <a:spcBef>
                <a:spcPts val="3500"/>
              </a:spcBef>
              <a:spcAft>
                <a:spcPts val="0"/>
              </a:spcAft>
              <a:buClr>
                <a:schemeClr val="lt1"/>
              </a:buClr>
              <a:buFont typeface="Cabin"/>
              <a:buChar char="•"/>
              <a:defRPr/>
            </a:lvl5pPr>
            <a:lvl6pPr marL="2286000" indent="-165861" algn="l" rtl="0">
              <a:spcBef>
                <a:spcPts val="3500"/>
              </a:spcBef>
              <a:spcAft>
                <a:spcPts val="0"/>
              </a:spcAft>
              <a:buClr>
                <a:schemeClr val="lt1"/>
              </a:buClr>
              <a:buFont typeface="Cabin"/>
              <a:buChar char="•"/>
              <a:defRPr/>
            </a:lvl6pPr>
            <a:lvl7pPr marL="2743200" indent="-165861" algn="l" rtl="0">
              <a:spcBef>
                <a:spcPts val="3500"/>
              </a:spcBef>
              <a:spcAft>
                <a:spcPts val="0"/>
              </a:spcAft>
              <a:buClr>
                <a:schemeClr val="lt1"/>
              </a:buClr>
              <a:buFont typeface="Cabin"/>
              <a:buChar char="•"/>
              <a:defRPr/>
            </a:lvl7pPr>
            <a:lvl8pPr marL="3200400" indent="-165861" algn="l" rtl="0">
              <a:spcBef>
                <a:spcPts val="3500"/>
              </a:spcBef>
              <a:spcAft>
                <a:spcPts val="0"/>
              </a:spcAft>
              <a:buClr>
                <a:schemeClr val="lt1"/>
              </a:buClr>
              <a:buFont typeface="Cabin"/>
              <a:buChar char="•"/>
              <a:defRPr/>
            </a:lvl8pPr>
            <a:lvl9pPr marL="3657600" indent="-165861"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420"/>
        <p:cNvGrpSpPr/>
        <p:nvPr/>
      </p:nvGrpSpPr>
      <p:grpSpPr>
        <a:xfrm>
          <a:off x="0" y="0"/>
          <a:ext cx="0" cy="0"/>
          <a:chOff x="0" y="0"/>
          <a:chExt cx="0" cy="0"/>
        </a:xfrm>
      </p:grpSpPr>
      <p:sp>
        <p:nvSpPr>
          <p:cNvPr id="421" name="Shape 421"/>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22" name="Shape 422"/>
          <p:cNvSpPr>
            <a:spLocks noGrp="1"/>
          </p:cNvSpPr>
          <p:nvPr>
            <p:ph type="pic" idx="2"/>
          </p:nvPr>
        </p:nvSpPr>
        <p:spPr>
          <a:xfrm>
            <a:off x="3186113" y="817562"/>
            <a:ext cx="9753599" cy="5486399"/>
          </a:xfrm>
          <a:prstGeom prst="rect">
            <a:avLst/>
          </a:prstGeom>
          <a:noFill/>
          <a:ln>
            <a:noFill/>
          </a:ln>
        </p:spPr>
      </p:sp>
      <p:sp>
        <p:nvSpPr>
          <p:cNvPr id="423" name="Shape 423"/>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424"/>
        <p:cNvGrpSpPr/>
        <p:nvPr/>
      </p:nvGrpSpPr>
      <p:grpSpPr>
        <a:xfrm>
          <a:off x="0" y="0"/>
          <a:ext cx="0" cy="0"/>
          <a:chOff x="0" y="0"/>
          <a:chExt cx="0" cy="0"/>
        </a:xfrm>
      </p:grpSpPr>
      <p:sp>
        <p:nvSpPr>
          <p:cNvPr id="425" name="Shape 425"/>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26" name="Shape 426"/>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27" name="Shape 427"/>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28"/>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29"/>
        <p:cNvGrpSpPr/>
        <p:nvPr/>
      </p:nvGrpSpPr>
      <p:grpSpPr>
        <a:xfrm>
          <a:off x="0" y="0"/>
          <a:ext cx="0" cy="0"/>
          <a:chOff x="0" y="0"/>
          <a:chExt cx="0" cy="0"/>
        </a:xfrm>
      </p:grpSpPr>
      <p:sp>
        <p:nvSpPr>
          <p:cNvPr id="430" name="Shape 430"/>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431"/>
        <p:cNvGrpSpPr/>
        <p:nvPr/>
      </p:nvGrpSpPr>
      <p:grpSpPr>
        <a:xfrm>
          <a:off x="0" y="0"/>
          <a:ext cx="0" cy="0"/>
          <a:chOff x="0" y="0"/>
          <a:chExt cx="0" cy="0"/>
        </a:xfrm>
      </p:grpSpPr>
      <p:sp>
        <p:nvSpPr>
          <p:cNvPr id="432" name="Shape 432"/>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33" name="Shape 433"/>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434" name="Shape 434"/>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35" name="Shape 435"/>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436" name="Shape 436"/>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437"/>
        <p:cNvGrpSpPr/>
        <p:nvPr/>
      </p:nvGrpSpPr>
      <p:grpSpPr>
        <a:xfrm>
          <a:off x="0" y="0"/>
          <a:ext cx="0" cy="0"/>
          <a:chOff x="0" y="0"/>
          <a:chExt cx="0" cy="0"/>
        </a:xfrm>
      </p:grpSpPr>
      <p:sp>
        <p:nvSpPr>
          <p:cNvPr id="438" name="Shape 438"/>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39" name="Shape 439"/>
          <p:cNvSpPr txBox="1">
            <a:spLocks noGrp="1"/>
          </p:cNvSpPr>
          <p:nvPr>
            <p:ph type="body" idx="1"/>
          </p:nvPr>
        </p:nvSpPr>
        <p:spPr>
          <a:xfrm>
            <a:off x="1155700" y="2603500"/>
            <a:ext cx="6889750" cy="5702299"/>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40" name="Shape 440"/>
          <p:cNvSpPr txBox="1">
            <a:spLocks noGrp="1"/>
          </p:cNvSpPr>
          <p:nvPr>
            <p:ph type="body" idx="2"/>
          </p:nvPr>
        </p:nvSpPr>
        <p:spPr>
          <a:xfrm>
            <a:off x="8197850" y="2603500"/>
            <a:ext cx="6889750" cy="5702299"/>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441"/>
        <p:cNvGrpSpPr/>
        <p:nvPr/>
      </p:nvGrpSpPr>
      <p:grpSpPr>
        <a:xfrm>
          <a:off x="0" y="0"/>
          <a:ext cx="0" cy="0"/>
          <a:chOff x="0" y="0"/>
          <a:chExt cx="0" cy="0"/>
        </a:xfrm>
      </p:grpSpPr>
      <p:sp>
        <p:nvSpPr>
          <p:cNvPr id="442" name="Shape 442"/>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43" name="Shape 443"/>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444"/>
        <p:cNvGrpSpPr/>
        <p:nvPr/>
      </p:nvGrpSpPr>
      <p:grpSpPr>
        <a:xfrm>
          <a:off x="0" y="0"/>
          <a:ext cx="0" cy="0"/>
          <a:chOff x="0" y="0"/>
          <a:chExt cx="0" cy="0"/>
        </a:xfrm>
      </p:grpSpPr>
      <p:sp>
        <p:nvSpPr>
          <p:cNvPr id="445" name="Shape 445"/>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46" name="Shape 446"/>
          <p:cNvSpPr txBox="1">
            <a:spLocks noGrp="1"/>
          </p:cNvSpPr>
          <p:nvPr>
            <p:ph type="body" idx="1"/>
          </p:nvPr>
        </p:nvSpPr>
        <p:spPr>
          <a:xfrm>
            <a:off x="1155700" y="2603500"/>
            <a:ext cx="13931900" cy="5702299"/>
          </a:xfrm>
          <a:prstGeom prst="rect">
            <a:avLst/>
          </a:prstGeom>
          <a:noFill/>
          <a:ln>
            <a:noFill/>
          </a:ln>
        </p:spPr>
        <p:txBody>
          <a:bodyPr lIns="91425" tIns="91425" rIns="91425" bIns="91425" anchor="t" anchorCtr="0"/>
          <a:lstStyle>
            <a:lvl1pPr marL="647700" indent="-165861" algn="l" rtl="0">
              <a:spcBef>
                <a:spcPts val="3500"/>
              </a:spcBef>
              <a:spcAft>
                <a:spcPts val="0"/>
              </a:spcAft>
              <a:buClr>
                <a:schemeClr val="lt1"/>
              </a:buClr>
              <a:buFont typeface="Cabin"/>
              <a:buChar char="•"/>
              <a:defRPr/>
            </a:lvl1pPr>
            <a:lvl2pPr marL="939800" indent="-165861" algn="l" rtl="0">
              <a:spcBef>
                <a:spcPts val="3500"/>
              </a:spcBef>
              <a:spcAft>
                <a:spcPts val="0"/>
              </a:spcAft>
              <a:buClr>
                <a:schemeClr val="lt1"/>
              </a:buClr>
              <a:buFont typeface="Cabin"/>
              <a:buChar char="•"/>
              <a:defRPr/>
            </a:lvl2pPr>
            <a:lvl3pPr marL="1231900" indent="-165861" algn="l" rtl="0">
              <a:spcBef>
                <a:spcPts val="3500"/>
              </a:spcBef>
              <a:spcAft>
                <a:spcPts val="0"/>
              </a:spcAft>
              <a:buClr>
                <a:schemeClr val="lt1"/>
              </a:buClr>
              <a:buFont typeface="Cabin"/>
              <a:buChar char="•"/>
              <a:defRPr/>
            </a:lvl3pPr>
            <a:lvl4pPr marL="1536700" indent="-165861" algn="l" rtl="0">
              <a:spcBef>
                <a:spcPts val="3500"/>
              </a:spcBef>
              <a:spcAft>
                <a:spcPts val="0"/>
              </a:spcAft>
              <a:buClr>
                <a:schemeClr val="lt1"/>
              </a:buClr>
              <a:buFont typeface="Cabin"/>
              <a:buChar char="•"/>
              <a:defRPr/>
            </a:lvl4pPr>
            <a:lvl5pPr marL="1828800" indent="-165861" algn="l" rtl="0">
              <a:spcBef>
                <a:spcPts val="3500"/>
              </a:spcBef>
              <a:spcAft>
                <a:spcPts val="0"/>
              </a:spcAft>
              <a:buClr>
                <a:schemeClr val="lt1"/>
              </a:buClr>
              <a:buFont typeface="Cabin"/>
              <a:buChar char="•"/>
              <a:defRPr/>
            </a:lvl5pPr>
            <a:lvl6pPr marL="2286000" indent="-165861" algn="l" rtl="0">
              <a:spcBef>
                <a:spcPts val="3500"/>
              </a:spcBef>
              <a:spcAft>
                <a:spcPts val="0"/>
              </a:spcAft>
              <a:buClr>
                <a:schemeClr val="lt1"/>
              </a:buClr>
              <a:buFont typeface="Cabin"/>
              <a:buChar char="•"/>
              <a:defRPr/>
            </a:lvl6pPr>
            <a:lvl7pPr marL="2743200" indent="-165861" algn="l" rtl="0">
              <a:spcBef>
                <a:spcPts val="3500"/>
              </a:spcBef>
              <a:spcAft>
                <a:spcPts val="0"/>
              </a:spcAft>
              <a:buClr>
                <a:schemeClr val="lt1"/>
              </a:buClr>
              <a:buFont typeface="Cabin"/>
              <a:buChar char="•"/>
              <a:defRPr/>
            </a:lvl7pPr>
            <a:lvl8pPr marL="3200400" indent="-165861" algn="l" rtl="0">
              <a:spcBef>
                <a:spcPts val="3500"/>
              </a:spcBef>
              <a:spcAft>
                <a:spcPts val="0"/>
              </a:spcAft>
              <a:buClr>
                <a:schemeClr val="lt1"/>
              </a:buClr>
              <a:buFont typeface="Cabin"/>
              <a:buChar char="•"/>
              <a:defRPr/>
            </a:lvl8pPr>
            <a:lvl9pPr marL="3657600" indent="-165861"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47"/>
        <p:cNvGrpSpPr/>
        <p:nvPr/>
      </p:nvGrpSpPr>
      <p:grpSpPr>
        <a:xfrm>
          <a:off x="0" y="0"/>
          <a:ext cx="0" cy="0"/>
          <a:chOff x="0" y="0"/>
          <a:chExt cx="0" cy="0"/>
        </a:xfrm>
      </p:grpSpPr>
      <p:sp>
        <p:nvSpPr>
          <p:cNvPr id="448" name="Shape 448"/>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49" name="Shape 449"/>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6" name="Shape 6"/>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2"/>
        <p:cNvGrpSpPr/>
        <p:nvPr/>
      </p:nvGrpSpPr>
      <p:grpSpPr>
        <a:xfrm>
          <a:off x="0" y="0"/>
          <a:ext cx="0" cy="0"/>
          <a:chOff x="0" y="0"/>
          <a:chExt cx="0" cy="0"/>
        </a:xfrm>
      </p:grpSpPr>
      <p:sp>
        <p:nvSpPr>
          <p:cNvPr id="53" name="Shape 53"/>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54" name="Shape 54"/>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marR="0" indent="-142494" algn="l" rtl="0">
              <a:spcBef>
                <a:spcPts val="3500"/>
              </a:spcBef>
              <a:spcAft>
                <a:spcPts val="0"/>
              </a:spcAft>
              <a:buClr>
                <a:schemeClr val="lt1"/>
              </a:buClr>
              <a:buFont typeface="Cabin"/>
              <a:buChar char="•"/>
              <a:defRPr/>
            </a:lvl1pPr>
            <a:lvl2pPr marL="1003300" marR="0" indent="-142494" algn="l" rtl="0">
              <a:spcBef>
                <a:spcPts val="3500"/>
              </a:spcBef>
              <a:spcAft>
                <a:spcPts val="0"/>
              </a:spcAft>
              <a:buClr>
                <a:schemeClr val="lt1"/>
              </a:buClr>
              <a:buFont typeface="Cabin"/>
              <a:buChar char="•"/>
              <a:defRPr/>
            </a:lvl2pPr>
            <a:lvl3pPr marL="1295400" marR="0" indent="-142494" algn="l" rtl="0">
              <a:spcBef>
                <a:spcPts val="3500"/>
              </a:spcBef>
              <a:spcAft>
                <a:spcPts val="0"/>
              </a:spcAft>
              <a:buClr>
                <a:schemeClr val="lt1"/>
              </a:buClr>
              <a:buFont typeface="Cabin"/>
              <a:buChar char="•"/>
              <a:defRPr/>
            </a:lvl3pPr>
            <a:lvl4pPr marL="1600200" marR="0" indent="-142494" algn="l" rtl="0">
              <a:spcBef>
                <a:spcPts val="3500"/>
              </a:spcBef>
              <a:spcAft>
                <a:spcPts val="0"/>
              </a:spcAft>
              <a:buClr>
                <a:schemeClr val="lt1"/>
              </a:buClr>
              <a:buFont typeface="Cabin"/>
              <a:buChar char="•"/>
              <a:defRPr/>
            </a:lvl4pPr>
            <a:lvl5pPr marL="1892300" marR="0" indent="-142494" algn="l" rtl="0">
              <a:spcBef>
                <a:spcPts val="3500"/>
              </a:spcBef>
              <a:spcAft>
                <a:spcPts val="0"/>
              </a:spcAft>
              <a:buClr>
                <a:schemeClr val="lt1"/>
              </a:buClr>
              <a:buFont typeface="Cabin"/>
              <a:buChar char="•"/>
              <a:defRPr/>
            </a:lvl5pPr>
            <a:lvl6pPr marL="2349500" marR="0" indent="-142494" algn="l" rtl="0">
              <a:spcBef>
                <a:spcPts val="3500"/>
              </a:spcBef>
              <a:spcAft>
                <a:spcPts val="0"/>
              </a:spcAft>
              <a:buClr>
                <a:schemeClr val="lt1"/>
              </a:buClr>
              <a:buFont typeface="Cabin"/>
              <a:buChar char="•"/>
              <a:defRPr/>
            </a:lvl6pPr>
            <a:lvl7pPr marL="2806700" marR="0" indent="-142494" algn="l" rtl="0">
              <a:spcBef>
                <a:spcPts val="3500"/>
              </a:spcBef>
              <a:spcAft>
                <a:spcPts val="0"/>
              </a:spcAft>
              <a:buClr>
                <a:schemeClr val="lt1"/>
              </a:buClr>
              <a:buFont typeface="Cabin"/>
              <a:buChar char="•"/>
              <a:defRPr/>
            </a:lvl7pPr>
            <a:lvl8pPr marL="3263900" marR="0" indent="-142494" algn="l" rtl="0">
              <a:spcBef>
                <a:spcPts val="3500"/>
              </a:spcBef>
              <a:spcAft>
                <a:spcPts val="0"/>
              </a:spcAft>
              <a:buClr>
                <a:schemeClr val="lt1"/>
              </a:buClr>
              <a:buFont typeface="Cabin"/>
              <a:buChar char="•"/>
              <a:defRPr/>
            </a:lvl8pPr>
            <a:lvl9pPr marL="3721100" marR="0" indent="-142494"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16"/>
        <p:cNvGrpSpPr/>
        <p:nvPr/>
      </p:nvGrpSpPr>
      <p:grpSpPr>
        <a:xfrm>
          <a:off x="0" y="0"/>
          <a:ext cx="0" cy="0"/>
          <a:chOff x="0" y="0"/>
          <a:chExt cx="0" cy="0"/>
        </a:xfrm>
      </p:grpSpPr>
      <p:sp>
        <p:nvSpPr>
          <p:cNvPr id="117" name="Shape 117"/>
          <p:cNvSpPr txBox="1">
            <a:spLocks noGrp="1"/>
          </p:cNvSpPr>
          <p:nvPr>
            <p:ph type="title"/>
          </p:nvPr>
        </p:nvSpPr>
        <p:spPr>
          <a:xfrm>
            <a:off x="1155700" y="2781300"/>
            <a:ext cx="13931900" cy="356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11"/>
        <p:cNvGrpSpPr/>
        <p:nvPr/>
      </p:nvGrpSpPr>
      <p:grpSpPr>
        <a:xfrm>
          <a:off x="0" y="0"/>
          <a:ext cx="0" cy="0"/>
          <a:chOff x="0" y="0"/>
          <a:chExt cx="0" cy="0"/>
        </a:xfrm>
      </p:grpSpPr>
      <p:sp>
        <p:nvSpPr>
          <p:cNvPr id="412" name="Shape 412"/>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13" name="Shape 413"/>
          <p:cNvSpPr txBox="1">
            <a:spLocks noGrp="1"/>
          </p:cNvSpPr>
          <p:nvPr>
            <p:ph type="body" idx="1"/>
          </p:nvPr>
        </p:nvSpPr>
        <p:spPr>
          <a:xfrm>
            <a:off x="1155700" y="2603500"/>
            <a:ext cx="13931900" cy="5702299"/>
          </a:xfrm>
          <a:prstGeom prst="rect">
            <a:avLst/>
          </a:prstGeom>
          <a:noFill/>
          <a:ln>
            <a:noFill/>
          </a:ln>
        </p:spPr>
        <p:txBody>
          <a:bodyPr lIns="91425" tIns="91425" rIns="91425" bIns="91425" anchor="t" anchorCtr="0"/>
          <a:lstStyle>
            <a:lvl1pPr marL="647700" marR="0" indent="-165861" algn="l" rtl="0">
              <a:spcBef>
                <a:spcPts val="3500"/>
              </a:spcBef>
              <a:spcAft>
                <a:spcPts val="0"/>
              </a:spcAft>
              <a:buClr>
                <a:schemeClr val="lt1"/>
              </a:buClr>
              <a:buFont typeface="Cabin"/>
              <a:buChar char="•"/>
              <a:defRPr/>
            </a:lvl1pPr>
            <a:lvl2pPr marL="939800" marR="0" indent="-165861" algn="l" rtl="0">
              <a:spcBef>
                <a:spcPts val="3500"/>
              </a:spcBef>
              <a:spcAft>
                <a:spcPts val="0"/>
              </a:spcAft>
              <a:buClr>
                <a:schemeClr val="lt1"/>
              </a:buClr>
              <a:buFont typeface="Cabin"/>
              <a:buChar char="•"/>
              <a:defRPr/>
            </a:lvl2pPr>
            <a:lvl3pPr marL="1231900" marR="0" indent="-165861" algn="l" rtl="0">
              <a:spcBef>
                <a:spcPts val="3500"/>
              </a:spcBef>
              <a:spcAft>
                <a:spcPts val="0"/>
              </a:spcAft>
              <a:buClr>
                <a:schemeClr val="lt1"/>
              </a:buClr>
              <a:buFont typeface="Cabin"/>
              <a:buChar char="•"/>
              <a:defRPr/>
            </a:lvl3pPr>
            <a:lvl4pPr marL="1536700" marR="0" indent="-165861" algn="l" rtl="0">
              <a:spcBef>
                <a:spcPts val="3500"/>
              </a:spcBef>
              <a:spcAft>
                <a:spcPts val="0"/>
              </a:spcAft>
              <a:buClr>
                <a:schemeClr val="lt1"/>
              </a:buClr>
              <a:buFont typeface="Cabin"/>
              <a:buChar char="•"/>
              <a:defRPr/>
            </a:lvl4pPr>
            <a:lvl5pPr marL="1828800" marR="0" indent="-165861" algn="l" rtl="0">
              <a:spcBef>
                <a:spcPts val="3500"/>
              </a:spcBef>
              <a:spcAft>
                <a:spcPts val="0"/>
              </a:spcAft>
              <a:buClr>
                <a:schemeClr val="lt1"/>
              </a:buClr>
              <a:buFont typeface="Cabin"/>
              <a:buChar char="•"/>
              <a:defRPr/>
            </a:lvl5pPr>
            <a:lvl6pPr marL="2286000" marR="0" indent="-165861" algn="l" rtl="0">
              <a:spcBef>
                <a:spcPts val="3500"/>
              </a:spcBef>
              <a:spcAft>
                <a:spcPts val="0"/>
              </a:spcAft>
              <a:buClr>
                <a:schemeClr val="lt1"/>
              </a:buClr>
              <a:buFont typeface="Cabin"/>
              <a:buChar char="•"/>
              <a:defRPr/>
            </a:lvl6pPr>
            <a:lvl7pPr marL="2743200" marR="0" indent="-165861" algn="l" rtl="0">
              <a:spcBef>
                <a:spcPts val="3500"/>
              </a:spcBef>
              <a:spcAft>
                <a:spcPts val="0"/>
              </a:spcAft>
              <a:buClr>
                <a:schemeClr val="lt1"/>
              </a:buClr>
              <a:buFont typeface="Cabin"/>
              <a:buChar char="•"/>
              <a:defRPr/>
            </a:lvl7pPr>
            <a:lvl8pPr marL="3200400" marR="0" indent="-165861" algn="l" rtl="0">
              <a:spcBef>
                <a:spcPts val="3500"/>
              </a:spcBef>
              <a:spcAft>
                <a:spcPts val="0"/>
              </a:spcAft>
              <a:buClr>
                <a:schemeClr val="lt1"/>
              </a:buClr>
              <a:buFont typeface="Cabin"/>
              <a:buChar char="•"/>
              <a:defRPr/>
            </a:lvl8pPr>
            <a:lvl9pPr marL="3657600" marR="0" indent="-165861"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1.xml"/><Relationship Id="rId4" Type="http://schemas.openxmlformats.org/officeDocument/2006/relationships/hyperlink" Target="http://www.youtube.com/watch?v=EHJ9uYx5L58"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hyperlink" Target="http://www.flickr.com/photos/71502646@N00/2526007974/" TargetMode="External"/><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29.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Python Dictionaries</a:t>
            </a:r>
          </a:p>
        </p:txBody>
      </p:sp>
      <p:sp>
        <p:nvSpPr>
          <p:cNvPr id="45" name="Shape 45"/>
          <p:cNvSpPr txBox="1">
            <a:spLocks noGrp="1"/>
          </p:cNvSpPr>
          <p:nvPr>
            <p:ph type="body" idx="1"/>
          </p:nvPr>
        </p:nvSpPr>
        <p:spPr>
          <a:xfrm>
            <a:off x="1155700" y="4711700"/>
            <a:ext cx="13931900" cy="15494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b="0" i="0" u="none" strike="noStrike" cap="none" baseline="0">
                <a:solidFill>
                  <a:schemeClr val="lt1"/>
                </a:solidFill>
                <a:latin typeface="Cabin"/>
                <a:ea typeface="Cabin"/>
                <a:cs typeface="Cabin"/>
                <a:sym typeface="Cabin"/>
              </a:rPr>
              <a:t>Chapter 9</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838200" y="241300"/>
            <a:ext cx="109220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What is a Collection?</a:t>
            </a:r>
          </a:p>
        </p:txBody>
      </p:sp>
      <p:sp>
        <p:nvSpPr>
          <p:cNvPr id="93" name="Shape 93"/>
          <p:cNvSpPr txBox="1">
            <a:spLocks noGrp="1"/>
          </p:cNvSpPr>
          <p:nvPr>
            <p:ph type="body" idx="1"/>
          </p:nvPr>
        </p:nvSpPr>
        <p:spPr>
          <a:xfrm>
            <a:off x="1155700" y="2603500"/>
            <a:ext cx="13078800" cy="57023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A collection is nice because we can put more than one value in </a:t>
            </a:r>
            <a:r>
              <a:rPr lang="en-US" sz="3600">
                <a:solidFill>
                  <a:schemeClr val="lt1"/>
                </a:solidFill>
                <a:latin typeface="Cabin"/>
                <a:ea typeface="Cabin"/>
                <a:cs typeface="Cabin"/>
                <a:sym typeface="Cabin"/>
              </a:rPr>
              <a:t>it</a:t>
            </a:r>
            <a:r>
              <a:rPr lang="en-US" sz="3600" b="0" i="0" u="none" strike="noStrike" cap="none" baseline="0">
                <a:solidFill>
                  <a:schemeClr val="lt1"/>
                </a:solidFill>
                <a:latin typeface="Cabin"/>
                <a:ea typeface="Cabin"/>
                <a:cs typeface="Cabin"/>
                <a:sym typeface="Cabin"/>
              </a:rPr>
              <a:t> and carry them all around in one convenient package</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We have a bunch of values in a single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variable</a:t>
            </a:r>
            <a:r>
              <a:rPr lang="en-US" sz="3600" b="0" i="0" u="none" strike="noStrike" cap="none" baseline="0">
                <a:solidFill>
                  <a:schemeClr val="lt1"/>
                </a:solidFill>
                <a:latin typeface="Arial"/>
                <a:ea typeface="Arial"/>
                <a:cs typeface="Arial"/>
                <a:sym typeface="Arial"/>
              </a:rPr>
              <a:t>”</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We do this by having more than one place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in</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the variable</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We have ways of finding the different places in the variable</a:t>
            </a:r>
          </a:p>
        </p:txBody>
      </p:sp>
      <p:pic>
        <p:nvPicPr>
          <p:cNvPr id="94" name="Shape 94"/>
          <p:cNvPicPr preferRelativeResize="0"/>
          <p:nvPr/>
        </p:nvPicPr>
        <p:blipFill rotWithShape="1">
          <a:blip r:embed="rId3">
            <a:alphaModFix/>
          </a:blip>
          <a:srcRect/>
          <a:stretch/>
        </p:blipFill>
        <p:spPr>
          <a:xfrm>
            <a:off x="12279950" y="506050"/>
            <a:ext cx="3136800" cy="2265300"/>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Shape 9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What is </a:t>
            </a:r>
            <a:r>
              <a:rPr lang="en-US" sz="7600" b="0" i="0" u="none" strike="noStrike" cap="none" baseline="0">
                <a:solidFill>
                  <a:srgbClr val="FF0000"/>
                </a:solidFill>
                <a:latin typeface="Cabin"/>
                <a:ea typeface="Cabin"/>
                <a:cs typeface="Cabin"/>
                <a:sym typeface="Cabin"/>
              </a:rPr>
              <a:t>not</a:t>
            </a:r>
            <a:r>
              <a:rPr lang="en-US" sz="7600" b="0" i="0" u="none" strike="noStrike" cap="none" baseline="0">
                <a:solidFill>
                  <a:schemeClr val="lt1"/>
                </a:solidFill>
                <a:latin typeface="Cabin"/>
                <a:ea typeface="Cabin"/>
                <a:cs typeface="Cabin"/>
                <a:sym typeface="Cabin"/>
              </a:rPr>
              <a:t> a </a:t>
            </a:r>
            <a:r>
              <a:rPr lang="en-US" sz="7600" b="0" i="0" u="none" strike="noStrike" cap="none" baseline="0">
                <a:solidFill>
                  <a:schemeClr val="lt1"/>
                </a:solidFill>
                <a:latin typeface="Arial"/>
                <a:ea typeface="Arial"/>
                <a:cs typeface="Arial"/>
                <a:sym typeface="Arial"/>
              </a:rPr>
              <a:t>“</a:t>
            </a:r>
            <a:r>
              <a:rPr lang="en-US" sz="7600" b="0" i="0" u="none" strike="noStrike" cap="none" baseline="0">
                <a:solidFill>
                  <a:schemeClr val="lt1"/>
                </a:solidFill>
                <a:latin typeface="Cabin"/>
                <a:ea typeface="Cabin"/>
                <a:cs typeface="Cabin"/>
                <a:sym typeface="Cabin"/>
              </a:rPr>
              <a:t>Collection</a:t>
            </a:r>
            <a:r>
              <a:rPr lang="en-US" sz="7600" b="0" i="0" u="none" strike="noStrike" cap="none" baseline="0">
                <a:solidFill>
                  <a:schemeClr val="lt1"/>
                </a:solidFill>
                <a:latin typeface="Arial"/>
                <a:ea typeface="Arial"/>
                <a:cs typeface="Arial"/>
                <a:sym typeface="Arial"/>
              </a:rPr>
              <a:t>”</a:t>
            </a:r>
          </a:p>
        </p:txBody>
      </p:sp>
      <p:sp>
        <p:nvSpPr>
          <p:cNvPr id="100" name="Shape 100"/>
          <p:cNvSpPr txBox="1">
            <a:spLocks noGrp="1"/>
          </p:cNvSpPr>
          <p:nvPr>
            <p:ph type="body" idx="1"/>
          </p:nvPr>
        </p:nvSpPr>
        <p:spPr>
          <a:xfrm>
            <a:off x="1155700" y="2603500"/>
            <a:ext cx="13931900" cy="19811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0"/>
              </a:spcAft>
              <a:buSzPct val="100000"/>
              <a:buFont typeface="Cabin"/>
            </a:pPr>
            <a:r>
              <a:rPr lang="en-US" sz="3600" b="0" i="0" u="none" strike="noStrike" cap="none" baseline="0">
                <a:solidFill>
                  <a:schemeClr val="lt1"/>
                </a:solidFill>
                <a:latin typeface="Cabin"/>
                <a:ea typeface="Cabin"/>
                <a:cs typeface="Cabin"/>
                <a:sym typeface="Cabin"/>
              </a:rPr>
              <a:t>Most of our </a:t>
            </a:r>
            <a:r>
              <a:rPr lang="en-US" sz="3600" b="0" i="0" u="none" strike="noStrike" cap="none" baseline="0">
                <a:solidFill>
                  <a:srgbClr val="00FF00"/>
                </a:solidFill>
                <a:latin typeface="Cabin"/>
                <a:ea typeface="Cabin"/>
                <a:cs typeface="Cabin"/>
                <a:sym typeface="Cabin"/>
              </a:rPr>
              <a:t>variables</a:t>
            </a:r>
            <a:r>
              <a:rPr lang="en-US" sz="3600" b="0" i="0" u="none" strike="noStrike" cap="none" baseline="0">
                <a:solidFill>
                  <a:schemeClr val="lt1"/>
                </a:solidFill>
                <a:latin typeface="Cabin"/>
                <a:ea typeface="Cabin"/>
                <a:cs typeface="Cabin"/>
                <a:sym typeface="Cabin"/>
              </a:rPr>
              <a:t> have one value in them - when we put a new value in the </a:t>
            </a:r>
            <a:r>
              <a:rPr lang="en-US" sz="3600" b="0" i="0" u="none" strike="noStrike" cap="none" baseline="0">
                <a:solidFill>
                  <a:srgbClr val="00FF00"/>
                </a:solidFill>
                <a:latin typeface="Cabin"/>
                <a:ea typeface="Cabin"/>
                <a:cs typeface="Cabin"/>
                <a:sym typeface="Cabin"/>
              </a:rPr>
              <a:t>variable</a:t>
            </a:r>
            <a:r>
              <a:rPr lang="en-US" sz="3600" b="0" i="0" u="none" strike="noStrike" cap="none" baseline="0">
                <a:solidFill>
                  <a:schemeClr val="lt1"/>
                </a:solidFill>
                <a:latin typeface="Cabin"/>
                <a:ea typeface="Cabin"/>
                <a:cs typeface="Cabin"/>
                <a:sym typeface="Cabin"/>
              </a:rPr>
              <a:t> - the old value is overwritten</a:t>
            </a:r>
          </a:p>
        </p:txBody>
      </p:sp>
      <p:sp>
        <p:nvSpPr>
          <p:cNvPr id="101" name="Shape 101"/>
          <p:cNvSpPr txBox="1"/>
          <p:nvPr/>
        </p:nvSpPr>
        <p:spPr>
          <a:xfrm>
            <a:off x="2959100" y="4870450"/>
            <a:ext cx="12547499" cy="37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python</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Python 2.5.2 (r252:60911, Feb 22 2008, 07:57:53) </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[GCC 4.0.1 (Apple Computer, Inc. build 5363)] on darwin</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00FF00"/>
                </a:solidFill>
                <a:latin typeface="Courier New"/>
                <a:ea typeface="Courier New"/>
                <a:cs typeface="Courier New"/>
                <a:sym typeface="Courier New"/>
              </a:rPr>
              <a:t>x</a:t>
            </a:r>
            <a:r>
              <a:rPr lang="en-US" sz="3000" b="1" i="0" u="none" strike="noStrike" cap="none" baseline="0">
                <a:solidFill>
                  <a:schemeClr val="lt1"/>
                </a:solidFill>
                <a:latin typeface="Courier New"/>
                <a:ea typeface="Courier New"/>
                <a:cs typeface="Courier New"/>
                <a:sym typeface="Courier New"/>
              </a:rPr>
              <a:t> = 2</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00FF00"/>
                </a:solidFill>
                <a:latin typeface="Courier New"/>
                <a:ea typeface="Courier New"/>
                <a:cs typeface="Courier New"/>
                <a:sym typeface="Courier New"/>
              </a:rPr>
              <a:t>x</a:t>
            </a:r>
            <a:r>
              <a:rPr lang="en-US" sz="3000" b="1" i="0" u="none" strike="noStrike" cap="none" baseline="0">
                <a:solidFill>
                  <a:schemeClr val="lt1"/>
                </a:solidFill>
                <a:latin typeface="Courier New"/>
                <a:ea typeface="Courier New"/>
                <a:cs typeface="Courier New"/>
                <a:sym typeface="Courier New"/>
              </a:rPr>
              <a:t> = 4</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x</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4</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Shape 10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A Story of  Two Collections..</a:t>
            </a:r>
          </a:p>
        </p:txBody>
      </p:sp>
      <p:sp>
        <p:nvSpPr>
          <p:cNvPr id="107" name="Shape 107"/>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rgbClr val="00FF00"/>
              </a:buClr>
              <a:buSzPct val="100000"/>
              <a:buFont typeface="Cabin"/>
              <a:buChar char="•"/>
            </a:pPr>
            <a:r>
              <a:rPr lang="en-US" sz="3600" b="0" i="0" u="none" strike="noStrike" cap="none" baseline="0">
                <a:solidFill>
                  <a:srgbClr val="00FF00"/>
                </a:solidFill>
                <a:latin typeface="Cabin"/>
                <a:ea typeface="Cabin"/>
                <a:cs typeface="Cabin"/>
                <a:sym typeface="Cabin"/>
              </a:rPr>
              <a:t>List</a:t>
            </a:r>
          </a:p>
          <a:p>
            <a:pPr marL="1041400" marR="0" lvl="1" indent="-142494" algn="l" rtl="0">
              <a:lnSpc>
                <a:spcPct val="100000"/>
              </a:lnSpc>
              <a:spcBef>
                <a:spcPts val="3500"/>
              </a:spcBef>
              <a:spcAft>
                <a:spcPts val="0"/>
              </a:spcAft>
              <a:buClr>
                <a:schemeClr val="lt1"/>
              </a:buClr>
              <a:buSzPct val="100000"/>
              <a:buFont typeface="Cabin"/>
            </a:pPr>
            <a:r>
              <a:rPr lang="en-US" sz="3600" b="0" i="0" u="none" strike="noStrike" cap="none" baseline="0">
                <a:solidFill>
                  <a:schemeClr val="lt1"/>
                </a:solidFill>
                <a:latin typeface="Cabin"/>
                <a:ea typeface="Cabin"/>
                <a:cs typeface="Cabin"/>
                <a:sym typeface="Cabin"/>
              </a:rPr>
              <a:t>A linear collection of values that stay in order</a:t>
            </a:r>
          </a:p>
          <a:p>
            <a:pPr marL="568706" marR="0" lvl="0" indent="0" algn="l" rtl="0">
              <a:spcBef>
                <a:spcPts val="3500"/>
              </a:spcBef>
              <a:spcAft>
                <a:spcPts val="0"/>
              </a:spcAft>
              <a:buClr>
                <a:schemeClr val="lt1"/>
              </a:buClr>
              <a:buFont typeface="Cabin"/>
              <a:buNone/>
            </a:pPr>
            <a:endParaRPr sz="3600" b="0" i="0" u="none" strike="noStrike" cap="none" baseline="0">
              <a:solidFill>
                <a:schemeClr val="lt1"/>
              </a:solidFill>
              <a:latin typeface="Cabin"/>
              <a:ea typeface="Cabin"/>
              <a:cs typeface="Cabin"/>
              <a:sym typeface="Cabin"/>
            </a:endParaRPr>
          </a:p>
          <a:p>
            <a:pPr marL="749300" marR="0" lvl="0" indent="-371094" algn="l" rtl="0">
              <a:lnSpc>
                <a:spcPct val="100000"/>
              </a:lnSpc>
              <a:spcBef>
                <a:spcPts val="3500"/>
              </a:spcBef>
              <a:spcAft>
                <a:spcPts val="0"/>
              </a:spcAft>
              <a:buClr>
                <a:srgbClr val="FF0000"/>
              </a:buClr>
              <a:buSzPct val="100000"/>
              <a:buFont typeface="Cabin"/>
              <a:buChar char="•"/>
            </a:pPr>
            <a:r>
              <a:rPr lang="en-US" sz="3600" b="0" i="0" u="none" strike="noStrike" cap="none" baseline="0">
                <a:solidFill>
                  <a:srgbClr val="FF0000"/>
                </a:solidFill>
                <a:latin typeface="Cabin"/>
                <a:ea typeface="Cabin"/>
                <a:cs typeface="Cabin"/>
                <a:sym typeface="Cabin"/>
              </a:rPr>
              <a:t>Dictionary</a:t>
            </a:r>
          </a:p>
          <a:p>
            <a:pPr marL="1041400" marR="0" lvl="1" indent="-142494" algn="l" rtl="0">
              <a:lnSpc>
                <a:spcPct val="100000"/>
              </a:lnSpc>
              <a:spcBef>
                <a:spcPts val="3500"/>
              </a:spcBef>
              <a:spcAft>
                <a:spcPts val="0"/>
              </a:spcAft>
              <a:buClr>
                <a:schemeClr val="lt1"/>
              </a:buClr>
              <a:buSzPct val="100000"/>
              <a:buFont typeface="Cabin"/>
            </a:pPr>
            <a:r>
              <a:rPr lang="en-US" sz="3600" b="0" i="0" u="none" strike="noStrike" cap="none" baseline="0">
                <a:solidFill>
                  <a:schemeClr val="lt1"/>
                </a:solidFill>
                <a:latin typeface="Cabin"/>
                <a:ea typeface="Cabin"/>
                <a:cs typeface="Cabin"/>
                <a:sym typeface="Cabin"/>
              </a:rPr>
              <a:t>A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bag</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of values, each with its own label</a:t>
            </a:r>
          </a:p>
        </p:txBody>
      </p:sp>
      <p:pic>
        <p:nvPicPr>
          <p:cNvPr id="108" name="Shape 108"/>
          <p:cNvPicPr preferRelativeResize="0"/>
          <p:nvPr/>
        </p:nvPicPr>
        <p:blipFill rotWithShape="1">
          <a:blip r:embed="rId3">
            <a:alphaModFix/>
          </a:blip>
          <a:srcRect/>
          <a:stretch/>
        </p:blipFill>
        <p:spPr>
          <a:xfrm>
            <a:off x="13081000" y="2400300"/>
            <a:ext cx="2400300" cy="2451100"/>
          </a:xfrm>
          <a:prstGeom prst="rect">
            <a:avLst/>
          </a:prstGeom>
          <a:noFill/>
          <a:ln>
            <a:noFill/>
          </a:ln>
        </p:spPr>
      </p:pic>
      <p:pic>
        <p:nvPicPr>
          <p:cNvPr id="109" name="Shape 109"/>
          <p:cNvPicPr preferRelativeResize="0"/>
          <p:nvPr/>
        </p:nvPicPr>
        <p:blipFill rotWithShape="1">
          <a:blip r:embed="rId4">
            <a:alphaModFix/>
          </a:blip>
          <a:srcRect/>
          <a:stretch/>
        </p:blipFill>
        <p:spPr>
          <a:xfrm>
            <a:off x="11603036" y="2438400"/>
            <a:ext cx="815975" cy="2374899"/>
          </a:xfrm>
          <a:prstGeom prst="rect">
            <a:avLst/>
          </a:prstGeom>
          <a:noFill/>
          <a:ln>
            <a:noFill/>
          </a:ln>
        </p:spPr>
      </p:pic>
      <p:pic>
        <p:nvPicPr>
          <p:cNvPr id="110" name="Shape 110"/>
          <p:cNvPicPr preferRelativeResize="0"/>
          <p:nvPr/>
        </p:nvPicPr>
        <p:blipFill rotWithShape="1">
          <a:blip r:embed="rId5">
            <a:alphaModFix/>
          </a:blip>
          <a:srcRect/>
          <a:stretch/>
        </p:blipFill>
        <p:spPr>
          <a:xfrm>
            <a:off x="12369800" y="5321300"/>
            <a:ext cx="3200399" cy="3378299"/>
          </a:xfrm>
          <a:prstGeom prst="rect">
            <a:avLst/>
          </a:prstGeom>
          <a:noFill/>
          <a:ln>
            <a:noFill/>
          </a:ln>
        </p:spPr>
      </p:pic>
      <p:pic>
        <p:nvPicPr>
          <p:cNvPr id="111" name="Shape 111"/>
          <p:cNvPicPr preferRelativeResize="0"/>
          <p:nvPr/>
        </p:nvPicPr>
        <p:blipFill rotWithShape="1">
          <a:blip r:embed="rId6">
            <a:alphaModFix/>
          </a:blip>
          <a:srcRect/>
          <a:stretch/>
        </p:blipFill>
        <p:spPr>
          <a:xfrm>
            <a:off x="9745661" y="5562600"/>
            <a:ext cx="1889125" cy="1384299"/>
          </a:xfrm>
          <a:prstGeom prst="rect">
            <a:avLst/>
          </a:prstGeom>
          <a:noFill/>
          <a:ln>
            <a:noFill/>
          </a:ln>
        </p:spPr>
      </p:pic>
      <p:pic>
        <p:nvPicPr>
          <p:cNvPr id="112" name="Shape 112"/>
          <p:cNvPicPr preferRelativeResize="0"/>
          <p:nvPr/>
        </p:nvPicPr>
        <p:blipFill rotWithShape="1">
          <a:blip r:embed="rId7">
            <a:alphaModFix/>
          </a:blip>
          <a:srcRect/>
          <a:stretch/>
        </p:blipFill>
        <p:spPr>
          <a:xfrm>
            <a:off x="481012" y="673100"/>
            <a:ext cx="1525499" cy="1524000"/>
          </a:xfrm>
          <a:prstGeom prst="rect">
            <a:avLst/>
          </a:prstGeom>
          <a:noFill/>
          <a:ln>
            <a:noFill/>
          </a:ln>
        </p:spPr>
      </p:pic>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Shape 155"/>
          <p:cNvSpPr txBox="1">
            <a:spLocks noGrp="1"/>
          </p:cNvSpPr>
          <p:nvPr>
            <p:ph type="title"/>
          </p:nvPr>
        </p:nvSpPr>
        <p:spPr>
          <a:xfrm>
            <a:off x="1155700" y="673100"/>
            <a:ext cx="5333999" cy="356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Dictionaries</a:t>
            </a:r>
          </a:p>
        </p:txBody>
      </p:sp>
      <p:pic>
        <p:nvPicPr>
          <p:cNvPr id="156" name="Shape 156"/>
          <p:cNvPicPr preferRelativeResize="0"/>
          <p:nvPr/>
        </p:nvPicPr>
        <p:blipFill rotWithShape="1">
          <a:blip r:embed="rId3">
            <a:alphaModFix/>
          </a:blip>
          <a:srcRect/>
          <a:stretch/>
        </p:blipFill>
        <p:spPr>
          <a:xfrm>
            <a:off x="7708900" y="428625"/>
            <a:ext cx="7353300" cy="7762875"/>
          </a:xfrm>
          <a:prstGeom prst="rect">
            <a:avLst/>
          </a:prstGeom>
          <a:noFill/>
          <a:ln>
            <a:noFill/>
          </a:ln>
        </p:spPr>
      </p:pic>
      <p:pic>
        <p:nvPicPr>
          <p:cNvPr id="157" name="Shape 157"/>
          <p:cNvPicPr preferRelativeResize="0"/>
          <p:nvPr/>
        </p:nvPicPr>
        <p:blipFill rotWithShape="1">
          <a:blip r:embed="rId4">
            <a:alphaModFix/>
          </a:blip>
          <a:srcRect/>
          <a:stretch/>
        </p:blipFill>
        <p:spPr>
          <a:xfrm>
            <a:off x="1320812" y="4578350"/>
            <a:ext cx="4533899" cy="3320999"/>
          </a:xfrm>
          <a:prstGeom prst="rect">
            <a:avLst/>
          </a:prstGeom>
          <a:noFill/>
          <a:ln>
            <a:noFill/>
          </a:ln>
        </p:spPr>
      </p:pic>
      <p:sp>
        <p:nvSpPr>
          <p:cNvPr id="158" name="Shape 158"/>
          <p:cNvSpPr txBox="1"/>
          <p:nvPr/>
        </p:nvSpPr>
        <p:spPr>
          <a:xfrm>
            <a:off x="11539525" y="6477000"/>
            <a:ext cx="1797600" cy="622199"/>
          </a:xfrm>
          <a:prstGeom prst="rect">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money</a:t>
            </a:r>
          </a:p>
        </p:txBody>
      </p:sp>
      <p:sp>
        <p:nvSpPr>
          <p:cNvPr id="159" name="Shape 159"/>
          <p:cNvSpPr txBox="1"/>
          <p:nvPr/>
        </p:nvSpPr>
        <p:spPr>
          <a:xfrm>
            <a:off x="13428678" y="3479800"/>
            <a:ext cx="1392599" cy="622199"/>
          </a:xfrm>
          <a:prstGeom prst="rect">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tissue</a:t>
            </a:r>
          </a:p>
        </p:txBody>
      </p:sp>
      <p:sp>
        <p:nvSpPr>
          <p:cNvPr id="160" name="Shape 160"/>
          <p:cNvSpPr txBox="1"/>
          <p:nvPr/>
        </p:nvSpPr>
        <p:spPr>
          <a:xfrm>
            <a:off x="7764625" y="4000500"/>
            <a:ext cx="2049299" cy="622199"/>
          </a:xfrm>
          <a:prstGeom prst="rect">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calculator</a:t>
            </a:r>
          </a:p>
        </p:txBody>
      </p:sp>
      <p:sp>
        <p:nvSpPr>
          <p:cNvPr id="161" name="Shape 161"/>
          <p:cNvSpPr txBox="1"/>
          <p:nvPr/>
        </p:nvSpPr>
        <p:spPr>
          <a:xfrm>
            <a:off x="6781800" y="5638800"/>
            <a:ext cx="2049299" cy="622199"/>
          </a:xfrm>
          <a:prstGeom prst="rect">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perfume</a:t>
            </a:r>
          </a:p>
        </p:txBody>
      </p:sp>
      <p:sp>
        <p:nvSpPr>
          <p:cNvPr id="162" name="Shape 162"/>
          <p:cNvSpPr txBox="1"/>
          <p:nvPr/>
        </p:nvSpPr>
        <p:spPr>
          <a:xfrm>
            <a:off x="7761273" y="7277100"/>
            <a:ext cx="1328700" cy="622199"/>
          </a:xfrm>
          <a:prstGeom prst="rect">
            <a:avLst/>
          </a:prstGeom>
          <a:solidFill>
            <a:schemeClr val="accent1"/>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candy</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Shape 17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Dictionaries</a:t>
            </a:r>
          </a:p>
        </p:txBody>
      </p:sp>
      <p:sp>
        <p:nvSpPr>
          <p:cNvPr id="177" name="Shape 177"/>
          <p:cNvSpPr txBox="1">
            <a:spLocks noGrp="1"/>
          </p:cNvSpPr>
          <p:nvPr>
            <p:ph type="body" idx="1"/>
          </p:nvPr>
        </p:nvSpPr>
        <p:spPr>
          <a:xfrm>
            <a:off x="1155700" y="2603500"/>
            <a:ext cx="6083300" cy="57022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Lists </a:t>
            </a:r>
            <a:r>
              <a:rPr lang="en-US" sz="3600" b="0" i="0" u="none" strike="noStrike" cap="none" baseline="0">
                <a:solidFill>
                  <a:srgbClr val="00FFFF"/>
                </a:solidFill>
                <a:latin typeface="Cabin"/>
                <a:ea typeface="Cabin"/>
                <a:cs typeface="Cabin"/>
                <a:sym typeface="Cabin"/>
              </a:rPr>
              <a:t>index</a:t>
            </a:r>
            <a:r>
              <a:rPr lang="en-US" sz="3600" b="0" i="0" u="none" strike="noStrike" cap="none" baseline="0">
                <a:solidFill>
                  <a:schemeClr val="lt1"/>
                </a:solidFill>
                <a:latin typeface="Cabin"/>
                <a:ea typeface="Cabin"/>
                <a:cs typeface="Cabin"/>
                <a:sym typeface="Cabin"/>
              </a:rPr>
              <a:t> their entries based on the position in the list</a:t>
            </a:r>
          </a:p>
          <a:p>
            <a:pPr marL="749300" marR="0" lvl="0" indent="-371094" algn="l" rtl="0">
              <a:lnSpc>
                <a:spcPct val="100000"/>
              </a:lnSpc>
              <a:spcBef>
                <a:spcPts val="3500"/>
              </a:spcBef>
              <a:spcAft>
                <a:spcPts val="0"/>
              </a:spcAft>
              <a:buClr>
                <a:srgbClr val="FF00FF"/>
              </a:buClr>
              <a:buSzPct val="100000"/>
              <a:buFont typeface="Cabin"/>
              <a:buChar char="•"/>
            </a:pPr>
            <a:r>
              <a:rPr lang="en-US" sz="3600" b="0" i="0" u="none" strike="noStrike" cap="none" baseline="0">
                <a:solidFill>
                  <a:srgbClr val="FF00FF"/>
                </a:solidFill>
                <a:latin typeface="Cabin"/>
                <a:ea typeface="Cabin"/>
                <a:cs typeface="Cabin"/>
                <a:sym typeface="Cabin"/>
              </a:rPr>
              <a:t>Dictionaries</a:t>
            </a:r>
            <a:r>
              <a:rPr lang="en-US" sz="3600" b="0" i="0" u="none" strike="noStrike" cap="none" baseline="0">
                <a:solidFill>
                  <a:schemeClr val="lt1"/>
                </a:solidFill>
                <a:latin typeface="Cabin"/>
                <a:ea typeface="Cabin"/>
                <a:cs typeface="Cabin"/>
                <a:sym typeface="Cabin"/>
              </a:rPr>
              <a:t> are like bags - no order</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So we </a:t>
            </a:r>
            <a:r>
              <a:rPr lang="en-US" sz="3600" b="0" i="0" u="none" strike="noStrike" cap="none" baseline="0">
                <a:solidFill>
                  <a:srgbClr val="00FFFF"/>
                </a:solidFill>
                <a:latin typeface="Cabin"/>
                <a:ea typeface="Cabin"/>
                <a:cs typeface="Cabin"/>
                <a:sym typeface="Cabin"/>
              </a:rPr>
              <a:t>index</a:t>
            </a:r>
            <a:r>
              <a:rPr lang="en-US" sz="3600" b="0" i="0" u="none" strike="noStrike" cap="none" baseline="0">
                <a:solidFill>
                  <a:schemeClr val="lt1"/>
                </a:solidFill>
                <a:latin typeface="Cabin"/>
                <a:ea typeface="Cabin"/>
                <a:cs typeface="Cabin"/>
                <a:sym typeface="Cabin"/>
              </a:rPr>
              <a:t> the things we put in the </a:t>
            </a:r>
            <a:r>
              <a:rPr lang="en-US" sz="3600" b="0" i="0" u="none" strike="noStrike" cap="none" baseline="0">
                <a:solidFill>
                  <a:srgbClr val="FF00FF"/>
                </a:solidFill>
                <a:latin typeface="Cabin"/>
                <a:ea typeface="Cabin"/>
                <a:cs typeface="Cabin"/>
                <a:sym typeface="Cabin"/>
              </a:rPr>
              <a:t>dictionary</a:t>
            </a:r>
            <a:r>
              <a:rPr lang="en-US" sz="3600" b="0" i="0" u="none" strike="noStrike" cap="none" baseline="0">
                <a:solidFill>
                  <a:schemeClr val="lt1"/>
                </a:solidFill>
                <a:latin typeface="Cabin"/>
                <a:ea typeface="Cabin"/>
                <a:cs typeface="Cabin"/>
                <a:sym typeface="Cabin"/>
              </a:rPr>
              <a:t> with a </a:t>
            </a:r>
            <a:r>
              <a:rPr lang="en-US" sz="3600" b="0" i="0" u="none" strike="noStrike" cap="none" baseline="0">
                <a:solidFill>
                  <a:srgbClr val="00FFFF"/>
                </a:solidFill>
                <a:latin typeface="Arial"/>
                <a:ea typeface="Arial"/>
                <a:cs typeface="Arial"/>
                <a:sym typeface="Arial"/>
              </a:rPr>
              <a:t>“</a:t>
            </a:r>
            <a:r>
              <a:rPr lang="en-US" sz="3600" b="0" i="0" u="none" strike="noStrike" cap="none" baseline="0">
                <a:solidFill>
                  <a:srgbClr val="00FFFF"/>
                </a:solidFill>
                <a:latin typeface="Cabin"/>
                <a:ea typeface="Cabin"/>
                <a:cs typeface="Cabin"/>
                <a:sym typeface="Cabin"/>
              </a:rPr>
              <a:t>lookup tag</a:t>
            </a:r>
            <a:r>
              <a:rPr lang="en-US" sz="3600" b="0" i="0" u="none" strike="noStrike" cap="none" baseline="0">
                <a:solidFill>
                  <a:srgbClr val="00FFFF"/>
                </a:solidFill>
                <a:latin typeface="Arial"/>
                <a:ea typeface="Arial"/>
                <a:cs typeface="Arial"/>
                <a:sym typeface="Arial"/>
              </a:rPr>
              <a:t>”</a:t>
            </a:r>
          </a:p>
        </p:txBody>
      </p:sp>
      <p:sp>
        <p:nvSpPr>
          <p:cNvPr id="178" name="Shape 178"/>
          <p:cNvSpPr txBox="1"/>
          <p:nvPr/>
        </p:nvSpPr>
        <p:spPr>
          <a:xfrm>
            <a:off x="8242775" y="2155825"/>
            <a:ext cx="7428900" cy="6446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&gt;&gt;&gt; </a:t>
            </a:r>
            <a:r>
              <a:rPr lang="en-US" sz="2400" b="1" i="0" u="none" strike="noStrike" cap="none" baseline="0">
                <a:solidFill>
                  <a:srgbClr val="00FF00"/>
                </a:solidFill>
                <a:latin typeface="Courier New"/>
                <a:ea typeface="Courier New"/>
                <a:cs typeface="Courier New"/>
                <a:sym typeface="Courier New"/>
              </a:rPr>
              <a:t>purse</a:t>
            </a:r>
            <a:r>
              <a:rPr lang="en-US" sz="2400" b="1" i="0" u="none" strike="noStrike" cap="none" baseline="0">
                <a:solidFill>
                  <a:schemeClr val="lt1"/>
                </a:solidFill>
                <a:latin typeface="Courier New"/>
                <a:ea typeface="Courier New"/>
                <a:cs typeface="Courier New"/>
                <a:sym typeface="Courier New"/>
              </a:rPr>
              <a:t> = </a:t>
            </a:r>
            <a:r>
              <a:rPr lang="en-US" sz="2400" b="1" i="0" u="none" strike="noStrike" cap="none" baseline="0">
                <a:solidFill>
                  <a:srgbClr val="FF00FF"/>
                </a:solidFill>
                <a:latin typeface="Courier New"/>
                <a:ea typeface="Courier New"/>
                <a:cs typeface="Courier New"/>
                <a:sym typeface="Courier New"/>
              </a:rPr>
              <a:t>dict</a:t>
            </a:r>
            <a:r>
              <a:rPr lang="en-US" sz="24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&gt;&gt;&gt; </a:t>
            </a:r>
            <a:r>
              <a:rPr lang="en-US" sz="2400" b="1" i="0" u="none" strike="noStrike" cap="none" baseline="0">
                <a:solidFill>
                  <a:srgbClr val="00FF00"/>
                </a:solidFill>
                <a:latin typeface="Courier New"/>
                <a:ea typeface="Courier New"/>
                <a:cs typeface="Courier New"/>
                <a:sym typeface="Courier New"/>
              </a:rPr>
              <a:t>purse</a:t>
            </a:r>
            <a:r>
              <a:rPr lang="en-US" sz="2400" b="1" i="0" u="none" strike="noStrike" cap="none" baseline="0">
                <a:solidFill>
                  <a:srgbClr val="00FFFF"/>
                </a:solidFill>
                <a:latin typeface="Courier New"/>
                <a:ea typeface="Courier New"/>
                <a:cs typeface="Courier New"/>
                <a:sym typeface="Courier New"/>
              </a:rPr>
              <a:t>['money']</a:t>
            </a:r>
            <a:r>
              <a:rPr lang="en-US" sz="2400" b="1" i="0" u="none" strike="noStrike" cap="none" baseline="0">
                <a:solidFill>
                  <a:schemeClr val="lt1"/>
                </a:solidFill>
                <a:latin typeface="Courier New"/>
                <a:ea typeface="Courier New"/>
                <a:cs typeface="Courier New"/>
                <a:sym typeface="Courier New"/>
              </a:rPr>
              <a:t> = 12</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&gt;&gt;&gt; </a:t>
            </a:r>
            <a:r>
              <a:rPr lang="en-US" sz="2400" b="1" i="0" u="none" strike="noStrike" cap="none" baseline="0">
                <a:solidFill>
                  <a:srgbClr val="00FF00"/>
                </a:solidFill>
                <a:latin typeface="Courier New"/>
                <a:ea typeface="Courier New"/>
                <a:cs typeface="Courier New"/>
                <a:sym typeface="Courier New"/>
              </a:rPr>
              <a:t>purse</a:t>
            </a:r>
            <a:r>
              <a:rPr lang="en-US" sz="2400" b="1" i="0" u="none" strike="noStrike" cap="none" baseline="0">
                <a:solidFill>
                  <a:srgbClr val="00FFFF"/>
                </a:solidFill>
                <a:latin typeface="Courier New"/>
                <a:ea typeface="Courier New"/>
                <a:cs typeface="Courier New"/>
                <a:sym typeface="Courier New"/>
              </a:rPr>
              <a:t>['candy']</a:t>
            </a:r>
            <a:r>
              <a:rPr lang="en-US" sz="2400" b="1" i="0" u="none" strike="noStrike" cap="none" baseline="0">
                <a:solidFill>
                  <a:schemeClr val="lt1"/>
                </a:solidFill>
                <a:latin typeface="Courier New"/>
                <a:ea typeface="Courier New"/>
                <a:cs typeface="Courier New"/>
                <a:sym typeface="Courier New"/>
              </a:rPr>
              <a:t> = 3</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&gt;&gt;&gt; </a:t>
            </a:r>
            <a:r>
              <a:rPr lang="en-US" sz="2400" b="1" i="0" u="none" strike="noStrike" cap="none" baseline="0">
                <a:solidFill>
                  <a:srgbClr val="00FF00"/>
                </a:solidFill>
                <a:latin typeface="Courier New"/>
                <a:ea typeface="Courier New"/>
                <a:cs typeface="Courier New"/>
                <a:sym typeface="Courier New"/>
              </a:rPr>
              <a:t>purse</a:t>
            </a:r>
            <a:r>
              <a:rPr lang="en-US" sz="2400" b="1" i="0" u="none" strike="noStrike" cap="none" baseline="0">
                <a:solidFill>
                  <a:srgbClr val="00FFFF"/>
                </a:solidFill>
                <a:latin typeface="Courier New"/>
                <a:ea typeface="Courier New"/>
                <a:cs typeface="Courier New"/>
                <a:sym typeface="Courier New"/>
              </a:rPr>
              <a:t>['tissues']</a:t>
            </a:r>
            <a:r>
              <a:rPr lang="en-US" sz="2400" b="1" i="0" u="none" strike="noStrike" cap="none" baseline="0">
                <a:solidFill>
                  <a:schemeClr val="lt1"/>
                </a:solidFill>
                <a:latin typeface="Courier New"/>
                <a:ea typeface="Courier New"/>
                <a:cs typeface="Courier New"/>
                <a:sym typeface="Courier New"/>
              </a:rPr>
              <a:t> = 75</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&gt;&gt;&gt; </a:t>
            </a:r>
            <a:r>
              <a:rPr lang="en-US" sz="2400" b="1" i="0" u="none" strike="noStrike" cap="none" baseline="0">
                <a:solidFill>
                  <a:srgbClr val="FFFF00"/>
                </a:solidFill>
                <a:latin typeface="Courier New"/>
                <a:ea typeface="Courier New"/>
                <a:cs typeface="Courier New"/>
                <a:sym typeface="Courier New"/>
              </a:rPr>
              <a:t>print</a:t>
            </a:r>
            <a:r>
              <a:rPr lang="en-US" sz="2400" b="1" i="0" u="none" strike="noStrike" cap="none" baseline="0">
                <a:solidFill>
                  <a:schemeClr val="lt1"/>
                </a:solidFill>
                <a:latin typeface="Courier New"/>
                <a:ea typeface="Courier New"/>
                <a:cs typeface="Courier New"/>
                <a:sym typeface="Courier New"/>
              </a:rPr>
              <a:t> </a:t>
            </a:r>
            <a:r>
              <a:rPr lang="en-US" sz="2400" b="1" i="0" u="none" strike="noStrike" cap="none" baseline="0">
                <a:solidFill>
                  <a:srgbClr val="00FF00"/>
                </a:solidFill>
                <a:latin typeface="Courier New"/>
                <a:ea typeface="Courier New"/>
                <a:cs typeface="Courier New"/>
                <a:sym typeface="Courier New"/>
              </a:rPr>
              <a:t>purse</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{'money': 12, 'tissues': 75, 'candy': 3}</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&gt;&gt;&gt; </a:t>
            </a:r>
            <a:r>
              <a:rPr lang="en-US" sz="2400" b="1" i="0" u="none" strike="noStrike" cap="none" baseline="0">
                <a:solidFill>
                  <a:srgbClr val="FFFF00"/>
                </a:solidFill>
                <a:latin typeface="Courier New"/>
                <a:ea typeface="Courier New"/>
                <a:cs typeface="Courier New"/>
                <a:sym typeface="Courier New"/>
              </a:rPr>
              <a:t>print</a:t>
            </a:r>
            <a:r>
              <a:rPr lang="en-US" sz="2400" b="1" i="0" u="none" strike="noStrike" cap="none" baseline="0">
                <a:solidFill>
                  <a:schemeClr val="lt1"/>
                </a:solidFill>
                <a:latin typeface="Courier New"/>
                <a:ea typeface="Courier New"/>
                <a:cs typeface="Courier New"/>
                <a:sym typeface="Courier New"/>
              </a:rPr>
              <a:t> </a:t>
            </a:r>
            <a:r>
              <a:rPr lang="en-US" sz="2400" b="1" i="0" u="none" strike="noStrike" cap="none" baseline="0">
                <a:solidFill>
                  <a:srgbClr val="00FF00"/>
                </a:solidFill>
                <a:latin typeface="Courier New"/>
                <a:ea typeface="Courier New"/>
                <a:cs typeface="Courier New"/>
                <a:sym typeface="Courier New"/>
              </a:rPr>
              <a:t>purse</a:t>
            </a:r>
            <a:r>
              <a:rPr lang="en-US" sz="2400" b="1" i="0" u="none" strike="noStrike" cap="none" baseline="0">
                <a:solidFill>
                  <a:srgbClr val="00FFFF"/>
                </a:solidFill>
                <a:latin typeface="Courier New"/>
                <a:ea typeface="Courier New"/>
                <a:cs typeface="Courier New"/>
                <a:sym typeface="Courier New"/>
              </a:rPr>
              <a:t>['candy']</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3</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&gt;&gt;&gt; </a:t>
            </a:r>
            <a:r>
              <a:rPr lang="en-US" sz="2400" b="1" i="0" u="none" strike="noStrike" cap="none" baseline="0">
                <a:solidFill>
                  <a:srgbClr val="00FF00"/>
                </a:solidFill>
                <a:latin typeface="Courier New"/>
                <a:ea typeface="Courier New"/>
                <a:cs typeface="Courier New"/>
                <a:sym typeface="Courier New"/>
              </a:rPr>
              <a:t>purse</a:t>
            </a:r>
            <a:r>
              <a:rPr lang="en-US" sz="2400" b="1" i="0" u="none" strike="noStrike" cap="none" baseline="0">
                <a:solidFill>
                  <a:srgbClr val="00FFFF"/>
                </a:solidFill>
                <a:latin typeface="Courier New"/>
                <a:ea typeface="Courier New"/>
                <a:cs typeface="Courier New"/>
                <a:sym typeface="Courier New"/>
              </a:rPr>
              <a:t>['candy']</a:t>
            </a:r>
            <a:r>
              <a:rPr lang="en-US" sz="2400" b="1" i="0" u="none" strike="noStrike" cap="none" baseline="0">
                <a:solidFill>
                  <a:schemeClr val="lt1"/>
                </a:solidFill>
                <a:latin typeface="Courier New"/>
                <a:ea typeface="Courier New"/>
                <a:cs typeface="Courier New"/>
                <a:sym typeface="Courier New"/>
              </a:rPr>
              <a:t> = </a:t>
            </a:r>
            <a:r>
              <a:rPr lang="en-US" sz="2400" b="1" i="0" u="none" strike="noStrike" cap="none" baseline="0">
                <a:solidFill>
                  <a:srgbClr val="00FF00"/>
                </a:solidFill>
                <a:latin typeface="Courier New"/>
                <a:ea typeface="Courier New"/>
                <a:cs typeface="Courier New"/>
                <a:sym typeface="Courier New"/>
              </a:rPr>
              <a:t>purse</a:t>
            </a:r>
            <a:r>
              <a:rPr lang="en-US" sz="2400" b="1" i="0" u="none" strike="noStrike" cap="none" baseline="0">
                <a:solidFill>
                  <a:srgbClr val="00FFFF"/>
                </a:solidFill>
                <a:latin typeface="Courier New"/>
                <a:ea typeface="Courier New"/>
                <a:cs typeface="Courier New"/>
                <a:sym typeface="Courier New"/>
              </a:rPr>
              <a:t>['candy']</a:t>
            </a:r>
            <a:r>
              <a:rPr lang="en-US" sz="2400" b="1" i="0" u="none" strike="noStrike" cap="none" baseline="0">
                <a:solidFill>
                  <a:schemeClr val="lt1"/>
                </a:solidFill>
                <a:latin typeface="Courier New"/>
                <a:ea typeface="Courier New"/>
                <a:cs typeface="Courier New"/>
                <a:sym typeface="Courier New"/>
              </a:rPr>
              <a:t> + 2</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&gt;&gt;&gt; </a:t>
            </a:r>
            <a:r>
              <a:rPr lang="en-US" sz="2400" b="1" i="0" u="none" strike="noStrike" cap="none" baseline="0">
                <a:solidFill>
                  <a:srgbClr val="FFFF00"/>
                </a:solidFill>
                <a:latin typeface="Courier New"/>
                <a:ea typeface="Courier New"/>
                <a:cs typeface="Courier New"/>
                <a:sym typeface="Courier New"/>
              </a:rPr>
              <a:t>print</a:t>
            </a:r>
            <a:r>
              <a:rPr lang="en-US" sz="2400" b="1" i="0" u="none" strike="noStrike" cap="none" baseline="0">
                <a:solidFill>
                  <a:schemeClr val="lt1"/>
                </a:solidFill>
                <a:latin typeface="Courier New"/>
                <a:ea typeface="Courier New"/>
                <a:cs typeface="Courier New"/>
                <a:sym typeface="Courier New"/>
              </a:rPr>
              <a:t> </a:t>
            </a:r>
            <a:r>
              <a:rPr lang="en-US" sz="2400" b="1" i="0" u="none" strike="noStrike" cap="none" baseline="0">
                <a:solidFill>
                  <a:srgbClr val="00FF00"/>
                </a:solidFill>
                <a:latin typeface="Courier New"/>
                <a:ea typeface="Courier New"/>
                <a:cs typeface="Courier New"/>
                <a:sym typeface="Courier New"/>
              </a:rPr>
              <a:t>purse</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baseline="0">
                <a:solidFill>
                  <a:schemeClr val="lt1"/>
                </a:solidFill>
                <a:latin typeface="Courier New"/>
                <a:ea typeface="Courier New"/>
                <a:cs typeface="Courier New"/>
                <a:sym typeface="Courier New"/>
              </a:rPr>
              <a:t>{'money': 12, 'tissues': 75, </a:t>
            </a:r>
            <a:r>
              <a:rPr lang="en-US" sz="2400" b="1" i="0" u="none" strike="noStrike" cap="none" baseline="0">
                <a:solidFill>
                  <a:srgbClr val="00FFFF"/>
                </a:solidFill>
                <a:latin typeface="Courier New"/>
                <a:ea typeface="Courier New"/>
                <a:cs typeface="Courier New"/>
                <a:sym typeface="Courier New"/>
              </a:rPr>
              <a:t>'candy': 5</a:t>
            </a:r>
            <a:r>
              <a:rPr lang="en-US" sz="2400" b="1" i="0" u="none" strike="noStrike" cap="none" baseline="0">
                <a:solidFill>
                  <a:schemeClr val="lt1"/>
                </a:solidFill>
                <a:latin typeface="Courier New"/>
                <a:ea typeface="Courier New"/>
                <a:cs typeface="Courier New"/>
                <a:sym typeface="Courier New"/>
              </a:rPr>
              <a:t>}</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Shape 18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b="0" i="0" u="none" strike="noStrike" cap="none" baseline="0">
                <a:solidFill>
                  <a:srgbClr val="FF7F00"/>
                </a:solidFill>
                <a:latin typeface="Cabin"/>
                <a:ea typeface="Cabin"/>
                <a:cs typeface="Cabin"/>
                <a:sym typeface="Cabin"/>
              </a:rPr>
              <a:t>Comparing Lists and Dictionaries</a:t>
            </a:r>
          </a:p>
        </p:txBody>
      </p:sp>
      <p:sp>
        <p:nvSpPr>
          <p:cNvPr id="184" name="Shape 184"/>
          <p:cNvSpPr txBox="1">
            <a:spLocks noGrp="1"/>
          </p:cNvSpPr>
          <p:nvPr>
            <p:ph type="body" idx="1"/>
          </p:nvPr>
        </p:nvSpPr>
        <p:spPr>
          <a:xfrm>
            <a:off x="1155700" y="2603500"/>
            <a:ext cx="13931900" cy="17271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rgbClr val="FF00FF"/>
              </a:buClr>
              <a:buSzPct val="171000"/>
              <a:buFont typeface="Cabin"/>
              <a:buChar char="•"/>
            </a:pPr>
            <a:r>
              <a:rPr lang="en-US" sz="3600" b="0" i="0" u="none" strike="noStrike" cap="none" baseline="0">
                <a:solidFill>
                  <a:srgbClr val="FF00FF"/>
                </a:solidFill>
                <a:latin typeface="Cabin"/>
                <a:ea typeface="Cabin"/>
                <a:cs typeface="Cabin"/>
                <a:sym typeface="Cabin"/>
              </a:rPr>
              <a:t>Dictionaries</a:t>
            </a:r>
            <a:r>
              <a:rPr lang="en-US" sz="3600" b="0" i="0" u="none" strike="noStrike" cap="none" baseline="0">
                <a:solidFill>
                  <a:schemeClr val="lt1"/>
                </a:solidFill>
                <a:latin typeface="Cabin"/>
                <a:ea typeface="Cabin"/>
                <a:cs typeface="Cabin"/>
                <a:sym typeface="Cabin"/>
              </a:rPr>
              <a:t> are like </a:t>
            </a:r>
            <a:r>
              <a:rPr lang="en-US" sz="3600" b="0" i="0" u="none" strike="noStrike" cap="none" baseline="0">
                <a:solidFill>
                  <a:srgbClr val="00FF00"/>
                </a:solidFill>
                <a:latin typeface="Cabin"/>
                <a:ea typeface="Cabin"/>
                <a:cs typeface="Cabin"/>
                <a:sym typeface="Cabin"/>
              </a:rPr>
              <a:t>Lists</a:t>
            </a:r>
            <a:r>
              <a:rPr lang="en-US" sz="3600" b="0" i="0" u="none" strike="noStrike" cap="none" baseline="0">
                <a:solidFill>
                  <a:schemeClr val="lt1"/>
                </a:solidFill>
                <a:latin typeface="Cabin"/>
                <a:ea typeface="Cabin"/>
                <a:cs typeface="Cabin"/>
                <a:sym typeface="Cabin"/>
              </a:rPr>
              <a:t> except that they use </a:t>
            </a:r>
            <a:r>
              <a:rPr lang="en-US" sz="3600" b="0" i="0" u="none" strike="noStrike" cap="none" baseline="0">
                <a:solidFill>
                  <a:srgbClr val="FF7F00"/>
                </a:solidFill>
                <a:latin typeface="Cabin"/>
                <a:ea typeface="Cabin"/>
                <a:cs typeface="Cabin"/>
                <a:sym typeface="Cabin"/>
              </a:rPr>
              <a:t>keys</a:t>
            </a:r>
            <a:r>
              <a:rPr lang="en-US" sz="3600" b="0" i="0" u="none" strike="noStrike" cap="none" baseline="0">
                <a:solidFill>
                  <a:schemeClr val="lt1"/>
                </a:solidFill>
                <a:latin typeface="Cabin"/>
                <a:ea typeface="Cabin"/>
                <a:cs typeface="Cabin"/>
                <a:sym typeface="Cabin"/>
              </a:rPr>
              <a:t> instead of </a:t>
            </a:r>
            <a:r>
              <a:rPr lang="en-US" sz="3600" b="0" i="0" u="none" strike="noStrike" cap="none" baseline="0">
                <a:solidFill>
                  <a:srgbClr val="FF0000"/>
                </a:solidFill>
                <a:latin typeface="Cabin"/>
                <a:ea typeface="Cabin"/>
                <a:cs typeface="Cabin"/>
                <a:sym typeface="Cabin"/>
              </a:rPr>
              <a:t>numbers</a:t>
            </a:r>
            <a:r>
              <a:rPr lang="en-US" sz="3600" b="0" i="0" u="none" strike="noStrike" cap="none" baseline="0">
                <a:solidFill>
                  <a:schemeClr val="lt1"/>
                </a:solidFill>
                <a:latin typeface="Cabin"/>
                <a:ea typeface="Cabin"/>
                <a:cs typeface="Cabin"/>
                <a:sym typeface="Cabin"/>
              </a:rPr>
              <a:t> to look up </a:t>
            </a:r>
            <a:r>
              <a:rPr lang="en-US" sz="3600" b="0" i="0" u="none" strike="noStrike" cap="none" baseline="0">
                <a:solidFill>
                  <a:srgbClr val="FFFF00"/>
                </a:solidFill>
                <a:latin typeface="Cabin"/>
                <a:ea typeface="Cabin"/>
                <a:cs typeface="Cabin"/>
                <a:sym typeface="Cabin"/>
              </a:rPr>
              <a:t>values</a:t>
            </a:r>
          </a:p>
        </p:txBody>
      </p:sp>
      <p:sp>
        <p:nvSpPr>
          <p:cNvPr id="185" name="Shape 185"/>
          <p:cNvSpPr txBox="1"/>
          <p:nvPr/>
        </p:nvSpPr>
        <p:spPr>
          <a:xfrm>
            <a:off x="2381250" y="4922825"/>
            <a:ext cx="5059200" cy="33243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lst = </a:t>
            </a:r>
            <a:r>
              <a:rPr lang="en-US" sz="3000" b="1" i="0" u="none" strike="noStrike" cap="none" baseline="0">
                <a:solidFill>
                  <a:srgbClr val="00FFFF"/>
                </a:solidFill>
                <a:latin typeface="Courier New"/>
                <a:ea typeface="Courier New"/>
                <a:cs typeface="Courier New"/>
                <a:sym typeface="Courier New"/>
              </a:rPr>
              <a:t>list()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lst.</a:t>
            </a:r>
            <a:r>
              <a:rPr lang="en-US" sz="3000" b="1" i="0" u="none" strike="noStrike" cap="none" baseline="0">
                <a:solidFill>
                  <a:srgbClr val="FF00FF"/>
                </a:solidFill>
                <a:latin typeface="Courier New"/>
                <a:ea typeface="Courier New"/>
                <a:cs typeface="Courier New"/>
                <a:sym typeface="Courier New"/>
              </a:rPr>
              <a:t>append</a:t>
            </a:r>
            <a:r>
              <a:rPr lang="en-US" sz="3000" b="1" i="0" u="none" strike="noStrike" cap="none" baseline="0">
                <a:solidFill>
                  <a:srgbClr val="00FF00"/>
                </a:solidFill>
                <a:latin typeface="Courier New"/>
                <a:ea typeface="Courier New"/>
                <a:cs typeface="Courier New"/>
                <a:sym typeface="Courier New"/>
              </a:rPr>
              <a:t>(</a:t>
            </a:r>
            <a:r>
              <a:rPr lang="en-US" sz="3000" b="1" i="0" u="none" strike="noStrike" cap="none" baseline="0">
                <a:solidFill>
                  <a:srgbClr val="FFFF00"/>
                </a:solidFill>
                <a:latin typeface="Courier New"/>
                <a:ea typeface="Courier New"/>
                <a:cs typeface="Courier New"/>
                <a:sym typeface="Courier New"/>
              </a:rPr>
              <a:t>21</a:t>
            </a:r>
            <a:r>
              <a:rPr lang="en-US" sz="3000" b="1" i="0" u="none" strike="noStrike" cap="none" baseline="0">
                <a:solidFill>
                  <a:srgbClr val="00FF00"/>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lst.</a:t>
            </a:r>
            <a:r>
              <a:rPr lang="en-US" sz="3000" b="1" i="0" u="none" strike="noStrike" cap="none" baseline="0">
                <a:solidFill>
                  <a:srgbClr val="FF00FF"/>
                </a:solidFill>
                <a:latin typeface="Courier New"/>
                <a:ea typeface="Courier New"/>
                <a:cs typeface="Courier New"/>
                <a:sym typeface="Courier New"/>
              </a:rPr>
              <a:t>append</a:t>
            </a:r>
            <a:r>
              <a:rPr lang="en-US" sz="3000" b="1" i="0" u="none" strike="noStrike" cap="none" baseline="0">
                <a:solidFill>
                  <a:srgbClr val="00FF00"/>
                </a:solidFill>
                <a:latin typeface="Courier New"/>
                <a:ea typeface="Courier New"/>
                <a:cs typeface="Courier New"/>
                <a:sym typeface="Courier New"/>
              </a:rPr>
              <a:t>(</a:t>
            </a:r>
            <a:r>
              <a:rPr lang="en-US" sz="3000" b="1" i="0" u="none" strike="noStrike" cap="none" baseline="0">
                <a:solidFill>
                  <a:srgbClr val="FFFF00"/>
                </a:solidFill>
                <a:latin typeface="Courier New"/>
                <a:ea typeface="Courier New"/>
                <a:cs typeface="Courier New"/>
                <a:sym typeface="Courier New"/>
              </a:rPr>
              <a:t>183</a:t>
            </a:r>
            <a:r>
              <a:rPr lang="en-US" sz="3000" b="1" i="0" u="none" strike="noStrike" cap="none" baseline="0">
                <a:solidFill>
                  <a:srgbClr val="00FF00"/>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rgbClr val="00FF00"/>
                </a:solidFill>
                <a:latin typeface="Courier New"/>
                <a:ea typeface="Courier New"/>
                <a:cs typeface="Courier New"/>
                <a:sym typeface="Courier New"/>
              </a:rPr>
              <a:t> lst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a:t>
            </a:r>
            <a:r>
              <a:rPr lang="en-US" sz="3000" b="1" i="0" u="none" strike="noStrike" cap="none" baseline="0">
                <a:solidFill>
                  <a:srgbClr val="FFFF00"/>
                </a:solidFill>
                <a:latin typeface="Courier New"/>
                <a:ea typeface="Courier New"/>
                <a:cs typeface="Courier New"/>
                <a:sym typeface="Courier New"/>
              </a:rPr>
              <a:t>21, 183</a:t>
            </a:r>
            <a:r>
              <a:rPr lang="en-US" sz="3000" b="1" i="0" u="none" strike="noStrike" cap="none" baseline="0">
                <a:solidFill>
                  <a:srgbClr val="00FF00"/>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lst[</a:t>
            </a:r>
            <a:r>
              <a:rPr lang="en-US" sz="3000" b="1" i="0" u="none" strike="noStrike" cap="none" baseline="0">
                <a:solidFill>
                  <a:srgbClr val="FF0000"/>
                </a:solidFill>
                <a:latin typeface="Courier New"/>
                <a:ea typeface="Courier New"/>
                <a:cs typeface="Courier New"/>
                <a:sym typeface="Courier New"/>
              </a:rPr>
              <a:t>0</a:t>
            </a:r>
            <a:r>
              <a:rPr lang="en-US" sz="3000" b="1" i="0" u="none" strike="noStrike" cap="none" baseline="0">
                <a:solidFill>
                  <a:srgbClr val="00FF00"/>
                </a:solidFill>
                <a:latin typeface="Courier New"/>
                <a:ea typeface="Courier New"/>
                <a:cs typeface="Courier New"/>
                <a:sym typeface="Courier New"/>
              </a:rPr>
              <a:t>] = </a:t>
            </a:r>
            <a:r>
              <a:rPr lang="en-US" sz="3000" b="1" i="0" u="none" strike="noStrike" cap="none" baseline="0">
                <a:solidFill>
                  <a:srgbClr val="FFFF00"/>
                </a:solidFill>
                <a:latin typeface="Courier New"/>
                <a:ea typeface="Courier New"/>
                <a:cs typeface="Courier New"/>
                <a:sym typeface="Courier New"/>
              </a:rPr>
              <a:t>23</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rgbClr val="00FF00"/>
                </a:solidFill>
                <a:latin typeface="Courier New"/>
                <a:ea typeface="Courier New"/>
                <a:cs typeface="Courier New"/>
                <a:sym typeface="Courier New"/>
              </a:rPr>
              <a:t> lst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a:t>
            </a:r>
            <a:r>
              <a:rPr lang="en-US" sz="3000" b="1" i="0" u="none" strike="noStrike" cap="none" baseline="0">
                <a:solidFill>
                  <a:srgbClr val="FFFF00"/>
                </a:solidFill>
                <a:latin typeface="Courier New"/>
                <a:ea typeface="Courier New"/>
                <a:cs typeface="Courier New"/>
                <a:sym typeface="Courier New"/>
              </a:rPr>
              <a:t>23, 183</a:t>
            </a:r>
            <a:r>
              <a:rPr lang="en-US" sz="3000" b="1" i="0" u="none" strike="noStrike" cap="none" baseline="0">
                <a:solidFill>
                  <a:srgbClr val="00FF00"/>
                </a:solidFill>
                <a:latin typeface="Courier New"/>
                <a:ea typeface="Courier New"/>
                <a:cs typeface="Courier New"/>
                <a:sym typeface="Courier New"/>
              </a:rPr>
              <a:t>]</a:t>
            </a:r>
          </a:p>
        </p:txBody>
      </p:sp>
      <p:sp>
        <p:nvSpPr>
          <p:cNvPr id="186" name="Shape 186"/>
          <p:cNvSpPr txBox="1"/>
          <p:nvPr/>
        </p:nvSpPr>
        <p:spPr>
          <a:xfrm>
            <a:off x="9083675" y="4368800"/>
            <a:ext cx="6492600" cy="443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ddd =</a:t>
            </a:r>
            <a:r>
              <a:rPr lang="en-US" sz="3000" b="1" i="0" u="none" strike="noStrike" cap="none" baseline="0">
                <a:solidFill>
                  <a:srgbClr val="0000FF"/>
                </a:solidFill>
                <a:latin typeface="Courier New"/>
                <a:ea typeface="Courier New"/>
                <a:cs typeface="Courier New"/>
                <a:sym typeface="Courier New"/>
              </a:rPr>
              <a:t> </a:t>
            </a:r>
            <a:r>
              <a:rPr lang="en-US" sz="3000" b="1" i="0" u="none" strike="noStrike" cap="none" baseline="0">
                <a:solidFill>
                  <a:srgbClr val="00FFFF"/>
                </a:solidFill>
                <a:latin typeface="Courier New"/>
                <a:ea typeface="Courier New"/>
                <a:cs typeface="Courier New"/>
                <a:sym typeface="Courier New"/>
              </a:rPr>
              <a:t>dict()</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ddd[</a:t>
            </a:r>
            <a:r>
              <a:rPr lang="en-US" sz="3000" b="1" i="0" u="none" strike="noStrike" cap="none" baseline="0">
                <a:solidFill>
                  <a:srgbClr val="FF7F00"/>
                </a:solidFill>
                <a:latin typeface="Courier New"/>
                <a:ea typeface="Courier New"/>
                <a:cs typeface="Courier New"/>
                <a:sym typeface="Courier New"/>
              </a:rPr>
              <a:t>'age'</a:t>
            </a:r>
            <a:r>
              <a:rPr lang="en-US" sz="3000" b="1" i="0" u="none" strike="noStrike" cap="none" baseline="0">
                <a:solidFill>
                  <a:srgbClr val="FF00FF"/>
                </a:solidFill>
                <a:latin typeface="Courier New"/>
                <a:ea typeface="Courier New"/>
                <a:cs typeface="Courier New"/>
                <a:sym typeface="Courier New"/>
              </a:rPr>
              <a:t>] = </a:t>
            </a:r>
            <a:r>
              <a:rPr lang="en-US" sz="3000" b="1" i="0" u="none" strike="noStrike" cap="none" baseline="0">
                <a:solidFill>
                  <a:srgbClr val="FFFF00"/>
                </a:solidFill>
                <a:latin typeface="Courier New"/>
                <a:ea typeface="Courier New"/>
                <a:cs typeface="Courier New"/>
                <a:sym typeface="Courier New"/>
              </a:rPr>
              <a:t>21</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ddd[</a:t>
            </a:r>
            <a:r>
              <a:rPr lang="en-US" sz="3000" b="1" i="0" u="none" strike="noStrike" cap="none" baseline="0">
                <a:solidFill>
                  <a:srgbClr val="FF7F00"/>
                </a:solidFill>
                <a:latin typeface="Courier New"/>
                <a:ea typeface="Courier New"/>
                <a:cs typeface="Courier New"/>
                <a:sym typeface="Courier New"/>
              </a:rPr>
              <a:t>'course'</a:t>
            </a:r>
            <a:r>
              <a:rPr lang="en-US" sz="3000" b="1" i="0" u="none" strike="noStrike" cap="none" baseline="0">
                <a:solidFill>
                  <a:srgbClr val="FF00FF"/>
                </a:solidFill>
                <a:latin typeface="Courier New"/>
                <a:ea typeface="Courier New"/>
                <a:cs typeface="Courier New"/>
                <a:sym typeface="Courier New"/>
              </a:rPr>
              <a:t>] = </a:t>
            </a:r>
            <a:r>
              <a:rPr lang="en-US" sz="3000" b="1" i="0" u="none" strike="noStrike" cap="none" baseline="0">
                <a:solidFill>
                  <a:srgbClr val="FFFF00"/>
                </a:solidFill>
                <a:latin typeface="Courier New"/>
                <a:ea typeface="Courier New"/>
                <a:cs typeface="Courier New"/>
                <a:sym typeface="Courier New"/>
              </a:rPr>
              <a:t>182</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rgbClr val="FF00FF"/>
                </a:solidFill>
                <a:latin typeface="Courier New"/>
                <a:ea typeface="Courier New"/>
                <a:cs typeface="Courier New"/>
                <a:sym typeface="Courier New"/>
              </a:rPr>
              <a:t> ddd</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'course'</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182</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7F00"/>
                </a:solidFill>
                <a:latin typeface="Courier New"/>
                <a:ea typeface="Courier New"/>
                <a:cs typeface="Courier New"/>
                <a:sym typeface="Courier New"/>
              </a:rPr>
              <a:t>'age'</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21</a:t>
            </a:r>
            <a:r>
              <a:rPr lang="en-US" sz="3000" b="1" i="0" u="none" strike="noStrike" cap="none" baseline="0">
                <a:solidFill>
                  <a:srgbClr val="FF00FF"/>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ddd[</a:t>
            </a:r>
            <a:r>
              <a:rPr lang="en-US" sz="3000" b="1" i="0" u="none" strike="noStrike" cap="none" baseline="0">
                <a:solidFill>
                  <a:srgbClr val="FF7F00"/>
                </a:solidFill>
                <a:latin typeface="Courier New"/>
                <a:ea typeface="Courier New"/>
                <a:cs typeface="Courier New"/>
                <a:sym typeface="Courier New"/>
              </a:rPr>
              <a:t>'age'</a:t>
            </a:r>
            <a:r>
              <a:rPr lang="en-US" sz="3000" b="1" i="0" u="none" strike="noStrike" cap="none" baseline="0">
                <a:solidFill>
                  <a:srgbClr val="FF00FF"/>
                </a:solidFill>
                <a:latin typeface="Courier New"/>
                <a:ea typeface="Courier New"/>
                <a:cs typeface="Courier New"/>
                <a:sym typeface="Courier New"/>
              </a:rPr>
              <a:t>] = 23</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rgbClr val="FF00FF"/>
                </a:solidFill>
                <a:latin typeface="Courier New"/>
                <a:ea typeface="Courier New"/>
                <a:cs typeface="Courier New"/>
                <a:sym typeface="Courier New"/>
              </a:rPr>
              <a:t> ddd</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'course'</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182</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7F00"/>
                </a:solidFill>
                <a:latin typeface="Courier New"/>
                <a:ea typeface="Courier New"/>
                <a:cs typeface="Courier New"/>
                <a:sym typeface="Courier New"/>
              </a:rPr>
              <a:t>'age'</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23</a:t>
            </a:r>
            <a:r>
              <a:rPr lang="en-US" sz="3000" b="1" i="0" u="none" strike="noStrike" cap="none" baseline="0">
                <a:solidFill>
                  <a:srgbClr val="FF00FF"/>
                </a:solidFill>
                <a:latin typeface="Courier New"/>
                <a:ea typeface="Courier New"/>
                <a:cs typeface="Courier New"/>
                <a:sym typeface="Courier New"/>
              </a:rPr>
              <a:t>}</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Shape 191"/>
          <p:cNvSpPr txBox="1"/>
          <p:nvPr/>
        </p:nvSpPr>
        <p:spPr>
          <a:xfrm>
            <a:off x="2114550" y="449250"/>
            <a:ext cx="5690999" cy="39402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lst =</a:t>
            </a:r>
            <a:r>
              <a:rPr lang="en-US" sz="3000" b="1" i="0" u="none" strike="noStrike" cap="none" baseline="0">
                <a:solidFill>
                  <a:srgbClr val="0000FF"/>
                </a:solidFill>
                <a:latin typeface="Courier New"/>
                <a:ea typeface="Courier New"/>
                <a:cs typeface="Courier New"/>
                <a:sym typeface="Courier New"/>
              </a:rPr>
              <a:t> </a:t>
            </a:r>
            <a:r>
              <a:rPr lang="en-US" sz="3000" b="1" i="0" u="none" strike="noStrike" cap="none" baseline="0">
                <a:solidFill>
                  <a:srgbClr val="00FFFF"/>
                </a:solidFill>
                <a:latin typeface="Courier New"/>
                <a:ea typeface="Courier New"/>
                <a:cs typeface="Courier New"/>
                <a:sym typeface="Courier New"/>
              </a:rPr>
              <a:t>list()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lst.append(</a:t>
            </a:r>
            <a:r>
              <a:rPr lang="en-US" sz="3000" b="1" i="0" u="none" strike="noStrike" cap="none" baseline="0">
                <a:solidFill>
                  <a:srgbClr val="FFFF00"/>
                </a:solidFill>
                <a:latin typeface="Courier New"/>
                <a:ea typeface="Courier New"/>
                <a:cs typeface="Courier New"/>
                <a:sym typeface="Courier New"/>
              </a:rPr>
              <a:t>21</a:t>
            </a:r>
            <a:r>
              <a:rPr lang="en-US" sz="3000" b="1" i="0" u="none" strike="noStrike" cap="none" baseline="0">
                <a:solidFill>
                  <a:srgbClr val="00FF00"/>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lst.append(</a:t>
            </a:r>
            <a:r>
              <a:rPr lang="en-US" sz="3000" b="1" i="0" u="none" strike="noStrike" cap="none" baseline="0">
                <a:solidFill>
                  <a:srgbClr val="FFFF00"/>
                </a:solidFill>
                <a:latin typeface="Courier New"/>
                <a:ea typeface="Courier New"/>
                <a:cs typeface="Courier New"/>
                <a:sym typeface="Courier New"/>
              </a:rPr>
              <a:t>183</a:t>
            </a:r>
            <a:r>
              <a:rPr lang="en-US" sz="3000" b="1" i="0" u="none" strike="noStrike" cap="none" baseline="0">
                <a:solidFill>
                  <a:srgbClr val="00FF00"/>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rgbClr val="00FF00"/>
                </a:solidFill>
                <a:latin typeface="Courier New"/>
                <a:ea typeface="Courier New"/>
                <a:cs typeface="Courier New"/>
                <a:sym typeface="Courier New"/>
              </a:rPr>
              <a:t> lst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a:t>
            </a:r>
            <a:r>
              <a:rPr lang="en-US" sz="3000" b="1" i="0" u="none" strike="noStrike" cap="none" baseline="0">
                <a:solidFill>
                  <a:srgbClr val="FFFF00"/>
                </a:solidFill>
                <a:latin typeface="Courier New"/>
                <a:ea typeface="Courier New"/>
                <a:cs typeface="Courier New"/>
                <a:sym typeface="Courier New"/>
              </a:rPr>
              <a:t>21, 183</a:t>
            </a:r>
            <a:r>
              <a:rPr lang="en-US" sz="3000" b="1" i="0" u="none" strike="noStrike" cap="none" baseline="0">
                <a:solidFill>
                  <a:srgbClr val="00FF00"/>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lst</a:t>
            </a:r>
            <a:r>
              <a:rPr lang="en-US" sz="3000" b="1" i="0" u="none" strike="noStrike" cap="none" baseline="0">
                <a:solidFill>
                  <a:srgbClr val="FF7F00"/>
                </a:solidFill>
                <a:latin typeface="Courier New"/>
                <a:ea typeface="Courier New"/>
                <a:cs typeface="Courier New"/>
                <a:sym typeface="Courier New"/>
              </a:rPr>
              <a:t>[0]</a:t>
            </a:r>
            <a:r>
              <a:rPr lang="en-US" sz="3000" b="1" i="0" u="none" strike="noStrike" cap="none" baseline="0">
                <a:solidFill>
                  <a:srgbClr val="00FF00"/>
                </a:solidFill>
                <a:latin typeface="Courier New"/>
                <a:ea typeface="Courier New"/>
                <a:cs typeface="Courier New"/>
                <a:sym typeface="Courier New"/>
              </a:rPr>
              <a:t> = </a:t>
            </a:r>
            <a:r>
              <a:rPr lang="en-US" sz="3000" b="1" i="0" u="none" strike="noStrike" cap="none" baseline="0">
                <a:solidFill>
                  <a:srgbClr val="FFFF00"/>
                </a:solidFill>
                <a:latin typeface="Courier New"/>
                <a:ea typeface="Courier New"/>
                <a:cs typeface="Courier New"/>
                <a:sym typeface="Courier New"/>
              </a:rPr>
              <a:t>23</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rgbClr val="00FF00"/>
                </a:solidFill>
                <a:latin typeface="Courier New"/>
                <a:ea typeface="Courier New"/>
                <a:cs typeface="Courier New"/>
                <a:sym typeface="Courier New"/>
              </a:rPr>
              <a:t> lst</a:t>
            </a:r>
          </a:p>
          <a:p>
            <a:pPr marL="0" marR="0" lvl="0" indent="0" algn="l" rtl="0">
              <a:lnSpc>
                <a:spcPct val="100000"/>
              </a:lnSpc>
              <a:spcBef>
                <a:spcPts val="0"/>
              </a:spcBef>
              <a:spcAft>
                <a:spcPts val="0"/>
              </a:spcAft>
              <a:buClr>
                <a:srgbClr val="00FF00"/>
              </a:buClr>
              <a:buSzPct val="25000"/>
              <a:buFont typeface="Cabin"/>
              <a:buNone/>
            </a:pPr>
            <a:r>
              <a:rPr lang="en-US" sz="3000" b="1" i="0" u="none" strike="noStrike" cap="none" baseline="0">
                <a:solidFill>
                  <a:srgbClr val="00FF00"/>
                </a:solidFill>
                <a:latin typeface="Courier New"/>
                <a:ea typeface="Courier New"/>
                <a:cs typeface="Courier New"/>
                <a:sym typeface="Courier New"/>
              </a:rPr>
              <a:t>[</a:t>
            </a:r>
            <a:r>
              <a:rPr lang="en-US" sz="3000" b="1" i="0" u="none" strike="noStrike" cap="none" baseline="0">
                <a:solidFill>
                  <a:srgbClr val="FFFF00"/>
                </a:solidFill>
                <a:latin typeface="Courier New"/>
                <a:ea typeface="Courier New"/>
                <a:cs typeface="Courier New"/>
                <a:sym typeface="Courier New"/>
              </a:rPr>
              <a:t>23, 183</a:t>
            </a:r>
            <a:r>
              <a:rPr lang="en-US" sz="3000" b="1" i="0" u="none" strike="noStrike" cap="none" baseline="0">
                <a:solidFill>
                  <a:srgbClr val="00FF00"/>
                </a:solidFill>
                <a:latin typeface="Courier New"/>
                <a:ea typeface="Courier New"/>
                <a:cs typeface="Courier New"/>
                <a:sym typeface="Courier New"/>
              </a:rPr>
              <a:t>]</a:t>
            </a:r>
          </a:p>
        </p:txBody>
      </p:sp>
      <p:sp>
        <p:nvSpPr>
          <p:cNvPr id="192" name="Shape 192"/>
          <p:cNvSpPr txBox="1"/>
          <p:nvPr/>
        </p:nvSpPr>
        <p:spPr>
          <a:xfrm>
            <a:off x="2111375" y="4843450"/>
            <a:ext cx="6215699" cy="39402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ddd = </a:t>
            </a:r>
            <a:r>
              <a:rPr lang="en-US" sz="3000" b="1" i="0" u="none" strike="noStrike" cap="none" baseline="0">
                <a:solidFill>
                  <a:srgbClr val="00FFFF"/>
                </a:solidFill>
                <a:latin typeface="Courier New"/>
                <a:ea typeface="Courier New"/>
                <a:cs typeface="Courier New"/>
                <a:sym typeface="Courier New"/>
              </a:rPr>
              <a:t>dict()</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ddd[</a:t>
            </a:r>
            <a:r>
              <a:rPr lang="en-US" sz="3000" b="1" i="0" u="none" strike="noStrike" cap="none" baseline="0">
                <a:solidFill>
                  <a:srgbClr val="FF7F00"/>
                </a:solidFill>
                <a:latin typeface="Courier New"/>
                <a:ea typeface="Courier New"/>
                <a:cs typeface="Courier New"/>
                <a:sym typeface="Courier New"/>
              </a:rPr>
              <a:t>'age'</a:t>
            </a:r>
            <a:r>
              <a:rPr lang="en-US" sz="3000" b="1" i="0" u="none" strike="noStrike" cap="none" baseline="0">
                <a:solidFill>
                  <a:srgbClr val="FF00FF"/>
                </a:solidFill>
                <a:latin typeface="Courier New"/>
                <a:ea typeface="Courier New"/>
                <a:cs typeface="Courier New"/>
                <a:sym typeface="Courier New"/>
              </a:rPr>
              <a:t>] = </a:t>
            </a:r>
            <a:r>
              <a:rPr lang="en-US" sz="3000" b="1" i="0" u="none" strike="noStrike" cap="none" baseline="0">
                <a:solidFill>
                  <a:srgbClr val="FFFF00"/>
                </a:solidFill>
                <a:latin typeface="Courier New"/>
                <a:ea typeface="Courier New"/>
                <a:cs typeface="Courier New"/>
                <a:sym typeface="Courier New"/>
              </a:rPr>
              <a:t>21</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ddd[</a:t>
            </a:r>
            <a:r>
              <a:rPr lang="en-US" sz="3000" b="1" i="0" u="none" strike="noStrike" cap="none" baseline="0">
                <a:solidFill>
                  <a:srgbClr val="FF7F00"/>
                </a:solidFill>
                <a:latin typeface="Courier New"/>
                <a:ea typeface="Courier New"/>
                <a:cs typeface="Courier New"/>
                <a:sym typeface="Courier New"/>
              </a:rPr>
              <a:t>'course'</a:t>
            </a:r>
            <a:r>
              <a:rPr lang="en-US" sz="3000" b="1" i="0" u="none" strike="noStrike" cap="none" baseline="0">
                <a:solidFill>
                  <a:srgbClr val="FF00FF"/>
                </a:solidFill>
                <a:latin typeface="Courier New"/>
                <a:ea typeface="Courier New"/>
                <a:cs typeface="Courier New"/>
                <a:sym typeface="Courier New"/>
              </a:rPr>
              <a:t>] = </a:t>
            </a:r>
            <a:r>
              <a:rPr lang="en-US" sz="3000" b="1" i="0" u="none" strike="noStrike" cap="none" baseline="0">
                <a:solidFill>
                  <a:srgbClr val="FFFF00"/>
                </a:solidFill>
                <a:latin typeface="Courier New"/>
                <a:ea typeface="Courier New"/>
                <a:cs typeface="Courier New"/>
                <a:sym typeface="Courier New"/>
              </a:rPr>
              <a:t>182</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rgbClr val="FF00FF"/>
                </a:solidFill>
                <a:latin typeface="Courier New"/>
                <a:ea typeface="Courier New"/>
                <a:cs typeface="Courier New"/>
                <a:sym typeface="Courier New"/>
              </a:rPr>
              <a:t> ddd</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'course'</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182</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7F00"/>
                </a:solidFill>
                <a:latin typeface="Courier New"/>
                <a:ea typeface="Courier New"/>
                <a:cs typeface="Courier New"/>
                <a:sym typeface="Courier New"/>
              </a:rPr>
              <a:t>'age'</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21</a:t>
            </a:r>
            <a:r>
              <a:rPr lang="en-US" sz="3000" b="1" i="0" u="none" strike="noStrike" cap="none" baseline="0">
                <a:solidFill>
                  <a:srgbClr val="FF00FF"/>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ddd[</a:t>
            </a:r>
            <a:r>
              <a:rPr lang="en-US" sz="3000" b="1" i="0" u="none" strike="noStrike" cap="none" baseline="0">
                <a:solidFill>
                  <a:srgbClr val="FF7F00"/>
                </a:solidFill>
                <a:latin typeface="Courier New"/>
                <a:ea typeface="Courier New"/>
                <a:cs typeface="Courier New"/>
                <a:sym typeface="Courier New"/>
              </a:rPr>
              <a:t>'age'</a:t>
            </a:r>
            <a:r>
              <a:rPr lang="en-US" sz="3000" b="1" i="0" u="none" strike="noStrike" cap="none" baseline="0">
                <a:solidFill>
                  <a:srgbClr val="FF00FF"/>
                </a:solidFill>
                <a:latin typeface="Courier New"/>
                <a:ea typeface="Courier New"/>
                <a:cs typeface="Courier New"/>
                <a:sym typeface="Courier New"/>
              </a:rPr>
              <a:t>] = 23</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rgbClr val="FF00FF"/>
                </a:solidFill>
                <a:latin typeface="Courier New"/>
                <a:ea typeface="Courier New"/>
                <a:cs typeface="Courier New"/>
                <a:sym typeface="Courier New"/>
              </a:rPr>
              <a:t> ddd</a:t>
            </a:r>
          </a:p>
          <a:p>
            <a:pPr marL="0" marR="0" lvl="0" indent="0" algn="l" rtl="0">
              <a:lnSpc>
                <a:spcPct val="100000"/>
              </a:lnSpc>
              <a:spcBef>
                <a:spcPts val="0"/>
              </a:spcBef>
              <a:spcAft>
                <a:spcPts val="0"/>
              </a:spcAft>
              <a:buClr>
                <a:srgbClr val="FF00FF"/>
              </a:buClr>
              <a:buSzPct val="25000"/>
              <a:buFont typeface="Cabin"/>
              <a:buNone/>
            </a:pPr>
            <a:r>
              <a:rPr lang="en-US" sz="3000" b="1" i="0" u="none" strike="noStrike" cap="none" baseline="0">
                <a:solidFill>
                  <a:srgbClr val="FF00FF"/>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'course'</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182</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7F00"/>
                </a:solidFill>
                <a:latin typeface="Courier New"/>
                <a:ea typeface="Courier New"/>
                <a:cs typeface="Courier New"/>
                <a:sym typeface="Courier New"/>
              </a:rPr>
              <a:t>'age'</a:t>
            </a:r>
            <a:r>
              <a:rPr lang="en-US" sz="3000" b="1" i="0" u="none" strike="noStrike" cap="none" baseline="0">
                <a:solidFill>
                  <a:srgbClr val="FF00FF"/>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23</a:t>
            </a:r>
            <a:r>
              <a:rPr lang="en-US" sz="3000" b="1" i="0" u="none" strike="noStrike" cap="none" baseline="0">
                <a:solidFill>
                  <a:srgbClr val="FF00FF"/>
                </a:solidFill>
                <a:latin typeface="Courier New"/>
                <a:ea typeface="Courier New"/>
                <a:cs typeface="Courier New"/>
                <a:sym typeface="Courier New"/>
              </a:rPr>
              <a:t>}</a:t>
            </a:r>
          </a:p>
        </p:txBody>
      </p:sp>
      <p:sp>
        <p:nvSpPr>
          <p:cNvPr id="193" name="Shape 193"/>
          <p:cNvSpPr txBox="1"/>
          <p:nvPr/>
        </p:nvSpPr>
        <p:spPr>
          <a:xfrm>
            <a:off x="11490325" y="2209800"/>
            <a:ext cx="6477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[0]</a:t>
            </a:r>
          </a:p>
        </p:txBody>
      </p:sp>
      <p:sp>
        <p:nvSpPr>
          <p:cNvPr id="194" name="Shape 194"/>
          <p:cNvSpPr txBox="1"/>
          <p:nvPr/>
        </p:nvSpPr>
        <p:spPr>
          <a:xfrm>
            <a:off x="12814300" y="2197100"/>
            <a:ext cx="5970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21</a:t>
            </a:r>
          </a:p>
        </p:txBody>
      </p:sp>
      <p:sp>
        <p:nvSpPr>
          <p:cNvPr id="195" name="Shape 195"/>
          <p:cNvSpPr txBox="1"/>
          <p:nvPr/>
        </p:nvSpPr>
        <p:spPr>
          <a:xfrm>
            <a:off x="11490325" y="2971800"/>
            <a:ext cx="6477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[1]</a:t>
            </a:r>
          </a:p>
        </p:txBody>
      </p:sp>
      <p:sp>
        <p:nvSpPr>
          <p:cNvPr id="196" name="Shape 196"/>
          <p:cNvSpPr txBox="1"/>
          <p:nvPr/>
        </p:nvSpPr>
        <p:spPr>
          <a:xfrm>
            <a:off x="12814300" y="2959100"/>
            <a:ext cx="9476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183</a:t>
            </a:r>
          </a:p>
        </p:txBody>
      </p:sp>
      <p:sp>
        <p:nvSpPr>
          <p:cNvPr id="197" name="Shape 197"/>
          <p:cNvSpPr txBox="1"/>
          <p:nvPr/>
        </p:nvSpPr>
        <p:spPr>
          <a:xfrm>
            <a:off x="14986000" y="2362200"/>
            <a:ext cx="6477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4600" b="0" i="0" u="none" strike="noStrike" cap="none" baseline="0">
                <a:solidFill>
                  <a:srgbClr val="00FF00"/>
                </a:solidFill>
                <a:latin typeface="Cabin"/>
                <a:ea typeface="Cabin"/>
                <a:cs typeface="Cabin"/>
                <a:sym typeface="Cabin"/>
              </a:rPr>
              <a:t>l</a:t>
            </a:r>
            <a:r>
              <a:rPr lang="en-US" sz="4600">
                <a:solidFill>
                  <a:srgbClr val="00FF00"/>
                </a:solidFill>
                <a:latin typeface="Cabin"/>
                <a:ea typeface="Cabin"/>
                <a:cs typeface="Cabin"/>
                <a:sym typeface="Cabin"/>
              </a:rPr>
              <a:t>st</a:t>
            </a:r>
          </a:p>
        </p:txBody>
      </p:sp>
      <p:sp>
        <p:nvSpPr>
          <p:cNvPr id="198" name="Shape 198"/>
          <p:cNvSpPr txBox="1"/>
          <p:nvPr/>
        </p:nvSpPr>
        <p:spPr>
          <a:xfrm>
            <a:off x="11414125" y="1409700"/>
            <a:ext cx="7986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Key</a:t>
            </a:r>
          </a:p>
        </p:txBody>
      </p:sp>
      <p:sp>
        <p:nvSpPr>
          <p:cNvPr id="199" name="Shape 199"/>
          <p:cNvSpPr txBox="1"/>
          <p:nvPr/>
        </p:nvSpPr>
        <p:spPr>
          <a:xfrm>
            <a:off x="12834936" y="1409700"/>
            <a:ext cx="110648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Value</a:t>
            </a:r>
          </a:p>
        </p:txBody>
      </p:sp>
      <p:sp>
        <p:nvSpPr>
          <p:cNvPr id="200" name="Shape 200"/>
          <p:cNvSpPr txBox="1"/>
          <p:nvPr/>
        </p:nvSpPr>
        <p:spPr>
          <a:xfrm>
            <a:off x="10645775" y="6667500"/>
            <a:ext cx="18476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['course']</a:t>
            </a:r>
          </a:p>
        </p:txBody>
      </p:sp>
      <p:sp>
        <p:nvSpPr>
          <p:cNvPr id="201" name="Shape 201"/>
          <p:cNvSpPr txBox="1"/>
          <p:nvPr/>
        </p:nvSpPr>
        <p:spPr>
          <a:xfrm>
            <a:off x="13017500" y="6654800"/>
            <a:ext cx="9476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183</a:t>
            </a:r>
          </a:p>
        </p:txBody>
      </p:sp>
      <p:sp>
        <p:nvSpPr>
          <p:cNvPr id="202" name="Shape 202"/>
          <p:cNvSpPr txBox="1"/>
          <p:nvPr/>
        </p:nvSpPr>
        <p:spPr>
          <a:xfrm>
            <a:off x="11293475" y="7429500"/>
            <a:ext cx="12002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['age']</a:t>
            </a:r>
          </a:p>
        </p:txBody>
      </p:sp>
      <p:sp>
        <p:nvSpPr>
          <p:cNvPr id="203" name="Shape 203"/>
          <p:cNvSpPr txBox="1"/>
          <p:nvPr/>
        </p:nvSpPr>
        <p:spPr>
          <a:xfrm>
            <a:off x="13017500" y="7416800"/>
            <a:ext cx="5970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a:solidFill>
                  <a:schemeClr val="lt1"/>
                </a:solidFill>
                <a:latin typeface="Cabin"/>
                <a:ea typeface="Cabin"/>
                <a:cs typeface="Cabin"/>
                <a:sym typeface="Cabin"/>
              </a:rPr>
              <a:t> </a:t>
            </a:r>
            <a:r>
              <a:rPr lang="en-US" sz="3600" b="0" i="0" u="none" strike="noStrike" cap="none" baseline="0">
                <a:solidFill>
                  <a:schemeClr val="lt1"/>
                </a:solidFill>
                <a:latin typeface="Cabin"/>
                <a:ea typeface="Cabin"/>
                <a:cs typeface="Cabin"/>
                <a:sym typeface="Cabin"/>
              </a:rPr>
              <a:t>21</a:t>
            </a:r>
          </a:p>
        </p:txBody>
      </p:sp>
      <p:sp>
        <p:nvSpPr>
          <p:cNvPr id="204" name="Shape 204"/>
          <p:cNvSpPr txBox="1"/>
          <p:nvPr/>
        </p:nvSpPr>
        <p:spPr>
          <a:xfrm>
            <a:off x="14820900" y="6870700"/>
            <a:ext cx="996950" cy="774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4600" b="0" i="0" u="none" strike="noStrike" cap="none" baseline="0">
                <a:solidFill>
                  <a:srgbClr val="FF00FF"/>
                </a:solidFill>
                <a:latin typeface="Cabin"/>
                <a:ea typeface="Cabin"/>
                <a:cs typeface="Cabin"/>
                <a:sym typeface="Cabin"/>
              </a:rPr>
              <a:t>ddd</a:t>
            </a:r>
          </a:p>
        </p:txBody>
      </p:sp>
      <p:sp>
        <p:nvSpPr>
          <p:cNvPr id="205" name="Shape 205"/>
          <p:cNvSpPr txBox="1"/>
          <p:nvPr/>
        </p:nvSpPr>
        <p:spPr>
          <a:xfrm>
            <a:off x="11541125" y="5867400"/>
            <a:ext cx="7985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Key</a:t>
            </a:r>
          </a:p>
        </p:txBody>
      </p:sp>
      <p:sp>
        <p:nvSpPr>
          <p:cNvPr id="206" name="Shape 206"/>
          <p:cNvSpPr txBox="1"/>
          <p:nvPr/>
        </p:nvSpPr>
        <p:spPr>
          <a:xfrm>
            <a:off x="12961937" y="5867400"/>
            <a:ext cx="1106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Value</a:t>
            </a:r>
          </a:p>
        </p:txBody>
      </p:sp>
      <p:sp>
        <p:nvSpPr>
          <p:cNvPr id="207" name="Shape 207"/>
          <p:cNvSpPr txBox="1"/>
          <p:nvPr/>
        </p:nvSpPr>
        <p:spPr>
          <a:xfrm>
            <a:off x="12050711" y="723900"/>
            <a:ext cx="947737" cy="774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4600" b="0" i="0" u="none" strike="noStrike" cap="none" baseline="0">
                <a:solidFill>
                  <a:srgbClr val="00FF00"/>
                </a:solidFill>
                <a:latin typeface="Cabin"/>
                <a:ea typeface="Cabin"/>
                <a:cs typeface="Cabin"/>
                <a:sym typeface="Cabin"/>
              </a:rPr>
              <a:t>List</a:t>
            </a:r>
          </a:p>
        </p:txBody>
      </p:sp>
      <p:sp>
        <p:nvSpPr>
          <p:cNvPr id="208" name="Shape 208"/>
          <p:cNvSpPr txBox="1"/>
          <p:nvPr/>
        </p:nvSpPr>
        <p:spPr>
          <a:xfrm>
            <a:off x="11312525" y="5067300"/>
            <a:ext cx="26274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4600" b="0" i="0" u="none" strike="noStrike" cap="none" baseline="0">
                <a:solidFill>
                  <a:srgbClr val="FF00FF"/>
                </a:solidFill>
                <a:latin typeface="Cabin"/>
                <a:ea typeface="Cabin"/>
                <a:cs typeface="Cabin"/>
                <a:sym typeface="Cabin"/>
              </a:rPr>
              <a:t>Dictionary</a:t>
            </a: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Shape 21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Dictionary Literals (Constants)</a:t>
            </a:r>
          </a:p>
        </p:txBody>
      </p:sp>
      <p:sp>
        <p:nvSpPr>
          <p:cNvPr id="214" name="Shape 214"/>
          <p:cNvSpPr txBox="1">
            <a:spLocks noGrp="1"/>
          </p:cNvSpPr>
          <p:nvPr>
            <p:ph type="body" idx="1"/>
          </p:nvPr>
        </p:nvSpPr>
        <p:spPr>
          <a:xfrm>
            <a:off x="1155700" y="2603500"/>
            <a:ext cx="13931900" cy="1727199"/>
          </a:xfrm>
          <a:prstGeom prst="rect">
            <a:avLst/>
          </a:prstGeom>
          <a:noFill/>
          <a:ln>
            <a:noFill/>
          </a:ln>
        </p:spPr>
        <p:txBody>
          <a:bodyPr lIns="38100" tIns="38100" rIns="38100" bIns="38100" anchor="ctr" anchorCtr="0">
            <a:noAutofit/>
          </a:bodyPr>
          <a:lstStyle/>
          <a:p>
            <a:pPr marL="457200" marR="0" lvl="0" indent="-228600" algn="l" rtl="0">
              <a:lnSpc>
                <a:spcPct val="150000"/>
              </a:lnSpc>
              <a:spcBef>
                <a:spcPts val="0"/>
              </a:spcBef>
              <a:spcAft>
                <a:spcPts val="0"/>
              </a:spcAft>
              <a:buSzPct val="100000"/>
              <a:buFont typeface="Cabin"/>
            </a:pPr>
            <a:r>
              <a:rPr lang="en-US" sz="3600" b="0" i="0" u="none" strike="noStrike" cap="none" baseline="0">
                <a:solidFill>
                  <a:schemeClr val="lt1"/>
                </a:solidFill>
                <a:latin typeface="Cabin"/>
                <a:ea typeface="Cabin"/>
                <a:cs typeface="Cabin"/>
                <a:sym typeface="Cabin"/>
              </a:rPr>
              <a:t>Dictionary literals use curly braces and have a list of </a:t>
            </a:r>
            <a:r>
              <a:rPr lang="en-US" sz="3600" b="0" i="0" u="none" strike="noStrike" cap="none" baseline="0">
                <a:solidFill>
                  <a:srgbClr val="00FF00"/>
                </a:solidFill>
                <a:latin typeface="Cabin"/>
                <a:ea typeface="Cabin"/>
                <a:cs typeface="Cabin"/>
                <a:sym typeface="Cabin"/>
              </a:rPr>
              <a:t>key</a:t>
            </a:r>
            <a:r>
              <a:rPr lang="en-US" sz="3600" b="0" i="0" u="none" strike="noStrike" cap="none" baseline="0">
                <a:solidFill>
                  <a:schemeClr val="lt1"/>
                </a:solidFill>
                <a:latin typeface="Cabin"/>
                <a:ea typeface="Cabin"/>
                <a:cs typeface="Cabin"/>
                <a:sym typeface="Cabin"/>
              </a:rPr>
              <a:t> : </a:t>
            </a:r>
            <a:r>
              <a:rPr lang="en-US" sz="3600" b="0" i="0" u="none" strike="noStrike" cap="none" baseline="0">
                <a:solidFill>
                  <a:srgbClr val="FF00FF"/>
                </a:solidFill>
                <a:latin typeface="Cabin"/>
                <a:ea typeface="Cabin"/>
                <a:cs typeface="Cabin"/>
                <a:sym typeface="Cabin"/>
              </a:rPr>
              <a:t>value</a:t>
            </a:r>
            <a:r>
              <a:rPr lang="en-US" sz="3600" b="0" i="0" u="none" strike="noStrike" cap="none" baseline="0">
                <a:solidFill>
                  <a:schemeClr val="lt1"/>
                </a:solidFill>
                <a:latin typeface="Cabin"/>
                <a:ea typeface="Cabin"/>
                <a:cs typeface="Cabin"/>
                <a:sym typeface="Cabin"/>
              </a:rPr>
              <a:t> pairs</a:t>
            </a:r>
          </a:p>
          <a:p>
            <a:pPr marL="457200" marR="0" lvl="0" indent="-228600" algn="l" rtl="0">
              <a:lnSpc>
                <a:spcPct val="150000"/>
              </a:lnSpc>
              <a:spcBef>
                <a:spcPts val="3500"/>
              </a:spcBef>
              <a:spcAft>
                <a:spcPts val="0"/>
              </a:spcAft>
              <a:buSzPct val="100000"/>
              <a:buFont typeface="Cabin"/>
            </a:pPr>
            <a:r>
              <a:rPr lang="en-US" sz="3600" b="0" i="0" u="none" strike="noStrike" cap="none" baseline="0">
                <a:solidFill>
                  <a:schemeClr val="lt1"/>
                </a:solidFill>
                <a:latin typeface="Cabin"/>
                <a:ea typeface="Cabin"/>
                <a:cs typeface="Cabin"/>
                <a:sym typeface="Cabin"/>
              </a:rPr>
              <a:t>You can make an </a:t>
            </a:r>
            <a:r>
              <a:rPr lang="en-US" sz="3600" b="0" i="0" u="none" strike="noStrike" cap="none" baseline="0">
                <a:solidFill>
                  <a:srgbClr val="FF7F00"/>
                </a:solidFill>
                <a:latin typeface="Cabin"/>
                <a:ea typeface="Cabin"/>
                <a:cs typeface="Cabin"/>
                <a:sym typeface="Cabin"/>
              </a:rPr>
              <a:t>empty dictionary</a:t>
            </a:r>
            <a:r>
              <a:rPr lang="en-US" sz="3600" b="0" i="0" u="none" strike="noStrike" cap="none" baseline="0">
                <a:solidFill>
                  <a:schemeClr val="lt1"/>
                </a:solidFill>
                <a:latin typeface="Cabin"/>
                <a:ea typeface="Cabin"/>
                <a:cs typeface="Cabin"/>
                <a:sym typeface="Cabin"/>
              </a:rPr>
              <a:t> using empty curly braces</a:t>
            </a:r>
          </a:p>
        </p:txBody>
      </p:sp>
      <p:sp>
        <p:nvSpPr>
          <p:cNvPr id="215" name="Shape 215"/>
          <p:cNvSpPr txBox="1"/>
          <p:nvPr/>
        </p:nvSpPr>
        <p:spPr>
          <a:xfrm>
            <a:off x="1994000" y="4804675"/>
            <a:ext cx="12465600" cy="37719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jjj = { '</a:t>
            </a:r>
            <a:r>
              <a:rPr lang="en-US" sz="3000" b="1" i="0" u="none" strike="noStrike" cap="none" baseline="0">
                <a:solidFill>
                  <a:srgbClr val="00FF00"/>
                </a:solidFill>
                <a:latin typeface="Courier New"/>
                <a:ea typeface="Courier New"/>
                <a:cs typeface="Courier New"/>
                <a:sym typeface="Courier New"/>
              </a:rPr>
              <a:t>chuck</a:t>
            </a:r>
            <a:r>
              <a:rPr lang="en-US" sz="3000" b="1" i="0" u="none" strike="noStrike" cap="none" baseline="0">
                <a:solidFill>
                  <a:schemeClr val="lt1"/>
                </a:solidFill>
                <a:latin typeface="Courier New"/>
                <a:ea typeface="Courier New"/>
                <a:cs typeface="Courier New"/>
                <a:sym typeface="Courier New"/>
              </a:rPr>
              <a:t>' : </a:t>
            </a:r>
            <a:r>
              <a:rPr lang="en-US" sz="3000" b="1" i="0" u="none" strike="noStrike" cap="none" baseline="0">
                <a:solidFill>
                  <a:srgbClr val="FF00FF"/>
                </a:solidFill>
                <a:latin typeface="Courier New"/>
                <a:ea typeface="Courier New"/>
                <a:cs typeface="Courier New"/>
                <a:sym typeface="Courier New"/>
              </a:rPr>
              <a:t>1</a:t>
            </a:r>
            <a:r>
              <a:rPr lang="en-US" sz="3000" b="1" i="0" u="none" strike="noStrike" cap="none" baseline="0">
                <a:solidFill>
                  <a:schemeClr val="lt1"/>
                </a:solidFill>
                <a:latin typeface="Courier New"/>
                <a:ea typeface="Courier New"/>
                <a:cs typeface="Courier New"/>
                <a:sym typeface="Courier New"/>
              </a:rPr>
              <a:t> , '</a:t>
            </a:r>
            <a:r>
              <a:rPr lang="en-US" sz="3000" b="1" i="0" u="none" strike="noStrike" cap="none" baseline="0">
                <a:solidFill>
                  <a:srgbClr val="00FF00"/>
                </a:solidFill>
                <a:latin typeface="Courier New"/>
                <a:ea typeface="Courier New"/>
                <a:cs typeface="Courier New"/>
                <a:sym typeface="Courier New"/>
              </a:rPr>
              <a:t>fred</a:t>
            </a:r>
            <a:r>
              <a:rPr lang="en-US" sz="3000" b="1" i="0" u="none" strike="noStrike" cap="none" baseline="0">
                <a:solidFill>
                  <a:schemeClr val="lt1"/>
                </a:solidFill>
                <a:latin typeface="Courier New"/>
                <a:ea typeface="Courier New"/>
                <a:cs typeface="Courier New"/>
                <a:sym typeface="Courier New"/>
              </a:rPr>
              <a:t>' : </a:t>
            </a:r>
            <a:r>
              <a:rPr lang="en-US" sz="3000" b="1" i="0" u="none" strike="noStrike" cap="none" baseline="0">
                <a:solidFill>
                  <a:srgbClr val="FF00FF"/>
                </a:solidFill>
                <a:latin typeface="Courier New"/>
                <a:ea typeface="Courier New"/>
                <a:cs typeface="Courier New"/>
                <a:sym typeface="Courier New"/>
              </a:rPr>
              <a:t>42</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jan</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00FF"/>
                </a:solidFill>
                <a:latin typeface="Courier New"/>
                <a:ea typeface="Courier New"/>
                <a:cs typeface="Courier New"/>
                <a:sym typeface="Courier New"/>
              </a:rPr>
              <a:t>100</a:t>
            </a:r>
            <a:r>
              <a:rPr lang="en-US" sz="30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jjj</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a:t>
            </a:r>
            <a:r>
              <a:rPr lang="en-US" sz="3000" b="1" i="0" u="none" strike="noStrike" cap="none" baseline="0">
                <a:solidFill>
                  <a:srgbClr val="00FF00"/>
                </a:solidFill>
                <a:latin typeface="Courier New"/>
                <a:ea typeface="Courier New"/>
                <a:cs typeface="Courier New"/>
                <a:sym typeface="Courier New"/>
              </a:rPr>
              <a:t>jan</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00FF"/>
                </a:solidFill>
                <a:latin typeface="Courier New"/>
                <a:ea typeface="Courier New"/>
                <a:cs typeface="Courier New"/>
                <a:sym typeface="Courier New"/>
              </a:rPr>
              <a:t>100</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chuck</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00FF"/>
                </a:solidFill>
                <a:latin typeface="Courier New"/>
                <a:ea typeface="Courier New"/>
                <a:cs typeface="Courier New"/>
                <a:sym typeface="Courier New"/>
              </a:rPr>
              <a:t>1</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fred</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00FF"/>
                </a:solidFill>
                <a:latin typeface="Courier New"/>
                <a:ea typeface="Courier New"/>
                <a:cs typeface="Courier New"/>
                <a:sym typeface="Courier New"/>
              </a:rPr>
              <a:t>42</a:t>
            </a:r>
            <a:r>
              <a:rPr lang="en-US" sz="30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ooo = </a:t>
            </a:r>
            <a:r>
              <a:rPr lang="en-US" sz="3000" b="1" i="0" u="none" strike="noStrike" cap="none" baseline="0">
                <a:solidFill>
                  <a:srgbClr val="0000FF"/>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ooo</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rgbClr val="FF7F00"/>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1162000" y="241300"/>
            <a:ext cx="13932000"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Most Common Name?</a:t>
            </a:r>
          </a:p>
        </p:txBody>
      </p:sp>
      <p:sp>
        <p:nvSpPr>
          <p:cNvPr id="227" name="Shape 227"/>
          <p:cNvSpPr txBox="1"/>
          <p:nvPr/>
        </p:nvSpPr>
        <p:spPr>
          <a:xfrm>
            <a:off x="1344600" y="5705416"/>
            <a:ext cx="19095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csev</a:t>
            </a:r>
          </a:p>
        </p:txBody>
      </p:sp>
      <p:sp>
        <p:nvSpPr>
          <p:cNvPr id="228" name="Shape 228"/>
          <p:cNvSpPr txBox="1"/>
          <p:nvPr/>
        </p:nvSpPr>
        <p:spPr>
          <a:xfrm>
            <a:off x="1344600" y="4274708"/>
            <a:ext cx="206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
        <p:nvSpPr>
          <p:cNvPr id="229" name="Shape 229"/>
          <p:cNvSpPr txBox="1"/>
          <p:nvPr/>
        </p:nvSpPr>
        <p:spPr>
          <a:xfrm>
            <a:off x="1344600" y="7136125"/>
            <a:ext cx="21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
        <p:nvSpPr>
          <p:cNvPr id="230" name="Shape 230"/>
          <p:cNvSpPr txBox="1"/>
          <p:nvPr/>
        </p:nvSpPr>
        <p:spPr>
          <a:xfrm>
            <a:off x="1344600" y="2844000"/>
            <a:ext cx="38876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marquard</a:t>
            </a:r>
          </a:p>
        </p:txBody>
      </p:sp>
      <p:sp>
        <p:nvSpPr>
          <p:cNvPr id="231" name="Shape 231"/>
          <p:cNvSpPr txBox="1"/>
          <p:nvPr/>
        </p:nvSpPr>
        <p:spPr>
          <a:xfrm>
            <a:off x="11505925" y="717395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
        <p:nvSpPr>
          <p:cNvPr id="232" name="Shape 232"/>
          <p:cNvSpPr txBox="1"/>
          <p:nvPr/>
        </p:nvSpPr>
        <p:spPr>
          <a:xfrm>
            <a:off x="11505925" y="2842050"/>
            <a:ext cx="188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cwen</a:t>
            </a:r>
          </a:p>
        </p:txBody>
      </p:sp>
      <p:sp>
        <p:nvSpPr>
          <p:cNvPr id="233" name="Shape 233"/>
          <p:cNvSpPr txBox="1"/>
          <p:nvPr/>
        </p:nvSpPr>
        <p:spPr>
          <a:xfrm>
            <a:off x="11505925" y="5008000"/>
            <a:ext cx="18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csev</a:t>
            </a:r>
          </a:p>
        </p:txBody>
      </p:sp>
      <p:sp>
        <p:nvSpPr>
          <p:cNvPr id="234" name="Shape 234"/>
          <p:cNvSpPr txBox="1"/>
          <p:nvPr/>
        </p:nvSpPr>
        <p:spPr>
          <a:xfrm>
            <a:off x="11505925" y="6090975"/>
            <a:ext cx="40350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marquard</a:t>
            </a:r>
          </a:p>
        </p:txBody>
      </p:sp>
      <p:sp>
        <p:nvSpPr>
          <p:cNvPr id="235" name="Shape 235"/>
          <p:cNvSpPr txBox="1"/>
          <p:nvPr/>
        </p:nvSpPr>
        <p:spPr>
          <a:xfrm>
            <a:off x="6049446" y="565310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
        <p:nvSpPr>
          <p:cNvPr id="236" name="Shape 236"/>
          <p:cNvSpPr txBox="1"/>
          <p:nvPr/>
        </p:nvSpPr>
        <p:spPr>
          <a:xfrm>
            <a:off x="6049446" y="4197225"/>
            <a:ext cx="36764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marquard</a:t>
            </a:r>
          </a:p>
        </p:txBody>
      </p:sp>
      <p:sp>
        <p:nvSpPr>
          <p:cNvPr id="237" name="Shape 237"/>
          <p:cNvSpPr txBox="1"/>
          <p:nvPr/>
        </p:nvSpPr>
        <p:spPr>
          <a:xfrm>
            <a:off x="6049446" y="7108975"/>
            <a:ext cx="19095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csev</a:t>
            </a:r>
          </a:p>
        </p:txBody>
      </p:sp>
      <p:sp>
        <p:nvSpPr>
          <p:cNvPr id="238" name="Shape 238"/>
          <p:cNvSpPr txBox="1"/>
          <p:nvPr/>
        </p:nvSpPr>
        <p:spPr>
          <a:xfrm>
            <a:off x="6049446" y="2741350"/>
            <a:ext cx="18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cwen</a:t>
            </a:r>
          </a:p>
        </p:txBody>
      </p:sp>
      <p:sp>
        <p:nvSpPr>
          <p:cNvPr id="239" name="Shape 239"/>
          <p:cNvSpPr txBox="1"/>
          <p:nvPr/>
        </p:nvSpPr>
        <p:spPr>
          <a:xfrm>
            <a:off x="11505925" y="3925025"/>
            <a:ext cx="23136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230"/>
                                        </p:tgtEl>
                                      </p:cBhvr>
                                    </p:animEffect>
                                    <p:set>
                                      <p:cBhvr>
                                        <p:cTn id="7" dur="1" fill="hold">
                                          <p:stCondLst>
                                            <p:cond delay="1000"/>
                                          </p:stCondLst>
                                        </p:cTn>
                                        <p:tgtEl>
                                          <p:spTgt spid="230"/>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28"/>
                                        </p:tgtEl>
                                        <p:attrNameLst>
                                          <p:attrName>style.visibility</p:attrName>
                                        </p:attrNameLst>
                                      </p:cBhvr>
                                      <p:to>
                                        <p:strVal val="visible"/>
                                      </p:to>
                                    </p:set>
                                    <p:animEffect transition="in" filter="fade">
                                      <p:cBhvr>
                                        <p:cTn id="10" dur="1000"/>
                                        <p:tgtEl>
                                          <p:spTgt spid="2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228"/>
                                        </p:tgtEl>
                                      </p:cBhvr>
                                    </p:animEffect>
                                    <p:set>
                                      <p:cBhvr>
                                        <p:cTn id="15" dur="1" fill="hold">
                                          <p:stCondLst>
                                            <p:cond delay="1000"/>
                                          </p:stCondLst>
                                        </p:cTn>
                                        <p:tgtEl>
                                          <p:spTgt spid="228"/>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227"/>
                                        </p:tgtEl>
                                        <p:attrNameLst>
                                          <p:attrName>style.visibility</p:attrName>
                                        </p:attrNameLst>
                                      </p:cBhvr>
                                      <p:to>
                                        <p:strVal val="visible"/>
                                      </p:to>
                                    </p:set>
                                    <p:animEffect transition="in" filter="fade">
                                      <p:cBhvr>
                                        <p:cTn id="18" dur="1000"/>
                                        <p:tgtEl>
                                          <p:spTgt spid="2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1000"/>
                                        <p:tgtEl>
                                          <p:spTgt spid="227"/>
                                        </p:tgtEl>
                                      </p:cBhvr>
                                    </p:animEffect>
                                    <p:set>
                                      <p:cBhvr>
                                        <p:cTn id="23" dur="1" fill="hold">
                                          <p:stCondLst>
                                            <p:cond delay="1000"/>
                                          </p:stCondLst>
                                        </p:cTn>
                                        <p:tgtEl>
                                          <p:spTgt spid="227"/>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229"/>
                                        </p:tgtEl>
                                        <p:attrNameLst>
                                          <p:attrName>style.visibility</p:attrName>
                                        </p:attrNameLst>
                                      </p:cBhvr>
                                      <p:to>
                                        <p:strVal val="visible"/>
                                      </p:to>
                                    </p:set>
                                    <p:animEffect transition="in" filter="fade">
                                      <p:cBhvr>
                                        <p:cTn id="26" dur="1000"/>
                                        <p:tgtEl>
                                          <p:spTgt spid="22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1000"/>
                                        <p:tgtEl>
                                          <p:spTgt spid="229"/>
                                        </p:tgtEl>
                                      </p:cBhvr>
                                    </p:animEffect>
                                    <p:set>
                                      <p:cBhvr>
                                        <p:cTn id="31" dur="1" fill="hold">
                                          <p:stCondLst>
                                            <p:cond delay="1000"/>
                                          </p:stCondLst>
                                        </p:cTn>
                                        <p:tgtEl>
                                          <p:spTgt spid="229"/>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238"/>
                                        </p:tgtEl>
                                        <p:attrNameLst>
                                          <p:attrName>style.visibility</p:attrName>
                                        </p:attrNameLst>
                                      </p:cBhvr>
                                      <p:to>
                                        <p:strVal val="visible"/>
                                      </p:to>
                                    </p:set>
                                    <p:animEffect transition="in" filter="fade">
                                      <p:cBhvr>
                                        <p:cTn id="34" dur="1000"/>
                                        <p:tgtEl>
                                          <p:spTgt spid="23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1000"/>
                                        <p:tgtEl>
                                          <p:spTgt spid="238"/>
                                        </p:tgtEl>
                                      </p:cBhvr>
                                    </p:animEffect>
                                    <p:set>
                                      <p:cBhvr>
                                        <p:cTn id="39" dur="1" fill="hold">
                                          <p:stCondLst>
                                            <p:cond delay="1000"/>
                                          </p:stCondLst>
                                        </p:cTn>
                                        <p:tgtEl>
                                          <p:spTgt spid="238"/>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236"/>
                                        </p:tgtEl>
                                        <p:attrNameLst>
                                          <p:attrName>style.visibility</p:attrName>
                                        </p:attrNameLst>
                                      </p:cBhvr>
                                      <p:to>
                                        <p:strVal val="visible"/>
                                      </p:to>
                                    </p:set>
                                    <p:animEffect transition="in" filter="fade">
                                      <p:cBhvr>
                                        <p:cTn id="42" dur="1000"/>
                                        <p:tgtEl>
                                          <p:spTgt spid="23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1500"/>
                                        <p:tgtEl>
                                          <p:spTgt spid="236"/>
                                        </p:tgtEl>
                                      </p:cBhvr>
                                    </p:animEffect>
                                    <p:set>
                                      <p:cBhvr>
                                        <p:cTn id="47" dur="1" fill="hold">
                                          <p:stCondLst>
                                            <p:cond delay="1500"/>
                                          </p:stCondLst>
                                        </p:cTn>
                                        <p:tgtEl>
                                          <p:spTgt spid="236"/>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235"/>
                                        </p:tgtEl>
                                        <p:attrNameLst>
                                          <p:attrName>style.visibility</p:attrName>
                                        </p:attrNameLst>
                                      </p:cBhvr>
                                      <p:to>
                                        <p:strVal val="visible"/>
                                      </p:to>
                                    </p:set>
                                    <p:animEffect transition="in" filter="fade">
                                      <p:cBhvr>
                                        <p:cTn id="50" dur="1000"/>
                                        <p:tgtEl>
                                          <p:spTgt spid="23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nodeType="clickEffect">
                                  <p:stCondLst>
                                    <p:cond delay="0"/>
                                  </p:stCondLst>
                                  <p:childTnLst>
                                    <p:animEffect transition="out" filter="fade">
                                      <p:cBhvr>
                                        <p:cTn id="54" dur="1000"/>
                                        <p:tgtEl>
                                          <p:spTgt spid="235"/>
                                        </p:tgtEl>
                                      </p:cBhvr>
                                    </p:animEffect>
                                    <p:set>
                                      <p:cBhvr>
                                        <p:cTn id="55" dur="1" fill="hold">
                                          <p:stCondLst>
                                            <p:cond delay="1000"/>
                                          </p:stCondLst>
                                        </p:cTn>
                                        <p:tgtEl>
                                          <p:spTgt spid="235"/>
                                        </p:tgtEl>
                                        <p:attrNameLst>
                                          <p:attrName>style.visibility</p:attrName>
                                        </p:attrNameLst>
                                      </p:cBhvr>
                                      <p:to>
                                        <p:strVal val="hidden"/>
                                      </p:to>
                                    </p:set>
                                  </p:childTnLst>
                                </p:cTn>
                              </p:par>
                              <p:par>
                                <p:cTn id="56" presetID="10" presetClass="entr" presetSubtype="0" fill="hold" nodeType="withEffect">
                                  <p:stCondLst>
                                    <p:cond delay="0"/>
                                  </p:stCondLst>
                                  <p:childTnLst>
                                    <p:set>
                                      <p:cBhvr>
                                        <p:cTn id="57" dur="1" fill="hold">
                                          <p:stCondLst>
                                            <p:cond delay="0"/>
                                          </p:stCondLst>
                                        </p:cTn>
                                        <p:tgtEl>
                                          <p:spTgt spid="237"/>
                                        </p:tgtEl>
                                        <p:attrNameLst>
                                          <p:attrName>style.visibility</p:attrName>
                                        </p:attrNameLst>
                                      </p:cBhvr>
                                      <p:to>
                                        <p:strVal val="visible"/>
                                      </p:to>
                                    </p:set>
                                    <p:animEffect transition="in" filter="fade">
                                      <p:cBhvr>
                                        <p:cTn id="58" dur="1000"/>
                                        <p:tgtEl>
                                          <p:spTgt spid="23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1000"/>
                                        <p:tgtEl>
                                          <p:spTgt spid="237"/>
                                        </p:tgtEl>
                                      </p:cBhvr>
                                    </p:animEffect>
                                    <p:set>
                                      <p:cBhvr>
                                        <p:cTn id="63" dur="1" fill="hold">
                                          <p:stCondLst>
                                            <p:cond delay="1000"/>
                                          </p:stCondLst>
                                        </p:cTn>
                                        <p:tgtEl>
                                          <p:spTgt spid="237"/>
                                        </p:tgtEl>
                                        <p:attrNameLst>
                                          <p:attrName>style.visibility</p:attrName>
                                        </p:attrNameLst>
                                      </p:cBhvr>
                                      <p:to>
                                        <p:strVal val="hidden"/>
                                      </p:to>
                                    </p:set>
                                  </p:childTnLst>
                                </p:cTn>
                              </p:par>
                              <p:par>
                                <p:cTn id="64" presetID="10" presetClass="entr" presetSubtype="0" fill="hold" nodeType="withEffect">
                                  <p:stCondLst>
                                    <p:cond delay="0"/>
                                  </p:stCondLst>
                                  <p:childTnLst>
                                    <p:set>
                                      <p:cBhvr>
                                        <p:cTn id="65" dur="1" fill="hold">
                                          <p:stCondLst>
                                            <p:cond delay="0"/>
                                          </p:stCondLst>
                                        </p:cTn>
                                        <p:tgtEl>
                                          <p:spTgt spid="232"/>
                                        </p:tgtEl>
                                        <p:attrNameLst>
                                          <p:attrName>style.visibility</p:attrName>
                                        </p:attrNameLst>
                                      </p:cBhvr>
                                      <p:to>
                                        <p:strVal val="visible"/>
                                      </p:to>
                                    </p:set>
                                    <p:animEffect transition="in" filter="fade">
                                      <p:cBhvr>
                                        <p:cTn id="66" dur="1000"/>
                                        <p:tgtEl>
                                          <p:spTgt spid="23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xit" presetSubtype="0" fill="hold" nodeType="clickEffect">
                                  <p:stCondLst>
                                    <p:cond delay="0"/>
                                  </p:stCondLst>
                                  <p:childTnLst>
                                    <p:animEffect transition="out" filter="fade">
                                      <p:cBhvr>
                                        <p:cTn id="70" dur="1000"/>
                                        <p:tgtEl>
                                          <p:spTgt spid="232"/>
                                        </p:tgtEl>
                                      </p:cBhvr>
                                    </p:animEffect>
                                    <p:set>
                                      <p:cBhvr>
                                        <p:cTn id="71" dur="1" fill="hold">
                                          <p:stCondLst>
                                            <p:cond delay="1000"/>
                                          </p:stCondLst>
                                        </p:cTn>
                                        <p:tgtEl>
                                          <p:spTgt spid="232"/>
                                        </p:tgtEl>
                                        <p:attrNameLst>
                                          <p:attrName>style.visibility</p:attrName>
                                        </p:attrNameLst>
                                      </p:cBhvr>
                                      <p:to>
                                        <p:strVal val="hidden"/>
                                      </p:to>
                                    </p:set>
                                  </p:childTnLst>
                                </p:cTn>
                              </p:par>
                              <p:par>
                                <p:cTn id="72" presetID="10" presetClass="entr" presetSubtype="0" fill="hold" nodeType="withEffect">
                                  <p:stCondLst>
                                    <p:cond delay="0"/>
                                  </p:stCondLst>
                                  <p:childTnLst>
                                    <p:set>
                                      <p:cBhvr>
                                        <p:cTn id="73" dur="1" fill="hold">
                                          <p:stCondLst>
                                            <p:cond delay="0"/>
                                          </p:stCondLst>
                                        </p:cTn>
                                        <p:tgtEl>
                                          <p:spTgt spid="239"/>
                                        </p:tgtEl>
                                        <p:attrNameLst>
                                          <p:attrName>style.visibility</p:attrName>
                                        </p:attrNameLst>
                                      </p:cBhvr>
                                      <p:to>
                                        <p:strVal val="visible"/>
                                      </p:to>
                                    </p:set>
                                    <p:animEffect transition="in" filter="fade">
                                      <p:cBhvr>
                                        <p:cTn id="74" dur="1000"/>
                                        <p:tgtEl>
                                          <p:spTgt spid="23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xit" presetSubtype="0" fill="hold" nodeType="clickEffect">
                                  <p:stCondLst>
                                    <p:cond delay="0"/>
                                  </p:stCondLst>
                                  <p:childTnLst>
                                    <p:animEffect transition="out" filter="fade">
                                      <p:cBhvr>
                                        <p:cTn id="78" dur="1000"/>
                                        <p:tgtEl>
                                          <p:spTgt spid="239"/>
                                        </p:tgtEl>
                                      </p:cBhvr>
                                    </p:animEffect>
                                    <p:set>
                                      <p:cBhvr>
                                        <p:cTn id="79" dur="1" fill="hold">
                                          <p:stCondLst>
                                            <p:cond delay="1000"/>
                                          </p:stCondLst>
                                        </p:cTn>
                                        <p:tgtEl>
                                          <p:spTgt spid="239"/>
                                        </p:tgtEl>
                                        <p:attrNameLst>
                                          <p:attrName>style.visibility</p:attrName>
                                        </p:attrNameLst>
                                      </p:cBhvr>
                                      <p:to>
                                        <p:strVal val="hidden"/>
                                      </p:to>
                                    </p:set>
                                  </p:childTnLst>
                                </p:cTn>
                              </p:par>
                              <p:par>
                                <p:cTn id="80" presetID="10" presetClass="entr" presetSubtype="0" fill="hold" nodeType="withEffect">
                                  <p:stCondLst>
                                    <p:cond delay="0"/>
                                  </p:stCondLst>
                                  <p:childTnLst>
                                    <p:set>
                                      <p:cBhvr>
                                        <p:cTn id="81" dur="1" fill="hold">
                                          <p:stCondLst>
                                            <p:cond delay="0"/>
                                          </p:stCondLst>
                                        </p:cTn>
                                        <p:tgtEl>
                                          <p:spTgt spid="233"/>
                                        </p:tgtEl>
                                        <p:attrNameLst>
                                          <p:attrName>style.visibility</p:attrName>
                                        </p:attrNameLst>
                                      </p:cBhvr>
                                      <p:to>
                                        <p:strVal val="visible"/>
                                      </p:to>
                                    </p:set>
                                    <p:animEffect transition="in" filter="fade">
                                      <p:cBhvr>
                                        <p:cTn id="82" dur="1000"/>
                                        <p:tgtEl>
                                          <p:spTgt spid="23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nodeType="clickEffect">
                                  <p:stCondLst>
                                    <p:cond delay="0"/>
                                  </p:stCondLst>
                                  <p:childTnLst>
                                    <p:animEffect transition="out" filter="fade">
                                      <p:cBhvr>
                                        <p:cTn id="86" dur="1000"/>
                                        <p:tgtEl>
                                          <p:spTgt spid="233"/>
                                        </p:tgtEl>
                                      </p:cBhvr>
                                    </p:animEffect>
                                    <p:set>
                                      <p:cBhvr>
                                        <p:cTn id="87" dur="1" fill="hold">
                                          <p:stCondLst>
                                            <p:cond delay="1000"/>
                                          </p:stCondLst>
                                        </p:cTn>
                                        <p:tgtEl>
                                          <p:spTgt spid="233"/>
                                        </p:tgtEl>
                                        <p:attrNameLst>
                                          <p:attrName>style.visibility</p:attrName>
                                        </p:attrNameLst>
                                      </p:cBhvr>
                                      <p:to>
                                        <p:strVal val="hidden"/>
                                      </p:to>
                                    </p:set>
                                  </p:childTnLst>
                                </p:cTn>
                              </p:par>
                              <p:par>
                                <p:cTn id="88" presetID="10" presetClass="entr" presetSubtype="0" fill="hold" nodeType="withEffect">
                                  <p:stCondLst>
                                    <p:cond delay="0"/>
                                  </p:stCondLst>
                                  <p:childTnLst>
                                    <p:set>
                                      <p:cBhvr>
                                        <p:cTn id="89" dur="1" fill="hold">
                                          <p:stCondLst>
                                            <p:cond delay="0"/>
                                          </p:stCondLst>
                                        </p:cTn>
                                        <p:tgtEl>
                                          <p:spTgt spid="234"/>
                                        </p:tgtEl>
                                        <p:attrNameLst>
                                          <p:attrName>style.visibility</p:attrName>
                                        </p:attrNameLst>
                                      </p:cBhvr>
                                      <p:to>
                                        <p:strVal val="visible"/>
                                      </p:to>
                                    </p:set>
                                    <p:animEffect transition="in" filter="fade">
                                      <p:cBhvr>
                                        <p:cTn id="90" dur="1000"/>
                                        <p:tgtEl>
                                          <p:spTgt spid="234"/>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nodeType="clickEffect">
                                  <p:stCondLst>
                                    <p:cond delay="0"/>
                                  </p:stCondLst>
                                  <p:childTnLst>
                                    <p:animEffect transition="out" filter="fade">
                                      <p:cBhvr>
                                        <p:cTn id="94" dur="1000"/>
                                        <p:tgtEl>
                                          <p:spTgt spid="234"/>
                                        </p:tgtEl>
                                      </p:cBhvr>
                                    </p:animEffect>
                                    <p:set>
                                      <p:cBhvr>
                                        <p:cTn id="95" dur="1" fill="hold">
                                          <p:stCondLst>
                                            <p:cond delay="1000"/>
                                          </p:stCondLst>
                                        </p:cTn>
                                        <p:tgtEl>
                                          <p:spTgt spid="234"/>
                                        </p:tgtEl>
                                        <p:attrNameLst>
                                          <p:attrName>style.visibility</p:attrName>
                                        </p:attrNameLst>
                                      </p:cBhvr>
                                      <p:to>
                                        <p:strVal val="hidden"/>
                                      </p:to>
                                    </p:set>
                                  </p:childTnLst>
                                </p:cTn>
                              </p:par>
                              <p:par>
                                <p:cTn id="96" presetID="10" presetClass="entr" presetSubtype="0" fill="hold" nodeType="withEffect">
                                  <p:stCondLst>
                                    <p:cond delay="0"/>
                                  </p:stCondLst>
                                  <p:childTnLst>
                                    <p:set>
                                      <p:cBhvr>
                                        <p:cTn id="97" dur="1" fill="hold">
                                          <p:stCondLst>
                                            <p:cond delay="0"/>
                                          </p:stCondLst>
                                        </p:cTn>
                                        <p:tgtEl>
                                          <p:spTgt spid="231"/>
                                        </p:tgtEl>
                                        <p:attrNameLst>
                                          <p:attrName>style.visibility</p:attrName>
                                        </p:attrNameLst>
                                      </p:cBhvr>
                                      <p:to>
                                        <p:strVal val="visible"/>
                                      </p:to>
                                    </p:set>
                                    <p:animEffect transition="in" filter="fade">
                                      <p:cBhvr>
                                        <p:cTn id="98" dur="1000"/>
                                        <p:tgtEl>
                                          <p:spTgt spid="231"/>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nodeType="clickEffect">
                                  <p:stCondLst>
                                    <p:cond delay="0"/>
                                  </p:stCondLst>
                                  <p:childTnLst>
                                    <p:animEffect transition="out" filter="fade">
                                      <p:cBhvr>
                                        <p:cTn id="102" dur="1000"/>
                                        <p:tgtEl>
                                          <p:spTgt spid="231"/>
                                        </p:tgtEl>
                                      </p:cBhvr>
                                    </p:animEffect>
                                    <p:set>
                                      <p:cBhvr>
                                        <p:cTn id="103" dur="1" fill="hold">
                                          <p:stCondLst>
                                            <p:cond delay="1000"/>
                                          </p:stCondLst>
                                        </p:cTn>
                                        <p:tgtEl>
                                          <p:spTgt spid="2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Shape 244"/>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Most Common Name?</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Shape 249"/>
          <p:cNvSpPr txBox="1">
            <a:spLocks noGrp="1"/>
          </p:cNvSpPr>
          <p:nvPr>
            <p:ph type="title"/>
          </p:nvPr>
        </p:nvSpPr>
        <p:spPr>
          <a:xfrm>
            <a:off x="1162000" y="241300"/>
            <a:ext cx="13932000"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Most Common Name?</a:t>
            </a:r>
          </a:p>
        </p:txBody>
      </p:sp>
      <p:sp>
        <p:nvSpPr>
          <p:cNvPr id="250" name="Shape 250"/>
          <p:cNvSpPr txBox="1"/>
          <p:nvPr/>
        </p:nvSpPr>
        <p:spPr>
          <a:xfrm>
            <a:off x="1344600" y="5705416"/>
            <a:ext cx="19095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csev</a:t>
            </a:r>
          </a:p>
        </p:txBody>
      </p:sp>
      <p:sp>
        <p:nvSpPr>
          <p:cNvPr id="251" name="Shape 251"/>
          <p:cNvSpPr txBox="1"/>
          <p:nvPr/>
        </p:nvSpPr>
        <p:spPr>
          <a:xfrm>
            <a:off x="1344600" y="4274708"/>
            <a:ext cx="206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
        <p:nvSpPr>
          <p:cNvPr id="252" name="Shape 252"/>
          <p:cNvSpPr txBox="1"/>
          <p:nvPr/>
        </p:nvSpPr>
        <p:spPr>
          <a:xfrm>
            <a:off x="1344600" y="7136125"/>
            <a:ext cx="21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
        <p:nvSpPr>
          <p:cNvPr id="253" name="Shape 253"/>
          <p:cNvSpPr txBox="1"/>
          <p:nvPr/>
        </p:nvSpPr>
        <p:spPr>
          <a:xfrm>
            <a:off x="1344600" y="2844000"/>
            <a:ext cx="38876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marquard</a:t>
            </a:r>
          </a:p>
        </p:txBody>
      </p:sp>
      <p:sp>
        <p:nvSpPr>
          <p:cNvPr id="254" name="Shape 254"/>
          <p:cNvSpPr txBox="1"/>
          <p:nvPr/>
        </p:nvSpPr>
        <p:spPr>
          <a:xfrm>
            <a:off x="11505925" y="717395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
        <p:nvSpPr>
          <p:cNvPr id="255" name="Shape 255"/>
          <p:cNvSpPr txBox="1"/>
          <p:nvPr/>
        </p:nvSpPr>
        <p:spPr>
          <a:xfrm>
            <a:off x="11505925" y="2842050"/>
            <a:ext cx="188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cwen</a:t>
            </a:r>
          </a:p>
        </p:txBody>
      </p:sp>
      <p:sp>
        <p:nvSpPr>
          <p:cNvPr id="256" name="Shape 256"/>
          <p:cNvSpPr txBox="1"/>
          <p:nvPr/>
        </p:nvSpPr>
        <p:spPr>
          <a:xfrm>
            <a:off x="11505925" y="5008000"/>
            <a:ext cx="18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csev</a:t>
            </a:r>
          </a:p>
        </p:txBody>
      </p:sp>
      <p:sp>
        <p:nvSpPr>
          <p:cNvPr id="257" name="Shape 257"/>
          <p:cNvSpPr txBox="1"/>
          <p:nvPr/>
        </p:nvSpPr>
        <p:spPr>
          <a:xfrm>
            <a:off x="11505925" y="6090975"/>
            <a:ext cx="40350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marquard</a:t>
            </a:r>
          </a:p>
        </p:txBody>
      </p:sp>
      <p:sp>
        <p:nvSpPr>
          <p:cNvPr id="258" name="Shape 258"/>
          <p:cNvSpPr txBox="1"/>
          <p:nvPr/>
        </p:nvSpPr>
        <p:spPr>
          <a:xfrm>
            <a:off x="6049446" y="565310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
        <p:nvSpPr>
          <p:cNvPr id="259" name="Shape 259"/>
          <p:cNvSpPr txBox="1"/>
          <p:nvPr/>
        </p:nvSpPr>
        <p:spPr>
          <a:xfrm>
            <a:off x="6049446" y="4197225"/>
            <a:ext cx="36764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marquard</a:t>
            </a:r>
          </a:p>
        </p:txBody>
      </p:sp>
      <p:sp>
        <p:nvSpPr>
          <p:cNvPr id="260" name="Shape 260"/>
          <p:cNvSpPr txBox="1"/>
          <p:nvPr/>
        </p:nvSpPr>
        <p:spPr>
          <a:xfrm>
            <a:off x="6049446" y="7108975"/>
            <a:ext cx="19095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csev</a:t>
            </a:r>
          </a:p>
        </p:txBody>
      </p:sp>
      <p:sp>
        <p:nvSpPr>
          <p:cNvPr id="261" name="Shape 261"/>
          <p:cNvSpPr txBox="1"/>
          <p:nvPr/>
        </p:nvSpPr>
        <p:spPr>
          <a:xfrm>
            <a:off x="6049446" y="2741350"/>
            <a:ext cx="18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cwen</a:t>
            </a:r>
          </a:p>
        </p:txBody>
      </p:sp>
      <p:sp>
        <p:nvSpPr>
          <p:cNvPr id="262" name="Shape 262"/>
          <p:cNvSpPr txBox="1"/>
          <p:nvPr/>
        </p:nvSpPr>
        <p:spPr>
          <a:xfrm>
            <a:off x="11505925" y="3925025"/>
            <a:ext cx="23136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b="0" i="0" u="none" strike="noStrike" cap="none" baseline="0">
                <a:solidFill>
                  <a:srgbClr val="FF00FF"/>
                </a:solidFill>
                <a:latin typeface="Cabin"/>
                <a:ea typeface="Cabin"/>
                <a:cs typeface="Cabin"/>
                <a:sym typeface="Cabin"/>
              </a:rPr>
              <a:t>zhen</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Shape 28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Many Counters with a Dictionary</a:t>
            </a:r>
          </a:p>
        </p:txBody>
      </p:sp>
      <p:sp>
        <p:nvSpPr>
          <p:cNvPr id="287" name="Shape 287"/>
          <p:cNvSpPr txBox="1">
            <a:spLocks noGrp="1"/>
          </p:cNvSpPr>
          <p:nvPr>
            <p:ph type="body" idx="1"/>
          </p:nvPr>
        </p:nvSpPr>
        <p:spPr>
          <a:xfrm>
            <a:off x="1155700" y="2413000"/>
            <a:ext cx="8572500" cy="16001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One common use of dictionary is </a:t>
            </a:r>
            <a:r>
              <a:rPr lang="en-US" sz="3600" b="0" i="0" u="none" strike="noStrike" cap="none" baseline="0">
                <a:solidFill>
                  <a:srgbClr val="FFFF00"/>
                </a:solidFill>
                <a:latin typeface="Cabin"/>
                <a:ea typeface="Cabin"/>
                <a:cs typeface="Cabin"/>
                <a:sym typeface="Cabin"/>
              </a:rPr>
              <a:t>counting</a:t>
            </a:r>
            <a:r>
              <a:rPr lang="en-US" sz="3600" b="0" i="0" u="none" strike="noStrike" cap="none" baseline="0">
                <a:solidFill>
                  <a:schemeClr val="lt1"/>
                </a:solidFill>
                <a:latin typeface="Cabin"/>
                <a:ea typeface="Cabin"/>
                <a:cs typeface="Cabin"/>
                <a:sym typeface="Cabin"/>
              </a:rPr>
              <a:t> how often we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see</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something</a:t>
            </a:r>
          </a:p>
        </p:txBody>
      </p:sp>
      <p:pic>
        <p:nvPicPr>
          <p:cNvPr id="288" name="Shape 288"/>
          <p:cNvPicPr preferRelativeResize="0"/>
          <p:nvPr/>
        </p:nvPicPr>
        <p:blipFill rotWithShape="1">
          <a:blip r:embed="rId3">
            <a:alphaModFix/>
          </a:blip>
          <a:srcRect/>
          <a:stretch/>
        </p:blipFill>
        <p:spPr>
          <a:xfrm>
            <a:off x="10287000" y="3611562"/>
            <a:ext cx="4760912" cy="3352799"/>
          </a:xfrm>
          <a:prstGeom prst="rect">
            <a:avLst/>
          </a:prstGeom>
          <a:noFill/>
          <a:ln>
            <a:noFill/>
          </a:ln>
        </p:spPr>
      </p:pic>
      <p:sp>
        <p:nvSpPr>
          <p:cNvPr id="289" name="Shape 289"/>
          <p:cNvSpPr txBox="1"/>
          <p:nvPr/>
        </p:nvSpPr>
        <p:spPr>
          <a:xfrm>
            <a:off x="10880725" y="2781300"/>
            <a:ext cx="798512"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dirty="0">
                <a:solidFill>
                  <a:srgbClr val="FF7F00"/>
                </a:solidFill>
                <a:latin typeface="Cabin"/>
                <a:ea typeface="Cabin"/>
                <a:cs typeface="Cabin"/>
                <a:sym typeface="Cabin"/>
              </a:rPr>
              <a:t>Key</a:t>
            </a:r>
          </a:p>
        </p:txBody>
      </p:sp>
      <p:sp>
        <p:nvSpPr>
          <p:cNvPr id="290" name="Shape 290"/>
          <p:cNvSpPr txBox="1"/>
          <p:nvPr/>
        </p:nvSpPr>
        <p:spPr>
          <a:xfrm>
            <a:off x="13114337" y="2781300"/>
            <a:ext cx="110648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Value</a:t>
            </a:r>
          </a:p>
        </p:txBody>
      </p:sp>
      <p:sp>
        <p:nvSpPr>
          <p:cNvPr id="291" name="Shape 291"/>
          <p:cNvSpPr txBox="1"/>
          <p:nvPr/>
        </p:nvSpPr>
        <p:spPr>
          <a:xfrm>
            <a:off x="1803400" y="4165600"/>
            <a:ext cx="7825500" cy="4267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00FF00"/>
                </a:solidFill>
                <a:latin typeface="Courier New"/>
                <a:ea typeface="Courier New"/>
                <a:cs typeface="Courier New"/>
                <a:sym typeface="Courier New"/>
              </a:rPr>
              <a:t>ccc</a:t>
            </a:r>
            <a:r>
              <a:rPr lang="en-US" sz="3000" b="1" i="0" u="none" strike="noStrike" cap="none" baseline="0">
                <a:solidFill>
                  <a:schemeClr val="lt1"/>
                </a:solidFill>
                <a:latin typeface="Courier New"/>
                <a:ea typeface="Courier New"/>
                <a:cs typeface="Courier New"/>
                <a:sym typeface="Courier New"/>
              </a:rPr>
              <a:t> = </a:t>
            </a:r>
            <a:r>
              <a:rPr lang="en-US" sz="3000" b="1" i="0" u="none" strike="noStrike" cap="none" baseline="0">
                <a:solidFill>
                  <a:srgbClr val="FF00FF"/>
                </a:solidFill>
                <a:latin typeface="Courier New"/>
                <a:ea typeface="Courier New"/>
                <a:cs typeface="Courier New"/>
                <a:sym typeface="Courier New"/>
              </a:rPr>
              <a:t>dict</a:t>
            </a:r>
            <a:r>
              <a:rPr lang="en-US" sz="30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00FF00"/>
                </a:solidFill>
                <a:latin typeface="Courier New"/>
                <a:ea typeface="Courier New"/>
                <a:cs typeface="Courier New"/>
                <a:sym typeface="Courier New"/>
              </a:rPr>
              <a:t>ccc</a:t>
            </a:r>
            <a:r>
              <a:rPr lang="en-US" sz="3000" b="1" i="0" u="none" strike="noStrike" cap="none" baseline="0">
                <a:solidFill>
                  <a:schemeClr val="lt1"/>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csev</a:t>
            </a:r>
            <a:r>
              <a:rPr lang="en-US" sz="3000" b="1" i="0" u="none" strike="noStrike" cap="none" baseline="0">
                <a:solidFill>
                  <a:schemeClr val="lt1"/>
                </a:solidFill>
                <a:latin typeface="Courier New"/>
                <a:ea typeface="Courier New"/>
                <a:cs typeface="Courier New"/>
                <a:sym typeface="Courier New"/>
              </a:rPr>
              <a:t>'] = </a:t>
            </a:r>
            <a:r>
              <a:rPr lang="en-US" sz="3000" b="1" i="0" u="none" strike="noStrike" cap="none" baseline="0">
                <a:solidFill>
                  <a:srgbClr val="FF00FF"/>
                </a:solidFill>
                <a:latin typeface="Courier New"/>
                <a:ea typeface="Courier New"/>
                <a:cs typeface="Courier New"/>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00FF00"/>
                </a:solidFill>
                <a:latin typeface="Courier New"/>
                <a:ea typeface="Courier New"/>
                <a:cs typeface="Courier New"/>
                <a:sym typeface="Courier New"/>
              </a:rPr>
              <a:t>ccc</a:t>
            </a:r>
            <a:r>
              <a:rPr lang="en-US" sz="3000" b="1" i="0" u="none" strike="noStrike" cap="none" baseline="0">
                <a:solidFill>
                  <a:schemeClr val="lt1"/>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cwen</a:t>
            </a:r>
            <a:r>
              <a:rPr lang="en-US" sz="3000" b="1" i="0" u="none" strike="noStrike" cap="none" baseline="0">
                <a:solidFill>
                  <a:schemeClr val="lt1"/>
                </a:solidFill>
                <a:latin typeface="Courier New"/>
                <a:ea typeface="Courier New"/>
                <a:cs typeface="Courier New"/>
                <a:sym typeface="Courier New"/>
              </a:rPr>
              <a:t>'] = </a:t>
            </a:r>
            <a:r>
              <a:rPr lang="en-US" sz="3000" b="1" i="0" u="none" strike="noStrike" cap="none" baseline="0">
                <a:solidFill>
                  <a:srgbClr val="FF00FF"/>
                </a:solidFill>
                <a:latin typeface="Courier New"/>
                <a:ea typeface="Courier New"/>
                <a:cs typeface="Courier New"/>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ccc</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csev</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00FF"/>
                </a:solidFill>
                <a:latin typeface="Courier New"/>
                <a:ea typeface="Courier New"/>
                <a:cs typeface="Courier New"/>
                <a:sym typeface="Courier New"/>
              </a:rPr>
              <a:t>1</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7F00"/>
                </a:solidFill>
                <a:latin typeface="Courier New"/>
                <a:ea typeface="Courier New"/>
                <a:cs typeface="Courier New"/>
                <a:sym typeface="Courier New"/>
              </a:rPr>
              <a:t>cwen</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00FF"/>
                </a:solidFill>
                <a:latin typeface="Courier New"/>
                <a:ea typeface="Courier New"/>
                <a:cs typeface="Courier New"/>
                <a:sym typeface="Courier New"/>
              </a:rPr>
              <a:t>1</a:t>
            </a:r>
            <a:r>
              <a:rPr lang="en-US" sz="30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00FF00"/>
                </a:solidFill>
                <a:latin typeface="Courier New"/>
                <a:ea typeface="Courier New"/>
                <a:cs typeface="Courier New"/>
                <a:sym typeface="Courier New"/>
              </a:rPr>
              <a:t>ccc</a:t>
            </a:r>
            <a:r>
              <a:rPr lang="en-US" sz="3000" b="1" i="0" u="none" strike="noStrike" cap="none" baseline="0">
                <a:solidFill>
                  <a:schemeClr val="lt1"/>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cwen</a:t>
            </a:r>
            <a:r>
              <a:rPr lang="en-US" sz="3000" b="1" i="0" u="none" strike="noStrike" cap="none" baseline="0">
                <a:solidFill>
                  <a:schemeClr val="lt1"/>
                </a:solidFill>
                <a:latin typeface="Courier New"/>
                <a:ea typeface="Courier New"/>
                <a:cs typeface="Courier New"/>
                <a:sym typeface="Courier New"/>
              </a:rPr>
              <a:t>'] = </a:t>
            </a:r>
            <a:r>
              <a:rPr lang="en-US" sz="3000" b="1" i="0" u="none" strike="noStrike" cap="none" baseline="0">
                <a:solidFill>
                  <a:srgbClr val="00FF00"/>
                </a:solidFill>
                <a:latin typeface="Courier New"/>
                <a:ea typeface="Courier New"/>
                <a:cs typeface="Courier New"/>
                <a:sym typeface="Courier New"/>
              </a:rPr>
              <a:t>ccc</a:t>
            </a:r>
            <a:r>
              <a:rPr lang="en-US" sz="3000" b="1" i="0" u="none" strike="noStrike" cap="none" baseline="0">
                <a:solidFill>
                  <a:schemeClr val="lt1"/>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cwen</a:t>
            </a:r>
            <a:r>
              <a:rPr lang="en-US" sz="3000" b="1" i="0" u="none" strike="noStrike" cap="none" baseline="0">
                <a:solidFill>
                  <a:schemeClr val="lt1"/>
                </a:solidFill>
                <a:latin typeface="Courier New"/>
                <a:ea typeface="Courier New"/>
                <a:cs typeface="Courier New"/>
                <a:sym typeface="Courier New"/>
              </a:rPr>
              <a:t>'] + </a:t>
            </a:r>
            <a:r>
              <a:rPr lang="en-US" sz="3000" b="1" i="0" u="none" strike="noStrike" cap="none" baseline="0">
                <a:solidFill>
                  <a:srgbClr val="FF00FF"/>
                </a:solidFill>
                <a:latin typeface="Courier New"/>
                <a:ea typeface="Courier New"/>
                <a:cs typeface="Courier New"/>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ccc</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a:t>
            </a:r>
            <a:r>
              <a:rPr lang="en-US" sz="3000" b="1" i="0" u="none" strike="noStrike" cap="none" baseline="0">
                <a:solidFill>
                  <a:srgbClr val="FF7F00"/>
                </a:solidFill>
                <a:latin typeface="Courier New"/>
                <a:ea typeface="Courier New"/>
                <a:cs typeface="Courier New"/>
                <a:sym typeface="Courier New"/>
              </a:rPr>
              <a:t>csev</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00FF"/>
                </a:solidFill>
                <a:latin typeface="Courier New"/>
                <a:ea typeface="Courier New"/>
                <a:cs typeface="Courier New"/>
                <a:sym typeface="Courier New"/>
              </a:rPr>
              <a:t>1</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7F00"/>
                </a:solidFill>
                <a:latin typeface="Courier New"/>
                <a:ea typeface="Courier New"/>
                <a:cs typeface="Courier New"/>
                <a:sym typeface="Courier New"/>
              </a:rPr>
              <a:t>cwen</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00FF"/>
                </a:solidFill>
                <a:latin typeface="Courier New"/>
                <a:ea typeface="Courier New"/>
                <a:cs typeface="Courier New"/>
                <a:sym typeface="Courier New"/>
              </a:rPr>
              <a:t>2</a:t>
            </a:r>
            <a:r>
              <a:rPr lang="en-US" sz="3000" b="1" i="0" u="none" strike="noStrike" cap="none" baseline="0">
                <a:solidFill>
                  <a:schemeClr val="lt1"/>
                </a:solidFill>
                <a:latin typeface="Courier New"/>
                <a:ea typeface="Courier New"/>
                <a:cs typeface="Courier New"/>
                <a:sym typeface="Courier New"/>
              </a:rPr>
              <a:t>}</a:t>
            </a: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Shape 29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Dictionary </a:t>
            </a:r>
            <a:r>
              <a:rPr lang="en-US" sz="7600" b="0" i="0" u="none" strike="noStrike" cap="none" baseline="0">
                <a:solidFill>
                  <a:srgbClr val="FF66FF"/>
                </a:solidFill>
                <a:latin typeface="Cabin"/>
                <a:ea typeface="Cabin"/>
                <a:cs typeface="Cabin"/>
                <a:sym typeface="Cabin"/>
              </a:rPr>
              <a:t>Tracebacks</a:t>
            </a:r>
          </a:p>
        </p:txBody>
      </p:sp>
      <p:sp>
        <p:nvSpPr>
          <p:cNvPr id="297" name="Shape 297"/>
          <p:cNvSpPr txBox="1">
            <a:spLocks noGrp="1"/>
          </p:cNvSpPr>
          <p:nvPr>
            <p:ph type="body" idx="1"/>
          </p:nvPr>
        </p:nvSpPr>
        <p:spPr>
          <a:xfrm>
            <a:off x="1155700" y="2603500"/>
            <a:ext cx="13932000" cy="1926599"/>
          </a:xfrm>
          <a:prstGeom prst="rect">
            <a:avLst/>
          </a:prstGeom>
          <a:noFill/>
          <a:ln>
            <a:noFill/>
          </a:ln>
        </p:spPr>
        <p:txBody>
          <a:bodyPr lIns="38100" tIns="38100" rIns="38100" bIns="38100" anchor="ctr" anchorCtr="0">
            <a:noAutofit/>
          </a:bodyPr>
          <a:lstStyle/>
          <a:p>
            <a:pPr marL="749300" marR="0" lvl="0" indent="-371094" algn="l" rtl="0">
              <a:lnSpc>
                <a:spcPct val="100000"/>
              </a:lnSpc>
              <a:spcBef>
                <a:spcPts val="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It is an </a:t>
            </a:r>
            <a:r>
              <a:rPr lang="en-US" sz="3600" b="0" i="0" u="none" strike="noStrike" cap="none" baseline="0">
                <a:solidFill>
                  <a:srgbClr val="FF66FF"/>
                </a:solidFill>
                <a:latin typeface="Cabin"/>
                <a:ea typeface="Cabin"/>
                <a:cs typeface="Cabin"/>
                <a:sym typeface="Cabin"/>
              </a:rPr>
              <a:t>error</a:t>
            </a:r>
            <a:r>
              <a:rPr lang="en-US" sz="3600" b="0" i="0" u="none" strike="noStrike" cap="none" baseline="0">
                <a:solidFill>
                  <a:schemeClr val="lt1"/>
                </a:solidFill>
                <a:latin typeface="Cabin"/>
                <a:ea typeface="Cabin"/>
                <a:cs typeface="Cabin"/>
                <a:sym typeface="Cabin"/>
              </a:rPr>
              <a:t> to reference a key which is not in the dictionary</a:t>
            </a:r>
          </a:p>
          <a:p>
            <a:pPr marL="749300" marR="0" lvl="0" indent="-371094" algn="l" rtl="0">
              <a:lnSpc>
                <a:spcPct val="100000"/>
              </a:lnSpc>
              <a:spcBef>
                <a:spcPts val="3500"/>
              </a:spcBef>
              <a:spcAft>
                <a:spcPts val="0"/>
              </a:spcAft>
              <a:buClr>
                <a:schemeClr val="lt1"/>
              </a:buClr>
              <a:buSzPct val="100000"/>
              <a:buFont typeface="Cabin"/>
              <a:buChar char="•"/>
            </a:pPr>
            <a:r>
              <a:rPr lang="en-US" sz="3600" b="0" i="0" u="none" strike="noStrike" cap="none" baseline="0">
                <a:solidFill>
                  <a:schemeClr val="lt1"/>
                </a:solidFill>
                <a:latin typeface="Cabin"/>
                <a:ea typeface="Cabin"/>
                <a:cs typeface="Cabin"/>
                <a:sym typeface="Cabin"/>
              </a:rPr>
              <a:t>We can use the </a:t>
            </a:r>
            <a:r>
              <a:rPr lang="en-US" sz="3600" b="0" i="0" u="none" strike="noStrike" cap="none" baseline="0">
                <a:solidFill>
                  <a:srgbClr val="00FF00"/>
                </a:solidFill>
                <a:latin typeface="Cabin"/>
                <a:ea typeface="Cabin"/>
                <a:cs typeface="Cabin"/>
                <a:sym typeface="Cabin"/>
              </a:rPr>
              <a:t>in</a:t>
            </a:r>
            <a:r>
              <a:rPr lang="en-US" sz="3600" b="0" i="0" u="none" strike="noStrike" cap="none" baseline="0">
                <a:solidFill>
                  <a:schemeClr val="lt1"/>
                </a:solidFill>
                <a:latin typeface="Cabin"/>
                <a:ea typeface="Cabin"/>
                <a:cs typeface="Cabin"/>
                <a:sym typeface="Cabin"/>
              </a:rPr>
              <a:t> operator to see if a key is in the dictionary</a:t>
            </a:r>
          </a:p>
        </p:txBody>
      </p:sp>
      <p:sp>
        <p:nvSpPr>
          <p:cNvPr id="298" name="Shape 298"/>
          <p:cNvSpPr txBox="1"/>
          <p:nvPr/>
        </p:nvSpPr>
        <p:spPr>
          <a:xfrm>
            <a:off x="3928225" y="4786950"/>
            <a:ext cx="9056699" cy="37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ccc = </a:t>
            </a:r>
            <a:r>
              <a:rPr lang="en-US" sz="3000" b="1" i="0" u="none" strike="noStrike" cap="none" baseline="0">
                <a:solidFill>
                  <a:srgbClr val="00FFFF"/>
                </a:solidFill>
                <a:latin typeface="Courier New"/>
                <a:ea typeface="Courier New"/>
                <a:cs typeface="Courier New"/>
                <a:sym typeface="Courier New"/>
              </a:rPr>
              <a:t>dict()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a:t>
            </a:r>
            <a:r>
              <a:rPr lang="en-US" sz="3000" b="1" i="0" u="none" strike="noStrike" cap="none" baseline="0">
                <a:solidFill>
                  <a:srgbClr val="FF0000"/>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rgbClr val="FF0000"/>
                </a:solidFill>
                <a:latin typeface="Courier New"/>
                <a:ea typeface="Courier New"/>
                <a:cs typeface="Courier New"/>
                <a:sym typeface="Courier New"/>
              </a:rPr>
              <a:t> </a:t>
            </a:r>
            <a:r>
              <a:rPr lang="en-US" sz="3000" b="1" i="0" u="none" strike="noStrike" cap="none" baseline="0">
                <a:solidFill>
                  <a:srgbClr val="FF66FF"/>
                </a:solidFill>
                <a:latin typeface="Courier New"/>
                <a:ea typeface="Courier New"/>
                <a:cs typeface="Courier New"/>
                <a:sym typeface="Courier New"/>
              </a:rPr>
              <a:t>ccc['csev']</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Traceback (most recent call last):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  File "&lt;stdin&gt;", line 1, in &lt;module&gt;</a:t>
            </a:r>
          </a:p>
          <a:p>
            <a:pPr marL="0" marR="0" lvl="0" indent="0" algn="l" rtl="0">
              <a:lnSpc>
                <a:spcPct val="100000"/>
              </a:lnSpc>
              <a:spcBef>
                <a:spcPts val="0"/>
              </a:spcBef>
              <a:spcAft>
                <a:spcPts val="0"/>
              </a:spcAft>
              <a:buClr>
                <a:srgbClr val="FF66FF"/>
              </a:buClr>
              <a:buSzPct val="25000"/>
              <a:buFont typeface="Cabin"/>
              <a:buNone/>
            </a:pPr>
            <a:r>
              <a:rPr lang="en-US" sz="3000" b="1" i="0" u="none" strike="noStrike" cap="none" baseline="0">
                <a:solidFill>
                  <a:srgbClr val="FF66FF"/>
                </a:solidFill>
                <a:latin typeface="Courier New"/>
                <a:ea typeface="Courier New"/>
                <a:cs typeface="Courier New"/>
                <a:sym typeface="Courier New"/>
              </a:rPr>
              <a:t>KeyError: 'csev'</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'csev' </a:t>
            </a:r>
            <a:r>
              <a:rPr lang="en-US" sz="3000" b="1" i="0" u="none" strike="noStrike" cap="none" baseline="0">
                <a:solidFill>
                  <a:srgbClr val="FFFF00"/>
                </a:solidFill>
                <a:latin typeface="Courier New"/>
                <a:ea typeface="Courier New"/>
                <a:cs typeface="Courier New"/>
                <a:sym typeface="Courier New"/>
              </a:rPr>
              <a:t>in</a:t>
            </a:r>
            <a:r>
              <a:rPr lang="en-US" sz="3000" b="1" i="0" u="none" strike="noStrike" cap="none" baseline="0">
                <a:solidFill>
                  <a:schemeClr val="lt1"/>
                </a:solidFill>
                <a:latin typeface="Courier New"/>
                <a:ea typeface="Courier New"/>
                <a:cs typeface="Courier New"/>
                <a:sym typeface="Courier New"/>
              </a:rPr>
              <a:t> ccc</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False</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Shape 30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When we see a new name</a:t>
            </a:r>
          </a:p>
        </p:txBody>
      </p:sp>
      <p:sp>
        <p:nvSpPr>
          <p:cNvPr id="304" name="Shape 304"/>
          <p:cNvSpPr txBox="1">
            <a:spLocks noGrp="1"/>
          </p:cNvSpPr>
          <p:nvPr>
            <p:ph type="body" idx="1"/>
          </p:nvPr>
        </p:nvSpPr>
        <p:spPr>
          <a:xfrm>
            <a:off x="1155700" y="2374900"/>
            <a:ext cx="13932000" cy="17145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0"/>
              </a:spcAft>
              <a:buSzPct val="100000"/>
              <a:buFont typeface="Cabin"/>
            </a:pPr>
            <a:r>
              <a:rPr lang="en-US" sz="3600" b="0" i="0" u="none" strike="noStrike" cap="none" baseline="0">
                <a:solidFill>
                  <a:schemeClr val="lt1"/>
                </a:solidFill>
                <a:latin typeface="Cabin"/>
                <a:ea typeface="Cabin"/>
                <a:cs typeface="Cabin"/>
                <a:sym typeface="Cabin"/>
              </a:rPr>
              <a:t>When we encounter a new name, we need to add a new entry in the </a:t>
            </a:r>
            <a:r>
              <a:rPr lang="en-US" sz="3600" b="0" i="0" u="none" strike="noStrike" cap="none" baseline="0">
                <a:solidFill>
                  <a:srgbClr val="FF00FF"/>
                </a:solidFill>
                <a:latin typeface="Cabin"/>
                <a:ea typeface="Cabin"/>
                <a:cs typeface="Cabin"/>
                <a:sym typeface="Cabin"/>
              </a:rPr>
              <a:t>dictionary</a:t>
            </a:r>
            <a:r>
              <a:rPr lang="en-US" sz="3600" b="0" i="0" u="none" strike="noStrike" cap="none" baseline="0">
                <a:solidFill>
                  <a:schemeClr val="lt1"/>
                </a:solidFill>
                <a:latin typeface="Cabin"/>
                <a:ea typeface="Cabin"/>
                <a:cs typeface="Cabin"/>
                <a:sym typeface="Cabin"/>
              </a:rPr>
              <a:t> and if this the second or later time we have seen the </a:t>
            </a:r>
            <a:r>
              <a:rPr lang="en-US" sz="3600" b="0" i="0" u="none" strike="noStrike" cap="none" baseline="0">
                <a:solidFill>
                  <a:srgbClr val="00FF00"/>
                </a:solidFill>
                <a:latin typeface="Cabin"/>
                <a:ea typeface="Cabin"/>
                <a:cs typeface="Cabin"/>
                <a:sym typeface="Cabin"/>
              </a:rPr>
              <a:t>name</a:t>
            </a:r>
            <a:r>
              <a:rPr lang="en-US" sz="3600" b="0" i="0" u="none" strike="noStrike" cap="none" baseline="0">
                <a:solidFill>
                  <a:schemeClr val="lt1"/>
                </a:solidFill>
                <a:latin typeface="Cabin"/>
                <a:ea typeface="Cabin"/>
                <a:cs typeface="Cabin"/>
                <a:sym typeface="Cabin"/>
              </a:rPr>
              <a:t>, we simply add one to the count in the </a:t>
            </a:r>
            <a:r>
              <a:rPr lang="en-US" sz="3600" b="0" i="0" u="none" strike="noStrike" cap="none" baseline="0">
                <a:solidFill>
                  <a:srgbClr val="FF00FF"/>
                </a:solidFill>
                <a:latin typeface="Cabin"/>
                <a:ea typeface="Cabin"/>
                <a:cs typeface="Cabin"/>
                <a:sym typeface="Cabin"/>
              </a:rPr>
              <a:t>dictionary</a:t>
            </a:r>
            <a:r>
              <a:rPr lang="en-US" sz="3600" b="0" i="0" u="none" strike="noStrike" cap="none" baseline="0">
                <a:solidFill>
                  <a:schemeClr val="lt1"/>
                </a:solidFill>
                <a:latin typeface="Cabin"/>
                <a:ea typeface="Cabin"/>
                <a:cs typeface="Cabin"/>
                <a:sym typeface="Cabin"/>
              </a:rPr>
              <a:t> under that </a:t>
            </a:r>
            <a:r>
              <a:rPr lang="en-US" sz="3600" b="0" i="0" u="none" strike="noStrike" cap="none" baseline="0">
                <a:solidFill>
                  <a:srgbClr val="00FF00"/>
                </a:solidFill>
                <a:latin typeface="Cabin"/>
                <a:ea typeface="Cabin"/>
                <a:cs typeface="Cabin"/>
                <a:sym typeface="Cabin"/>
              </a:rPr>
              <a:t>name</a:t>
            </a:r>
          </a:p>
        </p:txBody>
      </p:sp>
      <p:sp>
        <p:nvSpPr>
          <p:cNvPr id="305" name="Shape 305"/>
          <p:cNvSpPr txBox="1"/>
          <p:nvPr/>
        </p:nvSpPr>
        <p:spPr>
          <a:xfrm>
            <a:off x="1308150" y="4478400"/>
            <a:ext cx="11463599" cy="34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600" b="1" i="0" u="none" strike="noStrike" cap="none" baseline="0">
                <a:solidFill>
                  <a:srgbClr val="00FF00"/>
                </a:solidFill>
                <a:latin typeface="Courier New"/>
                <a:ea typeface="Courier New"/>
                <a:cs typeface="Courier New"/>
                <a:sym typeface="Courier New"/>
              </a:rPr>
              <a:t>counts</a:t>
            </a:r>
            <a:r>
              <a:rPr lang="en-US" sz="2600" b="1" i="0" u="none" strike="noStrike" cap="none" baseline="0">
                <a:solidFill>
                  <a:schemeClr val="lt1"/>
                </a:solidFill>
                <a:latin typeface="Courier New"/>
                <a:ea typeface="Courier New"/>
                <a:cs typeface="Courier New"/>
                <a:sym typeface="Courier New"/>
              </a:rPr>
              <a:t> = </a:t>
            </a:r>
            <a:r>
              <a:rPr lang="en-US" sz="2600" b="1" i="0" u="none" strike="noStrike" cap="none" baseline="0">
                <a:solidFill>
                  <a:srgbClr val="FF00FF"/>
                </a:solidFill>
                <a:latin typeface="Courier New"/>
                <a:ea typeface="Courier New"/>
                <a:cs typeface="Courier New"/>
                <a:sym typeface="Courier New"/>
              </a:rPr>
              <a:t>dict</a:t>
            </a:r>
            <a:r>
              <a:rPr lang="en-US" sz="26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600" b="1" i="0" u="none" strike="noStrike" cap="none" baseline="0">
                <a:solidFill>
                  <a:srgbClr val="00FF00"/>
                </a:solidFill>
                <a:latin typeface="Courier New"/>
                <a:ea typeface="Courier New"/>
                <a:cs typeface="Courier New"/>
                <a:sym typeface="Courier New"/>
              </a:rPr>
              <a:t>names</a:t>
            </a:r>
            <a:r>
              <a:rPr lang="en-US" sz="2600" b="1" i="0" u="none" strike="noStrike" cap="none" baseline="0">
                <a:solidFill>
                  <a:schemeClr val="lt1"/>
                </a:solidFill>
                <a:latin typeface="Courier New"/>
                <a:ea typeface="Courier New"/>
                <a:cs typeface="Courier New"/>
                <a:sym typeface="Courier New"/>
              </a:rPr>
              <a:t> = ['csev', 'cwen', 'csev', 'zqian', 'cwen']</a:t>
            </a:r>
          </a:p>
          <a:p>
            <a:pPr marL="0" marR="0" lvl="0" indent="0" algn="l" rtl="0">
              <a:lnSpc>
                <a:spcPct val="100000"/>
              </a:lnSpc>
              <a:spcBef>
                <a:spcPts val="0"/>
              </a:spcBef>
              <a:spcAft>
                <a:spcPts val="0"/>
              </a:spcAft>
              <a:buClr>
                <a:srgbClr val="FFFF00"/>
              </a:buClr>
              <a:buSzPct val="25000"/>
              <a:buFont typeface="Courier New"/>
              <a:buNone/>
            </a:pPr>
            <a:r>
              <a:rPr lang="en-US" sz="2600" b="1" i="0" u="none" strike="noStrike" cap="none" baseline="0">
                <a:solidFill>
                  <a:srgbClr val="FFFF00"/>
                </a:solidFill>
                <a:latin typeface="Courier New"/>
                <a:ea typeface="Courier New"/>
                <a:cs typeface="Courier New"/>
                <a:sym typeface="Courier New"/>
              </a:rPr>
              <a:t>for</a:t>
            </a: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00FF00"/>
                </a:solidFill>
                <a:latin typeface="Courier New"/>
                <a:ea typeface="Courier New"/>
                <a:cs typeface="Courier New"/>
                <a:sym typeface="Courier New"/>
              </a:rPr>
              <a:t>name</a:t>
            </a: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FFFF00"/>
                </a:solidFill>
                <a:latin typeface="Courier New"/>
                <a:ea typeface="Courier New"/>
                <a:cs typeface="Courier New"/>
                <a:sym typeface="Courier New"/>
              </a:rPr>
              <a:t>in</a:t>
            </a: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00FF00"/>
                </a:solidFill>
                <a:latin typeface="Courier New"/>
                <a:ea typeface="Courier New"/>
                <a:cs typeface="Courier New"/>
                <a:sym typeface="Courier New"/>
              </a:rPr>
              <a:t>names</a:t>
            </a:r>
            <a:r>
              <a:rPr lang="en-US" sz="26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FFFF00"/>
                </a:solidFill>
                <a:latin typeface="Courier New"/>
                <a:ea typeface="Courier New"/>
                <a:cs typeface="Courier New"/>
                <a:sym typeface="Courier New"/>
              </a:rPr>
              <a:t> if </a:t>
            </a:r>
            <a:r>
              <a:rPr lang="en-US" sz="2600" b="1" i="0" u="none" strike="noStrike" cap="none" baseline="0">
                <a:solidFill>
                  <a:srgbClr val="00FF00"/>
                </a:solidFill>
                <a:latin typeface="Courier New"/>
                <a:ea typeface="Courier New"/>
                <a:cs typeface="Courier New"/>
                <a:sym typeface="Courier New"/>
              </a:rPr>
              <a:t>name</a:t>
            </a: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FFFF00"/>
                </a:solidFill>
                <a:latin typeface="Courier New"/>
                <a:ea typeface="Courier New"/>
                <a:cs typeface="Courier New"/>
                <a:sym typeface="Courier New"/>
              </a:rPr>
              <a:t>not in</a:t>
            </a: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00FF00"/>
                </a:solidFill>
                <a:latin typeface="Courier New"/>
                <a:ea typeface="Courier New"/>
                <a:cs typeface="Courier New"/>
                <a:sym typeface="Courier New"/>
              </a:rPr>
              <a:t>counts</a:t>
            </a:r>
            <a:r>
              <a:rPr lang="en-US" sz="26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00FF00"/>
                </a:solidFill>
                <a:latin typeface="Courier New"/>
                <a:ea typeface="Courier New"/>
                <a:cs typeface="Courier New"/>
                <a:sym typeface="Courier New"/>
              </a:rPr>
              <a:t>counts</a:t>
            </a:r>
            <a:r>
              <a:rPr lang="en-US" sz="2600" b="1" i="0" u="none" strike="noStrike" cap="none" baseline="0">
                <a:solidFill>
                  <a:srgbClr val="00FFFF"/>
                </a:solidFill>
                <a:latin typeface="Courier New"/>
                <a:ea typeface="Courier New"/>
                <a:cs typeface="Courier New"/>
                <a:sym typeface="Courier New"/>
              </a:rPr>
              <a:t>[name]</a:t>
            </a:r>
            <a:r>
              <a:rPr lang="en-US" sz="2600" b="1" i="0" u="none" strike="noStrike" cap="none" baseline="0">
                <a:solidFill>
                  <a:schemeClr val="lt1"/>
                </a:solidFill>
                <a:latin typeface="Courier New"/>
                <a:ea typeface="Courier New"/>
                <a:cs typeface="Courier New"/>
                <a:sym typeface="Courier New"/>
              </a:rPr>
              <a:t> = 1</a:t>
            </a:r>
          </a:p>
          <a:p>
            <a:pPr marL="0" marR="0" lvl="0" indent="0" algn="l" rtl="0">
              <a:lnSpc>
                <a:spcPct val="100000"/>
              </a:lnSpc>
              <a:spcBef>
                <a:spcPts val="0"/>
              </a:spcBef>
              <a:spcAft>
                <a:spcPts val="0"/>
              </a:spcAft>
              <a:buClr>
                <a:schemeClr val="lt1"/>
              </a:buClr>
              <a:buSzPct val="25000"/>
              <a:buFont typeface="Courier New"/>
              <a:buNone/>
            </a:pP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FFFF00"/>
                </a:solidFill>
                <a:latin typeface="Courier New"/>
                <a:ea typeface="Courier New"/>
                <a:cs typeface="Courier New"/>
                <a:sym typeface="Courier New"/>
              </a:rPr>
              <a:t>else</a:t>
            </a:r>
            <a:r>
              <a:rPr lang="en-US" sz="26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00FF00"/>
                </a:solidFill>
                <a:latin typeface="Courier New"/>
                <a:ea typeface="Courier New"/>
                <a:cs typeface="Courier New"/>
                <a:sym typeface="Courier New"/>
              </a:rPr>
              <a:t>counts</a:t>
            </a:r>
            <a:r>
              <a:rPr lang="en-US" sz="2600" b="1" i="0" u="none" strike="noStrike" cap="none" baseline="0">
                <a:solidFill>
                  <a:srgbClr val="00FFFF"/>
                </a:solidFill>
                <a:latin typeface="Courier New"/>
                <a:ea typeface="Courier New"/>
                <a:cs typeface="Courier New"/>
                <a:sym typeface="Courier New"/>
              </a:rPr>
              <a:t>[name]</a:t>
            </a:r>
            <a:r>
              <a:rPr lang="en-US" sz="2600" b="1" i="0" u="none" strike="noStrike" cap="none" baseline="0">
                <a:solidFill>
                  <a:schemeClr val="lt1"/>
                </a:solidFill>
                <a:latin typeface="Courier New"/>
                <a:ea typeface="Courier New"/>
                <a:cs typeface="Courier New"/>
                <a:sym typeface="Courier New"/>
              </a:rPr>
              <a:t> = </a:t>
            </a:r>
            <a:r>
              <a:rPr lang="en-US" sz="2600" b="1" i="0" u="none" strike="noStrike" cap="none" baseline="0">
                <a:solidFill>
                  <a:srgbClr val="00FF00"/>
                </a:solidFill>
                <a:latin typeface="Courier New"/>
                <a:ea typeface="Courier New"/>
                <a:cs typeface="Courier New"/>
                <a:sym typeface="Courier New"/>
              </a:rPr>
              <a:t>counts</a:t>
            </a:r>
            <a:r>
              <a:rPr lang="en-US" sz="2600" b="1" i="0" u="none" strike="noStrike" cap="none" baseline="0">
                <a:solidFill>
                  <a:srgbClr val="00FFFF"/>
                </a:solidFill>
                <a:latin typeface="Courier New"/>
                <a:ea typeface="Courier New"/>
                <a:cs typeface="Courier New"/>
                <a:sym typeface="Courier New"/>
              </a:rPr>
              <a:t>[name]</a:t>
            </a:r>
            <a:r>
              <a:rPr lang="en-US" sz="2600" b="1" i="0" u="none" strike="noStrike" cap="none" baseline="0">
                <a:solidFill>
                  <a:schemeClr val="lt1"/>
                </a:solidFill>
                <a:latin typeface="Courier New"/>
                <a:ea typeface="Courier New"/>
                <a:cs typeface="Courier New"/>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600" b="1" i="0" u="none" strike="noStrike" cap="none" baseline="0">
                <a:solidFill>
                  <a:srgbClr val="FFFF00"/>
                </a:solidFill>
                <a:latin typeface="Courier New"/>
                <a:ea typeface="Courier New"/>
                <a:cs typeface="Courier New"/>
                <a:sym typeface="Courier New"/>
              </a:rPr>
              <a:t>print</a:t>
            </a:r>
            <a:r>
              <a:rPr lang="en-US" sz="2600" b="1" i="0" u="none" strike="noStrike" cap="none" baseline="0">
                <a:solidFill>
                  <a:schemeClr val="lt1"/>
                </a:solidFill>
                <a:latin typeface="Courier New"/>
                <a:ea typeface="Courier New"/>
                <a:cs typeface="Courier New"/>
                <a:sym typeface="Courier New"/>
              </a:rPr>
              <a:t> </a:t>
            </a:r>
            <a:r>
              <a:rPr lang="en-US" sz="2600" b="1" i="0" u="none" strike="noStrike" cap="none" baseline="0">
                <a:solidFill>
                  <a:srgbClr val="00FF00"/>
                </a:solidFill>
                <a:latin typeface="Courier New"/>
                <a:ea typeface="Courier New"/>
                <a:cs typeface="Courier New"/>
                <a:sym typeface="Courier New"/>
              </a:rPr>
              <a:t>counts</a:t>
            </a:r>
          </a:p>
        </p:txBody>
      </p:sp>
      <p:sp>
        <p:nvSpPr>
          <p:cNvPr id="306" name="Shape 306"/>
          <p:cNvSpPr txBox="1"/>
          <p:nvPr/>
        </p:nvSpPr>
        <p:spPr>
          <a:xfrm>
            <a:off x="9004375" y="8217050"/>
            <a:ext cx="7118400"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a:t>
            </a:r>
            <a:r>
              <a:rPr lang="en-US" sz="3600" b="0" i="0" u="none" strike="noStrike" cap="none" baseline="0">
                <a:solidFill>
                  <a:srgbClr val="00FFFF"/>
                </a:solidFill>
                <a:latin typeface="Cabin"/>
                <a:ea typeface="Cabin"/>
                <a:cs typeface="Cabin"/>
                <a:sym typeface="Cabin"/>
              </a:rPr>
              <a:t>'csev'</a:t>
            </a:r>
            <a:r>
              <a:rPr lang="en-US" sz="3600" b="0" i="0" u="none" strike="noStrike" cap="none" baseline="0">
                <a:solidFill>
                  <a:srgbClr val="FF00FF"/>
                </a:solidFill>
                <a:latin typeface="Cabin"/>
                <a:ea typeface="Cabin"/>
                <a:cs typeface="Cabin"/>
                <a:sym typeface="Cabin"/>
              </a:rPr>
              <a:t>: 2, </a:t>
            </a:r>
            <a:r>
              <a:rPr lang="en-US" sz="3600" b="0" i="0" u="none" strike="noStrike" cap="none" baseline="0">
                <a:solidFill>
                  <a:srgbClr val="00FFFF"/>
                </a:solidFill>
                <a:latin typeface="Cabin"/>
                <a:ea typeface="Cabin"/>
                <a:cs typeface="Cabin"/>
                <a:sym typeface="Cabin"/>
              </a:rPr>
              <a:t>'zqian'</a:t>
            </a:r>
            <a:r>
              <a:rPr lang="en-US" sz="3600" b="0" i="0" u="none" strike="noStrike" cap="none" baseline="0">
                <a:solidFill>
                  <a:srgbClr val="FF00FF"/>
                </a:solidFill>
                <a:latin typeface="Cabin"/>
                <a:ea typeface="Cabin"/>
                <a:cs typeface="Cabin"/>
                <a:sym typeface="Cabin"/>
              </a:rPr>
              <a:t>: 1,</a:t>
            </a:r>
            <a:r>
              <a:rPr lang="en-US" sz="3600" b="0" i="0" u="none" strike="noStrike" cap="none" baseline="0">
                <a:solidFill>
                  <a:srgbClr val="00FFFF"/>
                </a:solidFill>
                <a:latin typeface="Cabin"/>
                <a:ea typeface="Cabin"/>
                <a:cs typeface="Cabin"/>
                <a:sym typeface="Cabin"/>
              </a:rPr>
              <a:t> 'cwen'</a:t>
            </a:r>
            <a:r>
              <a:rPr lang="en-US" sz="3600" b="0" i="0" u="none" strike="noStrike" cap="none" baseline="0">
                <a:solidFill>
                  <a:srgbClr val="FF00FF"/>
                </a:solidFill>
                <a:latin typeface="Cabin"/>
                <a:ea typeface="Cabin"/>
                <a:cs typeface="Cabin"/>
                <a:sym typeface="Cabin"/>
              </a:rPr>
              <a:t>: 2}</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Shape 31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The </a:t>
            </a:r>
            <a:r>
              <a:rPr lang="en-US" sz="7600" b="0" i="0" u="none" strike="noStrike" cap="none" baseline="0">
                <a:solidFill>
                  <a:srgbClr val="FF00FF"/>
                </a:solidFill>
                <a:latin typeface="Cabin"/>
                <a:ea typeface="Cabin"/>
                <a:cs typeface="Cabin"/>
                <a:sym typeface="Cabin"/>
              </a:rPr>
              <a:t>get</a:t>
            </a:r>
            <a:r>
              <a:rPr lang="en-US" sz="7600" b="0" i="0" u="none" strike="noStrike" cap="none" baseline="0">
                <a:solidFill>
                  <a:schemeClr val="lt1"/>
                </a:solidFill>
                <a:latin typeface="Cabin"/>
                <a:ea typeface="Cabin"/>
                <a:cs typeface="Cabin"/>
                <a:sym typeface="Cabin"/>
              </a:rPr>
              <a:t> method for dictionaries</a:t>
            </a:r>
          </a:p>
        </p:txBody>
      </p:sp>
      <p:sp>
        <p:nvSpPr>
          <p:cNvPr id="312" name="Shape 312"/>
          <p:cNvSpPr txBox="1">
            <a:spLocks noGrp="1"/>
          </p:cNvSpPr>
          <p:nvPr>
            <p:ph type="body" idx="1"/>
          </p:nvPr>
        </p:nvSpPr>
        <p:spPr>
          <a:xfrm>
            <a:off x="1155700" y="2603500"/>
            <a:ext cx="6502500" cy="43062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0"/>
              </a:spcAft>
              <a:buSzPct val="100000"/>
              <a:buFont typeface="Cabin"/>
            </a:pPr>
            <a:r>
              <a:rPr lang="en-US" sz="3600" b="0" i="0" u="none" strike="noStrike" cap="none" baseline="0">
                <a:solidFill>
                  <a:schemeClr val="lt1"/>
                </a:solidFill>
                <a:latin typeface="Cabin"/>
                <a:ea typeface="Cabin"/>
                <a:cs typeface="Cabin"/>
                <a:sym typeface="Cabin"/>
              </a:rPr>
              <a:t>This pattern of checking to see if a </a:t>
            </a:r>
            <a:r>
              <a:rPr lang="en-US" sz="3600" b="0" i="0" u="none" strike="noStrike" cap="none" baseline="0">
                <a:solidFill>
                  <a:srgbClr val="00FFFF"/>
                </a:solidFill>
                <a:latin typeface="Cabin"/>
                <a:ea typeface="Cabin"/>
                <a:cs typeface="Cabin"/>
                <a:sym typeface="Cabin"/>
              </a:rPr>
              <a:t>key</a:t>
            </a:r>
            <a:r>
              <a:rPr lang="en-US" sz="3600" b="0" i="0" u="none" strike="noStrike" cap="none" baseline="0">
                <a:solidFill>
                  <a:schemeClr val="lt1"/>
                </a:solidFill>
                <a:latin typeface="Cabin"/>
                <a:ea typeface="Cabin"/>
                <a:cs typeface="Cabin"/>
                <a:sym typeface="Cabin"/>
              </a:rPr>
              <a:t> is already in a dictionary and assuming a default value if the </a:t>
            </a:r>
            <a:r>
              <a:rPr lang="en-US" sz="3600" b="0" i="0" u="none" strike="noStrike" cap="none" baseline="0">
                <a:solidFill>
                  <a:srgbClr val="00FFFF"/>
                </a:solidFill>
                <a:latin typeface="Cabin"/>
                <a:ea typeface="Cabin"/>
                <a:cs typeface="Cabin"/>
                <a:sym typeface="Cabin"/>
              </a:rPr>
              <a:t>key</a:t>
            </a:r>
            <a:r>
              <a:rPr lang="en-US" sz="3600" b="0" i="0" u="none" strike="noStrike" cap="none" baseline="0">
                <a:solidFill>
                  <a:schemeClr val="lt1"/>
                </a:solidFill>
                <a:latin typeface="Cabin"/>
                <a:ea typeface="Cabin"/>
                <a:cs typeface="Cabin"/>
                <a:sym typeface="Cabin"/>
              </a:rPr>
              <a:t> is not there is so common, that there is a </a:t>
            </a:r>
            <a:r>
              <a:rPr lang="en-US" sz="3600" b="0" i="0" u="none" strike="noStrike" cap="none" baseline="0">
                <a:solidFill>
                  <a:srgbClr val="FF00FF"/>
                </a:solidFill>
                <a:latin typeface="Cabin"/>
                <a:ea typeface="Cabin"/>
                <a:cs typeface="Cabin"/>
                <a:sym typeface="Cabin"/>
              </a:rPr>
              <a:t>method</a:t>
            </a:r>
            <a:r>
              <a:rPr lang="en-US" sz="3600" b="0" i="0" u="none" strike="noStrike" cap="none" baseline="0">
                <a:solidFill>
                  <a:schemeClr val="lt1"/>
                </a:solidFill>
                <a:latin typeface="Cabin"/>
                <a:ea typeface="Cabin"/>
                <a:cs typeface="Cabin"/>
                <a:sym typeface="Cabin"/>
              </a:rPr>
              <a:t> called </a:t>
            </a:r>
            <a:r>
              <a:rPr lang="en-US" sz="3600" b="0" i="0" u="none" strike="noStrike" cap="none" baseline="0">
                <a:solidFill>
                  <a:srgbClr val="FF00FF"/>
                </a:solidFill>
                <a:latin typeface="Cabin"/>
                <a:ea typeface="Cabin"/>
                <a:cs typeface="Cabin"/>
                <a:sym typeface="Cabin"/>
              </a:rPr>
              <a:t>get</a:t>
            </a:r>
            <a:r>
              <a:rPr lang="en-US" sz="3600" b="0" i="0" u="none" strike="noStrike" cap="none" baseline="0">
                <a:solidFill>
                  <a:schemeClr val="lt1"/>
                </a:solidFill>
                <a:latin typeface="Cabin"/>
                <a:ea typeface="Cabin"/>
                <a:cs typeface="Cabin"/>
                <a:sym typeface="Cabin"/>
              </a:rPr>
              <a:t>() that does this for us</a:t>
            </a:r>
          </a:p>
        </p:txBody>
      </p:sp>
      <p:sp>
        <p:nvSpPr>
          <p:cNvPr id="313" name="Shape 313"/>
          <p:cNvSpPr txBox="1"/>
          <p:nvPr/>
        </p:nvSpPr>
        <p:spPr>
          <a:xfrm>
            <a:off x="9232900" y="3070225"/>
            <a:ext cx="6502500" cy="2216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 if </a:t>
            </a:r>
            <a:r>
              <a:rPr lang="en-US" sz="3000" b="1" i="0" u="none" strike="noStrike" cap="none" baseline="0">
                <a:solidFill>
                  <a:srgbClr val="00FF00"/>
                </a:solidFill>
                <a:latin typeface="Courier New"/>
                <a:ea typeface="Courier New"/>
                <a:cs typeface="Courier New"/>
                <a:sym typeface="Courier New"/>
              </a:rPr>
              <a:t>name</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in</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counts</a:t>
            </a:r>
            <a:r>
              <a:rPr lang="en-US" sz="30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x =</a:t>
            </a:r>
            <a:r>
              <a:rPr lang="en-US" sz="3000" b="1" i="0" u="none" strike="noStrike" cap="none" baseline="0">
                <a:solidFill>
                  <a:srgbClr val="00FF00"/>
                </a:solidFill>
                <a:latin typeface="Courier New"/>
                <a:ea typeface="Courier New"/>
                <a:cs typeface="Courier New"/>
                <a:sym typeface="Courier New"/>
              </a:rPr>
              <a:t> counts</a:t>
            </a:r>
            <a:r>
              <a:rPr lang="en-US" sz="3000" b="1" i="0" u="none" strike="noStrike" cap="none" baseline="0">
                <a:solidFill>
                  <a:srgbClr val="00FFFF"/>
                </a:solidFill>
                <a:latin typeface="Courier New"/>
                <a:ea typeface="Courier New"/>
                <a:cs typeface="Courier New"/>
                <a:sym typeface="Courier New"/>
              </a:rPr>
              <a:t>[name]</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else</a:t>
            </a:r>
            <a:r>
              <a:rPr lang="en-US" sz="30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x =</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7F00"/>
                </a:solidFill>
                <a:latin typeface="Courier New"/>
                <a:ea typeface="Courier New"/>
                <a:cs typeface="Courier New"/>
                <a:sym typeface="Courier New"/>
              </a:rPr>
              <a:t>0</a:t>
            </a:r>
          </a:p>
        </p:txBody>
      </p:sp>
      <p:sp>
        <p:nvSpPr>
          <p:cNvPr id="314" name="Shape 314"/>
          <p:cNvSpPr txBox="1"/>
          <p:nvPr/>
        </p:nvSpPr>
        <p:spPr>
          <a:xfrm>
            <a:off x="9728200" y="6019800"/>
            <a:ext cx="6044400" cy="622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b="1" i="0" u="none" strike="noStrike" cap="none" baseline="0">
                <a:solidFill>
                  <a:srgbClr val="FFFF00"/>
                </a:solidFill>
                <a:latin typeface="Courier New"/>
                <a:ea typeface="Courier New"/>
                <a:cs typeface="Courier New"/>
                <a:sym typeface="Courier New"/>
              </a:rPr>
              <a:t>x = </a:t>
            </a:r>
            <a:r>
              <a:rPr lang="en-US" sz="3000" b="1" i="0" u="none" strike="noStrike" cap="none" baseline="0">
                <a:solidFill>
                  <a:srgbClr val="00FF00"/>
                </a:solidFill>
                <a:latin typeface="Courier New"/>
                <a:ea typeface="Courier New"/>
                <a:cs typeface="Courier New"/>
                <a:sym typeface="Courier New"/>
              </a:rPr>
              <a:t>counts</a:t>
            </a:r>
            <a:r>
              <a:rPr lang="en-US" sz="3000" b="1" i="0" u="none" strike="noStrike" cap="none" baseline="0">
                <a:solidFill>
                  <a:srgbClr val="FF00FF"/>
                </a:solidFill>
                <a:latin typeface="Courier New"/>
                <a:ea typeface="Courier New"/>
                <a:cs typeface="Courier New"/>
                <a:sym typeface="Courier New"/>
              </a:rPr>
              <a:t>.get</a:t>
            </a:r>
            <a:r>
              <a:rPr lang="en-US" sz="3000" b="1" i="0" u="none" strike="noStrike" cap="none" baseline="0">
                <a:solidFill>
                  <a:schemeClr val="lt1"/>
                </a:solidFill>
                <a:latin typeface="Courier New"/>
                <a:ea typeface="Courier New"/>
                <a:cs typeface="Courier New"/>
                <a:sym typeface="Courier New"/>
              </a:rPr>
              <a:t>(</a:t>
            </a:r>
            <a:r>
              <a:rPr lang="en-US" sz="3000" b="1" i="0" u="none" strike="noStrike" cap="none" baseline="0">
                <a:solidFill>
                  <a:srgbClr val="00FFFF"/>
                </a:solidFill>
                <a:latin typeface="Courier New"/>
                <a:ea typeface="Courier New"/>
                <a:cs typeface="Courier New"/>
                <a:sym typeface="Courier New"/>
              </a:rPr>
              <a:t>name</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7F00"/>
                </a:solidFill>
                <a:latin typeface="Courier New"/>
                <a:ea typeface="Courier New"/>
                <a:cs typeface="Courier New"/>
                <a:sym typeface="Courier New"/>
              </a:rPr>
              <a:t>0</a:t>
            </a:r>
            <a:r>
              <a:rPr lang="en-US" sz="3000" b="1" i="0" u="none" strike="noStrike" cap="none" baseline="0">
                <a:solidFill>
                  <a:schemeClr val="lt1"/>
                </a:solidFill>
                <a:latin typeface="Courier New"/>
                <a:ea typeface="Courier New"/>
                <a:cs typeface="Courier New"/>
                <a:sym typeface="Courier New"/>
              </a:rPr>
              <a:t>)</a:t>
            </a:r>
          </a:p>
        </p:txBody>
      </p:sp>
      <p:sp>
        <p:nvSpPr>
          <p:cNvPr id="315" name="Shape 315"/>
          <p:cNvSpPr txBox="1"/>
          <p:nvPr/>
        </p:nvSpPr>
        <p:spPr>
          <a:xfrm>
            <a:off x="847750" y="7423225"/>
            <a:ext cx="71184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Default value if key does not exist (and no Traceback).</a:t>
            </a:r>
          </a:p>
        </p:txBody>
      </p:sp>
      <p:sp>
        <p:nvSpPr>
          <p:cNvPr id="316" name="Shape 316"/>
          <p:cNvSpPr txBox="1"/>
          <p:nvPr/>
        </p:nvSpPr>
        <p:spPr>
          <a:xfrm>
            <a:off x="9004375" y="7924800"/>
            <a:ext cx="7118400"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a:t>
            </a:r>
            <a:r>
              <a:rPr lang="en-US" sz="3600" b="0" i="0" u="none" strike="noStrike" cap="none" baseline="0">
                <a:solidFill>
                  <a:srgbClr val="00FFFF"/>
                </a:solidFill>
                <a:latin typeface="Cabin"/>
                <a:ea typeface="Cabin"/>
                <a:cs typeface="Cabin"/>
                <a:sym typeface="Cabin"/>
              </a:rPr>
              <a:t>'csev'</a:t>
            </a:r>
            <a:r>
              <a:rPr lang="en-US" sz="3600" b="0" i="0" u="none" strike="noStrike" cap="none" baseline="0">
                <a:solidFill>
                  <a:srgbClr val="FF00FF"/>
                </a:solidFill>
                <a:latin typeface="Cabin"/>
                <a:ea typeface="Cabin"/>
                <a:cs typeface="Cabin"/>
                <a:sym typeface="Cabin"/>
              </a:rPr>
              <a:t>: 2, </a:t>
            </a:r>
            <a:r>
              <a:rPr lang="en-US" sz="3600" b="0" i="0" u="none" strike="noStrike" cap="none" baseline="0">
                <a:solidFill>
                  <a:srgbClr val="00FFFF"/>
                </a:solidFill>
                <a:latin typeface="Cabin"/>
                <a:ea typeface="Cabin"/>
                <a:cs typeface="Cabin"/>
                <a:sym typeface="Cabin"/>
              </a:rPr>
              <a:t>'zqian'</a:t>
            </a:r>
            <a:r>
              <a:rPr lang="en-US" sz="3600" b="0" i="0" u="none" strike="noStrike" cap="none" baseline="0">
                <a:solidFill>
                  <a:srgbClr val="FF00FF"/>
                </a:solidFill>
                <a:latin typeface="Cabin"/>
                <a:ea typeface="Cabin"/>
                <a:cs typeface="Cabin"/>
                <a:sym typeface="Cabin"/>
              </a:rPr>
              <a:t>: 1,</a:t>
            </a:r>
            <a:r>
              <a:rPr lang="en-US" sz="3600" b="0" i="0" u="none" strike="noStrike" cap="none" baseline="0">
                <a:solidFill>
                  <a:srgbClr val="00FFFF"/>
                </a:solidFill>
                <a:latin typeface="Cabin"/>
                <a:ea typeface="Cabin"/>
                <a:cs typeface="Cabin"/>
                <a:sym typeface="Cabin"/>
              </a:rPr>
              <a:t> 'cwen'</a:t>
            </a:r>
            <a:r>
              <a:rPr lang="en-US" sz="3600" b="0" i="0" u="none" strike="noStrike" cap="none" baseline="0">
                <a:solidFill>
                  <a:srgbClr val="FF00FF"/>
                </a:solidFill>
                <a:latin typeface="Cabin"/>
                <a:ea typeface="Cabin"/>
                <a:cs typeface="Cabin"/>
                <a:sym typeface="Cabin"/>
              </a:rPr>
              <a:t>: 2}</a:t>
            </a: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Shape 32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Simplified counting with </a:t>
            </a:r>
            <a:r>
              <a:rPr lang="en-US" sz="7600" b="0" i="0" u="none" strike="noStrike" cap="none" baseline="0">
                <a:solidFill>
                  <a:srgbClr val="FF00FF"/>
                </a:solidFill>
                <a:latin typeface="Cabin"/>
                <a:ea typeface="Cabin"/>
                <a:cs typeface="Cabin"/>
                <a:sym typeface="Cabin"/>
              </a:rPr>
              <a:t>get</a:t>
            </a:r>
            <a:r>
              <a:rPr lang="en-US" sz="7600" b="0" i="0" u="none" strike="noStrike" cap="none" baseline="0">
                <a:solidFill>
                  <a:srgbClr val="FFFF00"/>
                </a:solidFill>
                <a:latin typeface="Cabin"/>
                <a:ea typeface="Cabin"/>
                <a:cs typeface="Cabin"/>
                <a:sym typeface="Cabin"/>
              </a:rPr>
              <a:t>()</a:t>
            </a:r>
          </a:p>
        </p:txBody>
      </p:sp>
      <p:sp>
        <p:nvSpPr>
          <p:cNvPr id="322" name="Shape 322"/>
          <p:cNvSpPr txBox="1">
            <a:spLocks noGrp="1"/>
          </p:cNvSpPr>
          <p:nvPr>
            <p:ph type="body" idx="1"/>
          </p:nvPr>
        </p:nvSpPr>
        <p:spPr>
          <a:xfrm>
            <a:off x="1155700" y="2730500"/>
            <a:ext cx="13931900" cy="17145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0"/>
              </a:spcAft>
              <a:buSzPct val="100000"/>
              <a:buFont typeface="Cabin"/>
            </a:pPr>
            <a:r>
              <a:rPr lang="en-US" sz="3600" b="0" i="0" u="none" strike="noStrike" cap="none" baseline="0">
                <a:solidFill>
                  <a:schemeClr val="lt1"/>
                </a:solidFill>
                <a:latin typeface="Cabin"/>
                <a:ea typeface="Cabin"/>
                <a:cs typeface="Cabin"/>
                <a:sym typeface="Cabin"/>
              </a:rPr>
              <a:t>We can use </a:t>
            </a:r>
            <a:r>
              <a:rPr lang="en-US" sz="3600" b="0" i="0" u="none" strike="noStrike" cap="none" baseline="0">
                <a:solidFill>
                  <a:srgbClr val="FF00FF"/>
                </a:solidFill>
                <a:latin typeface="Cabin"/>
                <a:ea typeface="Cabin"/>
                <a:cs typeface="Cabin"/>
                <a:sym typeface="Cabin"/>
              </a:rPr>
              <a:t>get</a:t>
            </a:r>
            <a:r>
              <a:rPr lang="en-US" sz="3600" b="0" i="0" u="none" strike="noStrike" cap="none" baseline="0">
                <a:solidFill>
                  <a:schemeClr val="lt1"/>
                </a:solidFill>
                <a:latin typeface="Cabin"/>
                <a:ea typeface="Cabin"/>
                <a:cs typeface="Cabin"/>
                <a:sym typeface="Cabin"/>
              </a:rPr>
              <a:t>() and provide a </a:t>
            </a:r>
            <a:r>
              <a:rPr lang="en-US" sz="3600" b="0" i="0" u="none" strike="noStrike" cap="none" baseline="0">
                <a:solidFill>
                  <a:srgbClr val="FF7F00"/>
                </a:solidFill>
                <a:latin typeface="Cabin"/>
                <a:ea typeface="Cabin"/>
                <a:cs typeface="Cabin"/>
                <a:sym typeface="Cabin"/>
              </a:rPr>
              <a:t>default value of zero</a:t>
            </a:r>
            <a:r>
              <a:rPr lang="en-US" sz="3600" b="0" i="0" u="none" strike="noStrike" cap="none" baseline="0">
                <a:solidFill>
                  <a:schemeClr val="lt1"/>
                </a:solidFill>
                <a:latin typeface="Cabin"/>
                <a:ea typeface="Cabin"/>
                <a:cs typeface="Cabin"/>
                <a:sym typeface="Cabin"/>
              </a:rPr>
              <a:t> when the </a:t>
            </a:r>
            <a:r>
              <a:rPr lang="en-US" sz="3600" b="0" i="0" u="none" strike="noStrike" cap="none" baseline="0">
                <a:solidFill>
                  <a:srgbClr val="00FFFF"/>
                </a:solidFill>
                <a:latin typeface="Cabin"/>
                <a:ea typeface="Cabin"/>
                <a:cs typeface="Cabin"/>
                <a:sym typeface="Cabin"/>
              </a:rPr>
              <a:t>key</a:t>
            </a:r>
            <a:r>
              <a:rPr lang="en-US" sz="3600" b="0" i="0" u="none" strike="noStrike" cap="none" baseline="0">
                <a:solidFill>
                  <a:schemeClr val="lt1"/>
                </a:solidFill>
                <a:latin typeface="Cabin"/>
                <a:ea typeface="Cabin"/>
                <a:cs typeface="Cabin"/>
                <a:sym typeface="Cabin"/>
              </a:rPr>
              <a:t> is not yet in the dictionary - and then just add one</a:t>
            </a:r>
          </a:p>
        </p:txBody>
      </p:sp>
      <p:sp>
        <p:nvSpPr>
          <p:cNvPr id="323" name="Shape 323"/>
          <p:cNvSpPr txBox="1"/>
          <p:nvPr/>
        </p:nvSpPr>
        <p:spPr>
          <a:xfrm>
            <a:off x="1858961" y="5062549"/>
            <a:ext cx="10558500" cy="2155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800" b="1" i="0" u="none" strike="noStrike" cap="none" baseline="0">
                <a:solidFill>
                  <a:srgbClr val="00FF00"/>
                </a:solidFill>
                <a:latin typeface="Courier New"/>
                <a:ea typeface="Courier New"/>
                <a:cs typeface="Courier New"/>
                <a:sym typeface="Courier New"/>
              </a:rPr>
              <a:t>counts</a:t>
            </a:r>
            <a:r>
              <a:rPr lang="en-US" sz="2800" b="1" i="0" u="none" strike="noStrike" cap="none" baseline="0">
                <a:solidFill>
                  <a:schemeClr val="lt1"/>
                </a:solidFill>
                <a:latin typeface="Courier New"/>
                <a:ea typeface="Courier New"/>
                <a:cs typeface="Courier New"/>
                <a:sym typeface="Courier New"/>
              </a:rPr>
              <a:t> = </a:t>
            </a:r>
            <a:r>
              <a:rPr lang="en-US" sz="2800" b="1" i="0" u="none" strike="noStrike" cap="none" baseline="0">
                <a:solidFill>
                  <a:srgbClr val="FF00FF"/>
                </a:solidFill>
                <a:latin typeface="Courier New"/>
                <a:ea typeface="Courier New"/>
                <a:cs typeface="Courier New"/>
                <a:sym typeface="Courier New"/>
              </a:rPr>
              <a:t>dict</a:t>
            </a:r>
            <a:r>
              <a:rPr lang="en-US" sz="28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800" b="1" i="0" u="none" strike="noStrike" cap="none" baseline="0">
                <a:solidFill>
                  <a:srgbClr val="00FF00"/>
                </a:solidFill>
                <a:latin typeface="Courier New"/>
                <a:ea typeface="Courier New"/>
                <a:cs typeface="Courier New"/>
                <a:sym typeface="Courier New"/>
              </a:rPr>
              <a:t>names</a:t>
            </a:r>
            <a:r>
              <a:rPr lang="en-US" sz="2800" b="1" i="0" u="none" strike="noStrike" cap="none" baseline="0">
                <a:solidFill>
                  <a:schemeClr val="lt1"/>
                </a:solidFill>
                <a:latin typeface="Courier New"/>
                <a:ea typeface="Courier New"/>
                <a:cs typeface="Courier New"/>
                <a:sym typeface="Courier New"/>
              </a:rPr>
              <a:t> = ['csev', 'cwen', 'csev', 'zqian', 'cwen']</a:t>
            </a:r>
          </a:p>
          <a:p>
            <a:pPr marL="0" marR="0" lvl="0" indent="0" algn="l" rtl="0">
              <a:lnSpc>
                <a:spcPct val="100000"/>
              </a:lnSpc>
              <a:spcBef>
                <a:spcPts val="0"/>
              </a:spcBef>
              <a:spcAft>
                <a:spcPts val="0"/>
              </a:spcAft>
              <a:buClr>
                <a:srgbClr val="FFFF00"/>
              </a:buClr>
              <a:buSzPct val="25000"/>
              <a:buFont typeface="Courier New"/>
              <a:buNone/>
            </a:pPr>
            <a:r>
              <a:rPr lang="en-US" sz="2800" b="1" i="0" u="none" strike="noStrike" cap="none" baseline="0">
                <a:solidFill>
                  <a:srgbClr val="FFFF00"/>
                </a:solidFill>
                <a:latin typeface="Courier New"/>
                <a:ea typeface="Courier New"/>
                <a:cs typeface="Courier New"/>
                <a:sym typeface="Courier New"/>
              </a:rPr>
              <a:t>for</a:t>
            </a: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00FF00"/>
                </a:solidFill>
                <a:latin typeface="Courier New"/>
                <a:ea typeface="Courier New"/>
                <a:cs typeface="Courier New"/>
                <a:sym typeface="Courier New"/>
              </a:rPr>
              <a:t>name</a:t>
            </a: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FFFF00"/>
                </a:solidFill>
                <a:latin typeface="Courier New"/>
                <a:ea typeface="Courier New"/>
                <a:cs typeface="Courier New"/>
                <a:sym typeface="Courier New"/>
              </a:rPr>
              <a:t>in</a:t>
            </a: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00FF00"/>
                </a:solidFill>
                <a:latin typeface="Courier New"/>
                <a:ea typeface="Courier New"/>
                <a:cs typeface="Courier New"/>
                <a:sym typeface="Courier New"/>
              </a:rPr>
              <a:t>names</a:t>
            </a:r>
            <a:r>
              <a:rPr lang="en-US" sz="28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00FF00"/>
                </a:solidFill>
                <a:latin typeface="Courier New"/>
                <a:ea typeface="Courier New"/>
                <a:cs typeface="Courier New"/>
                <a:sym typeface="Courier New"/>
              </a:rPr>
              <a:t>counts</a:t>
            </a:r>
            <a:r>
              <a:rPr lang="en-US" sz="2800" b="1" i="0" u="none" strike="noStrike" cap="none" baseline="0">
                <a:solidFill>
                  <a:srgbClr val="00FFFF"/>
                </a:solidFill>
                <a:latin typeface="Courier New"/>
                <a:ea typeface="Courier New"/>
                <a:cs typeface="Courier New"/>
                <a:sym typeface="Courier New"/>
              </a:rPr>
              <a:t>[name]</a:t>
            </a:r>
            <a:r>
              <a:rPr lang="en-US" sz="2800" b="1" i="0" u="none" strike="noStrike" cap="none" baseline="0">
                <a:solidFill>
                  <a:schemeClr val="lt1"/>
                </a:solidFill>
                <a:latin typeface="Courier New"/>
                <a:ea typeface="Courier New"/>
                <a:cs typeface="Courier New"/>
                <a:sym typeface="Courier New"/>
              </a:rPr>
              <a:t> = </a:t>
            </a:r>
            <a:r>
              <a:rPr lang="en-US" sz="2800" b="1" i="0" u="none" strike="noStrike" cap="none" baseline="0">
                <a:solidFill>
                  <a:srgbClr val="00FF00"/>
                </a:solidFill>
                <a:latin typeface="Courier New"/>
                <a:ea typeface="Courier New"/>
                <a:cs typeface="Courier New"/>
                <a:sym typeface="Courier New"/>
              </a:rPr>
              <a:t>counts</a:t>
            </a:r>
            <a:r>
              <a:rPr lang="en-US" sz="2800" b="1" i="0" u="none" strike="noStrike" cap="none" baseline="0">
                <a:solidFill>
                  <a:srgbClr val="FF00FF"/>
                </a:solidFill>
                <a:latin typeface="Courier New"/>
                <a:ea typeface="Courier New"/>
                <a:cs typeface="Courier New"/>
                <a:sym typeface="Courier New"/>
              </a:rPr>
              <a:t>.get</a:t>
            </a:r>
            <a:r>
              <a:rPr lang="en-US" sz="2800" b="1" i="0" u="none" strike="noStrike" cap="none" baseline="0">
                <a:solidFill>
                  <a:srgbClr val="00FF00"/>
                </a:solidFill>
                <a:latin typeface="Courier New"/>
                <a:ea typeface="Courier New"/>
                <a:cs typeface="Courier New"/>
                <a:sym typeface="Courier New"/>
              </a:rPr>
              <a:t>(</a:t>
            </a:r>
            <a:r>
              <a:rPr lang="en-US" sz="2800" b="1" i="0" u="none" strike="noStrike" cap="none" baseline="0">
                <a:solidFill>
                  <a:srgbClr val="00FFFF"/>
                </a:solidFill>
                <a:latin typeface="Courier New"/>
                <a:ea typeface="Courier New"/>
                <a:cs typeface="Courier New"/>
                <a:sym typeface="Courier New"/>
              </a:rPr>
              <a:t>name, </a:t>
            </a:r>
            <a:r>
              <a:rPr lang="en-US" sz="2800" b="1" i="0" u="none" strike="noStrike" cap="none" baseline="0">
                <a:solidFill>
                  <a:srgbClr val="FF7F00"/>
                </a:solidFill>
                <a:latin typeface="Courier New"/>
                <a:ea typeface="Courier New"/>
                <a:cs typeface="Courier New"/>
                <a:sym typeface="Courier New"/>
              </a:rPr>
              <a:t>0</a:t>
            </a:r>
            <a:r>
              <a:rPr lang="en-US" sz="2800" b="1" i="0" u="none" strike="noStrike" cap="none" baseline="0">
                <a:solidFill>
                  <a:srgbClr val="00FFFF"/>
                </a:solidFill>
                <a:latin typeface="Courier New"/>
                <a:ea typeface="Courier New"/>
                <a:cs typeface="Courier New"/>
                <a:sym typeface="Courier New"/>
              </a:rPr>
              <a:t>)</a:t>
            </a:r>
            <a:r>
              <a:rPr lang="en-US" sz="2800" b="1" i="0" u="none" strike="noStrike" cap="none" baseline="0">
                <a:solidFill>
                  <a:schemeClr val="lt1"/>
                </a:solidFill>
                <a:latin typeface="Courier New"/>
                <a:ea typeface="Courier New"/>
                <a:cs typeface="Courier New"/>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800" b="1" i="0" u="none" strike="noStrike" cap="none" baseline="0">
                <a:solidFill>
                  <a:srgbClr val="FFFF00"/>
                </a:solidFill>
                <a:latin typeface="Courier New"/>
                <a:ea typeface="Courier New"/>
                <a:cs typeface="Courier New"/>
                <a:sym typeface="Courier New"/>
              </a:rPr>
              <a:t>print</a:t>
            </a: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00FF00"/>
                </a:solidFill>
                <a:latin typeface="Courier New"/>
                <a:ea typeface="Courier New"/>
                <a:cs typeface="Courier New"/>
                <a:sym typeface="Courier New"/>
              </a:rPr>
              <a:t>counts</a:t>
            </a:r>
          </a:p>
        </p:txBody>
      </p:sp>
      <p:sp>
        <p:nvSpPr>
          <p:cNvPr id="324" name="Shape 324"/>
          <p:cNvSpPr txBox="1"/>
          <p:nvPr/>
        </p:nvSpPr>
        <p:spPr>
          <a:xfrm>
            <a:off x="6851650" y="8140700"/>
            <a:ext cx="146685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Default</a:t>
            </a:r>
          </a:p>
        </p:txBody>
      </p:sp>
      <p:cxnSp>
        <p:nvCxnSpPr>
          <p:cNvPr id="325" name="Shape 325"/>
          <p:cNvCxnSpPr/>
          <p:nvPr/>
        </p:nvCxnSpPr>
        <p:spPr>
          <a:xfrm flipH="1">
            <a:off x="7921474" y="6808925"/>
            <a:ext cx="1405200" cy="1411200"/>
          </a:xfrm>
          <a:prstGeom prst="straightConnector1">
            <a:avLst/>
          </a:prstGeom>
          <a:noFill/>
          <a:ln w="63500" cap="rnd" cmpd="sng">
            <a:solidFill>
              <a:srgbClr val="FF7F00"/>
            </a:solidFill>
            <a:prstDash val="solid"/>
            <a:miter/>
            <a:headEnd type="stealth" w="med" len="med"/>
            <a:tailEnd type="none" w="med" len="med"/>
          </a:ln>
        </p:spPr>
      </p:cxnSp>
      <p:sp>
        <p:nvSpPr>
          <p:cNvPr id="326" name="Shape 326"/>
          <p:cNvSpPr txBox="1"/>
          <p:nvPr/>
        </p:nvSpPr>
        <p:spPr>
          <a:xfrm>
            <a:off x="9004375" y="7924800"/>
            <a:ext cx="7118400"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a:t>
            </a:r>
            <a:r>
              <a:rPr lang="en-US" sz="3600" b="0" i="0" u="none" strike="noStrike" cap="none" baseline="0">
                <a:solidFill>
                  <a:srgbClr val="00FFFF"/>
                </a:solidFill>
                <a:latin typeface="Cabin"/>
                <a:ea typeface="Cabin"/>
                <a:cs typeface="Cabin"/>
                <a:sym typeface="Cabin"/>
              </a:rPr>
              <a:t>'csev'</a:t>
            </a:r>
            <a:r>
              <a:rPr lang="en-US" sz="3600" b="0" i="0" u="none" strike="noStrike" cap="none" baseline="0">
                <a:solidFill>
                  <a:srgbClr val="FF00FF"/>
                </a:solidFill>
                <a:latin typeface="Cabin"/>
                <a:ea typeface="Cabin"/>
                <a:cs typeface="Cabin"/>
                <a:sym typeface="Cabin"/>
              </a:rPr>
              <a:t>: 2, </a:t>
            </a:r>
            <a:r>
              <a:rPr lang="en-US" sz="3600" b="0" i="0" u="none" strike="noStrike" cap="none" baseline="0">
                <a:solidFill>
                  <a:srgbClr val="00FFFF"/>
                </a:solidFill>
                <a:latin typeface="Cabin"/>
                <a:ea typeface="Cabin"/>
                <a:cs typeface="Cabin"/>
                <a:sym typeface="Cabin"/>
              </a:rPr>
              <a:t>'zqian'</a:t>
            </a:r>
            <a:r>
              <a:rPr lang="en-US" sz="3600" b="0" i="0" u="none" strike="noStrike" cap="none" baseline="0">
                <a:solidFill>
                  <a:srgbClr val="FF00FF"/>
                </a:solidFill>
                <a:latin typeface="Cabin"/>
                <a:ea typeface="Cabin"/>
                <a:cs typeface="Cabin"/>
                <a:sym typeface="Cabin"/>
              </a:rPr>
              <a:t>: 1,</a:t>
            </a:r>
            <a:r>
              <a:rPr lang="en-US" sz="3600" b="0" i="0" u="none" strike="noStrike" cap="none" baseline="0">
                <a:solidFill>
                  <a:srgbClr val="00FFFF"/>
                </a:solidFill>
                <a:latin typeface="Cabin"/>
                <a:ea typeface="Cabin"/>
                <a:cs typeface="Cabin"/>
                <a:sym typeface="Cabin"/>
              </a:rPr>
              <a:t> 'cwen'</a:t>
            </a:r>
            <a:r>
              <a:rPr lang="en-US" sz="3600" b="0" i="0" u="none" strike="noStrike" cap="none" baseline="0">
                <a:solidFill>
                  <a:srgbClr val="FF00FF"/>
                </a:solidFill>
                <a:latin typeface="Cabin"/>
                <a:ea typeface="Cabin"/>
                <a:cs typeface="Cabin"/>
                <a:sym typeface="Cabin"/>
              </a:rPr>
              <a:t>: 2}</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pic>
        <p:nvPicPr>
          <p:cNvPr id="331" name="Shape 331"/>
          <p:cNvPicPr preferRelativeResize="0"/>
          <p:nvPr/>
        </p:nvPicPr>
        <p:blipFill rotWithShape="1">
          <a:blip r:embed="rId3">
            <a:alphaModFix/>
          </a:blip>
          <a:srcRect/>
          <a:stretch/>
        </p:blipFill>
        <p:spPr>
          <a:xfrm>
            <a:off x="11260136" y="3187700"/>
            <a:ext cx="4638674" cy="3467099"/>
          </a:xfrm>
          <a:prstGeom prst="rect">
            <a:avLst/>
          </a:prstGeom>
          <a:noFill/>
          <a:ln>
            <a:noFill/>
          </a:ln>
        </p:spPr>
      </p:pic>
      <p:sp>
        <p:nvSpPr>
          <p:cNvPr id="332" name="Shape 332"/>
          <p:cNvSpPr txBox="1"/>
          <p:nvPr/>
        </p:nvSpPr>
        <p:spPr>
          <a:xfrm>
            <a:off x="3568700" y="8089900"/>
            <a:ext cx="105585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4"/>
              </a:rPr>
              <a:t>http://www.youtube.com/watch?v=EHJ9uYx5L58</a:t>
            </a:r>
          </a:p>
        </p:txBody>
      </p:sp>
      <p:sp>
        <p:nvSpPr>
          <p:cNvPr id="333" name="Shape 333"/>
          <p:cNvSpPr txBox="1"/>
          <p:nvPr/>
        </p:nvSpPr>
        <p:spPr>
          <a:xfrm>
            <a:off x="508000" y="3810000"/>
            <a:ext cx="10558462" cy="2154236"/>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2800" b="1" i="0" u="none" strike="noStrike" cap="none" baseline="0">
                <a:solidFill>
                  <a:srgbClr val="00FF00"/>
                </a:solidFill>
                <a:latin typeface="Courier New"/>
                <a:ea typeface="Courier New"/>
                <a:cs typeface="Courier New"/>
                <a:sym typeface="Courier New"/>
              </a:rPr>
              <a:t>counts</a:t>
            </a:r>
            <a:r>
              <a:rPr lang="en-US" sz="2800" b="1" i="0" u="none" strike="noStrike" cap="none" baseline="0">
                <a:solidFill>
                  <a:schemeClr val="lt1"/>
                </a:solidFill>
                <a:latin typeface="Courier New"/>
                <a:ea typeface="Courier New"/>
                <a:cs typeface="Courier New"/>
                <a:sym typeface="Courier New"/>
              </a:rPr>
              <a:t> = </a:t>
            </a:r>
            <a:r>
              <a:rPr lang="en-US" sz="2800" b="1" i="0" u="none" strike="noStrike" cap="none" baseline="0">
                <a:solidFill>
                  <a:srgbClr val="FF00FF"/>
                </a:solidFill>
                <a:latin typeface="Courier New"/>
                <a:ea typeface="Courier New"/>
                <a:cs typeface="Courier New"/>
                <a:sym typeface="Courier New"/>
              </a:rPr>
              <a:t>dict</a:t>
            </a:r>
            <a:r>
              <a:rPr lang="en-US" sz="28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00FF00"/>
              </a:buClr>
              <a:buSzPct val="25000"/>
              <a:buFont typeface="Courier New"/>
              <a:buNone/>
            </a:pPr>
            <a:r>
              <a:rPr lang="en-US" sz="2800" b="1" i="0" u="none" strike="noStrike" cap="none" baseline="0">
                <a:solidFill>
                  <a:srgbClr val="00FF00"/>
                </a:solidFill>
                <a:latin typeface="Courier New"/>
                <a:ea typeface="Courier New"/>
                <a:cs typeface="Courier New"/>
                <a:sym typeface="Courier New"/>
              </a:rPr>
              <a:t>names</a:t>
            </a:r>
            <a:r>
              <a:rPr lang="en-US" sz="2800" b="1" i="0" u="none" strike="noStrike" cap="none" baseline="0">
                <a:solidFill>
                  <a:schemeClr val="lt1"/>
                </a:solidFill>
                <a:latin typeface="Courier New"/>
                <a:ea typeface="Courier New"/>
                <a:cs typeface="Courier New"/>
                <a:sym typeface="Courier New"/>
              </a:rPr>
              <a:t> = ['csev', 'cwen', 'csev', 'zqian', 'cwen']</a:t>
            </a:r>
          </a:p>
          <a:p>
            <a:pPr marL="0" marR="0" lvl="0" indent="0" algn="l" rtl="0">
              <a:lnSpc>
                <a:spcPct val="100000"/>
              </a:lnSpc>
              <a:spcBef>
                <a:spcPts val="0"/>
              </a:spcBef>
              <a:spcAft>
                <a:spcPts val="0"/>
              </a:spcAft>
              <a:buClr>
                <a:srgbClr val="FFFF00"/>
              </a:buClr>
              <a:buSzPct val="25000"/>
              <a:buFont typeface="Courier New"/>
              <a:buNone/>
            </a:pPr>
            <a:r>
              <a:rPr lang="en-US" sz="2800" b="1" i="0" u="none" strike="noStrike" cap="none" baseline="0">
                <a:solidFill>
                  <a:srgbClr val="FFFF00"/>
                </a:solidFill>
                <a:latin typeface="Courier New"/>
                <a:ea typeface="Courier New"/>
                <a:cs typeface="Courier New"/>
                <a:sym typeface="Courier New"/>
              </a:rPr>
              <a:t>for</a:t>
            </a: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00FF00"/>
                </a:solidFill>
                <a:latin typeface="Courier New"/>
                <a:ea typeface="Courier New"/>
                <a:cs typeface="Courier New"/>
                <a:sym typeface="Courier New"/>
              </a:rPr>
              <a:t>name</a:t>
            </a: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FFFF00"/>
                </a:solidFill>
                <a:latin typeface="Courier New"/>
                <a:ea typeface="Courier New"/>
                <a:cs typeface="Courier New"/>
                <a:sym typeface="Courier New"/>
              </a:rPr>
              <a:t>in</a:t>
            </a: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00FF00"/>
                </a:solidFill>
                <a:latin typeface="Courier New"/>
                <a:ea typeface="Courier New"/>
                <a:cs typeface="Courier New"/>
                <a:sym typeface="Courier New"/>
              </a:rPr>
              <a:t>names</a:t>
            </a:r>
            <a:r>
              <a:rPr lang="en-US" sz="28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00FF00"/>
                </a:solidFill>
                <a:latin typeface="Courier New"/>
                <a:ea typeface="Courier New"/>
                <a:cs typeface="Courier New"/>
                <a:sym typeface="Courier New"/>
              </a:rPr>
              <a:t>counts</a:t>
            </a:r>
            <a:r>
              <a:rPr lang="en-US" sz="2800" b="1" i="0" u="none" strike="noStrike" cap="none" baseline="0">
                <a:solidFill>
                  <a:srgbClr val="00FFFF"/>
                </a:solidFill>
                <a:latin typeface="Courier New"/>
                <a:ea typeface="Courier New"/>
                <a:cs typeface="Courier New"/>
                <a:sym typeface="Courier New"/>
              </a:rPr>
              <a:t>[name]</a:t>
            </a:r>
            <a:r>
              <a:rPr lang="en-US" sz="2800" b="1" i="0" u="none" strike="noStrike" cap="none" baseline="0">
                <a:solidFill>
                  <a:schemeClr val="lt1"/>
                </a:solidFill>
                <a:latin typeface="Courier New"/>
                <a:ea typeface="Courier New"/>
                <a:cs typeface="Courier New"/>
                <a:sym typeface="Courier New"/>
              </a:rPr>
              <a:t> = </a:t>
            </a:r>
            <a:r>
              <a:rPr lang="en-US" sz="2800" b="1" i="0" u="none" strike="noStrike" cap="none" baseline="0">
                <a:solidFill>
                  <a:srgbClr val="00FF00"/>
                </a:solidFill>
                <a:latin typeface="Courier New"/>
                <a:ea typeface="Courier New"/>
                <a:cs typeface="Courier New"/>
                <a:sym typeface="Courier New"/>
              </a:rPr>
              <a:t>counts</a:t>
            </a:r>
            <a:r>
              <a:rPr lang="en-US" sz="2800" b="1" i="0" u="none" strike="noStrike" cap="none" baseline="0">
                <a:solidFill>
                  <a:srgbClr val="FF00FF"/>
                </a:solidFill>
                <a:latin typeface="Courier New"/>
                <a:ea typeface="Courier New"/>
                <a:cs typeface="Courier New"/>
                <a:sym typeface="Courier New"/>
              </a:rPr>
              <a:t>.get</a:t>
            </a:r>
            <a:r>
              <a:rPr lang="en-US" sz="2800" b="1" i="0" u="none" strike="noStrike" cap="none" baseline="0">
                <a:solidFill>
                  <a:srgbClr val="00FF00"/>
                </a:solidFill>
                <a:latin typeface="Courier New"/>
                <a:ea typeface="Courier New"/>
                <a:cs typeface="Courier New"/>
                <a:sym typeface="Courier New"/>
              </a:rPr>
              <a:t>(</a:t>
            </a:r>
            <a:r>
              <a:rPr lang="en-US" sz="2800" b="1" i="0" u="none" strike="noStrike" cap="none" baseline="0">
                <a:solidFill>
                  <a:srgbClr val="00FFFF"/>
                </a:solidFill>
                <a:latin typeface="Courier New"/>
                <a:ea typeface="Courier New"/>
                <a:cs typeface="Courier New"/>
                <a:sym typeface="Courier New"/>
              </a:rPr>
              <a:t>name, </a:t>
            </a:r>
            <a:r>
              <a:rPr lang="en-US" sz="2800" b="1" i="0" u="none" strike="noStrike" cap="none" baseline="0">
                <a:solidFill>
                  <a:srgbClr val="FF7F00"/>
                </a:solidFill>
                <a:latin typeface="Courier New"/>
                <a:ea typeface="Courier New"/>
                <a:cs typeface="Courier New"/>
                <a:sym typeface="Courier New"/>
              </a:rPr>
              <a:t>0</a:t>
            </a:r>
            <a:r>
              <a:rPr lang="en-US" sz="2800" b="1" i="0" u="none" strike="noStrike" cap="none" baseline="0">
                <a:solidFill>
                  <a:srgbClr val="00FFFF"/>
                </a:solidFill>
                <a:latin typeface="Courier New"/>
                <a:ea typeface="Courier New"/>
                <a:cs typeface="Courier New"/>
                <a:sym typeface="Courier New"/>
              </a:rPr>
              <a:t>)</a:t>
            </a:r>
            <a:r>
              <a:rPr lang="en-US" sz="2800" b="1" i="0" u="none" strike="noStrike" cap="none" baseline="0">
                <a:solidFill>
                  <a:schemeClr val="lt1"/>
                </a:solidFill>
                <a:latin typeface="Courier New"/>
                <a:ea typeface="Courier New"/>
                <a:cs typeface="Courier New"/>
                <a:sym typeface="Courier New"/>
              </a:rPr>
              <a:t> + 1</a:t>
            </a:r>
          </a:p>
          <a:p>
            <a:pPr marL="0" marR="0" lvl="0" indent="0" algn="l" rtl="0">
              <a:lnSpc>
                <a:spcPct val="100000"/>
              </a:lnSpc>
              <a:spcBef>
                <a:spcPts val="0"/>
              </a:spcBef>
              <a:spcAft>
                <a:spcPts val="0"/>
              </a:spcAft>
              <a:buClr>
                <a:srgbClr val="FFFF00"/>
              </a:buClr>
              <a:buSzPct val="25000"/>
              <a:buFont typeface="Courier New"/>
              <a:buNone/>
            </a:pPr>
            <a:r>
              <a:rPr lang="en-US" sz="2800" b="1" i="0" u="none" strike="noStrike" cap="none" baseline="0">
                <a:solidFill>
                  <a:srgbClr val="FFFF00"/>
                </a:solidFill>
                <a:latin typeface="Courier New"/>
                <a:ea typeface="Courier New"/>
                <a:cs typeface="Courier New"/>
                <a:sym typeface="Courier New"/>
              </a:rPr>
              <a:t>print</a:t>
            </a: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00FF00"/>
                </a:solidFill>
                <a:latin typeface="Courier New"/>
                <a:ea typeface="Courier New"/>
                <a:cs typeface="Courier New"/>
                <a:sym typeface="Courier New"/>
              </a:rPr>
              <a:t>counts</a:t>
            </a:r>
          </a:p>
        </p:txBody>
      </p:sp>
      <p:sp>
        <p:nvSpPr>
          <p:cNvPr id="334" name="Shape 334"/>
          <p:cNvSpPr txBox="1">
            <a:spLocks noGrp="1"/>
          </p:cNvSpPr>
          <p:nvPr>
            <p:ph type="title"/>
          </p:nvPr>
        </p:nvSpPr>
        <p:spPr>
          <a:xfrm>
            <a:off x="1155700" y="3048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Simplified counting with </a:t>
            </a:r>
            <a:r>
              <a:rPr lang="en-US" sz="7600" b="0" i="0" u="none" strike="noStrike" cap="none" baseline="0">
                <a:solidFill>
                  <a:srgbClr val="FF00FF"/>
                </a:solidFill>
                <a:latin typeface="Cabin"/>
                <a:ea typeface="Cabin"/>
                <a:cs typeface="Cabin"/>
                <a:sym typeface="Cabin"/>
              </a:rPr>
              <a:t>get</a:t>
            </a:r>
            <a:r>
              <a:rPr lang="en-US" sz="7600" b="0" i="0" u="none" strike="noStrike" cap="none" baseline="0">
                <a:solidFill>
                  <a:srgbClr val="FFFF00"/>
                </a:solidFill>
                <a:latin typeface="Cabin"/>
                <a:ea typeface="Cabin"/>
                <a:cs typeface="Cabin"/>
                <a:sym typeface="Cabin"/>
              </a:rPr>
              <a:t>()</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Shape 339"/>
          <p:cNvSpPr txBox="1"/>
          <p:nvPr/>
        </p:nvSpPr>
        <p:spPr>
          <a:xfrm>
            <a:off x="307975" y="558800"/>
            <a:ext cx="15303500" cy="2578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200" b="0" i="0" u="none" strike="noStrike" cap="none" baseline="0">
                <a:solidFill>
                  <a:srgbClr val="00FF00"/>
                </a:solidFill>
                <a:latin typeface="Cabin"/>
                <a:ea typeface="Cabin"/>
                <a:cs typeface="Cabin"/>
                <a:sym typeface="Cabin"/>
              </a:rPr>
              <a:t>Writing programs (or programming) is a very creative and rewarding activity.  You can write programs for many reasons ranging from making your living to solving a difficult data analysis problem to having fun to helping someone else solve a problem.  This book assumes that everyone needs to know how to program and that once you know how to program, you will figure out what you want to do with your newfound skills.</a:t>
            </a:r>
          </a:p>
        </p:txBody>
      </p:sp>
      <p:sp>
        <p:nvSpPr>
          <p:cNvPr id="340" name="Shape 340"/>
          <p:cNvSpPr txBox="1"/>
          <p:nvPr/>
        </p:nvSpPr>
        <p:spPr>
          <a:xfrm>
            <a:off x="520700" y="3397250"/>
            <a:ext cx="15303500" cy="2578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b="0" i="0" u="none" strike="noStrike" cap="none" baseline="0">
                <a:solidFill>
                  <a:srgbClr val="FFFF00"/>
                </a:solidFill>
                <a:latin typeface="Cabin"/>
                <a:ea typeface="Cabin"/>
                <a:cs typeface="Cabin"/>
                <a:sym typeface="Cabin"/>
              </a:rPr>
              <a:t>We are surrounded in our daily lives with computers ranging from laptops to cell phones.  We can think of these computers as our </a:t>
            </a:r>
            <a:r>
              <a:rPr lang="en-US" sz="3200">
                <a:solidFill>
                  <a:srgbClr val="FFFF00"/>
                </a:solidFill>
                <a:latin typeface="Cabin"/>
                <a:ea typeface="Cabin"/>
                <a:cs typeface="Cabin"/>
                <a:sym typeface="Cabin"/>
              </a:rPr>
              <a:t>''</a:t>
            </a:r>
            <a:r>
              <a:rPr lang="en-US" sz="3200" b="0" i="0" u="none" strike="noStrike" cap="none" baseline="0">
                <a:solidFill>
                  <a:srgbClr val="FFFF00"/>
                </a:solidFill>
                <a:latin typeface="Cabin"/>
                <a:ea typeface="Cabin"/>
                <a:cs typeface="Cabin"/>
                <a:sym typeface="Cabin"/>
              </a:rPr>
              <a:t>personal assistants'' who can take care of many things on our behalf.  The hardware in our current-day computers is essentially built to continuously ask us the question, </a:t>
            </a:r>
            <a:r>
              <a:rPr lang="en-US" sz="3200">
                <a:solidFill>
                  <a:srgbClr val="FFFF00"/>
                </a:solidFill>
                <a:latin typeface="Cabin"/>
                <a:ea typeface="Cabin"/>
                <a:cs typeface="Cabin"/>
                <a:sym typeface="Cabin"/>
              </a:rPr>
              <a:t>''</a:t>
            </a:r>
            <a:r>
              <a:rPr lang="en-US" sz="3200" b="0" i="0" u="none" strike="noStrike" cap="none" baseline="0">
                <a:solidFill>
                  <a:srgbClr val="FFFF00"/>
                </a:solidFill>
                <a:latin typeface="Cabin"/>
                <a:ea typeface="Cabin"/>
                <a:cs typeface="Cabin"/>
                <a:sym typeface="Cabin"/>
              </a:rPr>
              <a:t>What would you like me to do next?''</a:t>
            </a:r>
          </a:p>
        </p:txBody>
      </p:sp>
      <p:sp>
        <p:nvSpPr>
          <p:cNvPr id="341" name="Shape 341"/>
          <p:cNvSpPr txBox="1"/>
          <p:nvPr/>
        </p:nvSpPr>
        <p:spPr>
          <a:xfrm>
            <a:off x="469900" y="6127750"/>
            <a:ext cx="15303500" cy="2578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3200" b="0" i="0" u="none" strike="noStrike" cap="none" baseline="0">
                <a:solidFill>
                  <a:srgbClr val="00FFFF"/>
                </a:solidFill>
                <a:latin typeface="Cabin"/>
                <a:ea typeface="Cabin"/>
                <a:cs typeface="Cabin"/>
                <a:sym typeface="Cabin"/>
              </a:rPr>
              <a:t>Our computers are fast and have vasts amounts of memory and could be very helpful to us if we only knew the language to speak to explain to the computer what we would like it to </a:t>
            </a:r>
            <a:r>
              <a:rPr lang="en-US" sz="3200">
                <a:solidFill>
                  <a:srgbClr val="00FFFF"/>
                </a:solidFill>
                <a:latin typeface="Cabin"/>
                <a:ea typeface="Cabin"/>
                <a:cs typeface="Cabin"/>
                <a:sym typeface="Cabin"/>
              </a:rPr>
              <a:t>''</a:t>
            </a:r>
            <a:r>
              <a:rPr lang="en-US" sz="3200" b="0" i="0" u="none" strike="noStrike" cap="none" baseline="0">
                <a:solidFill>
                  <a:srgbClr val="00FFFF"/>
                </a:solidFill>
                <a:latin typeface="Cabin"/>
                <a:ea typeface="Cabin"/>
                <a:cs typeface="Cabin"/>
                <a:sym typeface="Cabin"/>
              </a:rPr>
              <a:t>do next''.  If we knew this language we could tell the computer to do tasks on our behalf that were repetitive. Interestingly, the kinds of things computers can do best are often the kinds of things that we humans find boring and mind-numbing.</a:t>
            </a:r>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Shape 346"/>
          <p:cNvSpPr txBox="1"/>
          <p:nvPr/>
        </p:nvSpPr>
        <p:spPr>
          <a:xfrm>
            <a:off x="1952625" y="4000500"/>
            <a:ext cx="124206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the clown ran after the car and the car ran into the tent and the tent fell down on the clown and the car </a:t>
            </a:r>
          </a:p>
        </p:txBody>
      </p:sp>
      <p:pic>
        <p:nvPicPr>
          <p:cNvPr id="347" name="Shape 347"/>
          <p:cNvPicPr preferRelativeResize="0"/>
          <p:nvPr/>
        </p:nvPicPr>
        <p:blipFill rotWithShape="1">
          <a:blip r:embed="rId3">
            <a:alphaModFix/>
          </a:blip>
          <a:srcRect/>
          <a:stretch/>
        </p:blipFill>
        <p:spPr>
          <a:xfrm>
            <a:off x="12172950" y="723900"/>
            <a:ext cx="2927399" cy="1943100"/>
          </a:xfrm>
          <a:prstGeom prst="rect">
            <a:avLst/>
          </a:prstGeom>
          <a:noFill/>
          <a:ln>
            <a:noFill/>
          </a:ln>
        </p:spPr>
      </p:pic>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Counting Pattern</a:t>
            </a:r>
          </a:p>
        </p:txBody>
      </p:sp>
      <p:sp>
        <p:nvSpPr>
          <p:cNvPr id="353" name="Shape 353"/>
          <p:cNvSpPr txBox="1"/>
          <p:nvPr/>
        </p:nvSpPr>
        <p:spPr>
          <a:xfrm>
            <a:off x="875400" y="2305400"/>
            <a:ext cx="11090100" cy="60876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3000" b="1" i="0" u="none" strike="noStrike" cap="none" baseline="0">
                <a:solidFill>
                  <a:srgbClr val="00FF00"/>
                </a:solidFill>
                <a:latin typeface="Courier New"/>
                <a:ea typeface="Courier New"/>
                <a:cs typeface="Courier New"/>
                <a:sym typeface="Courier New"/>
              </a:rPr>
              <a:t>counts</a:t>
            </a:r>
            <a:r>
              <a:rPr lang="en-US" sz="3000" b="1" i="0" u="none" strike="noStrike" cap="none" baseline="0">
                <a:solidFill>
                  <a:schemeClr val="lt1"/>
                </a:solidFill>
                <a:latin typeface="Courier New"/>
                <a:ea typeface="Courier New"/>
                <a:cs typeface="Courier New"/>
                <a:sym typeface="Courier New"/>
              </a:rPr>
              <a:t> = </a:t>
            </a:r>
            <a:r>
              <a:rPr lang="en-US" sz="3000" b="1" i="0" u="none" strike="noStrike" cap="none" baseline="0">
                <a:solidFill>
                  <a:srgbClr val="00FFFF"/>
                </a:solidFill>
                <a:latin typeface="Courier New"/>
                <a:ea typeface="Courier New"/>
                <a:cs typeface="Courier New"/>
                <a:sym typeface="Courier New"/>
              </a:rPr>
              <a:t>dict</a:t>
            </a:r>
            <a:r>
              <a:rPr lang="en-US" sz="30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'Enter a line of text:</a:t>
            </a:r>
            <a:r>
              <a:rPr lang="en-US" sz="3000" b="1">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baseline="0">
                <a:solidFill>
                  <a:schemeClr val="lt1"/>
                </a:solidFill>
                <a:latin typeface="Courier New"/>
                <a:ea typeface="Courier New"/>
                <a:cs typeface="Courier New"/>
                <a:sym typeface="Courier New"/>
              </a:rPr>
              <a:t>line = </a:t>
            </a:r>
            <a:r>
              <a:rPr lang="en-US" sz="3000" b="1" i="0" u="none" strike="noStrike" cap="none" baseline="0">
                <a:solidFill>
                  <a:srgbClr val="FF00FF"/>
                </a:solidFill>
                <a:latin typeface="Courier New"/>
                <a:ea typeface="Courier New"/>
                <a:cs typeface="Courier New"/>
                <a:sym typeface="Courier New"/>
              </a:rPr>
              <a:t>raw_input</a:t>
            </a:r>
            <a:r>
              <a:rPr lang="en-US" sz="3000" b="1" i="0" u="none" strike="noStrike" cap="none" baseline="0">
                <a:solidFill>
                  <a:schemeClr val="lt1"/>
                </a:solidFill>
                <a:latin typeface="Courier New"/>
                <a:ea typeface="Courier New"/>
                <a:cs typeface="Courier New"/>
                <a:sym typeface="Courier New"/>
              </a:rPr>
              <a:t>('')</a:t>
            </a:r>
          </a:p>
          <a:p>
            <a:pPr marL="0" marR="0" lvl="0" indent="0" algn="ctr" rtl="0">
              <a:lnSpc>
                <a:spcPct val="100000"/>
              </a:lnSpc>
              <a:spcBef>
                <a:spcPts val="0"/>
              </a:spcBef>
              <a:spcAft>
                <a:spcPts val="0"/>
              </a:spcAft>
              <a:buNone/>
            </a:pPr>
            <a:endParaRPr sz="3000" b="1"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baseline="0">
                <a:solidFill>
                  <a:schemeClr val="lt1"/>
                </a:solidFill>
                <a:latin typeface="Courier New"/>
                <a:ea typeface="Courier New"/>
                <a:cs typeface="Courier New"/>
                <a:sym typeface="Courier New"/>
              </a:rPr>
              <a:t>words = line.</a:t>
            </a:r>
            <a:r>
              <a:rPr lang="en-US" sz="3000" b="1" i="0" u="none" strike="noStrike" cap="none" baseline="0">
                <a:solidFill>
                  <a:srgbClr val="FF00FF"/>
                </a:solidFill>
                <a:latin typeface="Courier New"/>
                <a:ea typeface="Courier New"/>
                <a:cs typeface="Courier New"/>
                <a:sym typeface="Courier New"/>
              </a:rPr>
              <a:t>split</a:t>
            </a:r>
            <a:r>
              <a:rPr lang="en-US" sz="3000" b="1" i="0" u="none" strike="noStrike" cap="none" baseline="0">
                <a:solidFill>
                  <a:schemeClr val="lt1"/>
                </a:solidFill>
                <a:latin typeface="Courier New"/>
                <a:ea typeface="Courier New"/>
                <a:cs typeface="Courier New"/>
                <a:sym typeface="Courier New"/>
              </a:rPr>
              <a:t>()</a:t>
            </a:r>
          </a:p>
          <a:p>
            <a:pPr marL="0" marR="0" lvl="0" indent="0" algn="ctr" rtl="0">
              <a:lnSpc>
                <a:spcPct val="100000"/>
              </a:lnSpc>
              <a:spcBef>
                <a:spcPts val="0"/>
              </a:spcBef>
              <a:spcAft>
                <a:spcPts val="0"/>
              </a:spcAft>
              <a:buNone/>
            </a:pPr>
            <a:endParaRPr sz="3000" b="1"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'Words:', words</a:t>
            </a:r>
          </a:p>
          <a:p>
            <a:pPr marL="0" marR="0" lvl="0" indent="0" algn="ctr" rtl="0">
              <a:lnSpc>
                <a:spcPct val="100000"/>
              </a:lnSpc>
              <a:spcBef>
                <a:spcPts val="0"/>
              </a:spcBef>
              <a:spcAft>
                <a:spcPts val="0"/>
              </a:spcAft>
              <a:buNone/>
            </a:pPr>
            <a:endParaRPr sz="3000" b="1" i="0" u="none" strike="noStrike" cap="none" baseline="0">
              <a:solidFill>
                <a:srgbClr val="FF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'Counting...</a:t>
            </a:r>
            <a:r>
              <a:rPr lang="en-US" sz="3000" b="1">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3000" b="1" i="0" u="none" strike="noStrike" cap="none" baseline="0">
                <a:solidFill>
                  <a:srgbClr val="FFFF00"/>
                </a:solidFill>
                <a:latin typeface="Courier New"/>
                <a:ea typeface="Courier New"/>
                <a:cs typeface="Courier New"/>
                <a:sym typeface="Courier New"/>
              </a:rPr>
              <a:t>for</a:t>
            </a:r>
            <a:r>
              <a:rPr lang="en-US" sz="3000" b="1" i="0" u="none" strike="noStrike" cap="none" baseline="0">
                <a:solidFill>
                  <a:schemeClr val="lt1"/>
                </a:solidFill>
                <a:latin typeface="Courier New"/>
                <a:ea typeface="Courier New"/>
                <a:cs typeface="Courier New"/>
                <a:sym typeface="Courier New"/>
              </a:rPr>
              <a:t> word </a:t>
            </a:r>
            <a:r>
              <a:rPr lang="en-US" sz="3000" b="1" i="0" u="none" strike="noStrike" cap="none" baseline="0">
                <a:solidFill>
                  <a:srgbClr val="FFFF00"/>
                </a:solidFill>
                <a:latin typeface="Courier New"/>
                <a:ea typeface="Courier New"/>
                <a:cs typeface="Courier New"/>
                <a:sym typeface="Courier New"/>
              </a:rPr>
              <a:t>in</a:t>
            </a:r>
            <a:r>
              <a:rPr lang="en-US" sz="3000" b="1" i="0" u="none" strike="noStrike" cap="none" baseline="0">
                <a:solidFill>
                  <a:schemeClr val="lt1"/>
                </a:solidFill>
                <a:latin typeface="Courier New"/>
                <a:ea typeface="Courier New"/>
                <a:cs typeface="Courier New"/>
                <a:sym typeface="Courier New"/>
              </a:rPr>
              <a:t> words:</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counts</a:t>
            </a:r>
            <a:r>
              <a:rPr lang="en-US" sz="3000" b="1" i="0" u="none" strike="noStrike" cap="none" baseline="0">
                <a:solidFill>
                  <a:schemeClr val="lt1"/>
                </a:solidFill>
                <a:latin typeface="Courier New"/>
                <a:ea typeface="Courier New"/>
                <a:cs typeface="Courier New"/>
                <a:sym typeface="Courier New"/>
              </a:rPr>
              <a:t>[word] = </a:t>
            </a:r>
            <a:r>
              <a:rPr lang="en-US" sz="3000" b="1" i="0" u="none" strike="noStrike" cap="none" baseline="0">
                <a:solidFill>
                  <a:srgbClr val="00FF00"/>
                </a:solidFill>
                <a:latin typeface="Courier New"/>
                <a:ea typeface="Courier New"/>
                <a:cs typeface="Courier New"/>
                <a:sym typeface="Courier New"/>
              </a:rPr>
              <a:t>counts</a:t>
            </a:r>
            <a:r>
              <a:rPr lang="en-US" sz="3000" b="1" i="0" u="none" strike="noStrike" cap="none" baseline="0">
                <a:solidFill>
                  <a:schemeClr val="lt1"/>
                </a:solidFill>
                <a:latin typeface="Courier New"/>
                <a:ea typeface="Courier New"/>
                <a:cs typeface="Courier New"/>
                <a:sym typeface="Courier New"/>
              </a:rPr>
              <a:t>.</a:t>
            </a:r>
            <a:r>
              <a:rPr lang="en-US" sz="3000" b="1" i="0" u="none" strike="noStrike" cap="none" baseline="0">
                <a:solidFill>
                  <a:srgbClr val="FF00FF"/>
                </a:solidFill>
                <a:latin typeface="Courier New"/>
                <a:ea typeface="Courier New"/>
                <a:cs typeface="Courier New"/>
                <a:sym typeface="Courier New"/>
              </a:rPr>
              <a:t>get</a:t>
            </a:r>
            <a:r>
              <a:rPr lang="en-US" sz="3000" b="1" i="0" u="none" strike="noStrike" cap="none" baseline="0">
                <a:solidFill>
                  <a:schemeClr val="lt1"/>
                </a:solidFill>
                <a:latin typeface="Courier New"/>
                <a:ea typeface="Courier New"/>
                <a:cs typeface="Courier New"/>
                <a:sym typeface="Courier New"/>
              </a:rPr>
              <a:t>(word,0) + 1</a:t>
            </a:r>
          </a:p>
          <a:p>
            <a:pPr marL="0" marR="0" lvl="0" indent="0" algn="l" rtl="0">
              <a:lnSpc>
                <a:spcPct val="100000"/>
              </a:lnSpc>
              <a:spcBef>
                <a:spcPts val="0"/>
              </a:spcBef>
              <a:spcAft>
                <a:spcPts val="0"/>
              </a:spcAft>
              <a:buClr>
                <a:srgbClr val="FFFF00"/>
              </a:buClr>
              <a:buSzPct val="25000"/>
              <a:buFont typeface="Courier New"/>
              <a:buNone/>
            </a:pP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'Counts', </a:t>
            </a:r>
            <a:r>
              <a:rPr lang="en-US" sz="3000" b="1" i="0" u="none" strike="noStrike" cap="none" baseline="0">
                <a:solidFill>
                  <a:srgbClr val="00FF00"/>
                </a:solidFill>
                <a:latin typeface="Courier New"/>
                <a:ea typeface="Courier New"/>
                <a:cs typeface="Courier New"/>
                <a:sym typeface="Courier New"/>
              </a:rPr>
              <a:t>counts</a:t>
            </a:r>
          </a:p>
        </p:txBody>
      </p:sp>
      <p:sp>
        <p:nvSpPr>
          <p:cNvPr id="354" name="Shape 354"/>
          <p:cNvSpPr txBox="1"/>
          <p:nvPr/>
        </p:nvSpPr>
        <p:spPr>
          <a:xfrm>
            <a:off x="9060700" y="3011125"/>
            <a:ext cx="5897100" cy="3787200"/>
          </a:xfrm>
          <a:prstGeom prst="rect">
            <a:avLst/>
          </a:prstGeom>
          <a:noFill/>
          <a:ln>
            <a:noFill/>
          </a:ln>
        </p:spPr>
        <p:txBody>
          <a:bodyPr lIns="0" tIns="0" rIns="0" bIns="0" anchor="ctr" anchorCtr="0">
            <a:noAutofit/>
          </a:bodyPr>
          <a:lstStyle/>
          <a:p>
            <a:pPr marL="0" marR="0" lvl="0" indent="0" algn="ctr" rtl="0">
              <a:lnSpc>
                <a:spcPct val="115000"/>
              </a:lnSpc>
              <a:spcBef>
                <a:spcPts val="0"/>
              </a:spcBef>
              <a:spcAft>
                <a:spcPts val="0"/>
              </a:spcAft>
              <a:buClr>
                <a:schemeClr val="lt1"/>
              </a:buClr>
              <a:buSzPct val="25000"/>
              <a:buFont typeface="Cabin"/>
              <a:buNone/>
            </a:pPr>
            <a:r>
              <a:rPr lang="en-US" sz="3200" i="0" u="none" strike="noStrike" cap="none" baseline="0">
                <a:solidFill>
                  <a:schemeClr val="lt1"/>
                </a:solidFill>
                <a:latin typeface="Cabin"/>
                <a:ea typeface="Cabin"/>
                <a:cs typeface="Cabin"/>
                <a:sym typeface="Cabin"/>
              </a:rPr>
              <a:t>The general pattern to count the words in a line of text is to </a:t>
            </a:r>
            <a:r>
              <a:rPr lang="en-US" sz="3200" i="0" u="none" strike="noStrike" cap="none" baseline="0">
                <a:solidFill>
                  <a:srgbClr val="FF00FF"/>
                </a:solidFill>
                <a:latin typeface="Cabin"/>
                <a:ea typeface="Cabin"/>
                <a:cs typeface="Cabin"/>
                <a:sym typeface="Cabin"/>
              </a:rPr>
              <a:t>split</a:t>
            </a:r>
            <a:r>
              <a:rPr lang="en-US" sz="3200" i="0" u="none" strike="noStrike" cap="none" baseline="0">
                <a:solidFill>
                  <a:schemeClr val="lt1"/>
                </a:solidFill>
                <a:latin typeface="Cabin"/>
                <a:ea typeface="Cabin"/>
                <a:cs typeface="Cabin"/>
                <a:sym typeface="Cabin"/>
              </a:rPr>
              <a:t> the line into words, then loop through the words and use a </a:t>
            </a:r>
            <a:r>
              <a:rPr lang="en-US" sz="3200" i="0" u="none" strike="noStrike" cap="none" baseline="0">
                <a:solidFill>
                  <a:srgbClr val="00FF00"/>
                </a:solidFill>
                <a:latin typeface="Cabin"/>
                <a:ea typeface="Cabin"/>
                <a:cs typeface="Cabin"/>
                <a:sym typeface="Cabin"/>
              </a:rPr>
              <a:t>dictionary</a:t>
            </a:r>
            <a:r>
              <a:rPr lang="en-US" sz="3200" i="0" u="none" strike="noStrike" cap="none" baseline="0">
                <a:solidFill>
                  <a:schemeClr val="lt1"/>
                </a:solidFill>
                <a:latin typeface="Cabin"/>
                <a:ea typeface="Cabin"/>
                <a:cs typeface="Cabin"/>
                <a:sym typeface="Cabin"/>
              </a:rPr>
              <a:t> to track the count of each word independently.</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Shape 359"/>
          <p:cNvSpPr txBox="1">
            <a:spLocks noGrp="1"/>
          </p:cNvSpPr>
          <p:nvPr>
            <p:ph type="title"/>
          </p:nvPr>
        </p:nvSpPr>
        <p:spPr>
          <a:xfrm>
            <a:off x="1155700" y="241300"/>
            <a:ext cx="13931900" cy="19431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Counting Words</a:t>
            </a:r>
          </a:p>
        </p:txBody>
      </p:sp>
      <p:sp>
        <p:nvSpPr>
          <p:cNvPr id="360" name="Shape 360"/>
          <p:cNvSpPr txBox="1"/>
          <p:nvPr/>
        </p:nvSpPr>
        <p:spPr>
          <a:xfrm>
            <a:off x="437500" y="1831350"/>
            <a:ext cx="11558399" cy="6350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600" b="1" i="0" u="none" strike="noStrike" cap="none" baseline="0">
                <a:solidFill>
                  <a:srgbClr val="FFFF00"/>
                </a:solidFill>
                <a:latin typeface="Courier New"/>
                <a:ea typeface="Courier New"/>
                <a:cs typeface="Courier New"/>
                <a:sym typeface="Courier New"/>
              </a:rPr>
              <a:t>python wordcount.py </a:t>
            </a:r>
          </a:p>
          <a:p>
            <a:pPr marL="0" marR="0" lvl="0" indent="0" algn="l" rtl="0">
              <a:lnSpc>
                <a:spcPct val="100000"/>
              </a:lnSpc>
              <a:spcBef>
                <a:spcPts val="0"/>
              </a:spcBef>
              <a:spcAft>
                <a:spcPts val="0"/>
              </a:spcAft>
              <a:buClr>
                <a:srgbClr val="FFFF00"/>
              </a:buClr>
              <a:buSzPct val="25000"/>
              <a:buFont typeface="Cabin"/>
              <a:buNone/>
            </a:pPr>
            <a:r>
              <a:rPr lang="en-US" sz="2600" b="1" i="0" u="none" strike="noStrike" cap="none" baseline="0">
                <a:solidFill>
                  <a:schemeClr val="lt1"/>
                </a:solidFill>
                <a:latin typeface="Courier New"/>
                <a:ea typeface="Courier New"/>
                <a:cs typeface="Courier New"/>
                <a:sym typeface="Courier New"/>
              </a:rPr>
              <a:t>Enter a line of text:</a:t>
            </a:r>
          </a:p>
          <a:p>
            <a:pPr marL="0" marR="0" lvl="0" indent="0" algn="l" rtl="0">
              <a:lnSpc>
                <a:spcPct val="100000"/>
              </a:lnSpc>
              <a:spcBef>
                <a:spcPts val="0"/>
              </a:spcBef>
              <a:spcAft>
                <a:spcPts val="0"/>
              </a:spcAft>
              <a:buClr>
                <a:srgbClr val="FFFF00"/>
              </a:buClr>
              <a:buSzPct val="25000"/>
              <a:buFont typeface="Cabin"/>
              <a:buNone/>
            </a:pPr>
            <a:r>
              <a:rPr lang="en-US" sz="2600" b="1" i="0" u="none" strike="noStrike" cap="none" baseline="0">
                <a:solidFill>
                  <a:srgbClr val="00FF00"/>
                </a:solidFill>
                <a:latin typeface="Courier New"/>
                <a:ea typeface="Courier New"/>
                <a:cs typeface="Courier New"/>
                <a:sym typeface="Courier New"/>
              </a:rPr>
              <a:t>the</a:t>
            </a:r>
            <a:r>
              <a:rPr lang="en-US" sz="2600" b="1" i="0" u="none" strike="noStrike" cap="none" baseline="0">
                <a:solidFill>
                  <a:srgbClr val="FFFF00"/>
                </a:solidFill>
                <a:latin typeface="Courier New"/>
                <a:ea typeface="Courier New"/>
                <a:cs typeface="Courier New"/>
                <a:sym typeface="Courier New"/>
              </a:rPr>
              <a:t> clown ran after </a:t>
            </a:r>
            <a:r>
              <a:rPr lang="en-US" sz="2600" b="1" i="0" u="none" strike="noStrike" cap="none" baseline="0">
                <a:solidFill>
                  <a:srgbClr val="00FF00"/>
                </a:solidFill>
                <a:latin typeface="Courier New"/>
                <a:ea typeface="Courier New"/>
                <a:cs typeface="Courier New"/>
                <a:sym typeface="Courier New"/>
              </a:rPr>
              <a:t>the</a:t>
            </a:r>
            <a:r>
              <a:rPr lang="en-US" sz="2600" b="1" i="0" u="none" strike="noStrike" cap="none" baseline="0">
                <a:solidFill>
                  <a:srgbClr val="FFFF00"/>
                </a:solidFill>
                <a:latin typeface="Courier New"/>
                <a:ea typeface="Courier New"/>
                <a:cs typeface="Courier New"/>
                <a:sym typeface="Courier New"/>
              </a:rPr>
              <a:t> car and </a:t>
            </a:r>
            <a:r>
              <a:rPr lang="en-US" sz="2600" b="1" i="0" u="none" strike="noStrike" cap="none" baseline="0">
                <a:solidFill>
                  <a:srgbClr val="00FF00"/>
                </a:solidFill>
                <a:latin typeface="Courier New"/>
                <a:ea typeface="Courier New"/>
                <a:cs typeface="Courier New"/>
                <a:sym typeface="Courier New"/>
              </a:rPr>
              <a:t>the</a:t>
            </a:r>
            <a:r>
              <a:rPr lang="en-US" sz="2600" b="1" i="0" u="none" strike="noStrike" cap="none" baseline="0">
                <a:solidFill>
                  <a:srgbClr val="FFFF00"/>
                </a:solidFill>
                <a:latin typeface="Courier New"/>
                <a:ea typeface="Courier New"/>
                <a:cs typeface="Courier New"/>
                <a:sym typeface="Courier New"/>
              </a:rPr>
              <a:t> car ran into </a:t>
            </a:r>
            <a:r>
              <a:rPr lang="en-US" sz="2600" b="1" i="0" u="none" strike="noStrike" cap="none" baseline="0">
                <a:solidFill>
                  <a:srgbClr val="00FF00"/>
                </a:solidFill>
                <a:latin typeface="Courier New"/>
                <a:ea typeface="Courier New"/>
                <a:cs typeface="Courier New"/>
                <a:sym typeface="Courier New"/>
              </a:rPr>
              <a:t>the</a:t>
            </a:r>
            <a:r>
              <a:rPr lang="en-US" sz="2600" b="1" i="0" u="none" strike="noStrike" cap="none" baseline="0">
                <a:solidFill>
                  <a:srgbClr val="FFFF00"/>
                </a:solidFill>
                <a:latin typeface="Courier New"/>
                <a:ea typeface="Courier New"/>
                <a:cs typeface="Courier New"/>
                <a:sym typeface="Courier New"/>
              </a:rPr>
              <a:t> tent and </a:t>
            </a:r>
            <a:r>
              <a:rPr lang="en-US" sz="2600" b="1" i="0" u="none" strike="noStrike" cap="none" baseline="0">
                <a:solidFill>
                  <a:srgbClr val="00FF00"/>
                </a:solidFill>
                <a:latin typeface="Courier New"/>
                <a:ea typeface="Courier New"/>
                <a:cs typeface="Courier New"/>
                <a:sym typeface="Courier New"/>
              </a:rPr>
              <a:t>the</a:t>
            </a:r>
            <a:r>
              <a:rPr lang="en-US" sz="2600" b="1" i="0" u="none" strike="noStrike" cap="none" baseline="0">
                <a:solidFill>
                  <a:srgbClr val="FFFF00"/>
                </a:solidFill>
                <a:latin typeface="Courier New"/>
                <a:ea typeface="Courier New"/>
                <a:cs typeface="Courier New"/>
                <a:sym typeface="Courier New"/>
              </a:rPr>
              <a:t> tent fell down on </a:t>
            </a:r>
            <a:r>
              <a:rPr lang="en-US" sz="2600" b="1" i="0" u="none" strike="noStrike" cap="none" baseline="0">
                <a:solidFill>
                  <a:srgbClr val="00FF00"/>
                </a:solidFill>
                <a:latin typeface="Courier New"/>
                <a:ea typeface="Courier New"/>
                <a:cs typeface="Courier New"/>
                <a:sym typeface="Courier New"/>
              </a:rPr>
              <a:t>the</a:t>
            </a:r>
            <a:r>
              <a:rPr lang="en-US" sz="2600" b="1" i="0" u="none" strike="noStrike" cap="none" baseline="0">
                <a:solidFill>
                  <a:srgbClr val="FFFF00"/>
                </a:solidFill>
                <a:latin typeface="Courier New"/>
                <a:ea typeface="Courier New"/>
                <a:cs typeface="Courier New"/>
                <a:sym typeface="Courier New"/>
              </a:rPr>
              <a:t> clown and </a:t>
            </a:r>
            <a:r>
              <a:rPr lang="en-US" sz="2600" b="1" i="0" u="none" strike="noStrike" cap="none" baseline="0">
                <a:solidFill>
                  <a:srgbClr val="00FF00"/>
                </a:solidFill>
                <a:latin typeface="Courier New"/>
                <a:ea typeface="Courier New"/>
                <a:cs typeface="Courier New"/>
                <a:sym typeface="Courier New"/>
              </a:rPr>
              <a:t>the</a:t>
            </a:r>
            <a:r>
              <a:rPr lang="en-US" sz="2600" b="1" i="0" u="none" strike="noStrike" cap="none" baseline="0">
                <a:solidFill>
                  <a:srgbClr val="FFFF00"/>
                </a:solidFill>
                <a:latin typeface="Courier New"/>
                <a:ea typeface="Courier New"/>
                <a:cs typeface="Courier New"/>
                <a:sym typeface="Courier New"/>
              </a:rPr>
              <a:t> car </a:t>
            </a:r>
          </a:p>
          <a:p>
            <a:pPr marL="0" marR="0" lvl="0" indent="0" algn="l" rtl="0">
              <a:lnSpc>
                <a:spcPct val="100000"/>
              </a:lnSpc>
              <a:spcBef>
                <a:spcPts val="0"/>
              </a:spcBef>
              <a:spcAft>
                <a:spcPts val="0"/>
              </a:spcAft>
              <a:buClr>
                <a:srgbClr val="FFFF00"/>
              </a:buClr>
              <a:buSzPct val="25000"/>
              <a:buFont typeface="Cabin"/>
              <a:buNone/>
            </a:pPr>
            <a:r>
              <a:rPr lang="en-US" sz="2600" b="1" i="0" u="none" strike="noStrike" cap="none" baseline="0">
                <a:solidFill>
                  <a:srgbClr val="FFFF00"/>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600" b="1" i="0" u="none" strike="noStrike" cap="none" baseline="0">
                <a:solidFill>
                  <a:schemeClr val="lt1"/>
                </a:solidFill>
                <a:latin typeface="Courier New"/>
                <a:ea typeface="Courier New"/>
                <a:cs typeface="Courier New"/>
                <a:sym typeface="Courier New"/>
              </a:rPr>
              <a:t>Words: ['the', 'clown', 'ran', 'after', 'the', 'car', 'and', 'the', 'car', 'ran', 'into', 'the', 'tent', 'and', 'the', 'tent', 'fell', 'down', 'on', 'the', 'clown', 'and', 'the', 'car']</a:t>
            </a:r>
          </a:p>
          <a:p>
            <a:pPr marL="0" marR="0" lvl="0" indent="0" algn="l" rtl="0">
              <a:lnSpc>
                <a:spcPct val="100000"/>
              </a:lnSpc>
              <a:spcBef>
                <a:spcPts val="0"/>
              </a:spcBef>
              <a:spcAft>
                <a:spcPts val="0"/>
              </a:spcAft>
              <a:buClr>
                <a:schemeClr val="lt1"/>
              </a:buClr>
              <a:buSzPct val="25000"/>
              <a:buFont typeface="Cabin"/>
              <a:buNone/>
            </a:pPr>
            <a:r>
              <a:rPr lang="en-US" sz="2600" b="1" i="0" u="none" strike="noStrike" cap="none" baseline="0">
                <a:solidFill>
                  <a:schemeClr val="lt1"/>
                </a:solidFill>
                <a:latin typeface="Courier New"/>
                <a:ea typeface="Courier New"/>
                <a:cs typeface="Courier New"/>
                <a:sym typeface="Courier New"/>
              </a:rPr>
              <a:t>Counting</a:t>
            </a:r>
            <a:r>
              <a:rPr lang="en-US" sz="2600" b="1">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Font typeface="Cabin"/>
              <a:buNone/>
            </a:pPr>
            <a:endParaRPr sz="2600" b="1">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600" b="1" i="0" u="none" strike="noStrike" cap="none" baseline="0">
                <a:solidFill>
                  <a:schemeClr val="lt1"/>
                </a:solidFill>
                <a:latin typeface="Courier New"/>
                <a:ea typeface="Courier New"/>
                <a:cs typeface="Courier New"/>
                <a:sym typeface="Courier New"/>
              </a:rPr>
              <a:t>Counts {'and': 3, 'on': 1, 'ran': 2, 'car': 3, 'into': 1, 'after': 1, 'clown': 2, 'down': 1, 'fell': 1, </a:t>
            </a:r>
            <a:r>
              <a:rPr lang="en-US" sz="2600" b="1" i="0" u="none" strike="noStrike" cap="none" baseline="0">
                <a:solidFill>
                  <a:srgbClr val="00FF00"/>
                </a:solidFill>
                <a:latin typeface="Courier New"/>
                <a:ea typeface="Courier New"/>
                <a:cs typeface="Courier New"/>
                <a:sym typeface="Courier New"/>
              </a:rPr>
              <a:t>'the': 7</a:t>
            </a:r>
            <a:r>
              <a:rPr lang="en-US" sz="2600" b="1" i="0" u="none" strike="noStrike" cap="none" baseline="0">
                <a:solidFill>
                  <a:schemeClr val="lt1"/>
                </a:solidFill>
                <a:latin typeface="Courier New"/>
                <a:ea typeface="Courier New"/>
                <a:cs typeface="Courier New"/>
                <a:sym typeface="Courier New"/>
              </a:rPr>
              <a:t>, 'tent': 2}</a:t>
            </a:r>
          </a:p>
        </p:txBody>
      </p:sp>
      <p:sp>
        <p:nvSpPr>
          <p:cNvPr id="361" name="Shape 361"/>
          <p:cNvSpPr txBox="1"/>
          <p:nvPr/>
        </p:nvSpPr>
        <p:spPr>
          <a:xfrm>
            <a:off x="6277146" y="8331850"/>
            <a:ext cx="9715199" cy="4572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400" b="0" i="0" u="sng" strike="noStrike" cap="none" baseline="0">
                <a:solidFill>
                  <a:srgbClr val="FFFF00"/>
                </a:solidFill>
                <a:latin typeface="Cabin"/>
                <a:ea typeface="Cabin"/>
                <a:cs typeface="Cabin"/>
                <a:sym typeface="Cabin"/>
                <a:hlinkClick r:id="rId3"/>
              </a:rPr>
              <a:t>http://www.flickr.com/photos/71502646@N00/2526007974/</a:t>
            </a:r>
          </a:p>
        </p:txBody>
      </p:sp>
      <p:pic>
        <p:nvPicPr>
          <p:cNvPr id="362" name="Shape 362"/>
          <p:cNvPicPr preferRelativeResize="0"/>
          <p:nvPr/>
        </p:nvPicPr>
        <p:blipFill rotWithShape="1">
          <a:blip r:embed="rId4">
            <a:alphaModFix/>
          </a:blip>
          <a:srcRect/>
          <a:stretch/>
        </p:blipFill>
        <p:spPr>
          <a:xfrm>
            <a:off x="12172950" y="723900"/>
            <a:ext cx="2927399" cy="1943100"/>
          </a:xfrm>
          <a:prstGeom prst="rect">
            <a:avLst/>
          </a:prstGeom>
          <a:noFill/>
          <a:ln>
            <a:noFill/>
          </a:ln>
        </p:spPr>
      </p:pic>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Shape 367"/>
          <p:cNvSpPr txBox="1"/>
          <p:nvPr/>
        </p:nvSpPr>
        <p:spPr>
          <a:xfrm>
            <a:off x="563562" y="2368550"/>
            <a:ext cx="7572375" cy="4064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baseline="0">
                <a:solidFill>
                  <a:schemeClr val="lt1"/>
                </a:solidFill>
                <a:latin typeface="Courier New"/>
                <a:ea typeface="Courier New"/>
                <a:cs typeface="Courier New"/>
                <a:sym typeface="Courier New"/>
              </a:rPr>
              <a:t>counts = </a:t>
            </a:r>
            <a:r>
              <a:rPr lang="en-US" sz="2400" b="1" i="0" u="none" strike="noStrike" cap="none" baseline="0">
                <a:solidFill>
                  <a:srgbClr val="FF7F00"/>
                </a:solidFill>
                <a:latin typeface="Courier New"/>
                <a:ea typeface="Courier New"/>
                <a:cs typeface="Courier New"/>
                <a:sym typeface="Courier New"/>
              </a:rPr>
              <a:t>dict</a:t>
            </a:r>
            <a:r>
              <a:rPr lang="en-US" sz="24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rgbClr val="FFFF00"/>
              </a:buClr>
              <a:buSzPct val="25000"/>
              <a:buFont typeface="Courier New"/>
              <a:buNone/>
            </a:pPr>
            <a:r>
              <a:rPr lang="en-US" sz="2400" b="1" i="0" u="none" strike="noStrike" cap="none" baseline="0">
                <a:solidFill>
                  <a:srgbClr val="FFFF00"/>
                </a:solidFill>
                <a:latin typeface="Courier New"/>
                <a:ea typeface="Courier New"/>
                <a:cs typeface="Courier New"/>
                <a:sym typeface="Courier New"/>
              </a:rPr>
              <a:t>print</a:t>
            </a:r>
            <a:r>
              <a:rPr lang="en-US" sz="2400" b="1" i="0" u="none" strike="noStrike" cap="none" baseline="0">
                <a:solidFill>
                  <a:schemeClr val="lt1"/>
                </a:solidFill>
                <a:latin typeface="Courier New"/>
                <a:ea typeface="Courier New"/>
                <a:cs typeface="Courier New"/>
                <a:sym typeface="Courier New"/>
              </a:rPr>
              <a:t> 'Enter a line of text:</a:t>
            </a:r>
            <a:r>
              <a:rPr lang="en-US" sz="2400" b="1">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baseline="0">
                <a:solidFill>
                  <a:schemeClr val="lt1"/>
                </a:solidFill>
                <a:latin typeface="Courier New"/>
                <a:ea typeface="Courier New"/>
                <a:cs typeface="Courier New"/>
                <a:sym typeface="Courier New"/>
              </a:rPr>
              <a:t>line = </a:t>
            </a:r>
            <a:r>
              <a:rPr lang="en-US" sz="2400" b="1" i="0" u="none" strike="noStrike" cap="none" baseline="0">
                <a:solidFill>
                  <a:srgbClr val="FF00FF"/>
                </a:solidFill>
                <a:latin typeface="Courier New"/>
                <a:ea typeface="Courier New"/>
                <a:cs typeface="Courier New"/>
                <a:sym typeface="Courier New"/>
              </a:rPr>
              <a:t>raw_input</a:t>
            </a:r>
            <a:r>
              <a:rPr lang="en-US" sz="24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baseline="0">
                <a:solidFill>
                  <a:schemeClr val="lt1"/>
                </a:solidFill>
                <a:latin typeface="Courier New"/>
                <a:ea typeface="Courier New"/>
                <a:cs typeface="Courier New"/>
                <a:sym typeface="Courier New"/>
              </a:rPr>
              <a:t>words = line.</a:t>
            </a:r>
            <a:r>
              <a:rPr lang="en-US" sz="2400" b="1" i="0" u="none" strike="noStrike" cap="none" baseline="0">
                <a:solidFill>
                  <a:srgbClr val="FF00FF"/>
                </a:solidFill>
                <a:latin typeface="Courier New"/>
                <a:ea typeface="Courier New"/>
                <a:cs typeface="Courier New"/>
                <a:sym typeface="Courier New"/>
              </a:rPr>
              <a:t>split</a:t>
            </a:r>
            <a:r>
              <a:rPr lang="en-US" sz="2400" b="1" i="0" u="none" strike="noStrike" cap="none" baseline="0">
                <a:solidFill>
                  <a:schemeClr val="lt1"/>
                </a:solidFill>
                <a:latin typeface="Courier New"/>
                <a:ea typeface="Courier New"/>
                <a:cs typeface="Courier New"/>
                <a:sym typeface="Courier New"/>
              </a:rPr>
              <a:t>()</a:t>
            </a:r>
          </a:p>
          <a:p>
            <a:pPr marL="0" marR="0" lvl="0" indent="0" algn="ctr" rtl="0">
              <a:lnSpc>
                <a:spcPct val="100000"/>
              </a:lnSpc>
              <a:spcBef>
                <a:spcPts val="0"/>
              </a:spcBef>
              <a:spcAft>
                <a:spcPts val="0"/>
              </a:spcAft>
              <a:buNone/>
            </a:pPr>
            <a:endParaRPr sz="2400" b="1" i="0" u="none" strike="noStrike" cap="none" baseline="0">
              <a:solidFill>
                <a:srgbClr val="FF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2400" b="1" i="0" u="none" strike="noStrike" cap="none" baseline="0">
                <a:solidFill>
                  <a:srgbClr val="FFFF00"/>
                </a:solidFill>
                <a:latin typeface="Courier New"/>
                <a:ea typeface="Courier New"/>
                <a:cs typeface="Courier New"/>
                <a:sym typeface="Courier New"/>
              </a:rPr>
              <a:t>print</a:t>
            </a:r>
            <a:r>
              <a:rPr lang="en-US" sz="2400" b="1" i="0" u="none" strike="noStrike" cap="none" baseline="0">
                <a:solidFill>
                  <a:schemeClr val="lt1"/>
                </a:solidFill>
                <a:latin typeface="Courier New"/>
                <a:ea typeface="Courier New"/>
                <a:cs typeface="Courier New"/>
                <a:sym typeface="Courier New"/>
              </a:rPr>
              <a:t> 'Words:', words</a:t>
            </a:r>
          </a:p>
          <a:p>
            <a:pPr marL="0" marR="0" lvl="0" indent="0" algn="l" rtl="0">
              <a:lnSpc>
                <a:spcPct val="100000"/>
              </a:lnSpc>
              <a:spcBef>
                <a:spcPts val="0"/>
              </a:spcBef>
              <a:spcAft>
                <a:spcPts val="0"/>
              </a:spcAft>
              <a:buClr>
                <a:srgbClr val="FFFF00"/>
              </a:buClr>
              <a:buSzPct val="25000"/>
              <a:buFont typeface="Courier New"/>
              <a:buNone/>
            </a:pPr>
            <a:r>
              <a:rPr lang="en-US" sz="2400" b="1" i="0" u="none" strike="noStrike" cap="none" baseline="0">
                <a:solidFill>
                  <a:srgbClr val="FFFF00"/>
                </a:solidFill>
                <a:latin typeface="Courier New"/>
                <a:ea typeface="Courier New"/>
                <a:cs typeface="Courier New"/>
                <a:sym typeface="Courier New"/>
              </a:rPr>
              <a:t>print</a:t>
            </a:r>
            <a:r>
              <a:rPr lang="en-US" sz="2400" b="1" i="0" u="none" strike="noStrike" cap="none" baseline="0">
                <a:solidFill>
                  <a:schemeClr val="lt1"/>
                </a:solidFill>
                <a:latin typeface="Courier New"/>
                <a:ea typeface="Courier New"/>
                <a:cs typeface="Courier New"/>
                <a:sym typeface="Courier New"/>
              </a:rPr>
              <a:t> 'Counting...’</a:t>
            </a:r>
          </a:p>
          <a:p>
            <a:pPr marL="0" marR="0" lvl="0" indent="0" algn="ctr" rtl="0">
              <a:lnSpc>
                <a:spcPct val="100000"/>
              </a:lnSpc>
              <a:spcBef>
                <a:spcPts val="0"/>
              </a:spcBef>
              <a:spcAft>
                <a:spcPts val="0"/>
              </a:spcAft>
              <a:buNone/>
            </a:pPr>
            <a:endParaRPr sz="2400" b="1"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FFFF00"/>
              </a:buClr>
              <a:buSzPct val="25000"/>
              <a:buFont typeface="Courier New"/>
              <a:buNone/>
            </a:pPr>
            <a:r>
              <a:rPr lang="en-US" sz="2400" b="1" i="0" u="none" strike="noStrike" cap="none" baseline="0">
                <a:solidFill>
                  <a:srgbClr val="FFFF00"/>
                </a:solidFill>
                <a:latin typeface="Courier New"/>
                <a:ea typeface="Courier New"/>
                <a:cs typeface="Courier New"/>
                <a:sym typeface="Courier New"/>
              </a:rPr>
              <a:t>for</a:t>
            </a:r>
            <a:r>
              <a:rPr lang="en-US" sz="2400" b="1" i="0" u="none" strike="noStrike" cap="none" baseline="0">
                <a:solidFill>
                  <a:schemeClr val="lt1"/>
                </a:solidFill>
                <a:latin typeface="Courier New"/>
                <a:ea typeface="Courier New"/>
                <a:cs typeface="Courier New"/>
                <a:sym typeface="Courier New"/>
              </a:rPr>
              <a:t> word </a:t>
            </a:r>
            <a:r>
              <a:rPr lang="en-US" sz="2400" b="1" i="0" u="none" strike="noStrike" cap="none" baseline="0">
                <a:solidFill>
                  <a:srgbClr val="FFFF00"/>
                </a:solidFill>
                <a:latin typeface="Courier New"/>
                <a:ea typeface="Courier New"/>
                <a:cs typeface="Courier New"/>
                <a:sym typeface="Courier New"/>
              </a:rPr>
              <a:t>in</a:t>
            </a:r>
            <a:r>
              <a:rPr lang="en-US" sz="2400" b="1" i="0" u="none" strike="noStrike" cap="none" baseline="0">
                <a:solidFill>
                  <a:schemeClr val="lt1"/>
                </a:solidFill>
                <a:latin typeface="Courier New"/>
                <a:ea typeface="Courier New"/>
                <a:cs typeface="Courier New"/>
                <a:sym typeface="Courier New"/>
              </a:rPr>
              <a:t> words:</a:t>
            </a:r>
          </a:p>
          <a:p>
            <a:pPr marL="0" marR="0" lvl="0" indent="0" algn="l" rtl="0">
              <a:lnSpc>
                <a:spcPct val="100000"/>
              </a:lnSpc>
              <a:spcBef>
                <a:spcPts val="0"/>
              </a:spcBef>
              <a:spcAft>
                <a:spcPts val="0"/>
              </a:spcAft>
              <a:buClr>
                <a:schemeClr val="lt1"/>
              </a:buClr>
              <a:buSzPct val="25000"/>
              <a:buFont typeface="Courier New"/>
              <a:buNone/>
            </a:pPr>
            <a:r>
              <a:rPr lang="en-US" sz="2400" b="1" i="0" u="none" strike="noStrike" cap="none" baseline="0">
                <a:solidFill>
                  <a:schemeClr val="lt1"/>
                </a:solidFill>
                <a:latin typeface="Courier New"/>
                <a:ea typeface="Courier New"/>
                <a:cs typeface="Courier New"/>
                <a:sym typeface="Courier New"/>
              </a:rPr>
              <a:t>    counts[word] = counts.</a:t>
            </a:r>
            <a:r>
              <a:rPr lang="en-US" sz="2400" b="1" i="0" u="none" strike="noStrike" cap="none" baseline="0">
                <a:solidFill>
                  <a:srgbClr val="FF00FF"/>
                </a:solidFill>
                <a:latin typeface="Courier New"/>
                <a:ea typeface="Courier New"/>
                <a:cs typeface="Courier New"/>
                <a:sym typeface="Courier New"/>
              </a:rPr>
              <a:t>get</a:t>
            </a:r>
            <a:r>
              <a:rPr lang="en-US" sz="2400" b="1" i="0" u="none" strike="noStrike" cap="none" baseline="0">
                <a:solidFill>
                  <a:schemeClr val="lt1"/>
                </a:solidFill>
                <a:latin typeface="Courier New"/>
                <a:ea typeface="Courier New"/>
                <a:cs typeface="Courier New"/>
                <a:sym typeface="Courier New"/>
              </a:rPr>
              <a:t>(word,0) + 1</a:t>
            </a:r>
          </a:p>
          <a:p>
            <a:pPr marL="0" marR="0" lvl="0" indent="0" algn="l" rtl="0">
              <a:lnSpc>
                <a:spcPct val="100000"/>
              </a:lnSpc>
              <a:spcBef>
                <a:spcPts val="0"/>
              </a:spcBef>
              <a:spcAft>
                <a:spcPts val="0"/>
              </a:spcAft>
              <a:buClr>
                <a:srgbClr val="FFFF00"/>
              </a:buClr>
              <a:buSzPct val="25000"/>
              <a:buFont typeface="Courier New"/>
              <a:buNone/>
            </a:pPr>
            <a:r>
              <a:rPr lang="en-US" sz="2400" b="1" i="0" u="none" strike="noStrike" cap="none" baseline="0">
                <a:solidFill>
                  <a:srgbClr val="FFFF00"/>
                </a:solidFill>
                <a:latin typeface="Courier New"/>
                <a:ea typeface="Courier New"/>
                <a:cs typeface="Courier New"/>
                <a:sym typeface="Courier New"/>
              </a:rPr>
              <a:t>print</a:t>
            </a:r>
            <a:r>
              <a:rPr lang="en-US" sz="2400" b="1" i="0" u="none" strike="noStrike" cap="none" baseline="0">
                <a:solidFill>
                  <a:schemeClr val="lt1"/>
                </a:solidFill>
                <a:latin typeface="Courier New"/>
                <a:ea typeface="Courier New"/>
                <a:cs typeface="Courier New"/>
                <a:sym typeface="Courier New"/>
              </a:rPr>
              <a:t> 'Counts', counts</a:t>
            </a:r>
          </a:p>
        </p:txBody>
      </p:sp>
      <p:sp>
        <p:nvSpPr>
          <p:cNvPr id="368" name="Shape 368"/>
          <p:cNvSpPr txBox="1"/>
          <p:nvPr/>
        </p:nvSpPr>
        <p:spPr>
          <a:xfrm>
            <a:off x="8723700" y="887100"/>
            <a:ext cx="6941400" cy="7213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100" b="1" i="0" u="none" strike="noStrike" cap="none" baseline="0">
                <a:solidFill>
                  <a:srgbClr val="FFFF00"/>
                </a:solidFill>
                <a:latin typeface="Courier New"/>
                <a:ea typeface="Courier New"/>
                <a:cs typeface="Courier New"/>
                <a:sym typeface="Courier New"/>
              </a:rPr>
              <a:t>python wordcount.py </a:t>
            </a:r>
          </a:p>
          <a:p>
            <a:pPr marL="0" marR="0" lvl="0" indent="0" algn="l" rtl="0">
              <a:lnSpc>
                <a:spcPct val="100000"/>
              </a:lnSpc>
              <a:spcBef>
                <a:spcPts val="0"/>
              </a:spcBef>
              <a:spcAft>
                <a:spcPts val="0"/>
              </a:spcAft>
              <a:buClr>
                <a:schemeClr val="lt1"/>
              </a:buClr>
              <a:buSzPct val="25000"/>
              <a:buFont typeface="Cabin"/>
              <a:buNone/>
            </a:pPr>
            <a:r>
              <a:rPr lang="en-US" sz="3100" b="0" i="0" u="none" strike="noStrike" cap="none" baseline="0">
                <a:solidFill>
                  <a:schemeClr val="lt1"/>
                </a:solidFill>
                <a:latin typeface="Cabin"/>
                <a:ea typeface="Cabin"/>
                <a:cs typeface="Cabin"/>
                <a:sym typeface="Cabin"/>
              </a:rPr>
              <a:t>Enter a line of text:</a:t>
            </a:r>
          </a:p>
          <a:p>
            <a:pPr marL="0" marR="0" lvl="0" indent="0" algn="l" rtl="0">
              <a:lnSpc>
                <a:spcPct val="100000"/>
              </a:lnSpc>
              <a:spcBef>
                <a:spcPts val="0"/>
              </a:spcBef>
              <a:spcAft>
                <a:spcPts val="0"/>
              </a:spcAft>
              <a:buClr>
                <a:schemeClr val="lt1"/>
              </a:buClr>
              <a:buSzPct val="25000"/>
              <a:buFont typeface="Cabin"/>
              <a:buNone/>
            </a:pPr>
            <a:r>
              <a:rPr lang="en-US" sz="3100" b="0" i="0" u="none" strike="noStrike" cap="none" baseline="0">
                <a:solidFill>
                  <a:srgbClr val="00FF00"/>
                </a:solidFill>
                <a:latin typeface="Cabin"/>
                <a:ea typeface="Cabin"/>
                <a:cs typeface="Cabin"/>
                <a:sym typeface="Cabin"/>
              </a:rPr>
              <a:t>the</a:t>
            </a:r>
            <a:r>
              <a:rPr lang="en-US" sz="3100" b="0" i="0" u="none" strike="noStrike" cap="none" baseline="0">
                <a:solidFill>
                  <a:srgbClr val="FFFF00"/>
                </a:solidFill>
                <a:latin typeface="Cabin"/>
                <a:ea typeface="Cabin"/>
                <a:cs typeface="Cabin"/>
                <a:sym typeface="Cabin"/>
              </a:rPr>
              <a:t> clown ran after </a:t>
            </a:r>
            <a:r>
              <a:rPr lang="en-US" sz="3100" b="0" i="0" u="none" strike="noStrike" cap="none" baseline="0">
                <a:solidFill>
                  <a:srgbClr val="00FF00"/>
                </a:solidFill>
                <a:latin typeface="Cabin"/>
                <a:ea typeface="Cabin"/>
                <a:cs typeface="Cabin"/>
                <a:sym typeface="Cabin"/>
              </a:rPr>
              <a:t>the</a:t>
            </a:r>
            <a:r>
              <a:rPr lang="en-US" sz="3100" b="0" i="0" u="none" strike="noStrike" cap="none" baseline="0">
                <a:solidFill>
                  <a:srgbClr val="FFFF00"/>
                </a:solidFill>
                <a:latin typeface="Cabin"/>
                <a:ea typeface="Cabin"/>
                <a:cs typeface="Cabin"/>
                <a:sym typeface="Cabin"/>
              </a:rPr>
              <a:t> car and the car ran into </a:t>
            </a:r>
            <a:r>
              <a:rPr lang="en-US" sz="3100" b="0" i="0" u="none" strike="noStrike" cap="none" baseline="0">
                <a:solidFill>
                  <a:srgbClr val="00FF00"/>
                </a:solidFill>
                <a:latin typeface="Cabin"/>
                <a:ea typeface="Cabin"/>
                <a:cs typeface="Cabin"/>
                <a:sym typeface="Cabin"/>
              </a:rPr>
              <a:t>the</a:t>
            </a:r>
            <a:r>
              <a:rPr lang="en-US" sz="3100" b="0" i="0" u="none" strike="noStrike" cap="none" baseline="0">
                <a:solidFill>
                  <a:srgbClr val="FFFF00"/>
                </a:solidFill>
                <a:latin typeface="Cabin"/>
                <a:ea typeface="Cabin"/>
                <a:cs typeface="Cabin"/>
                <a:sym typeface="Cabin"/>
              </a:rPr>
              <a:t> tent and </a:t>
            </a:r>
            <a:r>
              <a:rPr lang="en-US" sz="3100" b="0" i="0" u="none" strike="noStrike" cap="none" baseline="0">
                <a:solidFill>
                  <a:srgbClr val="00FF00"/>
                </a:solidFill>
                <a:latin typeface="Cabin"/>
                <a:ea typeface="Cabin"/>
                <a:cs typeface="Cabin"/>
                <a:sym typeface="Cabin"/>
              </a:rPr>
              <a:t>the</a:t>
            </a:r>
            <a:r>
              <a:rPr lang="en-US" sz="3100" b="0" i="0" u="none" strike="noStrike" cap="none" baseline="0">
                <a:solidFill>
                  <a:srgbClr val="FFFF00"/>
                </a:solidFill>
                <a:latin typeface="Cabin"/>
                <a:ea typeface="Cabin"/>
                <a:cs typeface="Cabin"/>
                <a:sym typeface="Cabin"/>
              </a:rPr>
              <a:t> tent fell down on </a:t>
            </a:r>
            <a:r>
              <a:rPr lang="en-US" sz="3100" b="0" i="0" u="none" strike="noStrike" cap="none" baseline="0">
                <a:solidFill>
                  <a:srgbClr val="00FF00"/>
                </a:solidFill>
                <a:latin typeface="Cabin"/>
                <a:ea typeface="Cabin"/>
                <a:cs typeface="Cabin"/>
                <a:sym typeface="Cabin"/>
              </a:rPr>
              <a:t>the</a:t>
            </a:r>
            <a:r>
              <a:rPr lang="en-US" sz="3100" b="0" i="0" u="none" strike="noStrike" cap="none" baseline="0">
                <a:solidFill>
                  <a:srgbClr val="FFFF00"/>
                </a:solidFill>
                <a:latin typeface="Cabin"/>
                <a:ea typeface="Cabin"/>
                <a:cs typeface="Cabin"/>
                <a:sym typeface="Cabin"/>
              </a:rPr>
              <a:t> clown and </a:t>
            </a:r>
            <a:r>
              <a:rPr lang="en-US" sz="3100" b="0" i="0" u="none" strike="noStrike" cap="none" baseline="0">
                <a:solidFill>
                  <a:srgbClr val="00FF00"/>
                </a:solidFill>
                <a:latin typeface="Cabin"/>
                <a:ea typeface="Cabin"/>
                <a:cs typeface="Cabin"/>
                <a:sym typeface="Cabin"/>
              </a:rPr>
              <a:t>the</a:t>
            </a:r>
            <a:r>
              <a:rPr lang="en-US" sz="3100" b="0" i="0" u="none" strike="noStrike" cap="none" baseline="0">
                <a:solidFill>
                  <a:srgbClr val="FFFF00"/>
                </a:solidFill>
                <a:latin typeface="Cabin"/>
                <a:ea typeface="Cabin"/>
                <a:cs typeface="Cabin"/>
                <a:sym typeface="Cabin"/>
              </a:rPr>
              <a:t> car</a:t>
            </a:r>
          </a:p>
          <a:p>
            <a:pPr marL="0" marR="0" lvl="0" indent="0" algn="ctr" rtl="0">
              <a:lnSpc>
                <a:spcPct val="100000"/>
              </a:lnSpc>
              <a:spcBef>
                <a:spcPts val="0"/>
              </a:spcBef>
              <a:spcAft>
                <a:spcPts val="0"/>
              </a:spcAft>
              <a:buNone/>
            </a:pPr>
            <a:endParaRPr sz="3100" b="0" i="0" u="none" strike="noStrike" cap="none" baseline="0">
              <a:solidFill>
                <a:srgbClr val="FFFF00"/>
              </a:solidFill>
              <a:latin typeface="Cabin"/>
              <a:ea typeface="Cabin"/>
              <a:cs typeface="Cabin"/>
              <a:sym typeface="Cabin"/>
            </a:endParaRPr>
          </a:p>
          <a:p>
            <a:pPr marL="0" marR="0" lvl="0" indent="0" algn="l" rtl="0">
              <a:lnSpc>
                <a:spcPct val="100000"/>
              </a:lnSpc>
              <a:spcBef>
                <a:spcPts val="0"/>
              </a:spcBef>
              <a:spcAft>
                <a:spcPts val="0"/>
              </a:spcAft>
              <a:buClr>
                <a:schemeClr val="lt1"/>
              </a:buClr>
              <a:buSzPct val="25000"/>
              <a:buFont typeface="Cabin"/>
              <a:buNone/>
            </a:pPr>
            <a:r>
              <a:rPr lang="en-US" sz="3100" b="0" i="0" u="none" strike="noStrike" cap="none" baseline="0">
                <a:solidFill>
                  <a:schemeClr val="lt1"/>
                </a:solidFill>
                <a:latin typeface="Cabin"/>
                <a:ea typeface="Cabin"/>
                <a:cs typeface="Cabin"/>
                <a:sym typeface="Cabin"/>
              </a:rPr>
              <a:t>Words: ['the', 'clown', 'ran', 'after', 'the', 'car', 'and', 'the', 'car', 'ran', 'into', 'the', 'tent', 'and', 'the', 'tent', 'fell', 'down', 'on', 'the', 'clown', 'and', 'the', 'car']</a:t>
            </a:r>
          </a:p>
          <a:p>
            <a:pPr marL="0" marR="0" lvl="0" indent="0" algn="l" rtl="0">
              <a:lnSpc>
                <a:spcPct val="100000"/>
              </a:lnSpc>
              <a:spcBef>
                <a:spcPts val="0"/>
              </a:spcBef>
              <a:spcAft>
                <a:spcPts val="0"/>
              </a:spcAft>
              <a:buClr>
                <a:schemeClr val="lt1"/>
              </a:buClr>
              <a:buSzPct val="25000"/>
              <a:buFont typeface="Cabin"/>
              <a:buNone/>
            </a:pPr>
            <a:r>
              <a:rPr lang="en-US" sz="3100" b="0" i="0" u="none" strike="noStrike" cap="none" baseline="0">
                <a:solidFill>
                  <a:schemeClr val="lt1"/>
                </a:solidFill>
                <a:latin typeface="Cabin"/>
                <a:ea typeface="Cabin"/>
                <a:cs typeface="Cabin"/>
                <a:sym typeface="Cabin"/>
              </a:rPr>
              <a:t>Counting...</a:t>
            </a:r>
          </a:p>
          <a:p>
            <a:pPr marL="0" marR="0" lvl="0" indent="0" algn="ctr" rtl="0">
              <a:lnSpc>
                <a:spcPct val="100000"/>
              </a:lnSpc>
              <a:spcBef>
                <a:spcPts val="0"/>
              </a:spcBef>
              <a:spcAft>
                <a:spcPts val="0"/>
              </a:spcAft>
              <a:buNone/>
            </a:pPr>
            <a:endParaRPr sz="3100" b="0" i="0" u="none" strike="noStrike" cap="none" baseline="0">
              <a:solidFill>
                <a:schemeClr val="lt1"/>
              </a:solidFill>
              <a:latin typeface="Cabin"/>
              <a:ea typeface="Cabin"/>
              <a:cs typeface="Cabin"/>
              <a:sym typeface="Cabin"/>
            </a:endParaRPr>
          </a:p>
          <a:p>
            <a:pPr marL="0" marR="0" lvl="0" indent="0" algn="l" rtl="0">
              <a:lnSpc>
                <a:spcPct val="100000"/>
              </a:lnSpc>
              <a:spcBef>
                <a:spcPts val="0"/>
              </a:spcBef>
              <a:spcAft>
                <a:spcPts val="0"/>
              </a:spcAft>
              <a:buClr>
                <a:schemeClr val="lt1"/>
              </a:buClr>
              <a:buSzPct val="25000"/>
              <a:buFont typeface="Cabin"/>
              <a:buNone/>
            </a:pPr>
            <a:r>
              <a:rPr lang="en-US" sz="3100" b="0" i="0" u="none" strike="noStrike" cap="none" baseline="0">
                <a:solidFill>
                  <a:schemeClr val="lt1"/>
                </a:solidFill>
                <a:latin typeface="Cabin"/>
                <a:ea typeface="Cabin"/>
                <a:cs typeface="Cabin"/>
                <a:sym typeface="Cabin"/>
              </a:rPr>
              <a:t>Counts {'and': 3, 'on': 1, 'ran': 2, 'car': 3, 'into': 1, 'after': 1, 'clown': 2, 'down': 1, 'fell': 1, </a:t>
            </a:r>
            <a:r>
              <a:rPr lang="en-US" sz="3100" b="0" i="0" u="none" strike="noStrike" cap="none" baseline="0">
                <a:solidFill>
                  <a:srgbClr val="00FF00"/>
                </a:solidFill>
                <a:latin typeface="Cabin"/>
                <a:ea typeface="Cabin"/>
                <a:cs typeface="Cabin"/>
                <a:sym typeface="Cabin"/>
              </a:rPr>
              <a:t>'the': 7</a:t>
            </a:r>
            <a:r>
              <a:rPr lang="en-US" sz="3100" b="0" i="0" u="none" strike="noStrike" cap="none" baseline="0">
                <a:solidFill>
                  <a:schemeClr val="lt1"/>
                </a:solidFill>
                <a:latin typeface="Cabin"/>
                <a:ea typeface="Cabin"/>
                <a:cs typeface="Cabin"/>
                <a:sym typeface="Cabin"/>
              </a:rPr>
              <a:t>, 'tent': 2}</a:t>
            </a:r>
          </a:p>
        </p:txBody>
      </p:sp>
      <p:pic>
        <p:nvPicPr>
          <p:cNvPr id="369" name="Shape 369"/>
          <p:cNvPicPr preferRelativeResize="0"/>
          <p:nvPr/>
        </p:nvPicPr>
        <p:blipFill rotWithShape="1">
          <a:blip r:embed="rId3">
            <a:alphaModFix/>
          </a:blip>
          <a:srcRect/>
          <a:stretch/>
        </p:blipFill>
        <p:spPr>
          <a:xfrm>
            <a:off x="563550" y="7582261"/>
            <a:ext cx="1689000" cy="1122299"/>
          </a:xfrm>
          <a:prstGeom prst="rect">
            <a:avLst/>
          </a:prstGeom>
          <a:noFill/>
          <a:ln>
            <a:noFill/>
          </a:ln>
        </p:spPr>
      </p:pic>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Shape 374"/>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Definite </a:t>
            </a:r>
            <a:r>
              <a:rPr lang="en-US" sz="7600" b="0" i="0" u="none" strike="noStrike" cap="none" baseline="0">
                <a:solidFill>
                  <a:srgbClr val="FFFF00"/>
                </a:solidFill>
                <a:latin typeface="Cabin"/>
                <a:ea typeface="Cabin"/>
                <a:cs typeface="Cabin"/>
                <a:sym typeface="Cabin"/>
              </a:rPr>
              <a:t>Loops</a:t>
            </a:r>
            <a:r>
              <a:rPr lang="en-US" sz="7600" b="0" i="0" u="none" strike="noStrike" cap="none" baseline="0">
                <a:solidFill>
                  <a:srgbClr val="00FF00"/>
                </a:solidFill>
                <a:latin typeface="Cabin"/>
                <a:ea typeface="Cabin"/>
                <a:cs typeface="Cabin"/>
                <a:sym typeface="Cabin"/>
              </a:rPr>
              <a:t> and Dictionaries</a:t>
            </a:r>
          </a:p>
        </p:txBody>
      </p:sp>
      <p:sp>
        <p:nvSpPr>
          <p:cNvPr id="375" name="Shape 375"/>
          <p:cNvSpPr txBox="1">
            <a:spLocks noGrp="1"/>
          </p:cNvSpPr>
          <p:nvPr>
            <p:ph type="body" idx="1"/>
          </p:nvPr>
        </p:nvSpPr>
        <p:spPr>
          <a:xfrm>
            <a:off x="869075" y="2540000"/>
            <a:ext cx="13932000" cy="21461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Even though </a:t>
            </a:r>
            <a:r>
              <a:rPr lang="en-US" sz="3600" b="0" i="0" u="none" strike="noStrike" cap="none" baseline="0">
                <a:solidFill>
                  <a:srgbClr val="00FF00"/>
                </a:solidFill>
                <a:latin typeface="Cabin"/>
                <a:ea typeface="Cabin"/>
                <a:cs typeface="Cabin"/>
                <a:sym typeface="Cabin"/>
              </a:rPr>
              <a:t>dictionaries</a:t>
            </a:r>
            <a:r>
              <a:rPr lang="en-US" sz="3600" b="0" i="0" u="none" strike="noStrike" cap="none" baseline="0">
                <a:solidFill>
                  <a:schemeClr val="lt1"/>
                </a:solidFill>
                <a:latin typeface="Cabin"/>
                <a:ea typeface="Cabin"/>
                <a:cs typeface="Cabin"/>
                <a:sym typeface="Cabin"/>
              </a:rPr>
              <a:t> are not stored in order, we can write a </a:t>
            </a:r>
            <a:r>
              <a:rPr lang="en-US" sz="3600" b="0" i="0" u="none" strike="noStrike" cap="none" baseline="0">
                <a:solidFill>
                  <a:srgbClr val="FFFF00"/>
                </a:solidFill>
                <a:latin typeface="Cabin"/>
                <a:ea typeface="Cabin"/>
                <a:cs typeface="Cabin"/>
                <a:sym typeface="Cabin"/>
              </a:rPr>
              <a:t>for</a:t>
            </a:r>
            <a:r>
              <a:rPr lang="en-US" sz="3600" b="0" i="0" u="none" strike="noStrike" cap="none" baseline="0">
                <a:solidFill>
                  <a:schemeClr val="lt1"/>
                </a:solidFill>
                <a:latin typeface="Cabin"/>
                <a:ea typeface="Cabin"/>
                <a:cs typeface="Cabin"/>
                <a:sym typeface="Cabin"/>
              </a:rPr>
              <a:t> loop that goes through all the </a:t>
            </a:r>
            <a:r>
              <a:rPr lang="en-US" sz="3600" b="0" i="0" u="none" strike="noStrike" cap="none" baseline="0">
                <a:solidFill>
                  <a:srgbClr val="00FFFF"/>
                </a:solidFill>
                <a:latin typeface="Cabin"/>
                <a:ea typeface="Cabin"/>
                <a:cs typeface="Cabin"/>
                <a:sym typeface="Cabin"/>
              </a:rPr>
              <a:t>entries</a:t>
            </a:r>
            <a:r>
              <a:rPr lang="en-US" sz="3600" b="0" i="0" u="none" strike="noStrike" cap="none" baseline="0">
                <a:solidFill>
                  <a:schemeClr val="lt1"/>
                </a:solidFill>
                <a:latin typeface="Cabin"/>
                <a:ea typeface="Cabin"/>
                <a:cs typeface="Cabin"/>
                <a:sym typeface="Cabin"/>
              </a:rPr>
              <a:t> in a </a:t>
            </a:r>
            <a:r>
              <a:rPr lang="en-US" sz="3600" b="0" i="0" u="none" strike="noStrike" cap="none" baseline="0">
                <a:solidFill>
                  <a:srgbClr val="00FF00"/>
                </a:solidFill>
                <a:latin typeface="Cabin"/>
                <a:ea typeface="Cabin"/>
                <a:cs typeface="Cabin"/>
                <a:sym typeface="Cabin"/>
              </a:rPr>
              <a:t>dictionary</a:t>
            </a:r>
            <a:r>
              <a:rPr lang="en-US" sz="3600" b="0" i="0" u="none" strike="noStrike" cap="none" baseline="0">
                <a:solidFill>
                  <a:schemeClr val="lt1"/>
                </a:solidFill>
                <a:latin typeface="Cabin"/>
                <a:ea typeface="Cabin"/>
                <a:cs typeface="Cabin"/>
                <a:sym typeface="Cabin"/>
              </a:rPr>
              <a:t> - actually it goes through all of the </a:t>
            </a:r>
            <a:r>
              <a:rPr lang="en-US" sz="3600" b="0" i="0" u="none" strike="noStrike" cap="none" baseline="0">
                <a:solidFill>
                  <a:srgbClr val="00FFFF"/>
                </a:solidFill>
                <a:latin typeface="Cabin"/>
                <a:ea typeface="Cabin"/>
                <a:cs typeface="Cabin"/>
                <a:sym typeface="Cabin"/>
              </a:rPr>
              <a:t>keys</a:t>
            </a:r>
            <a:r>
              <a:rPr lang="en-US" sz="3600" b="0" i="0" u="none" strike="noStrike" cap="none" baseline="0">
                <a:solidFill>
                  <a:schemeClr val="lt1"/>
                </a:solidFill>
                <a:latin typeface="Cabin"/>
                <a:ea typeface="Cabin"/>
                <a:cs typeface="Cabin"/>
                <a:sym typeface="Cabin"/>
              </a:rPr>
              <a:t> in the </a:t>
            </a:r>
            <a:r>
              <a:rPr lang="en-US" sz="3600" b="0" i="0" u="none" strike="noStrike" cap="none" baseline="0">
                <a:solidFill>
                  <a:srgbClr val="00FF00"/>
                </a:solidFill>
                <a:latin typeface="Cabin"/>
                <a:ea typeface="Cabin"/>
                <a:cs typeface="Cabin"/>
                <a:sym typeface="Cabin"/>
              </a:rPr>
              <a:t>dictionary</a:t>
            </a:r>
            <a:r>
              <a:rPr lang="en-US" sz="3600" b="0" i="0" u="none" strike="noStrike" cap="none" baseline="0">
                <a:solidFill>
                  <a:schemeClr val="lt1"/>
                </a:solidFill>
                <a:latin typeface="Cabin"/>
                <a:ea typeface="Cabin"/>
                <a:cs typeface="Cabin"/>
                <a:sym typeface="Cabin"/>
              </a:rPr>
              <a:t> and</a:t>
            </a:r>
            <a:r>
              <a:rPr lang="en-US" sz="3600" b="0" i="0" u="none" strike="noStrike" cap="none" baseline="0">
                <a:solidFill>
                  <a:srgbClr val="00FFFF"/>
                </a:solidFill>
                <a:latin typeface="Cabin"/>
                <a:ea typeface="Cabin"/>
                <a:cs typeface="Cabin"/>
                <a:sym typeface="Cabin"/>
              </a:rPr>
              <a:t> looks up</a:t>
            </a:r>
            <a:r>
              <a:rPr lang="en-US" sz="3600" b="0" i="0" u="none" strike="noStrike" cap="none" baseline="0">
                <a:solidFill>
                  <a:schemeClr val="lt1"/>
                </a:solidFill>
                <a:latin typeface="Cabin"/>
                <a:ea typeface="Cabin"/>
                <a:cs typeface="Cabin"/>
                <a:sym typeface="Cabin"/>
              </a:rPr>
              <a:t> the values</a:t>
            </a:r>
          </a:p>
        </p:txBody>
      </p:sp>
      <p:sp>
        <p:nvSpPr>
          <p:cNvPr id="376" name="Shape 376"/>
          <p:cNvSpPr txBox="1"/>
          <p:nvPr/>
        </p:nvSpPr>
        <p:spPr>
          <a:xfrm>
            <a:off x="1714500" y="4960925"/>
            <a:ext cx="14541599" cy="3759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00FF00"/>
                </a:solidFill>
                <a:latin typeface="Courier New"/>
                <a:ea typeface="Courier New"/>
                <a:cs typeface="Courier New"/>
                <a:sym typeface="Courier New"/>
              </a:rPr>
              <a:t>counts</a:t>
            </a:r>
            <a:r>
              <a:rPr lang="en-US" sz="3000" b="1" i="0" u="none" strike="noStrike" cap="none" baseline="0">
                <a:solidFill>
                  <a:schemeClr val="lt1"/>
                </a:solidFill>
                <a:latin typeface="Courier New"/>
                <a:ea typeface="Courier New"/>
                <a:cs typeface="Courier New"/>
                <a:sym typeface="Courier New"/>
              </a:rPr>
              <a:t> = { </a:t>
            </a:r>
            <a:r>
              <a:rPr lang="en-US" sz="3000" b="1" i="0" u="none" strike="noStrike" cap="none" baseline="0">
                <a:solidFill>
                  <a:srgbClr val="00FFFF"/>
                </a:solidFill>
                <a:latin typeface="Courier New"/>
                <a:ea typeface="Courier New"/>
                <a:cs typeface="Courier New"/>
                <a:sym typeface="Courier New"/>
              </a:rPr>
              <a:t>'chuck'</a:t>
            </a:r>
            <a:r>
              <a:rPr lang="en-US" sz="3000" b="1" i="0" u="none" strike="noStrike" cap="none" baseline="0">
                <a:solidFill>
                  <a:schemeClr val="lt1"/>
                </a:solidFill>
                <a:latin typeface="Courier New"/>
                <a:ea typeface="Courier New"/>
                <a:cs typeface="Courier New"/>
                <a:sym typeface="Courier New"/>
              </a:rPr>
              <a:t> : 1 , </a:t>
            </a:r>
            <a:r>
              <a:rPr lang="en-US" sz="3000" b="1" i="0" u="none" strike="noStrike" cap="none" baseline="0">
                <a:solidFill>
                  <a:srgbClr val="00FFFF"/>
                </a:solidFill>
                <a:latin typeface="Courier New"/>
                <a:ea typeface="Courier New"/>
                <a:cs typeface="Courier New"/>
                <a:sym typeface="Courier New"/>
              </a:rPr>
              <a:t>'fred'</a:t>
            </a:r>
            <a:r>
              <a:rPr lang="en-US" sz="3000" b="1" i="0" u="none" strike="noStrike" cap="none" baseline="0">
                <a:solidFill>
                  <a:schemeClr val="lt1"/>
                </a:solidFill>
                <a:latin typeface="Courier New"/>
                <a:ea typeface="Courier New"/>
                <a:cs typeface="Courier New"/>
                <a:sym typeface="Courier New"/>
              </a:rPr>
              <a:t> : 42, </a:t>
            </a:r>
            <a:r>
              <a:rPr lang="en-US" sz="3000" b="1" i="0" u="none" strike="noStrike" cap="none" baseline="0">
                <a:solidFill>
                  <a:srgbClr val="00FFFF"/>
                </a:solidFill>
                <a:latin typeface="Courier New"/>
                <a:ea typeface="Courier New"/>
                <a:cs typeface="Courier New"/>
                <a:sym typeface="Courier New"/>
              </a:rPr>
              <a:t>'jan'</a:t>
            </a:r>
            <a:r>
              <a:rPr lang="en-US" sz="3000" b="1" i="0" u="none" strike="noStrike" cap="none" baseline="0">
                <a:solidFill>
                  <a:schemeClr val="lt1"/>
                </a:solidFill>
                <a:latin typeface="Courier New"/>
                <a:ea typeface="Courier New"/>
                <a:cs typeface="Courier New"/>
                <a:sym typeface="Courier New"/>
              </a:rPr>
              <a:t>: 100}</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baseline="0">
                <a:solidFill>
                  <a:schemeClr val="lt1"/>
                </a:solidFill>
                <a:latin typeface="Courier New"/>
                <a:ea typeface="Courier New"/>
                <a:cs typeface="Courier New"/>
                <a:sym typeface="Courier New"/>
              </a:rPr>
              <a:t>&gt;&gt;&gt; </a:t>
            </a:r>
            <a:r>
              <a:rPr lang="en-US" sz="3000" b="1" i="0" u="none" strike="noStrike" cap="none" baseline="0">
                <a:solidFill>
                  <a:srgbClr val="FFFF00"/>
                </a:solidFill>
                <a:latin typeface="Courier New"/>
                <a:ea typeface="Courier New"/>
                <a:cs typeface="Courier New"/>
                <a:sym typeface="Courier New"/>
              </a:rPr>
              <a:t>for</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FF"/>
                </a:solidFill>
                <a:latin typeface="Courier New"/>
                <a:ea typeface="Courier New"/>
                <a:cs typeface="Courier New"/>
                <a:sym typeface="Courier New"/>
              </a:rPr>
              <a:t>key</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in</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counts</a:t>
            </a:r>
            <a:r>
              <a:rPr lang="en-US" sz="30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FFFF00"/>
                </a:solidFill>
                <a:latin typeface="Courier New"/>
                <a:ea typeface="Courier New"/>
                <a:cs typeface="Courier New"/>
                <a:sym typeface="Courier New"/>
              </a:rPr>
              <a:t>print</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FF"/>
                </a:solidFill>
                <a:latin typeface="Courier New"/>
                <a:ea typeface="Courier New"/>
                <a:cs typeface="Courier New"/>
                <a:sym typeface="Courier New"/>
              </a:rPr>
              <a:t>key</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counts</a:t>
            </a:r>
            <a:r>
              <a:rPr lang="en-US" sz="3000" b="1" i="0" u="none" strike="noStrike" cap="none" baseline="0">
                <a:solidFill>
                  <a:srgbClr val="00FFFF"/>
                </a:solidFill>
                <a:latin typeface="Courier New"/>
                <a:ea typeface="Courier New"/>
                <a:cs typeface="Courier New"/>
                <a:sym typeface="Courier New"/>
              </a:rPr>
              <a:t>[key]</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rgbClr val="00FFFF"/>
              </a:buClr>
              <a:buSzPct val="25000"/>
              <a:buFont typeface="Courier New"/>
              <a:buNone/>
            </a:pPr>
            <a:r>
              <a:rPr lang="en-US" sz="3000" b="1" i="0" u="none" strike="noStrike" cap="none" baseline="0">
                <a:solidFill>
                  <a:srgbClr val="00FFFF"/>
                </a:solidFill>
                <a:latin typeface="Courier New"/>
                <a:ea typeface="Courier New"/>
                <a:cs typeface="Courier New"/>
                <a:sym typeface="Courier New"/>
              </a:rPr>
              <a:t>jan</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100</a:t>
            </a:r>
          </a:p>
          <a:p>
            <a:pPr marL="0" marR="0" lvl="0" indent="0" algn="l" rtl="0">
              <a:lnSpc>
                <a:spcPct val="100000"/>
              </a:lnSpc>
              <a:spcBef>
                <a:spcPts val="0"/>
              </a:spcBef>
              <a:spcAft>
                <a:spcPts val="0"/>
              </a:spcAft>
              <a:buClr>
                <a:srgbClr val="00FFFF"/>
              </a:buClr>
              <a:buSzPct val="25000"/>
              <a:buFont typeface="Courier New"/>
              <a:buNone/>
            </a:pPr>
            <a:r>
              <a:rPr lang="en-US" sz="3000" b="1" i="0" u="none" strike="noStrike" cap="none" baseline="0">
                <a:solidFill>
                  <a:srgbClr val="00FFFF"/>
                </a:solidFill>
                <a:latin typeface="Courier New"/>
                <a:ea typeface="Courier New"/>
                <a:cs typeface="Courier New"/>
                <a:sym typeface="Courier New"/>
              </a:rPr>
              <a:t>chuck</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1</a:t>
            </a:r>
          </a:p>
          <a:p>
            <a:pPr marL="0" marR="0" lvl="0" indent="0" algn="l" rtl="0">
              <a:lnSpc>
                <a:spcPct val="100000"/>
              </a:lnSpc>
              <a:spcBef>
                <a:spcPts val="0"/>
              </a:spcBef>
              <a:spcAft>
                <a:spcPts val="0"/>
              </a:spcAft>
              <a:buClr>
                <a:srgbClr val="00FFFF"/>
              </a:buClr>
              <a:buSzPct val="25000"/>
              <a:buFont typeface="Courier New"/>
              <a:buNone/>
            </a:pPr>
            <a:r>
              <a:rPr lang="en-US" sz="3000" b="1" i="0" u="none" strike="noStrike" cap="none" baseline="0">
                <a:solidFill>
                  <a:srgbClr val="00FFFF"/>
                </a:solidFill>
                <a:latin typeface="Courier New"/>
                <a:ea typeface="Courier New"/>
                <a:cs typeface="Courier New"/>
                <a:sym typeface="Courier New"/>
              </a:rPr>
              <a:t>fred</a:t>
            </a:r>
            <a:r>
              <a:rPr lang="en-US" sz="3000" b="1" i="0" u="none" strike="noStrike" cap="none" baseline="0">
                <a:solidFill>
                  <a:schemeClr val="lt1"/>
                </a:solidFill>
                <a:latin typeface="Courier New"/>
                <a:ea typeface="Courier New"/>
                <a:cs typeface="Courier New"/>
                <a:sym typeface="Courier New"/>
              </a:rPr>
              <a:t> </a:t>
            </a:r>
            <a:r>
              <a:rPr lang="en-US" sz="3000" b="1" i="0" u="none" strike="noStrike" cap="none" baseline="0">
                <a:solidFill>
                  <a:srgbClr val="00FF00"/>
                </a:solidFill>
                <a:latin typeface="Courier New"/>
                <a:ea typeface="Courier New"/>
                <a:cs typeface="Courier New"/>
                <a:sym typeface="Courier New"/>
              </a:rPr>
              <a:t>42</a:t>
            </a:r>
          </a:p>
          <a:p>
            <a:pPr marL="0" marR="0" lvl="0" indent="0" algn="l" rtl="0">
              <a:lnSpc>
                <a:spcPct val="100000"/>
              </a:lnSpc>
              <a:spcBef>
                <a:spcPts val="0"/>
              </a:spcBef>
              <a:spcAft>
                <a:spcPts val="0"/>
              </a:spcAft>
              <a:buClr>
                <a:schemeClr val="lt1"/>
              </a:buClr>
              <a:buSzPct val="25000"/>
              <a:buFont typeface="Courier New"/>
              <a:buNone/>
            </a:pPr>
            <a:r>
              <a:rPr lang="en-US" sz="3000" b="1" i="0" u="none" strike="noStrike" cap="none" baseline="0">
                <a:solidFill>
                  <a:schemeClr val="lt1"/>
                </a:solidFill>
                <a:latin typeface="Courier New"/>
                <a:ea typeface="Courier New"/>
                <a:cs typeface="Courier New"/>
                <a:sym typeface="Courier New"/>
              </a:rPr>
              <a:t>&gt;&gt;&gt; </a:t>
            </a: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Shape 38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Retrieving lists of Keys and Values</a:t>
            </a:r>
          </a:p>
        </p:txBody>
      </p:sp>
      <p:sp>
        <p:nvSpPr>
          <p:cNvPr id="382" name="Shape 382"/>
          <p:cNvSpPr txBox="1">
            <a:spLocks noGrp="1"/>
          </p:cNvSpPr>
          <p:nvPr>
            <p:ph type="body" idx="1"/>
          </p:nvPr>
        </p:nvSpPr>
        <p:spPr>
          <a:xfrm>
            <a:off x="939800" y="2844800"/>
            <a:ext cx="4422900" cy="42671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0"/>
              </a:spcAft>
              <a:buSzPct val="100000"/>
              <a:buFont typeface="Cabin"/>
            </a:pPr>
            <a:r>
              <a:rPr lang="en-US" sz="3600" b="0" i="0" u="none" strike="noStrike" cap="none" baseline="0">
                <a:solidFill>
                  <a:schemeClr val="lt1"/>
                </a:solidFill>
                <a:latin typeface="Cabin"/>
                <a:ea typeface="Cabin"/>
                <a:cs typeface="Cabin"/>
                <a:sym typeface="Cabin"/>
              </a:rPr>
              <a:t>You can get a list of </a:t>
            </a:r>
            <a:r>
              <a:rPr lang="en-US" sz="3600" b="0" i="0" u="none" strike="noStrike" cap="none" baseline="0">
                <a:solidFill>
                  <a:srgbClr val="00FF00"/>
                </a:solidFill>
                <a:latin typeface="Cabin"/>
                <a:ea typeface="Cabin"/>
                <a:cs typeface="Cabin"/>
                <a:sym typeface="Cabin"/>
              </a:rPr>
              <a:t>keys</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00FF"/>
                </a:solidFill>
                <a:latin typeface="Cabin"/>
                <a:ea typeface="Cabin"/>
                <a:cs typeface="Cabin"/>
                <a:sym typeface="Cabin"/>
              </a:rPr>
              <a:t>values,</a:t>
            </a:r>
            <a:r>
              <a:rPr lang="en-US" sz="3600" b="0" i="0" u="none" strike="noStrike" cap="none" baseline="0">
                <a:solidFill>
                  <a:schemeClr val="lt1"/>
                </a:solidFill>
                <a:latin typeface="Cabin"/>
                <a:ea typeface="Cabin"/>
                <a:cs typeface="Cabin"/>
                <a:sym typeface="Cabin"/>
              </a:rPr>
              <a:t> or</a:t>
            </a:r>
            <a:r>
              <a:rPr lang="en-US" sz="3600" b="0" i="0" u="none" strike="noStrike" cap="none" baseline="0">
                <a:solidFill>
                  <a:srgbClr val="FF7F00"/>
                </a:solidFill>
                <a:latin typeface="Cabin"/>
                <a:ea typeface="Cabin"/>
                <a:cs typeface="Cabin"/>
                <a:sym typeface="Cabin"/>
              </a:rPr>
              <a:t> items (both)</a:t>
            </a:r>
            <a:r>
              <a:rPr lang="en-US" sz="3600" b="0" i="0" u="none" strike="noStrike" cap="none" baseline="0">
                <a:solidFill>
                  <a:schemeClr val="lt1"/>
                </a:solidFill>
                <a:latin typeface="Cabin"/>
                <a:ea typeface="Cabin"/>
                <a:cs typeface="Cabin"/>
                <a:sym typeface="Cabin"/>
              </a:rPr>
              <a:t> from a dictionary</a:t>
            </a:r>
          </a:p>
        </p:txBody>
      </p:sp>
      <p:sp>
        <p:nvSpPr>
          <p:cNvPr id="383" name="Shape 383"/>
          <p:cNvSpPr txBox="1"/>
          <p:nvPr/>
        </p:nvSpPr>
        <p:spPr>
          <a:xfrm>
            <a:off x="6001650" y="2540000"/>
            <a:ext cx="9628799" cy="53085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500" b="1" i="0" u="none" strike="noStrike" cap="none" baseline="0">
                <a:solidFill>
                  <a:schemeClr val="lt1"/>
                </a:solidFill>
                <a:latin typeface="Courier New"/>
                <a:ea typeface="Courier New"/>
                <a:cs typeface="Courier New"/>
                <a:sym typeface="Courier New"/>
              </a:rPr>
              <a:t>&gt;&gt;&gt; jjj = { 'chuck' : 1 , 'fred' : 42, 'jan': 100}</a:t>
            </a:r>
          </a:p>
          <a:p>
            <a:pPr marL="0" marR="0" lvl="0" indent="0" algn="l" rtl="0">
              <a:lnSpc>
                <a:spcPct val="100000"/>
              </a:lnSpc>
              <a:spcBef>
                <a:spcPts val="0"/>
              </a:spcBef>
              <a:spcAft>
                <a:spcPts val="0"/>
              </a:spcAft>
              <a:buClr>
                <a:schemeClr val="lt1"/>
              </a:buClr>
              <a:buSzPct val="25000"/>
              <a:buFont typeface="Cabin"/>
              <a:buNone/>
            </a:pPr>
            <a:r>
              <a:rPr lang="en-US" sz="2500" b="1" i="0" u="none" strike="noStrike" cap="none" baseline="0">
                <a:solidFill>
                  <a:schemeClr val="lt1"/>
                </a:solidFill>
                <a:latin typeface="Courier New"/>
                <a:ea typeface="Courier New"/>
                <a:cs typeface="Courier New"/>
                <a:sym typeface="Courier New"/>
              </a:rPr>
              <a:t>&gt;&gt;&gt; </a:t>
            </a:r>
            <a:r>
              <a:rPr lang="en-US" sz="2500" b="1" i="0" u="none" strike="noStrike" cap="none" baseline="0">
                <a:solidFill>
                  <a:srgbClr val="FFFF00"/>
                </a:solidFill>
                <a:latin typeface="Courier New"/>
                <a:ea typeface="Courier New"/>
                <a:cs typeface="Courier New"/>
                <a:sym typeface="Courier New"/>
              </a:rPr>
              <a:t>print</a:t>
            </a:r>
            <a:r>
              <a:rPr lang="en-US" sz="2500" b="1" i="0" u="none" strike="noStrike" cap="none" baseline="0">
                <a:solidFill>
                  <a:srgbClr val="FF00FF"/>
                </a:solidFill>
                <a:latin typeface="Courier New"/>
                <a:ea typeface="Courier New"/>
                <a:cs typeface="Courier New"/>
                <a:sym typeface="Courier New"/>
              </a:rPr>
              <a:t> list</a:t>
            </a:r>
            <a:r>
              <a:rPr lang="en-US" sz="2500" b="1" i="0" u="none" strike="noStrike" cap="none" baseline="0">
                <a:solidFill>
                  <a:schemeClr val="lt1"/>
                </a:solidFill>
                <a:latin typeface="Courier New"/>
                <a:ea typeface="Courier New"/>
                <a:cs typeface="Courier New"/>
                <a:sym typeface="Courier New"/>
              </a:rPr>
              <a:t>(jjj)</a:t>
            </a:r>
          </a:p>
          <a:p>
            <a:pPr marL="0" marR="0" lvl="0" indent="0" algn="l" rtl="0">
              <a:lnSpc>
                <a:spcPct val="100000"/>
              </a:lnSpc>
              <a:spcBef>
                <a:spcPts val="0"/>
              </a:spcBef>
              <a:spcAft>
                <a:spcPts val="0"/>
              </a:spcAft>
              <a:buClr>
                <a:srgbClr val="00FF00"/>
              </a:buClr>
              <a:buSzPct val="25000"/>
              <a:buFont typeface="Cabin"/>
              <a:buNone/>
            </a:pPr>
            <a:r>
              <a:rPr lang="en-US" sz="2500" b="1" i="0" u="none" strike="noStrike" cap="none" baseline="0">
                <a:solidFill>
                  <a:srgbClr val="00FF00"/>
                </a:solidFill>
                <a:latin typeface="Courier New"/>
                <a:ea typeface="Courier New"/>
                <a:cs typeface="Courier New"/>
                <a:sym typeface="Courier New"/>
              </a:rPr>
              <a:t>['jan', 'chuck', 'fred']</a:t>
            </a:r>
          </a:p>
          <a:p>
            <a:pPr marL="0" marR="0" lvl="0" indent="0" algn="l" rtl="0">
              <a:lnSpc>
                <a:spcPct val="100000"/>
              </a:lnSpc>
              <a:spcBef>
                <a:spcPts val="0"/>
              </a:spcBef>
              <a:spcAft>
                <a:spcPts val="0"/>
              </a:spcAft>
              <a:buClr>
                <a:schemeClr val="lt1"/>
              </a:buClr>
              <a:buSzPct val="25000"/>
              <a:buFont typeface="Cabin"/>
              <a:buNone/>
            </a:pPr>
            <a:r>
              <a:rPr lang="en-US" sz="2500" b="1" i="0" u="none" strike="noStrike" cap="none" baseline="0">
                <a:solidFill>
                  <a:schemeClr val="lt1"/>
                </a:solidFill>
                <a:latin typeface="Courier New"/>
                <a:ea typeface="Courier New"/>
                <a:cs typeface="Courier New"/>
                <a:sym typeface="Courier New"/>
              </a:rPr>
              <a:t>&gt;&gt;&gt; </a:t>
            </a:r>
            <a:r>
              <a:rPr lang="en-US" sz="2500" b="1" i="0" u="none" strike="noStrike" cap="none" baseline="0">
                <a:solidFill>
                  <a:srgbClr val="FFFF00"/>
                </a:solidFill>
                <a:latin typeface="Courier New"/>
                <a:ea typeface="Courier New"/>
                <a:cs typeface="Courier New"/>
                <a:sym typeface="Courier New"/>
              </a:rPr>
              <a:t>print</a:t>
            </a:r>
            <a:r>
              <a:rPr lang="en-US" sz="2500" b="1" i="0" u="none" strike="noStrike" cap="none" baseline="0">
                <a:solidFill>
                  <a:schemeClr val="lt1"/>
                </a:solidFill>
                <a:latin typeface="Courier New"/>
                <a:ea typeface="Courier New"/>
                <a:cs typeface="Courier New"/>
                <a:sym typeface="Courier New"/>
              </a:rPr>
              <a:t> jjj.</a:t>
            </a:r>
            <a:r>
              <a:rPr lang="en-US" sz="2500" b="1" i="0" u="none" strike="noStrike" cap="none" baseline="0">
                <a:solidFill>
                  <a:srgbClr val="FF00FF"/>
                </a:solidFill>
                <a:latin typeface="Courier New"/>
                <a:ea typeface="Courier New"/>
                <a:cs typeface="Courier New"/>
                <a:sym typeface="Courier New"/>
              </a:rPr>
              <a:t>keys()</a:t>
            </a:r>
          </a:p>
          <a:p>
            <a:pPr marL="0" marR="0" lvl="0" indent="0" algn="l" rtl="0">
              <a:lnSpc>
                <a:spcPct val="100000"/>
              </a:lnSpc>
              <a:spcBef>
                <a:spcPts val="0"/>
              </a:spcBef>
              <a:spcAft>
                <a:spcPts val="0"/>
              </a:spcAft>
              <a:buClr>
                <a:srgbClr val="00FF00"/>
              </a:buClr>
              <a:buSzPct val="25000"/>
              <a:buFont typeface="Cabin"/>
              <a:buNone/>
            </a:pPr>
            <a:r>
              <a:rPr lang="en-US" sz="2500" b="1" i="0" u="none" strike="noStrike" cap="none" baseline="0">
                <a:solidFill>
                  <a:srgbClr val="00FF00"/>
                </a:solidFill>
                <a:latin typeface="Courier New"/>
                <a:ea typeface="Courier New"/>
                <a:cs typeface="Courier New"/>
                <a:sym typeface="Courier New"/>
              </a:rPr>
              <a:t>['jan', 'chuck', 'fred']</a:t>
            </a:r>
          </a:p>
          <a:p>
            <a:pPr marL="0" marR="0" lvl="0" indent="0" algn="l" rtl="0">
              <a:lnSpc>
                <a:spcPct val="100000"/>
              </a:lnSpc>
              <a:spcBef>
                <a:spcPts val="0"/>
              </a:spcBef>
              <a:spcAft>
                <a:spcPts val="0"/>
              </a:spcAft>
              <a:buClr>
                <a:schemeClr val="lt1"/>
              </a:buClr>
              <a:buSzPct val="25000"/>
              <a:buFont typeface="Cabin"/>
              <a:buNone/>
            </a:pPr>
            <a:r>
              <a:rPr lang="en-US" sz="2500" b="1" i="0" u="none" strike="noStrike" cap="none" baseline="0">
                <a:solidFill>
                  <a:schemeClr val="lt1"/>
                </a:solidFill>
                <a:latin typeface="Courier New"/>
                <a:ea typeface="Courier New"/>
                <a:cs typeface="Courier New"/>
                <a:sym typeface="Courier New"/>
              </a:rPr>
              <a:t>&gt;&gt;&gt; </a:t>
            </a:r>
            <a:r>
              <a:rPr lang="en-US" sz="2500" b="1" i="0" u="none" strike="noStrike" cap="none" baseline="0">
                <a:solidFill>
                  <a:srgbClr val="FFFF00"/>
                </a:solidFill>
                <a:latin typeface="Courier New"/>
                <a:ea typeface="Courier New"/>
                <a:cs typeface="Courier New"/>
                <a:sym typeface="Courier New"/>
              </a:rPr>
              <a:t>print</a:t>
            </a:r>
            <a:r>
              <a:rPr lang="en-US" sz="2500" b="1" i="0" u="none" strike="noStrike" cap="none" baseline="0">
                <a:solidFill>
                  <a:schemeClr val="lt1"/>
                </a:solidFill>
                <a:latin typeface="Courier New"/>
                <a:ea typeface="Courier New"/>
                <a:cs typeface="Courier New"/>
                <a:sym typeface="Courier New"/>
              </a:rPr>
              <a:t> jjj.</a:t>
            </a:r>
            <a:r>
              <a:rPr lang="en-US" sz="2500" b="1" i="0" u="none" strike="noStrike" cap="none" baseline="0">
                <a:solidFill>
                  <a:srgbClr val="FF00FF"/>
                </a:solidFill>
                <a:latin typeface="Courier New"/>
                <a:ea typeface="Courier New"/>
                <a:cs typeface="Courier New"/>
                <a:sym typeface="Courier New"/>
              </a:rPr>
              <a:t>values()</a:t>
            </a:r>
          </a:p>
          <a:p>
            <a:pPr marL="0" marR="0" lvl="0" indent="0" algn="l" rtl="0">
              <a:lnSpc>
                <a:spcPct val="100000"/>
              </a:lnSpc>
              <a:spcBef>
                <a:spcPts val="0"/>
              </a:spcBef>
              <a:spcAft>
                <a:spcPts val="0"/>
              </a:spcAft>
              <a:buClr>
                <a:srgbClr val="FF00FF"/>
              </a:buClr>
              <a:buSzPct val="25000"/>
              <a:buFont typeface="Cabin"/>
              <a:buNone/>
            </a:pPr>
            <a:r>
              <a:rPr lang="en-US" sz="2500" b="1" i="0" u="none" strike="noStrike" cap="none" baseline="0">
                <a:solidFill>
                  <a:srgbClr val="FF00FF"/>
                </a:solidFill>
                <a:latin typeface="Courier New"/>
                <a:ea typeface="Courier New"/>
                <a:cs typeface="Courier New"/>
                <a:sym typeface="Courier New"/>
              </a:rPr>
              <a:t>[100, 1, 42]</a:t>
            </a:r>
          </a:p>
          <a:p>
            <a:pPr marL="0" marR="0" lvl="0" indent="0" algn="l" rtl="0">
              <a:lnSpc>
                <a:spcPct val="100000"/>
              </a:lnSpc>
              <a:spcBef>
                <a:spcPts val="0"/>
              </a:spcBef>
              <a:spcAft>
                <a:spcPts val="0"/>
              </a:spcAft>
              <a:buClr>
                <a:schemeClr val="lt1"/>
              </a:buClr>
              <a:buSzPct val="25000"/>
              <a:buFont typeface="Cabin"/>
              <a:buNone/>
            </a:pPr>
            <a:r>
              <a:rPr lang="en-US" sz="2500" b="1" i="0" u="none" strike="noStrike" cap="none" baseline="0">
                <a:solidFill>
                  <a:schemeClr val="lt1"/>
                </a:solidFill>
                <a:latin typeface="Courier New"/>
                <a:ea typeface="Courier New"/>
                <a:cs typeface="Courier New"/>
                <a:sym typeface="Courier New"/>
              </a:rPr>
              <a:t>&gt;&gt;&gt; </a:t>
            </a:r>
            <a:r>
              <a:rPr lang="en-US" sz="2500" b="1" i="0" u="none" strike="noStrike" cap="none" baseline="0">
                <a:solidFill>
                  <a:srgbClr val="FFFF00"/>
                </a:solidFill>
                <a:latin typeface="Courier New"/>
                <a:ea typeface="Courier New"/>
                <a:cs typeface="Courier New"/>
                <a:sym typeface="Courier New"/>
              </a:rPr>
              <a:t>print</a:t>
            </a:r>
            <a:r>
              <a:rPr lang="en-US" sz="2500" b="1" i="0" u="none" strike="noStrike" cap="none" baseline="0">
                <a:solidFill>
                  <a:schemeClr val="lt1"/>
                </a:solidFill>
                <a:latin typeface="Courier New"/>
                <a:ea typeface="Courier New"/>
                <a:cs typeface="Courier New"/>
                <a:sym typeface="Courier New"/>
              </a:rPr>
              <a:t> jjj.</a:t>
            </a:r>
            <a:r>
              <a:rPr lang="en-US" sz="2500" b="1" i="0" u="none" strike="noStrike" cap="none" baseline="0">
                <a:solidFill>
                  <a:srgbClr val="FF7F00"/>
                </a:solidFill>
                <a:latin typeface="Courier New"/>
                <a:ea typeface="Courier New"/>
                <a:cs typeface="Courier New"/>
                <a:sym typeface="Courier New"/>
              </a:rPr>
              <a:t>items()</a:t>
            </a:r>
          </a:p>
          <a:p>
            <a:pPr marL="0" marR="0" lvl="0" indent="0" algn="l" rtl="0">
              <a:lnSpc>
                <a:spcPct val="100000"/>
              </a:lnSpc>
              <a:spcBef>
                <a:spcPts val="0"/>
              </a:spcBef>
              <a:spcAft>
                <a:spcPts val="0"/>
              </a:spcAft>
              <a:buClr>
                <a:schemeClr val="lt1"/>
              </a:buClr>
              <a:buSzPct val="25000"/>
              <a:buFont typeface="Cabin"/>
              <a:buNone/>
            </a:pPr>
            <a:r>
              <a:rPr lang="en-US" sz="2500" b="1" i="0" u="none" strike="noStrike" cap="none" baseline="0">
                <a:solidFill>
                  <a:srgbClr val="FF7F00"/>
                </a:solidFill>
                <a:latin typeface="Courier New"/>
                <a:ea typeface="Courier New"/>
                <a:cs typeface="Courier New"/>
                <a:sym typeface="Courier New"/>
              </a:rPr>
              <a:t>[('jan', 100), ('chuck', 1), ('fred', 42)]</a:t>
            </a:r>
          </a:p>
          <a:p>
            <a:pPr marL="0" marR="0" lvl="0" indent="0" algn="l" rtl="0">
              <a:lnSpc>
                <a:spcPct val="100000"/>
              </a:lnSpc>
              <a:spcBef>
                <a:spcPts val="0"/>
              </a:spcBef>
              <a:spcAft>
                <a:spcPts val="0"/>
              </a:spcAft>
              <a:buClr>
                <a:schemeClr val="lt1"/>
              </a:buClr>
              <a:buSzPct val="25000"/>
              <a:buFont typeface="Cabin"/>
              <a:buNone/>
            </a:pPr>
            <a:r>
              <a:rPr lang="en-US" sz="2500" b="1" i="0" u="none" strike="noStrike" cap="none" baseline="0">
                <a:solidFill>
                  <a:schemeClr val="lt1"/>
                </a:solidFill>
                <a:latin typeface="Courier New"/>
                <a:ea typeface="Courier New"/>
                <a:cs typeface="Courier New"/>
                <a:sym typeface="Courier New"/>
              </a:rPr>
              <a:t>&gt;&gt;&gt; </a:t>
            </a:r>
          </a:p>
        </p:txBody>
      </p:sp>
      <p:sp>
        <p:nvSpPr>
          <p:cNvPr id="384" name="Shape 384"/>
          <p:cNvSpPr txBox="1"/>
          <p:nvPr/>
        </p:nvSpPr>
        <p:spPr>
          <a:xfrm>
            <a:off x="8545799" y="7844225"/>
            <a:ext cx="69305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400" b="0" i="0" u="none" strike="noStrike" cap="none" baseline="0">
                <a:solidFill>
                  <a:schemeClr val="lt1"/>
                </a:solidFill>
                <a:latin typeface="Cabin"/>
                <a:ea typeface="Cabin"/>
                <a:cs typeface="Cabin"/>
                <a:sym typeface="Cabin"/>
              </a:rPr>
              <a:t>What is a 'tuple'? - coming soon...</a:t>
            </a:r>
          </a:p>
        </p:txBody>
      </p:sp>
      <p:cxnSp>
        <p:nvCxnSpPr>
          <p:cNvPr id="385" name="Shape 385"/>
          <p:cNvCxnSpPr/>
          <p:nvPr/>
        </p:nvCxnSpPr>
        <p:spPr>
          <a:xfrm>
            <a:off x="10408425" y="6948211"/>
            <a:ext cx="201599" cy="704999"/>
          </a:xfrm>
          <a:prstGeom prst="straightConnector1">
            <a:avLst/>
          </a:prstGeom>
          <a:noFill/>
          <a:ln w="76200" cap="rnd" cmpd="sng">
            <a:solidFill>
              <a:schemeClr val="lt1"/>
            </a:solidFill>
            <a:prstDash val="solid"/>
            <a:miter/>
            <a:headEnd type="stealth" w="med" len="med"/>
            <a:tailEnd type="none" w="med" len="med"/>
          </a:ln>
        </p:spPr>
      </p:cxn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Shape 390"/>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Bonus: Two Iteration Variables!</a:t>
            </a:r>
          </a:p>
        </p:txBody>
      </p:sp>
      <p:sp>
        <p:nvSpPr>
          <p:cNvPr id="391" name="Shape 391"/>
          <p:cNvSpPr txBox="1">
            <a:spLocks noGrp="1"/>
          </p:cNvSpPr>
          <p:nvPr>
            <p:ph type="body" idx="1"/>
          </p:nvPr>
        </p:nvSpPr>
        <p:spPr>
          <a:xfrm>
            <a:off x="1155700" y="2603500"/>
            <a:ext cx="5344799" cy="57023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We loop through the </a:t>
            </a:r>
            <a:r>
              <a:rPr lang="en-US" sz="3600" b="0" i="0" u="none" strike="noStrike" cap="none" baseline="0">
                <a:solidFill>
                  <a:srgbClr val="FF7F00"/>
                </a:solidFill>
                <a:latin typeface="Cabin"/>
                <a:ea typeface="Cabin"/>
                <a:cs typeface="Cabin"/>
                <a:sym typeface="Cabin"/>
              </a:rPr>
              <a:t>key</a:t>
            </a:r>
            <a:r>
              <a:rPr lang="en-US" sz="3600" b="0" i="0" u="none" strike="noStrike" cap="none" baseline="0">
                <a:solidFill>
                  <a:schemeClr val="lt1"/>
                </a:solidFill>
                <a:latin typeface="Cabin"/>
                <a:ea typeface="Cabin"/>
                <a:cs typeface="Cabin"/>
                <a:sym typeface="Cabin"/>
              </a:rPr>
              <a:t>-</a:t>
            </a:r>
            <a:r>
              <a:rPr lang="en-US" sz="3600" b="0" i="0" u="none" strike="noStrike" cap="none" baseline="0">
                <a:solidFill>
                  <a:srgbClr val="FFFF00"/>
                </a:solidFill>
                <a:latin typeface="Cabin"/>
                <a:ea typeface="Cabin"/>
                <a:cs typeface="Cabin"/>
                <a:sym typeface="Cabin"/>
              </a:rPr>
              <a:t>value</a:t>
            </a:r>
            <a:r>
              <a:rPr lang="en-US" sz="3600" b="0" i="0" u="none" strike="noStrike" cap="none" baseline="0">
                <a:solidFill>
                  <a:schemeClr val="lt1"/>
                </a:solidFill>
                <a:latin typeface="Cabin"/>
                <a:ea typeface="Cabin"/>
                <a:cs typeface="Cabin"/>
                <a:sym typeface="Cabin"/>
              </a:rPr>
              <a:t> pairs in a dictionary using *two* iteration variables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Each iteration, the first variable is the </a:t>
            </a:r>
            <a:r>
              <a:rPr lang="en-US" sz="3600" b="0" i="0" u="none" strike="noStrike" cap="none" baseline="0">
                <a:solidFill>
                  <a:srgbClr val="FF7F00"/>
                </a:solidFill>
                <a:latin typeface="Cabin"/>
                <a:ea typeface="Cabin"/>
                <a:cs typeface="Cabin"/>
                <a:sym typeface="Cabin"/>
              </a:rPr>
              <a:t>key</a:t>
            </a:r>
            <a:r>
              <a:rPr lang="en-US" sz="3600" b="0" i="0" u="none" strike="noStrike" cap="none" baseline="0">
                <a:solidFill>
                  <a:schemeClr val="lt1"/>
                </a:solidFill>
                <a:latin typeface="Cabin"/>
                <a:ea typeface="Cabin"/>
                <a:cs typeface="Cabin"/>
                <a:sym typeface="Cabin"/>
              </a:rPr>
              <a:t> and the second variable is the </a:t>
            </a:r>
            <a:r>
              <a:rPr lang="en-US" sz="3600" b="0" i="1" u="none" strike="noStrike" cap="none" baseline="0">
                <a:solidFill>
                  <a:schemeClr val="lt1"/>
                </a:solidFill>
                <a:latin typeface="Cabin"/>
                <a:ea typeface="Cabin"/>
                <a:cs typeface="Cabin"/>
                <a:sym typeface="Cabin"/>
              </a:rPr>
              <a:t>corresponding</a:t>
            </a:r>
            <a:r>
              <a:rPr lang="en-US" sz="3600" b="0" i="0" u="none" strike="noStrike" cap="none" baseline="0">
                <a:solidFill>
                  <a:schemeClr val="lt1"/>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value </a:t>
            </a:r>
            <a:r>
              <a:rPr lang="en-US" sz="3600" b="0" i="0" u="none" strike="noStrike" cap="none" baseline="0">
                <a:solidFill>
                  <a:schemeClr val="lt1"/>
                </a:solidFill>
                <a:latin typeface="Cabin"/>
                <a:ea typeface="Cabin"/>
                <a:cs typeface="Cabin"/>
                <a:sym typeface="Cabin"/>
              </a:rPr>
              <a:t>for the key</a:t>
            </a:r>
          </a:p>
        </p:txBody>
      </p:sp>
      <p:sp>
        <p:nvSpPr>
          <p:cNvPr id="392" name="Shape 392"/>
          <p:cNvSpPr txBox="1"/>
          <p:nvPr/>
        </p:nvSpPr>
        <p:spPr>
          <a:xfrm>
            <a:off x="7423599" y="2970250"/>
            <a:ext cx="8164200" cy="4787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800" b="1" i="0" u="none" strike="noStrike" cap="none" baseline="0">
                <a:solidFill>
                  <a:schemeClr val="lt1"/>
                </a:solidFill>
                <a:latin typeface="Courier New"/>
                <a:ea typeface="Courier New"/>
                <a:cs typeface="Courier New"/>
                <a:sym typeface="Courier New"/>
              </a:rPr>
              <a:t>&gt;&gt;&gt; </a:t>
            </a:r>
            <a:r>
              <a:rPr lang="en-US" sz="2800" b="1" i="0" u="none" strike="noStrike" cap="none" baseline="0">
                <a:solidFill>
                  <a:srgbClr val="00FF00"/>
                </a:solidFill>
                <a:latin typeface="Courier New"/>
                <a:ea typeface="Courier New"/>
                <a:cs typeface="Courier New"/>
                <a:sym typeface="Courier New"/>
              </a:rPr>
              <a:t>jjj</a:t>
            </a:r>
            <a:r>
              <a:rPr lang="en-US" sz="2800" b="1" i="0" u="none" strike="noStrike" cap="none" baseline="0">
                <a:solidFill>
                  <a:schemeClr val="lt1"/>
                </a:solidFill>
                <a:latin typeface="Courier New"/>
                <a:ea typeface="Courier New"/>
                <a:cs typeface="Courier New"/>
                <a:sym typeface="Courier New"/>
              </a:rPr>
              <a:t> = { 'chuck' : 1 , 'fred' : 42, 'jan': 100}</a:t>
            </a:r>
          </a:p>
          <a:p>
            <a:pPr marL="0" marR="0" lvl="0" indent="0" algn="l" rtl="0">
              <a:lnSpc>
                <a:spcPct val="100000"/>
              </a:lnSpc>
              <a:spcBef>
                <a:spcPts val="0"/>
              </a:spcBef>
              <a:spcAft>
                <a:spcPts val="0"/>
              </a:spcAft>
              <a:buClr>
                <a:schemeClr val="lt1"/>
              </a:buClr>
              <a:buSzPct val="25000"/>
              <a:buFont typeface="Cabin"/>
              <a:buNone/>
            </a:pPr>
            <a:r>
              <a:rPr lang="en-US" sz="2800" b="1" i="0" u="none" strike="noStrike" cap="none" baseline="0">
                <a:solidFill>
                  <a:schemeClr val="lt1"/>
                </a:solidFill>
                <a:latin typeface="Courier New"/>
                <a:ea typeface="Courier New"/>
                <a:cs typeface="Courier New"/>
                <a:sym typeface="Courier New"/>
              </a:rPr>
              <a:t>&gt;&gt;&gt; for </a:t>
            </a:r>
            <a:r>
              <a:rPr lang="en-US" sz="2800" b="1" i="0" u="none" strike="noStrike" cap="none" baseline="0">
                <a:solidFill>
                  <a:srgbClr val="FF7F00"/>
                </a:solidFill>
                <a:latin typeface="Courier New"/>
                <a:ea typeface="Courier New"/>
                <a:cs typeface="Courier New"/>
                <a:sym typeface="Courier New"/>
              </a:rPr>
              <a:t>aaa</a:t>
            </a:r>
            <a:r>
              <a:rPr lang="en-US" sz="2800" b="1" i="0" u="none" strike="noStrike" cap="none" baseline="0">
                <a:solidFill>
                  <a:schemeClr val="lt1"/>
                </a:solidFill>
                <a:latin typeface="Courier New"/>
                <a:ea typeface="Courier New"/>
                <a:cs typeface="Courier New"/>
                <a:sym typeface="Courier New"/>
              </a:rPr>
              <a:t>,</a:t>
            </a:r>
            <a:r>
              <a:rPr lang="en-US" sz="2800" b="1" i="0" u="none" strike="noStrike" cap="none" baseline="0">
                <a:solidFill>
                  <a:srgbClr val="FFFF00"/>
                </a:solidFill>
                <a:latin typeface="Courier New"/>
                <a:ea typeface="Courier New"/>
                <a:cs typeface="Courier New"/>
                <a:sym typeface="Courier New"/>
              </a:rPr>
              <a:t>bbb</a:t>
            </a:r>
            <a:r>
              <a:rPr lang="en-US" sz="2800" b="1" i="0" u="none" strike="noStrike" cap="none" baseline="0">
                <a:solidFill>
                  <a:schemeClr val="lt1"/>
                </a:solidFill>
                <a:latin typeface="Courier New"/>
                <a:ea typeface="Courier New"/>
                <a:cs typeface="Courier New"/>
                <a:sym typeface="Courier New"/>
              </a:rPr>
              <a:t> in </a:t>
            </a:r>
            <a:r>
              <a:rPr lang="en-US" sz="2800" b="1" i="0" u="none" strike="noStrike" cap="none" baseline="0">
                <a:solidFill>
                  <a:srgbClr val="00FF00"/>
                </a:solidFill>
                <a:latin typeface="Courier New"/>
                <a:ea typeface="Courier New"/>
                <a:cs typeface="Courier New"/>
                <a:sym typeface="Courier New"/>
              </a:rPr>
              <a:t>jjj</a:t>
            </a:r>
            <a:r>
              <a:rPr lang="en-US" sz="2800" b="1" i="0" u="none" strike="noStrike" cap="none" baseline="0">
                <a:solidFill>
                  <a:srgbClr val="FF00FF"/>
                </a:solidFill>
                <a:latin typeface="Courier New"/>
                <a:ea typeface="Courier New"/>
                <a:cs typeface="Courier New"/>
                <a:sym typeface="Courier New"/>
              </a:rPr>
              <a:t>.items</a:t>
            </a:r>
            <a:r>
              <a:rPr lang="en-US" sz="28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abin"/>
              <a:buNone/>
            </a:pPr>
            <a:r>
              <a:rPr lang="en-US" sz="2800" b="1" i="0" u="none" strike="noStrike" cap="none" baseline="0">
                <a:solidFill>
                  <a:schemeClr val="lt1"/>
                </a:solidFill>
                <a:latin typeface="Courier New"/>
                <a:ea typeface="Courier New"/>
                <a:cs typeface="Courier New"/>
                <a:sym typeface="Courier New"/>
              </a:rPr>
              <a:t>...          print </a:t>
            </a:r>
            <a:r>
              <a:rPr lang="en-US" sz="2800" b="1" i="0" u="none" strike="noStrike" cap="none" baseline="0">
                <a:solidFill>
                  <a:srgbClr val="FF7F00"/>
                </a:solidFill>
                <a:latin typeface="Courier New"/>
                <a:ea typeface="Courier New"/>
                <a:cs typeface="Courier New"/>
                <a:sym typeface="Courier New"/>
              </a:rPr>
              <a:t>aaa</a:t>
            </a:r>
            <a:r>
              <a:rPr lang="en-US" sz="2800" b="1" i="0" u="none" strike="noStrike" cap="none" baseline="0">
                <a:solidFill>
                  <a:schemeClr val="lt1"/>
                </a:solidFill>
                <a:latin typeface="Courier New"/>
                <a:ea typeface="Courier New"/>
                <a:cs typeface="Courier New"/>
                <a:sym typeface="Courier New"/>
              </a:rPr>
              <a:t>, </a:t>
            </a:r>
            <a:r>
              <a:rPr lang="en-US" sz="2800" b="1" i="0" u="none" strike="noStrike" cap="none" baseline="0">
                <a:solidFill>
                  <a:srgbClr val="FFFF00"/>
                </a:solidFill>
                <a:latin typeface="Courier New"/>
                <a:ea typeface="Courier New"/>
                <a:cs typeface="Courier New"/>
                <a:sym typeface="Courier New"/>
              </a:rPr>
              <a:t>bbb</a:t>
            </a:r>
          </a:p>
          <a:p>
            <a:pPr marL="0" marR="0" lvl="0" indent="0" algn="l" rtl="0">
              <a:lnSpc>
                <a:spcPct val="100000"/>
              </a:lnSpc>
              <a:spcBef>
                <a:spcPts val="0"/>
              </a:spcBef>
              <a:spcAft>
                <a:spcPts val="0"/>
              </a:spcAft>
              <a:buClr>
                <a:schemeClr val="lt1"/>
              </a:buClr>
              <a:buSzPct val="25000"/>
              <a:buFont typeface="Cabin"/>
              <a:buNone/>
            </a:pPr>
            <a:r>
              <a:rPr lang="en-US" sz="28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rgbClr val="FF7F00"/>
              </a:buClr>
              <a:buSzPct val="25000"/>
              <a:buFont typeface="Cabin"/>
              <a:buNone/>
            </a:pPr>
            <a:r>
              <a:rPr lang="en-US" sz="2800" b="1" i="0" u="none" strike="noStrike" cap="none" baseline="0">
                <a:solidFill>
                  <a:srgbClr val="FF7F00"/>
                </a:solidFill>
                <a:latin typeface="Courier New"/>
                <a:ea typeface="Courier New"/>
                <a:cs typeface="Courier New"/>
                <a:sym typeface="Courier New"/>
              </a:rPr>
              <a:t>jan</a:t>
            </a:r>
            <a:r>
              <a:rPr lang="en-US" sz="2800" b="1" i="0" u="none" strike="noStrike" cap="none" baseline="0">
                <a:solidFill>
                  <a:srgbClr val="FFFF00"/>
                </a:solidFill>
                <a:latin typeface="Courier New"/>
                <a:ea typeface="Courier New"/>
                <a:cs typeface="Courier New"/>
                <a:sym typeface="Courier New"/>
              </a:rPr>
              <a:t> 100</a:t>
            </a:r>
          </a:p>
          <a:p>
            <a:pPr marL="0" marR="0" lvl="0" indent="0" algn="l" rtl="0">
              <a:lnSpc>
                <a:spcPct val="100000"/>
              </a:lnSpc>
              <a:spcBef>
                <a:spcPts val="0"/>
              </a:spcBef>
              <a:spcAft>
                <a:spcPts val="0"/>
              </a:spcAft>
              <a:buClr>
                <a:srgbClr val="FF7F00"/>
              </a:buClr>
              <a:buSzPct val="25000"/>
              <a:buFont typeface="Cabin"/>
              <a:buNone/>
            </a:pPr>
            <a:r>
              <a:rPr lang="en-US" sz="2800" b="1" i="0" u="none" strike="noStrike" cap="none" baseline="0">
                <a:solidFill>
                  <a:srgbClr val="FF7F00"/>
                </a:solidFill>
                <a:latin typeface="Courier New"/>
                <a:ea typeface="Courier New"/>
                <a:cs typeface="Courier New"/>
                <a:sym typeface="Courier New"/>
              </a:rPr>
              <a:t>chuck</a:t>
            </a:r>
            <a:r>
              <a:rPr lang="en-US" sz="2800" b="1" i="0" u="none" strike="noStrike" cap="none" baseline="0">
                <a:solidFill>
                  <a:srgbClr val="FFFF00"/>
                </a:solidFill>
                <a:latin typeface="Courier New"/>
                <a:ea typeface="Courier New"/>
                <a:cs typeface="Courier New"/>
                <a:sym typeface="Courier New"/>
              </a:rPr>
              <a:t> 1</a:t>
            </a:r>
          </a:p>
          <a:p>
            <a:pPr marL="0" marR="0" lvl="0" indent="0" algn="l" rtl="0">
              <a:lnSpc>
                <a:spcPct val="100000"/>
              </a:lnSpc>
              <a:spcBef>
                <a:spcPts val="0"/>
              </a:spcBef>
              <a:spcAft>
                <a:spcPts val="0"/>
              </a:spcAft>
              <a:buClr>
                <a:srgbClr val="FF7F00"/>
              </a:buClr>
              <a:buSzPct val="25000"/>
              <a:buFont typeface="Cabin"/>
              <a:buNone/>
            </a:pPr>
            <a:r>
              <a:rPr lang="en-US" sz="2800" b="1" i="0" u="none" strike="noStrike" cap="none" baseline="0">
                <a:solidFill>
                  <a:srgbClr val="FF7F00"/>
                </a:solidFill>
                <a:latin typeface="Courier New"/>
                <a:ea typeface="Courier New"/>
                <a:cs typeface="Courier New"/>
                <a:sym typeface="Courier New"/>
              </a:rPr>
              <a:t>fred</a:t>
            </a:r>
            <a:r>
              <a:rPr lang="en-US" sz="2800" b="1" i="0" u="none" strike="noStrike" cap="none" baseline="0">
                <a:solidFill>
                  <a:srgbClr val="FFFF00"/>
                </a:solidFill>
                <a:latin typeface="Courier New"/>
                <a:ea typeface="Courier New"/>
                <a:cs typeface="Courier New"/>
                <a:sym typeface="Courier New"/>
              </a:rPr>
              <a:t> 42</a:t>
            </a:r>
          </a:p>
          <a:p>
            <a:pPr marL="0" marR="0" lvl="0" indent="0" algn="l" rtl="0">
              <a:lnSpc>
                <a:spcPct val="100000"/>
              </a:lnSpc>
              <a:spcBef>
                <a:spcPts val="0"/>
              </a:spcBef>
              <a:spcAft>
                <a:spcPts val="0"/>
              </a:spcAft>
              <a:buClr>
                <a:schemeClr val="lt1"/>
              </a:buClr>
              <a:buSzPct val="25000"/>
              <a:buFont typeface="Cabin"/>
              <a:buNone/>
            </a:pPr>
            <a:r>
              <a:rPr lang="en-US" sz="2800" b="1" i="0" u="none" strike="noStrike" cap="none" baseline="0">
                <a:solidFill>
                  <a:schemeClr val="lt1"/>
                </a:solidFill>
                <a:latin typeface="Courier New"/>
                <a:ea typeface="Courier New"/>
                <a:cs typeface="Courier New"/>
                <a:sym typeface="Courier New"/>
              </a:rPr>
              <a:t>&gt;&gt;&gt;</a:t>
            </a:r>
            <a:r>
              <a:rPr lang="en-US" sz="3000" b="1" i="0" u="none" strike="noStrike" cap="none" baseline="0">
                <a:solidFill>
                  <a:schemeClr val="lt1"/>
                </a:solidFill>
                <a:latin typeface="Courier New"/>
                <a:ea typeface="Courier New"/>
                <a:cs typeface="Courier New"/>
                <a:sym typeface="Courier New"/>
              </a:rPr>
              <a:t> </a:t>
            </a:r>
          </a:p>
          <a:p>
            <a:pPr marL="0" marR="0" lvl="0" indent="0" algn="ctr" rtl="0">
              <a:lnSpc>
                <a:spcPct val="100000"/>
              </a:lnSpc>
              <a:spcBef>
                <a:spcPts val="0"/>
              </a:spcBef>
              <a:spcAft>
                <a:spcPts val="0"/>
              </a:spcAft>
              <a:buNone/>
            </a:pPr>
            <a:endParaRPr sz="3000" b="1">
              <a:latin typeface="Courier New"/>
              <a:ea typeface="Courier New"/>
              <a:cs typeface="Courier New"/>
              <a:sym typeface="Courier New"/>
            </a:endParaRPr>
          </a:p>
        </p:txBody>
      </p:sp>
      <p:sp>
        <p:nvSpPr>
          <p:cNvPr id="393" name="Shape 393"/>
          <p:cNvSpPr txBox="1"/>
          <p:nvPr/>
        </p:nvSpPr>
        <p:spPr>
          <a:xfrm>
            <a:off x="12560300" y="7200900"/>
            <a:ext cx="14954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[chuck]</a:t>
            </a:r>
          </a:p>
        </p:txBody>
      </p:sp>
      <p:sp>
        <p:nvSpPr>
          <p:cNvPr id="394" name="Shape 394"/>
          <p:cNvSpPr txBox="1"/>
          <p:nvPr/>
        </p:nvSpPr>
        <p:spPr>
          <a:xfrm>
            <a:off x="14351000" y="7188200"/>
            <a:ext cx="3682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1</a:t>
            </a:r>
          </a:p>
        </p:txBody>
      </p:sp>
      <p:sp>
        <p:nvSpPr>
          <p:cNvPr id="395" name="Shape 395"/>
          <p:cNvSpPr txBox="1"/>
          <p:nvPr/>
        </p:nvSpPr>
        <p:spPr>
          <a:xfrm>
            <a:off x="12847636" y="8026400"/>
            <a:ext cx="11574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[fred]</a:t>
            </a:r>
          </a:p>
        </p:txBody>
      </p:sp>
      <p:sp>
        <p:nvSpPr>
          <p:cNvPr id="396" name="Shape 396"/>
          <p:cNvSpPr txBox="1"/>
          <p:nvPr/>
        </p:nvSpPr>
        <p:spPr>
          <a:xfrm>
            <a:off x="14300200" y="8013700"/>
            <a:ext cx="5969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42</a:t>
            </a:r>
          </a:p>
        </p:txBody>
      </p:sp>
      <p:sp>
        <p:nvSpPr>
          <p:cNvPr id="397" name="Shape 397"/>
          <p:cNvSpPr txBox="1"/>
          <p:nvPr/>
        </p:nvSpPr>
        <p:spPr>
          <a:xfrm>
            <a:off x="13266737" y="5638800"/>
            <a:ext cx="7002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aaa</a:t>
            </a:r>
          </a:p>
        </p:txBody>
      </p:sp>
      <p:sp>
        <p:nvSpPr>
          <p:cNvPr id="398" name="Shape 398"/>
          <p:cNvSpPr txBox="1"/>
          <p:nvPr/>
        </p:nvSpPr>
        <p:spPr>
          <a:xfrm>
            <a:off x="14284325" y="5638800"/>
            <a:ext cx="8000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bbb</a:t>
            </a:r>
          </a:p>
        </p:txBody>
      </p:sp>
      <p:sp>
        <p:nvSpPr>
          <p:cNvPr id="399" name="Shape 399"/>
          <p:cNvSpPr txBox="1"/>
          <p:nvPr/>
        </p:nvSpPr>
        <p:spPr>
          <a:xfrm>
            <a:off x="13100050" y="6388100"/>
            <a:ext cx="9429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[jan]</a:t>
            </a:r>
          </a:p>
        </p:txBody>
      </p:sp>
      <p:sp>
        <p:nvSpPr>
          <p:cNvPr id="400" name="Shape 400"/>
          <p:cNvSpPr txBox="1"/>
          <p:nvPr/>
        </p:nvSpPr>
        <p:spPr>
          <a:xfrm>
            <a:off x="14338300" y="6375400"/>
            <a:ext cx="8254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100</a:t>
            </a: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Shape 405"/>
          <p:cNvSpPr txBox="1"/>
          <p:nvPr/>
        </p:nvSpPr>
        <p:spPr>
          <a:xfrm>
            <a:off x="693525" y="139650"/>
            <a:ext cx="9221999" cy="8864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00"/>
                </a:solidFill>
                <a:latin typeface="Courier New"/>
                <a:ea typeface="Courier New"/>
                <a:cs typeface="Courier New"/>
                <a:sym typeface="Courier New"/>
              </a:rPr>
              <a:t>name = raw_input('Enter file:')</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00"/>
                </a:solidFill>
                <a:latin typeface="Courier New"/>
                <a:ea typeface="Courier New"/>
                <a:cs typeface="Courier New"/>
                <a:sym typeface="Courier New"/>
              </a:rPr>
              <a:t>handle = open(name)</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00"/>
                </a:solidFill>
                <a:latin typeface="Courier New"/>
                <a:ea typeface="Courier New"/>
                <a:cs typeface="Courier New"/>
                <a:sym typeface="Courier New"/>
              </a:rPr>
              <a:t>text = handle.read()</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00"/>
                </a:solidFill>
                <a:latin typeface="Courier New"/>
                <a:ea typeface="Courier New"/>
                <a:cs typeface="Courier New"/>
                <a:sym typeface="Courier New"/>
              </a:rPr>
              <a:t>words = text.split()</a:t>
            </a:r>
          </a:p>
          <a:p>
            <a:pPr marL="0" marR="0" lvl="0" indent="0" algn="ctr" rtl="0">
              <a:lnSpc>
                <a:spcPct val="100000"/>
              </a:lnSpc>
              <a:spcBef>
                <a:spcPts val="0"/>
              </a:spcBef>
              <a:spcAft>
                <a:spcPts val="0"/>
              </a:spcAft>
              <a:buNone/>
            </a:pPr>
            <a:endParaRPr sz="2600" b="1" i="0" u="none" strike="noStrike" cap="none" baseline="0">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FF00FF"/>
                </a:solidFill>
                <a:latin typeface="Courier New"/>
                <a:ea typeface="Courier New"/>
                <a:cs typeface="Courier New"/>
                <a:sym typeface="Courier New"/>
              </a:rPr>
              <a:t>counts = dict()</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FF00FF"/>
                </a:solidFill>
                <a:latin typeface="Courier New"/>
                <a:ea typeface="Courier New"/>
                <a:cs typeface="Courier New"/>
                <a:sym typeface="Courier New"/>
              </a:rPr>
              <a:t>for word in words:</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FF00FF"/>
                </a:solidFill>
                <a:latin typeface="Courier New"/>
                <a:ea typeface="Courier New"/>
                <a:cs typeface="Courier New"/>
                <a:sym typeface="Courier New"/>
              </a:rPr>
              <a:t>   counts[word] = counts.get(word,0) + 1</a:t>
            </a:r>
          </a:p>
          <a:p>
            <a:pPr marL="0" marR="0" lvl="0" indent="0" algn="l" rtl="0">
              <a:lnSpc>
                <a:spcPct val="100000"/>
              </a:lnSpc>
              <a:spcBef>
                <a:spcPts val="0"/>
              </a:spcBef>
              <a:spcAft>
                <a:spcPts val="0"/>
              </a:spcAft>
              <a:buClr>
                <a:srgbClr val="00FF00"/>
              </a:buClr>
              <a:buFont typeface="Cabin"/>
              <a:buNone/>
            </a:pPr>
            <a:endParaRPr sz="2600" b="1">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FF"/>
                </a:solidFill>
                <a:latin typeface="Courier New"/>
                <a:ea typeface="Courier New"/>
                <a:cs typeface="Courier New"/>
                <a:sym typeface="Courier New"/>
              </a:rPr>
              <a:t>bigcount = None</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FF"/>
                </a:solidFill>
                <a:latin typeface="Courier New"/>
                <a:ea typeface="Courier New"/>
                <a:cs typeface="Courier New"/>
                <a:sym typeface="Courier New"/>
              </a:rPr>
              <a:t>bigword = None</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FF"/>
                </a:solidFill>
                <a:latin typeface="Courier New"/>
                <a:ea typeface="Courier New"/>
                <a:cs typeface="Courier New"/>
                <a:sym typeface="Courier New"/>
              </a:rPr>
              <a:t>for word,count in counts.items():</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FF"/>
                </a:solidFill>
                <a:latin typeface="Courier New"/>
                <a:ea typeface="Courier New"/>
                <a:cs typeface="Courier New"/>
                <a:sym typeface="Courier New"/>
              </a:rPr>
              <a:t>    if bigcount is None or count &gt; bigcount:</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FF"/>
                </a:solidFill>
                <a:latin typeface="Courier New"/>
                <a:ea typeface="Courier New"/>
                <a:cs typeface="Courier New"/>
                <a:sym typeface="Courier New"/>
              </a:rPr>
              <a:t>        bigword = word</a:t>
            </a: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00FFFF"/>
                </a:solidFill>
                <a:latin typeface="Courier New"/>
                <a:ea typeface="Courier New"/>
                <a:cs typeface="Courier New"/>
                <a:sym typeface="Courier New"/>
              </a:rPr>
              <a:t>        bigcount = count</a:t>
            </a:r>
          </a:p>
          <a:p>
            <a:pPr marL="0" marR="0" lvl="0" indent="0" algn="l" rtl="0">
              <a:lnSpc>
                <a:spcPct val="100000"/>
              </a:lnSpc>
              <a:spcBef>
                <a:spcPts val="0"/>
              </a:spcBef>
              <a:spcAft>
                <a:spcPts val="0"/>
              </a:spcAft>
              <a:buClr>
                <a:srgbClr val="00FF00"/>
              </a:buClr>
              <a:buFont typeface="Cabin"/>
              <a:buNone/>
            </a:pPr>
            <a:endParaRPr sz="2600" b="1">
              <a:solidFill>
                <a:srgbClr val="00FF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600" b="1" i="0" u="none" strike="noStrike" cap="none" baseline="0">
                <a:solidFill>
                  <a:srgbClr val="FF7F00"/>
                </a:solidFill>
                <a:latin typeface="Courier New"/>
                <a:ea typeface="Courier New"/>
                <a:cs typeface="Courier New"/>
                <a:sym typeface="Courier New"/>
              </a:rPr>
              <a:t>print bigword, bigcount</a:t>
            </a:r>
          </a:p>
        </p:txBody>
      </p:sp>
      <p:sp>
        <p:nvSpPr>
          <p:cNvPr id="406" name="Shape 406"/>
          <p:cNvSpPr txBox="1"/>
          <p:nvPr/>
        </p:nvSpPr>
        <p:spPr>
          <a:xfrm>
            <a:off x="10626725" y="4787900"/>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python words.py </a:t>
            </a:r>
          </a:p>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Enter file: </a:t>
            </a:r>
            <a:r>
              <a:rPr lang="en-US" sz="3600">
                <a:solidFill>
                  <a:schemeClr val="lt1"/>
                </a:solidFill>
                <a:latin typeface="Cabin"/>
                <a:ea typeface="Cabin"/>
                <a:cs typeface="Cabin"/>
                <a:sym typeface="Cabin"/>
              </a:rPr>
              <a:t>clown</a:t>
            </a:r>
            <a:r>
              <a:rPr lang="en-US" sz="3600" b="0" i="0" u="none" strike="noStrike" cap="none" baseline="0">
                <a:solidFill>
                  <a:schemeClr val="lt1"/>
                </a:solidFill>
                <a:latin typeface="Cabin"/>
                <a:ea typeface="Cabin"/>
                <a:cs typeface="Cabin"/>
                <a:sym typeface="Cabin"/>
              </a:rPr>
              <a:t>.txt</a:t>
            </a:r>
          </a:p>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t</a:t>
            </a:r>
            <a:r>
              <a:rPr lang="en-US" sz="3600">
                <a:solidFill>
                  <a:srgbClr val="FFFF00"/>
                </a:solidFill>
                <a:latin typeface="Cabin"/>
                <a:ea typeface="Cabin"/>
                <a:cs typeface="Cabin"/>
                <a:sym typeface="Cabin"/>
              </a:rPr>
              <a:t>he 7</a:t>
            </a:r>
          </a:p>
        </p:txBody>
      </p:sp>
      <p:sp>
        <p:nvSpPr>
          <p:cNvPr id="407" name="Shape 407"/>
          <p:cNvSpPr txBox="1"/>
          <p:nvPr/>
        </p:nvSpPr>
        <p:spPr>
          <a:xfrm>
            <a:off x="10626725" y="1705475"/>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python words.py </a:t>
            </a:r>
          </a:p>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Enter file: </a:t>
            </a:r>
            <a:r>
              <a:rPr lang="en-US" sz="3600" b="0" i="0" u="none" strike="noStrike" cap="none" baseline="0">
                <a:solidFill>
                  <a:schemeClr val="lt1"/>
                </a:solidFill>
                <a:latin typeface="Cabin"/>
                <a:ea typeface="Cabin"/>
                <a:cs typeface="Cabin"/>
                <a:sym typeface="Cabin"/>
              </a:rPr>
              <a:t>words.txt</a:t>
            </a:r>
          </a:p>
          <a:p>
            <a:pPr marL="0" marR="0" lvl="0" indent="0" algn="l" rtl="0">
              <a:lnSpc>
                <a:spcPct val="100000"/>
              </a:lnSpc>
              <a:spcBef>
                <a:spcPts val="0"/>
              </a:spcBef>
              <a:spcAft>
                <a:spcPts val="0"/>
              </a:spcAft>
              <a:buClr>
                <a:srgbClr val="FFFF00"/>
              </a:buClr>
              <a:buSzPct val="25000"/>
              <a:buFont typeface="Cabin"/>
              <a:buNone/>
            </a:pPr>
            <a:r>
              <a:rPr lang="en-US" sz="3600">
                <a:solidFill>
                  <a:srgbClr val="FFFF00"/>
                </a:solidFill>
                <a:latin typeface="Cabin"/>
                <a:ea typeface="Cabin"/>
                <a:cs typeface="Cabin"/>
                <a:sym typeface="Cabin"/>
              </a:rPr>
              <a:t> </a:t>
            </a:r>
            <a:r>
              <a:rPr lang="en-US" sz="3600" b="0" i="0" u="none" strike="noStrike" cap="none" baseline="0">
                <a:solidFill>
                  <a:srgbClr val="FFFF00"/>
                </a:solidFill>
                <a:latin typeface="Cabin"/>
                <a:ea typeface="Cabin"/>
                <a:cs typeface="Cabin"/>
                <a:sym typeface="Cabin"/>
              </a:rPr>
              <a:t>to 16</a:t>
            </a:r>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Shape 45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Summary</a:t>
            </a:r>
          </a:p>
        </p:txBody>
      </p:sp>
      <p:pic>
        <p:nvPicPr>
          <p:cNvPr id="452" name="Shape 452"/>
          <p:cNvPicPr preferRelativeResize="0"/>
          <p:nvPr/>
        </p:nvPicPr>
        <p:blipFill rotWithShape="1">
          <a:blip r:embed="rId3">
            <a:alphaModFix/>
          </a:blip>
          <a:srcRect/>
          <a:stretch/>
        </p:blipFill>
        <p:spPr>
          <a:xfrm>
            <a:off x="1152525" y="2286000"/>
            <a:ext cx="13935074" cy="6022974"/>
          </a:xfrm>
          <a:prstGeom prst="rect">
            <a:avLst/>
          </a:prstGeom>
          <a:noFill/>
          <a:ln>
            <a:noFill/>
          </a:ln>
        </p:spPr>
      </p:pic>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41"/>
        <p:cNvGrpSpPr/>
        <p:nvPr/>
      </p:nvGrpSpPr>
      <p:grpSpPr>
        <a:xfrm>
          <a:off x="0" y="0"/>
          <a:ext cx="0" cy="0"/>
          <a:chOff x="0" y="0"/>
          <a:chExt cx="0" cy="0"/>
        </a:xfrm>
      </p:grpSpPr>
      <p:sp>
        <p:nvSpPr>
          <p:cNvPr id="9" name="TextBox 8"/>
          <p:cNvSpPr txBox="1"/>
          <p:nvPr/>
        </p:nvSpPr>
        <p:spPr>
          <a:xfrm>
            <a:off x="135112" y="251520"/>
            <a:ext cx="10873208" cy="2554545"/>
          </a:xfrm>
          <a:prstGeom prst="rect">
            <a:avLst/>
          </a:prstGeom>
          <a:noFill/>
        </p:spPr>
        <p:txBody>
          <a:bodyPr wrap="square" rtlCol="0">
            <a:spAutoFit/>
          </a:bodyPr>
          <a:lstStyle/>
          <a:p>
            <a:r>
              <a:rPr lang="en-US" sz="8000" b="1" smtClean="0"/>
              <a:t>Chapter 9 </a:t>
            </a:r>
            <a:r>
              <a:rPr lang="en-US" sz="8000" b="1" dirty="0" smtClean="0"/>
              <a:t>: Finished</a:t>
            </a:r>
          </a:p>
          <a:p>
            <a:endParaRPr lang="en-US" sz="8000" b="1" dirty="0"/>
          </a:p>
        </p:txBody>
      </p:sp>
      <p:sp>
        <p:nvSpPr>
          <p:cNvPr id="10" name="TextBox 9"/>
          <p:cNvSpPr txBox="1"/>
          <p:nvPr/>
        </p:nvSpPr>
        <p:spPr>
          <a:xfrm>
            <a:off x="10000208" y="7209001"/>
            <a:ext cx="6984776" cy="1323439"/>
          </a:xfrm>
          <a:prstGeom prst="rect">
            <a:avLst/>
          </a:prstGeom>
          <a:noFill/>
        </p:spPr>
        <p:txBody>
          <a:bodyPr wrap="square" rtlCol="0">
            <a:spAutoFit/>
          </a:bodyPr>
          <a:lstStyle/>
          <a:p>
            <a:r>
              <a:rPr lang="en-US" sz="8000" b="1" dirty="0" smtClean="0"/>
              <a:t>Any Doubt?</a:t>
            </a:r>
            <a:endParaRPr lang="en-US" sz="8000" b="1" dirty="0"/>
          </a:p>
        </p:txBody>
      </p:sp>
      <p:pic>
        <p:nvPicPr>
          <p:cNvPr id="2" name="Picture 2" descr="C:\Users\ATUL one\Desktop\194ug5e9ds0ydgif.gif"/>
          <p:cNvPicPr>
            <a:picLocks noChangeAspect="1" noChangeArrowheads="1" noCrop="1"/>
          </p:cNvPicPr>
          <p:nvPr/>
        </p:nvPicPr>
        <p:blipFill>
          <a:blip r:embed="rId3"/>
          <a:srcRect/>
          <a:stretch>
            <a:fillRect/>
          </a:stretch>
        </p:blipFill>
        <p:spPr bwMode="auto">
          <a:xfrm>
            <a:off x="927200" y="1443531"/>
            <a:ext cx="10225136" cy="5751639"/>
          </a:xfrm>
          <a:prstGeom prst="rect">
            <a:avLst/>
          </a:prstGeom>
          <a:noFill/>
        </p:spPr>
      </p:pic>
    </p:spTree>
  </p:cSld>
  <p:clrMapOvr>
    <a:masterClrMapping/>
  </p:clrMapOvr>
  <p:transition spd="slow">
    <p:cut/>
  </p:transition>
  <p:timing>
    <p:tnLst>
      <p:par>
        <p:cTn id="1" dur="indefinite" restart="never" nodeType="tmRoot"/>
      </p:par>
    </p:tnLst>
  </p:timing>
</p:sld>
</file>

<file path=ppt/theme/theme1.xml><?xml version="1.0" encoding="utf-8"?>
<a:theme xmlns:a="http://schemas.openxmlformats.org/drawingml/2006/main"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itle &amp; Bullets">
  <a:themeElements>
    <a:clrScheme name="">
      <a:dk1>
        <a:srgbClr val="808080"/>
      </a:dk1>
      <a:lt1>
        <a:srgbClr val="FFFFFF"/>
      </a:lt1>
      <a:dk2>
        <a:srgbClr val="000000"/>
      </a:dk2>
      <a:lt2>
        <a:srgbClr val="000000"/>
      </a:lt2>
      <a:accent1>
        <a:srgbClr val="000000"/>
      </a:accent1>
      <a:accent2>
        <a:srgbClr val="333399"/>
      </a:accent2>
      <a:accent3>
        <a:srgbClr val="AAAAAA"/>
      </a:accent3>
      <a:accent4>
        <a:srgbClr val="DADADA"/>
      </a:accent4>
      <a:accent5>
        <a:srgbClr val="AAAAAA"/>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itle - Center">
  <a:themeElements>
    <a:clrScheme name="">
      <a:dk1>
        <a:srgbClr val="808080"/>
      </a:dk1>
      <a:lt1>
        <a:srgbClr val="FFFFFF"/>
      </a:lt1>
      <a:dk2>
        <a:srgbClr val="000000"/>
      </a:dk2>
      <a:lt2>
        <a:srgbClr val="000000"/>
      </a:lt2>
      <a:accent1>
        <a:srgbClr val="FF00FF"/>
      </a:accent1>
      <a:accent2>
        <a:srgbClr val="333399"/>
      </a:accent2>
      <a:accent3>
        <a:srgbClr val="AAAAAA"/>
      </a:accent3>
      <a:accent4>
        <a:srgbClr val="DADADA"/>
      </a:accent4>
      <a:accent5>
        <a:srgbClr val="FFAA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itle &amp; Bullets - 2 Column">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TotalTime>
  <Words>2111</Words>
  <Application>Microsoft Office PowerPoint</Application>
  <PresentationFormat>Custom</PresentationFormat>
  <Paragraphs>305</Paragraphs>
  <Slides>29</Slides>
  <Notes>29</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29</vt:i4>
      </vt:variant>
    </vt:vector>
  </HeadingPairs>
  <TitlesOfParts>
    <vt:vector size="36" baseType="lpstr">
      <vt:lpstr>Arial</vt:lpstr>
      <vt:lpstr>Courier New</vt:lpstr>
      <vt:lpstr>Cabin</vt:lpstr>
      <vt:lpstr>Title &amp; Subtitle</vt:lpstr>
      <vt:lpstr>1_Title &amp; Bullets</vt:lpstr>
      <vt:lpstr>Title - Center</vt:lpstr>
      <vt:lpstr>Title &amp; Bullets - 2 Column</vt:lpstr>
      <vt:lpstr>Python Dictionaries</vt:lpstr>
      <vt:lpstr>What is a Collection?</vt:lpstr>
      <vt:lpstr>What is not a “Collection”</vt:lpstr>
      <vt:lpstr>A Story of  Two Collections..</vt:lpstr>
      <vt:lpstr>Dictionaries</vt:lpstr>
      <vt:lpstr>Dictionaries</vt:lpstr>
      <vt:lpstr>Comparing Lists and Dictionaries</vt:lpstr>
      <vt:lpstr>PowerPoint Presentation</vt:lpstr>
      <vt:lpstr>Dictionary Literals (Constants)</vt:lpstr>
      <vt:lpstr>Most Common Name?</vt:lpstr>
      <vt:lpstr>Most Common Name?</vt:lpstr>
      <vt:lpstr>Most Common Name?</vt:lpstr>
      <vt:lpstr>Many Counters with a Dictionary</vt:lpstr>
      <vt:lpstr>Dictionary Tracebacks</vt:lpstr>
      <vt:lpstr>When we see a new name</vt:lpstr>
      <vt:lpstr>The get method for dictionaries</vt:lpstr>
      <vt:lpstr>Simplified counting with get()</vt:lpstr>
      <vt:lpstr>Simplified counting with get()</vt:lpstr>
      <vt:lpstr>PowerPoint Presentation</vt:lpstr>
      <vt:lpstr>PowerPoint Presentation</vt:lpstr>
      <vt:lpstr>Counting Pattern</vt:lpstr>
      <vt:lpstr>Counting Words</vt:lpstr>
      <vt:lpstr>PowerPoint Presentation</vt:lpstr>
      <vt:lpstr>Definite Loops and Dictionaries</vt:lpstr>
      <vt:lpstr>Retrieving lists of Keys and Values</vt:lpstr>
      <vt:lpstr>Bonus: Two Iteration Variables!</vt:lpstr>
      <vt:lpstr>PowerPoint Presentation</vt:lpstr>
      <vt:lpstr>Summary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Dictionaries</dc:title>
  <cp:lastModifiedBy>Hp</cp:lastModifiedBy>
  <cp:revision>6</cp:revision>
  <dcterms:modified xsi:type="dcterms:W3CDTF">2016-01-12T08:50:16Z</dcterms:modified>
</cp:coreProperties>
</file>