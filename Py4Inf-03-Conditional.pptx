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  <p:sldMasterId id="2147483716" r:id="rId3"/>
    <p:sldMasterId id="2147483717" r:id="rId4"/>
    <p:sldMasterId id="2147483718" r:id="rId5"/>
  </p:sldMasterIdLst>
  <p:notesMasterIdLst>
    <p:notesMasterId r:id="rId3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7" r:id="rId35"/>
    <p:sldId id="285" r:id="rId36"/>
    <p:sldId id="286" r:id="rId37"/>
  </p:sldIdLst>
  <p:sldSz cx="16256000" cy="9144000"/>
  <p:notesSz cx="6858000" cy="9144000"/>
  <p:embeddedFontLst>
    <p:embeddedFont>
      <p:font typeface="Cabin" charset="0"/>
      <p:regular r:id="rId39"/>
      <p:bold r:id="rId40"/>
      <p:italic r:id="rId41"/>
      <p:boldItalic r:id="rId42"/>
    </p:embeddedFont>
    <p:embeddedFont>
      <p:font typeface="Merriweather Sans" charset="0"/>
      <p:italic r:id="rId43"/>
      <p:boldItalic r:id="rId44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478E5916-165D-4748-8EDA-F9FCF643AFEA}">
  <a:tblStyle styleId="{478E5916-165D-4748-8EDA-F9FCF643AFEA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-120" y="-162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6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5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7" name="Shape 1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6" name="Shape 2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77" name="Shape 2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02" name="Shape 3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8" name="Shape 32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55" name="Shape 3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83" name="Shape 3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18" name="Shape 4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26" name="Shape 4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32" name="Shape 4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40" name="Shape 4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1" name="Shape 4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5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9" name="Shape 5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Merriweather Sans"/>
              <a:buNone/>
            </a:pPr>
            <a:r>
              <a:rPr lang="en-US" sz="2000" b="0" i="0" u="none" strike="noStrike" cap="none" baseline="0">
                <a:latin typeface="Merriweather Sans"/>
                <a:ea typeface="Merriweather Sans"/>
                <a:cs typeface="Merriweather Sans"/>
                <a:sym typeface="Merriweather Sans"/>
              </a:rPr>
              <a:t>Who has see a traceback in CTools?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21" name="Shape 5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43" name="Shape 5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50" name="Shape 5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96" name="Shape 5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6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02" name="Shape 6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6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 txBox="1">
            <a:spLocks noGrp="1"/>
          </p:cNvSpPr>
          <p:nvPr>
            <p:ph type="title"/>
          </p:nvPr>
        </p:nvSpPr>
        <p:spPr>
          <a:xfrm rot="5400000">
            <a:off x="10597356" y="3321843"/>
            <a:ext cx="6034087" cy="365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56" name="Shape 456"/>
          <p:cNvSpPr txBox="1">
            <a:spLocks noGrp="1"/>
          </p:cNvSpPr>
          <p:nvPr>
            <p:ph type="body" idx="1"/>
          </p:nvPr>
        </p:nvSpPr>
        <p:spPr>
          <a:xfrm rot="5400000">
            <a:off x="3205956" y="-259556"/>
            <a:ext cx="6034087" cy="1082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59" name="Shape 459"/>
          <p:cNvSpPr txBox="1">
            <a:spLocks noGrp="1"/>
          </p:cNvSpPr>
          <p:nvPr>
            <p:ph type="body" idx="1"/>
          </p:nvPr>
        </p:nvSpPr>
        <p:spPr>
          <a:xfrm rot="5400000">
            <a:off x="5110956" y="-2164556"/>
            <a:ext cx="6034087" cy="1463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461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2" name="Shape 462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Shape 463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6" name="Shape 466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7" name="Shape 467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3" name="Shape 473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474" name="Shape 474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5" name="Shape 475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476" name="Shape 476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72390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80" name="Shape 480"/>
          <p:cNvSpPr txBox="1">
            <a:spLocks noGrp="1"/>
          </p:cNvSpPr>
          <p:nvPr>
            <p:ph type="body" idx="2"/>
          </p:nvPr>
        </p:nvSpPr>
        <p:spPr>
          <a:xfrm>
            <a:off x="8204200" y="2133600"/>
            <a:ext cx="72390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89" name="Shape 489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 txBox="1">
            <a:spLocks noGrp="1"/>
          </p:cNvSpPr>
          <p:nvPr>
            <p:ph type="title"/>
          </p:nvPr>
        </p:nvSpPr>
        <p:spPr>
          <a:xfrm rot="5400000">
            <a:off x="9236075" y="2441574"/>
            <a:ext cx="7708899" cy="3308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56" name="Shape 556"/>
          <p:cNvSpPr txBox="1">
            <a:spLocks noGrp="1"/>
          </p:cNvSpPr>
          <p:nvPr>
            <p:ph type="body" idx="1"/>
          </p:nvPr>
        </p:nvSpPr>
        <p:spPr>
          <a:xfrm rot="5400000">
            <a:off x="2543175" y="-790575"/>
            <a:ext cx="7708899" cy="97726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 rot="5400000">
            <a:off x="5448299" y="-1346199"/>
            <a:ext cx="5359400" cy="132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62" name="Shape 562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Shape 563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66" name="Shape 566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67" name="Shape 567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73" name="Shape 573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574" name="Shape 574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75" name="Shape 575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576" name="Shape 576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9" name="Shape 579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80" name="Shape 580"/>
          <p:cNvSpPr txBox="1">
            <a:spLocks noGrp="1"/>
          </p:cNvSpPr>
          <p:nvPr>
            <p:ph type="body" idx="2"/>
          </p:nvPr>
        </p:nvSpPr>
        <p:spPr>
          <a:xfrm>
            <a:off x="82042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83" name="Shape 583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89" name="Shape 589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607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8" name="Shape 608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61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11" name="Shape 611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613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14" name="Shape 614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Shape 615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18" name="Shape 618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19" name="Shape 619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Shape 62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624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25" name="Shape 625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626" name="Shape 626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27" name="Shape 627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628" name="Shape 628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63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31" name="Shape 63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2" name="Shape 632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634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5" name="Shape 635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38" name="Shape 63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41" name="Shape 641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title"/>
          </p:nvPr>
        </p:nvSpPr>
        <p:spPr>
          <a:xfrm>
            <a:off x="1155700" y="2781300"/>
            <a:ext cx="13931900" cy="356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552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53" name="Shape 553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60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5" name="Shape 60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Conditional Execution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3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5880100" y="241300"/>
            <a:ext cx="92076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Conditional Steps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13314362" y="3562350"/>
            <a:ext cx="1581150" cy="2184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Smaller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 smtClean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Finish</a:t>
            </a:r>
            <a:endParaRPr lang="en-US" sz="3600" b="0" i="0" u="none" strike="noStrike" cap="none" baseline="0" dirty="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4" name="Shape 94"/>
          <p:cNvSpPr txBox="1"/>
          <p:nvPr/>
        </p:nvSpPr>
        <p:spPr>
          <a:xfrm>
            <a:off x="7899400" y="2514600"/>
            <a:ext cx="3001961" cy="5540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 dirty="0">
              <a:solidFill>
                <a:srgbClr val="FF7F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if</a:t>
            </a: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x &lt; 10: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  </a:t>
            </a:r>
            <a:r>
              <a:rPr lang="en-US" sz="3600" b="0" i="0" u="none" strike="noStrike" cap="none" baseline="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'Smaller’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 dirty="0">
              <a:solidFill>
                <a:srgbClr val="FFFF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if</a:t>
            </a: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x &gt; 20: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    </a:t>
            </a:r>
            <a:r>
              <a:rPr lang="en-US" sz="3600" b="0" i="0" u="none" strike="noStrike" cap="none" baseline="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'Bigger'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 dirty="0">
              <a:solidFill>
                <a:srgbClr val="FF7F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print</a:t>
            </a:r>
            <a:r>
              <a:rPr lang="en-US" sz="3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 dirty="0" smtClean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'Finish'</a:t>
            </a:r>
            <a:endParaRPr lang="en-US" sz="3600" b="0" i="0" u="none" strike="noStrike" cap="none" baseline="0" dirty="0">
              <a:solidFill>
                <a:srgbClr val="FF7F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1244600" y="977900"/>
            <a:ext cx="2743199" cy="596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= 5</a:t>
            </a:r>
          </a:p>
        </p:txBody>
      </p:sp>
      <p:cxnSp>
        <p:nvCxnSpPr>
          <p:cNvPr id="96" name="Shape 96"/>
          <p:cNvCxnSpPr/>
          <p:nvPr/>
        </p:nvCxnSpPr>
        <p:spPr>
          <a:xfrm rot="10800000">
            <a:off x="2597149" y="15605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97" name="Shape 97"/>
          <p:cNvCxnSpPr/>
          <p:nvPr/>
        </p:nvCxnSpPr>
        <p:spPr>
          <a:xfrm rot="10800000">
            <a:off x="11234736" y="4903787"/>
            <a:ext cx="1881186" cy="38099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98" name="Shape 98"/>
          <p:cNvSpPr/>
          <p:nvPr/>
        </p:nvSpPr>
        <p:spPr>
          <a:xfrm>
            <a:off x="1181100" y="2120900"/>
            <a:ext cx="2870200" cy="1270000"/>
          </a:xfrm>
          <a:prstGeom prst="diamond">
            <a:avLst/>
          </a:prstGeom>
          <a:solidFill>
            <a:srgbClr val="0000FF"/>
          </a:solidFill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10 ?</a:t>
            </a:r>
          </a:p>
        </p:txBody>
      </p:sp>
      <p:cxnSp>
        <p:nvCxnSpPr>
          <p:cNvPr id="99" name="Shape 99"/>
          <p:cNvCxnSpPr/>
          <p:nvPr/>
        </p:nvCxnSpPr>
        <p:spPr>
          <a:xfrm rot="10800000">
            <a:off x="2597150" y="3338512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0" name="Shape 100"/>
          <p:cNvSpPr txBox="1"/>
          <p:nvPr/>
        </p:nvSpPr>
        <p:spPr>
          <a:xfrm>
            <a:off x="3327400" y="33528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'Smaller'</a:t>
            </a:r>
          </a:p>
        </p:txBody>
      </p:sp>
      <p:cxnSp>
        <p:nvCxnSpPr>
          <p:cNvPr id="101" name="Shape 101"/>
          <p:cNvCxnSpPr/>
          <p:nvPr/>
        </p:nvCxnSpPr>
        <p:spPr>
          <a:xfrm rot="10800000">
            <a:off x="4038599" y="27495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02" name="Shape 102"/>
          <p:cNvCxnSpPr/>
          <p:nvPr/>
        </p:nvCxnSpPr>
        <p:spPr>
          <a:xfrm rot="10800000" flipH="1">
            <a:off x="4783137" y="27495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3" name="Shape 103"/>
          <p:cNvCxnSpPr/>
          <p:nvPr/>
        </p:nvCxnSpPr>
        <p:spPr>
          <a:xfrm flipH="1">
            <a:off x="4783137" y="4087812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04" name="Shape 104"/>
          <p:cNvCxnSpPr/>
          <p:nvPr/>
        </p:nvCxnSpPr>
        <p:spPr>
          <a:xfrm>
            <a:off x="2649536" y="44196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5" name="Shape 105"/>
          <p:cNvSpPr/>
          <p:nvPr/>
        </p:nvSpPr>
        <p:spPr>
          <a:xfrm>
            <a:off x="1181100" y="4864100"/>
            <a:ext cx="2870200" cy="1270000"/>
          </a:xfrm>
          <a:prstGeom prst="diamond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&gt; 20 ?</a:t>
            </a:r>
          </a:p>
        </p:txBody>
      </p:sp>
      <p:cxnSp>
        <p:nvCxnSpPr>
          <p:cNvPr id="106" name="Shape 106"/>
          <p:cNvCxnSpPr/>
          <p:nvPr/>
        </p:nvCxnSpPr>
        <p:spPr>
          <a:xfrm rot="10800000">
            <a:off x="2597150" y="6081711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7" name="Shape 107"/>
          <p:cNvSpPr txBox="1"/>
          <p:nvPr/>
        </p:nvSpPr>
        <p:spPr>
          <a:xfrm>
            <a:off x="3327400" y="6096000"/>
            <a:ext cx="2921000" cy="7492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'Bigger'</a:t>
            </a:r>
          </a:p>
        </p:txBody>
      </p:sp>
      <p:cxnSp>
        <p:nvCxnSpPr>
          <p:cNvPr id="108" name="Shape 108"/>
          <p:cNvCxnSpPr/>
          <p:nvPr/>
        </p:nvCxnSpPr>
        <p:spPr>
          <a:xfrm rot="10800000">
            <a:off x="4038599" y="54927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09" name="Shape 109"/>
          <p:cNvCxnSpPr/>
          <p:nvPr/>
        </p:nvCxnSpPr>
        <p:spPr>
          <a:xfrm rot="10800000" flipH="1">
            <a:off x="4783137" y="54927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10" name="Shape 110"/>
          <p:cNvCxnSpPr/>
          <p:nvPr/>
        </p:nvCxnSpPr>
        <p:spPr>
          <a:xfrm flipH="1">
            <a:off x="4783137" y="6831011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11" name="Shape 111"/>
          <p:cNvCxnSpPr/>
          <p:nvPr/>
        </p:nvCxnSpPr>
        <p:spPr>
          <a:xfrm>
            <a:off x="2649536" y="71628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12" name="Shape 112"/>
          <p:cNvCxnSpPr/>
          <p:nvPr/>
        </p:nvCxnSpPr>
        <p:spPr>
          <a:xfrm flipH="1">
            <a:off x="10109200" y="5492750"/>
            <a:ext cx="3082924" cy="2279650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13" name="Shape 113"/>
          <p:cNvSpPr txBox="1"/>
          <p:nvPr/>
        </p:nvSpPr>
        <p:spPr>
          <a:xfrm>
            <a:off x="1244600" y="7658100"/>
            <a:ext cx="2743199" cy="596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'Finis'</a:t>
            </a:r>
          </a:p>
        </p:txBody>
      </p:sp>
      <p:sp>
        <p:nvSpPr>
          <p:cNvPr id="114" name="Shape 114"/>
          <p:cNvSpPr txBox="1"/>
          <p:nvPr/>
        </p:nvSpPr>
        <p:spPr>
          <a:xfrm>
            <a:off x="4414837" y="2108200"/>
            <a:ext cx="725486" cy="622299"/>
          </a:xfrm>
          <a:prstGeom prst="rect">
            <a:avLst/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4414837" y="4864100"/>
            <a:ext cx="725486" cy="6222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1795562" y="3440950"/>
            <a:ext cx="725399" cy="6221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1795562" y="6107950"/>
            <a:ext cx="725399" cy="6221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1892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Comparison Operators</a:t>
            </a:r>
          </a:p>
        </p:txBody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958175" y="2324100"/>
            <a:ext cx="63896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Boolean expressions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ask a question and produce a Yes or No result which we use to control program flow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Boolean expressions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using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comparison operators 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evaluate to - True / False - Yes / No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Comparison operators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look at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variables but 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do not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change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variables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8177375" y="6959600"/>
            <a:ext cx="7227900" cy="545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Remember:  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=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used for assignment.</a:t>
            </a:r>
          </a:p>
        </p:txBody>
      </p:sp>
      <p:graphicFrame>
        <p:nvGraphicFramePr>
          <p:cNvPr id="126" name="Shape 126"/>
          <p:cNvGraphicFramePr/>
          <p:nvPr/>
        </p:nvGraphicFramePr>
        <p:xfrm>
          <a:off x="7988300" y="2692400"/>
          <a:ext cx="7416800" cy="3873170"/>
        </p:xfrm>
        <a:graphic>
          <a:graphicData uri="http://schemas.openxmlformats.org/drawingml/2006/table">
            <a:tbl>
              <a:tblPr>
                <a:noFill/>
                <a:tableStyleId>{478E5916-165D-4748-8EDA-F9FCF643AFEA}</a:tableStyleId>
              </a:tblPr>
              <a:tblGrid>
                <a:gridCol w="3708400"/>
                <a:gridCol w="3708400"/>
              </a:tblGrid>
              <a:tr h="57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baseline="0">
                          <a:solidFill>
                            <a:srgbClr val="00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Python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baseline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Meaning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rgbClr val="00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&lt;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Less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rgbClr val="00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&lt;=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Less than or Equal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rgbClr val="00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== 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rgbClr val="00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&gt;=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Greater than or Equal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rgbClr val="00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&gt;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Greater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>
                          <a:solidFill>
                            <a:srgbClr val="00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!=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baseline="0" dirty="0">
                          <a:solidFill>
                            <a:schemeClr val="lt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Not equal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3106525" y="302000"/>
            <a:ext cx="10663199" cy="1752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Comparison Operators</a:t>
            </a:r>
          </a:p>
        </p:txBody>
      </p:sp>
      <p:sp>
        <p:nvSpPr>
          <p:cNvPr id="132" name="Shape 132"/>
          <p:cNvSpPr txBox="1"/>
          <p:nvPr/>
        </p:nvSpPr>
        <p:spPr>
          <a:xfrm>
            <a:off x="1003300" y="1343025"/>
            <a:ext cx="8378999" cy="6648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if x == 5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'Equals 5'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if x &gt; 4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print 'Greater than 4</a:t>
            </a:r>
            <a:r>
              <a:rPr lang="en-US" sz="30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if  x &gt;= 5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'Greater than or Equals 5'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6 : print 'Less than 6'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&lt;= 5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'Less than or Equals 5</a:t>
            </a:r>
            <a:r>
              <a:rPr lang="en-US" sz="3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if x != 6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'Not equal 6'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10513900" y="3602025"/>
            <a:ext cx="47742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Equals 5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Greater than 4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Greater than or Equals 5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Less than 6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Less than or Equals 5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Not equal 6</a:t>
            </a:r>
          </a:p>
        </p:txBody>
      </p:sp>
      <p:cxnSp>
        <p:nvCxnSpPr>
          <p:cNvPr id="134" name="Shape 134"/>
          <p:cNvCxnSpPr/>
          <p:nvPr/>
        </p:nvCxnSpPr>
        <p:spPr>
          <a:xfrm rot="10800000">
            <a:off x="8423749" y="5411949"/>
            <a:ext cx="1789799" cy="130200"/>
          </a:xfrm>
          <a:prstGeom prst="straightConnector1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2120900" y="186025"/>
            <a:ext cx="9486900" cy="1789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One-Way Decisions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555575" y="1524000"/>
            <a:ext cx="5712000" cy="7202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'Before 5</a:t>
            </a:r>
            <a:r>
              <a:rPr lang="en-US" sz="320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if  x == 5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'Is 5</a:t>
            </a:r>
            <a:r>
              <a:rPr lang="en-US" sz="32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'Is Still 5</a:t>
            </a:r>
            <a:r>
              <a:rPr lang="en-US" sz="32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'Third 5</a:t>
            </a:r>
            <a:r>
              <a:rPr lang="en-US" sz="32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'Afterwards 5’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'Before 6’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if x == 6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'Is 6</a:t>
            </a:r>
            <a:r>
              <a:rPr lang="en-US" sz="3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'Is Still 6</a:t>
            </a:r>
            <a:r>
              <a:rPr lang="en-US" sz="3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'Third 6</a:t>
            </a:r>
            <a:r>
              <a:rPr lang="en-US" sz="3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'Afterwards 6'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7188200" y="2881311"/>
            <a:ext cx="2457300" cy="3878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Is Still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Third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Afterwards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Before 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Afterwards 6</a:t>
            </a:r>
          </a:p>
        </p:txBody>
      </p:sp>
      <p:cxnSp>
        <p:nvCxnSpPr>
          <p:cNvPr id="142" name="Shape 142"/>
          <p:cNvCxnSpPr/>
          <p:nvPr/>
        </p:nvCxnSpPr>
        <p:spPr>
          <a:xfrm rot="10800000">
            <a:off x="6306400" y="3725299"/>
            <a:ext cx="640499" cy="339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43" name="Shape 143"/>
          <p:cNvCxnSpPr/>
          <p:nvPr/>
        </p:nvCxnSpPr>
        <p:spPr>
          <a:xfrm flipH="1">
            <a:off x="4852361" y="6194425"/>
            <a:ext cx="2264400" cy="4985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44" name="Shape 144"/>
          <p:cNvCxnSpPr/>
          <p:nvPr/>
        </p:nvCxnSpPr>
        <p:spPr>
          <a:xfrm rot="10800000">
            <a:off x="11982336" y="12557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45" name="Shape 145"/>
          <p:cNvSpPr/>
          <p:nvPr/>
        </p:nvSpPr>
        <p:spPr>
          <a:xfrm>
            <a:off x="10566400" y="1816100"/>
            <a:ext cx="2870100" cy="1269899"/>
          </a:xfrm>
          <a:prstGeom prst="diamond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== 5 ?</a:t>
            </a:r>
          </a:p>
        </p:txBody>
      </p:sp>
      <p:cxnSp>
        <p:nvCxnSpPr>
          <p:cNvPr id="146" name="Shape 146"/>
          <p:cNvCxnSpPr/>
          <p:nvPr/>
        </p:nvCxnSpPr>
        <p:spPr>
          <a:xfrm rot="10800000">
            <a:off x="11982461" y="3033737"/>
            <a:ext cx="49200" cy="40608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47" name="Shape 147"/>
          <p:cNvCxnSpPr/>
          <p:nvPr/>
        </p:nvCxnSpPr>
        <p:spPr>
          <a:xfrm rot="10800000">
            <a:off x="13424024" y="2444749"/>
            <a:ext cx="724500" cy="570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48" name="Shape 148"/>
          <p:cNvCxnSpPr/>
          <p:nvPr/>
        </p:nvCxnSpPr>
        <p:spPr>
          <a:xfrm rot="10800000" flipH="1">
            <a:off x="14168437" y="2444874"/>
            <a:ext cx="15899" cy="644400"/>
          </a:xfrm>
          <a:prstGeom prst="straightConnector1">
            <a:avLst/>
          </a:prstGeom>
          <a:noFill/>
          <a:ln w="50800" cap="rnd" cmpd="sng">
            <a:solidFill>
              <a:srgbClr val="00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49" name="Shape 149"/>
          <p:cNvCxnSpPr/>
          <p:nvPr/>
        </p:nvCxnSpPr>
        <p:spPr>
          <a:xfrm>
            <a:off x="14162087" y="2422525"/>
            <a:ext cx="69899" cy="3859199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50" name="Shape 150"/>
          <p:cNvCxnSpPr/>
          <p:nvPr/>
        </p:nvCxnSpPr>
        <p:spPr>
          <a:xfrm>
            <a:off x="12098336" y="6299200"/>
            <a:ext cx="2149499" cy="0"/>
          </a:xfrm>
          <a:prstGeom prst="straightConnector1">
            <a:avLst/>
          </a:prstGeom>
          <a:noFill/>
          <a:ln w="76200" cap="rnd" cmpd="sng">
            <a:solidFill>
              <a:srgbClr val="1155CC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51" name="Shape 151"/>
          <p:cNvSpPr txBox="1"/>
          <p:nvPr/>
        </p:nvSpPr>
        <p:spPr>
          <a:xfrm>
            <a:off x="13261012" y="1607350"/>
            <a:ext cx="725399" cy="6221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2712700" y="4152900"/>
            <a:ext cx="2921099" cy="7493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'Still 5'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12712700" y="5257800"/>
            <a:ext cx="2921099" cy="7493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'Third 5'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0883900" y="3111500"/>
            <a:ext cx="723900" cy="62219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12712700" y="3048000"/>
            <a:ext cx="2921099" cy="749399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'Is 5'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 dirty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Indentation</a:t>
            </a:r>
          </a:p>
        </p:txBody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Increase indent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indent after an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if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or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(after : 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Maintain indent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indicate the </a:t>
            </a: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scope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the block (which lines are affected by the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if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/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Reduce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indent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1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back to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level of the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if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or </a:t>
            </a: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to indicate the end of the block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Blank lines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are ignored - they do not affect </a:t>
            </a: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indentation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Comments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on a line by themselves are ignored w</a:t>
            </a: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ith regard to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indentation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101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Warning</a:t>
            </a:r>
            <a:r>
              <a:rPr lang="en-US" sz="7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: Turn Off Tabs</a:t>
            </a:r>
          </a:p>
        </p:txBody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1155700" y="224155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Most text editors can turn 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tabs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into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spaces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make sure to enable this feature</a:t>
            </a:r>
          </a:p>
          <a:p>
            <a:pPr marL="1041400" marR="0" lvl="1" indent="-1424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NotePad++:  Settings -&gt; Preferences -&gt; Language Menu/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Tab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Settings</a:t>
            </a:r>
          </a:p>
          <a:p>
            <a:pPr marL="1041400" marR="0" lvl="1" indent="-1424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TextWrangler:  TextWrangler -&gt; Preferences -&gt; Editor Defaults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 cares a *lot* about how far a line is 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indented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  If you mix 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tabs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spaces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you may get 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indentation errors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even if everything looks fine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1931324" y="8311450"/>
            <a:ext cx="12033299" cy="545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Please do this now while you are thinking about it so we can all stay sane...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Shape 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000" y="0"/>
            <a:ext cx="8756649" cy="66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Shape 1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5300" y="3759200"/>
            <a:ext cx="9182099" cy="530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Shape 175"/>
          <p:cNvSpPr/>
          <p:nvPr/>
        </p:nvSpPr>
        <p:spPr>
          <a:xfrm>
            <a:off x="1219200" y="1308100"/>
            <a:ext cx="1270000" cy="1270000"/>
          </a:xfrm>
          <a:prstGeom prst="rightArrow">
            <a:avLst>
              <a:gd name="adj1" fmla="val 41925"/>
              <a:gd name="adj2" fmla="val 23141"/>
            </a:avLst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11264900" y="7188200"/>
            <a:ext cx="1270000" cy="1270000"/>
          </a:xfrm>
          <a:prstGeom prst="rightArrow">
            <a:avLst>
              <a:gd name="adj1" fmla="val 28791"/>
              <a:gd name="adj2" fmla="val 26088"/>
            </a:avLst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Shape 177"/>
          <p:cNvSpPr txBox="1"/>
          <p:nvPr/>
        </p:nvSpPr>
        <p:spPr>
          <a:xfrm>
            <a:off x="10556875" y="977900"/>
            <a:ext cx="4279900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This will save you much unnecessary pain.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/>
        </p:nvSpPr>
        <p:spPr>
          <a:xfrm>
            <a:off x="4598450" y="2438400"/>
            <a:ext cx="7183500" cy="5854799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'Bigger than 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'Still bigger'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'Done with 2'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i &gt; 2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'Bigger than 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'Done with i', 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4144962" y="355600"/>
            <a:ext cx="7183437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increase /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maintain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after if or for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decrease to indicate end of block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/>
          </a:p>
        </p:txBody>
      </p:sp>
      <p:cxnSp>
        <p:nvCxnSpPr>
          <p:cNvPr id="184" name="Shape 184"/>
          <p:cNvCxnSpPr/>
          <p:nvPr/>
        </p:nvCxnSpPr>
        <p:spPr>
          <a:xfrm>
            <a:off x="3884075" y="47879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85" name="Shape 185"/>
          <p:cNvCxnSpPr/>
          <p:nvPr/>
        </p:nvCxnSpPr>
        <p:spPr>
          <a:xfrm rot="10800000">
            <a:off x="3830000" y="37210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86" name="Shape 186"/>
          <p:cNvCxnSpPr/>
          <p:nvPr/>
        </p:nvCxnSpPr>
        <p:spPr>
          <a:xfrm rot="10800000">
            <a:off x="3830000" y="71881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87" name="Shape 187"/>
          <p:cNvCxnSpPr/>
          <p:nvPr/>
        </p:nvCxnSpPr>
        <p:spPr>
          <a:xfrm>
            <a:off x="3884075" y="76200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88" name="Shape 188"/>
          <p:cNvCxnSpPr/>
          <p:nvPr/>
        </p:nvCxnSpPr>
        <p:spPr>
          <a:xfrm rot="10800000">
            <a:off x="3830000" y="6273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89" name="Shape 189"/>
          <p:cNvCxnSpPr/>
          <p:nvPr/>
        </p:nvCxnSpPr>
        <p:spPr>
          <a:xfrm rot="10800000">
            <a:off x="3830000" y="4241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0" name="Shape 190"/>
          <p:cNvCxnSpPr/>
          <p:nvPr/>
        </p:nvCxnSpPr>
        <p:spPr>
          <a:xfrm rot="10800000">
            <a:off x="3830000" y="67944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1" name="Shape 191"/>
          <p:cNvCxnSpPr/>
          <p:nvPr/>
        </p:nvCxnSpPr>
        <p:spPr>
          <a:xfrm rot="10800000">
            <a:off x="3830000" y="57276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2" name="Shape 192"/>
          <p:cNvCxnSpPr/>
          <p:nvPr/>
        </p:nvCxnSpPr>
        <p:spPr>
          <a:xfrm rot="10800000">
            <a:off x="3830000" y="27050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3" name="Shape 193"/>
          <p:cNvCxnSpPr/>
          <p:nvPr/>
        </p:nvCxnSpPr>
        <p:spPr>
          <a:xfrm rot="10800000">
            <a:off x="3830000" y="31876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4" name="Shape 194"/>
          <p:cNvCxnSpPr/>
          <p:nvPr/>
        </p:nvCxnSpPr>
        <p:spPr>
          <a:xfrm>
            <a:off x="3884075" y="80772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/>
          <p:nvPr/>
        </p:nvSpPr>
        <p:spPr>
          <a:xfrm>
            <a:off x="4598450" y="2362200"/>
            <a:ext cx="7965300" cy="585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'Bigger than 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'Still bigger'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'Done with 2'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i &gt; 2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'Bigger than 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'Done with i', 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4144948" y="355600"/>
            <a:ext cx="81356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Think about begin/end blocks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/>
          </a:p>
        </p:txBody>
      </p:sp>
      <p:sp>
        <p:nvSpPr>
          <p:cNvPr id="201" name="Shape 201"/>
          <p:cNvSpPr txBox="1"/>
          <p:nvPr/>
        </p:nvSpPr>
        <p:spPr>
          <a:xfrm>
            <a:off x="5533200" y="6313475"/>
            <a:ext cx="6377099" cy="10169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Shape 202"/>
          <p:cNvSpPr txBox="1"/>
          <p:nvPr/>
        </p:nvSpPr>
        <p:spPr>
          <a:xfrm>
            <a:off x="4598450" y="5314525"/>
            <a:ext cx="7704000" cy="2421299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Shape 203"/>
          <p:cNvSpPr txBox="1"/>
          <p:nvPr/>
        </p:nvSpPr>
        <p:spPr>
          <a:xfrm>
            <a:off x="4576700" y="2863786"/>
            <a:ext cx="7704000" cy="1509299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6756400" y="5207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&gt; 1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9817100" y="20193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'More than one'</a:t>
            </a:r>
          </a:p>
        </p:txBody>
      </p:sp>
      <p:sp>
        <p:nvSpPr>
          <p:cNvPr id="210" name="Shape 210"/>
          <p:cNvSpPr/>
          <p:nvPr/>
        </p:nvSpPr>
        <p:spPr>
          <a:xfrm>
            <a:off x="9474200" y="3733800"/>
            <a:ext cx="4152899" cy="1473199"/>
          </a:xfrm>
          <a:prstGeom prst="diamond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100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12420600" y="51562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'Less than 100'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794500" y="7607300"/>
            <a:ext cx="3467099" cy="12698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  <p:cxnSp>
        <p:nvCxnSpPr>
          <p:cNvPr id="213" name="Shape 213"/>
          <p:cNvCxnSpPr/>
          <p:nvPr/>
        </p:nvCxnSpPr>
        <p:spPr>
          <a:xfrm rot="10800000" flipH="1">
            <a:off x="10287000" y="1239712"/>
            <a:ext cx="1350900" cy="32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14" name="Shape 214"/>
          <p:cNvCxnSpPr/>
          <p:nvPr/>
        </p:nvCxnSpPr>
        <p:spPr>
          <a:xfrm rot="10800000" flipH="1">
            <a:off x="11626850" y="1239575"/>
            <a:ext cx="11100" cy="7574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5" name="Shape 215"/>
          <p:cNvCxnSpPr/>
          <p:nvPr/>
        </p:nvCxnSpPr>
        <p:spPr>
          <a:xfrm rot="10800000" flipH="1">
            <a:off x="8491536" y="1979612"/>
            <a:ext cx="36512" cy="5614987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6" name="Shape 216"/>
          <p:cNvCxnSpPr/>
          <p:nvPr/>
        </p:nvCxnSpPr>
        <p:spPr>
          <a:xfrm>
            <a:off x="13601700" y="4445000"/>
            <a:ext cx="731837" cy="14287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17" name="Shape 217"/>
          <p:cNvCxnSpPr/>
          <p:nvPr/>
        </p:nvCxnSpPr>
        <p:spPr>
          <a:xfrm rot="10800000" flipH="1">
            <a:off x="14293850" y="4508974"/>
            <a:ext cx="8100" cy="650400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8" name="Shape 218"/>
          <p:cNvCxnSpPr>
            <a:endCxn id="209" idx="2"/>
          </p:cNvCxnSpPr>
          <p:nvPr/>
        </p:nvCxnSpPr>
        <p:spPr>
          <a:xfrm rot="10800000">
            <a:off x="11550649" y="3289300"/>
            <a:ext cx="0" cy="4350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>
            <a:off x="8566150" y="7035800"/>
            <a:ext cx="5692775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0" name="Shape 220"/>
          <p:cNvCxnSpPr/>
          <p:nvPr/>
        </p:nvCxnSpPr>
        <p:spPr>
          <a:xfrm rot="10800000">
            <a:off x="8512150" y="98074"/>
            <a:ext cx="15899" cy="4893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1" name="Shape 221"/>
          <p:cNvSpPr txBox="1"/>
          <p:nvPr/>
        </p:nvSpPr>
        <p:spPr>
          <a:xfrm>
            <a:off x="10798175" y="5778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13655675" y="38036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cxnSp>
        <p:nvCxnSpPr>
          <p:cNvPr id="223" name="Shape 223"/>
          <p:cNvCxnSpPr/>
          <p:nvPr/>
        </p:nvCxnSpPr>
        <p:spPr>
          <a:xfrm rot="10800000">
            <a:off x="11571286" y="5243512"/>
            <a:ext cx="0" cy="1792286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4" name="Shape 224"/>
          <p:cNvSpPr txBox="1"/>
          <p:nvPr/>
        </p:nvSpPr>
        <p:spPr>
          <a:xfrm>
            <a:off x="10831511" y="5175250"/>
            <a:ext cx="541337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225" name="Shape 225"/>
          <p:cNvSpPr txBox="1"/>
          <p:nvPr/>
        </p:nvSpPr>
        <p:spPr>
          <a:xfrm>
            <a:off x="7847011" y="2152650"/>
            <a:ext cx="541337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587850" y="3527950"/>
            <a:ext cx="6747900" cy="333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x = 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if x &gt; 1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'More than one'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if x &lt; 100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'Less than 100'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1168400" y="558800"/>
            <a:ext cx="4813299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Nested Decisions</a:t>
            </a:r>
          </a:p>
        </p:txBody>
      </p:sp>
      <p:cxnSp>
        <p:nvCxnSpPr>
          <p:cNvPr id="228" name="Shape 228"/>
          <p:cNvCxnSpPr/>
          <p:nvPr/>
        </p:nvCxnSpPr>
        <p:spPr>
          <a:xfrm rot="10800000" flipH="1">
            <a:off x="14293850" y="6490174"/>
            <a:ext cx="8100" cy="650400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165100" y="241300"/>
            <a:ext cx="6565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Two</a:t>
            </a:r>
            <a:r>
              <a:rPr lang="en-US" sz="66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-w</a:t>
            </a:r>
            <a:r>
              <a:rPr lang="en-US" sz="6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ay Decisions</a:t>
            </a:r>
          </a:p>
        </p:txBody>
      </p:sp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711200" y="2603500"/>
            <a:ext cx="54863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we want to do one thing if a logical expression is true and something else if the expression is false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is like a fork in the road - we must choose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one or the other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path but not both</a:t>
            </a:r>
          </a:p>
        </p:txBody>
      </p:sp>
      <p:sp>
        <p:nvSpPr>
          <p:cNvPr id="235" name="Shape 235"/>
          <p:cNvSpPr/>
          <p:nvPr/>
        </p:nvSpPr>
        <p:spPr>
          <a:xfrm>
            <a:off x="9372600" y="28829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&gt; 2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12433300" y="43815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'Bigger'</a:t>
            </a:r>
          </a:p>
        </p:txBody>
      </p:sp>
      <p:cxnSp>
        <p:nvCxnSpPr>
          <p:cNvPr id="237" name="Shape 237"/>
          <p:cNvCxnSpPr/>
          <p:nvPr/>
        </p:nvCxnSpPr>
        <p:spPr>
          <a:xfrm rot="10800000" flipH="1">
            <a:off x="12903200" y="3594100"/>
            <a:ext cx="1395411" cy="126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38" name="Shape 238"/>
          <p:cNvCxnSpPr/>
          <p:nvPr/>
        </p:nvCxnSpPr>
        <p:spPr>
          <a:xfrm rot="10800000" flipH="1">
            <a:off x="14243050" y="36131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39" name="Shape 239"/>
          <p:cNvCxnSpPr/>
          <p:nvPr/>
        </p:nvCxnSpPr>
        <p:spPr>
          <a:xfrm rot="10800000" flipH="1">
            <a:off x="11182350" y="6127749"/>
            <a:ext cx="3081337" cy="3175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0" name="Shape 240"/>
          <p:cNvSpPr txBox="1"/>
          <p:nvPr/>
        </p:nvSpPr>
        <p:spPr>
          <a:xfrm>
            <a:off x="13414375" y="29400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8913811" y="2940050"/>
            <a:ext cx="541337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242" name="Shape 242"/>
          <p:cNvCxnSpPr/>
          <p:nvPr/>
        </p:nvCxnSpPr>
        <p:spPr>
          <a:xfrm rot="10800000">
            <a:off x="14235112" y="5638800"/>
            <a:ext cx="9524" cy="46196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3" name="Shape 243"/>
          <p:cNvCxnSpPr/>
          <p:nvPr/>
        </p:nvCxnSpPr>
        <p:spPr>
          <a:xfrm rot="10800000">
            <a:off x="11164887" y="2236787"/>
            <a:ext cx="4762" cy="687387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4" name="Shape 244"/>
          <p:cNvSpPr txBox="1"/>
          <p:nvPr/>
        </p:nvSpPr>
        <p:spPr>
          <a:xfrm>
            <a:off x="9461500" y="12573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= 4</a:t>
            </a:r>
          </a:p>
        </p:txBody>
      </p:sp>
      <p:cxnSp>
        <p:nvCxnSpPr>
          <p:cNvPr id="245" name="Shape 245"/>
          <p:cNvCxnSpPr/>
          <p:nvPr/>
        </p:nvCxnSpPr>
        <p:spPr>
          <a:xfrm rot="10800000" flipH="1">
            <a:off x="8089900" y="3619500"/>
            <a:ext cx="1395411" cy="12699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6" name="Shape 246"/>
          <p:cNvCxnSpPr/>
          <p:nvPr/>
        </p:nvCxnSpPr>
        <p:spPr>
          <a:xfrm rot="10800000" flipH="1">
            <a:off x="8070850" y="36131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7" name="Shape 247"/>
          <p:cNvSpPr txBox="1"/>
          <p:nvPr/>
        </p:nvSpPr>
        <p:spPr>
          <a:xfrm>
            <a:off x="6400800" y="43561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'Not bigger'</a:t>
            </a:r>
          </a:p>
        </p:txBody>
      </p:sp>
      <p:cxnSp>
        <p:nvCxnSpPr>
          <p:cNvPr id="248" name="Shape 248"/>
          <p:cNvCxnSpPr/>
          <p:nvPr/>
        </p:nvCxnSpPr>
        <p:spPr>
          <a:xfrm flipH="1">
            <a:off x="8066086" y="6137275"/>
            <a:ext cx="3117849" cy="3174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49" name="Shape 249"/>
          <p:cNvCxnSpPr/>
          <p:nvPr/>
        </p:nvCxnSpPr>
        <p:spPr>
          <a:xfrm rot="10800000">
            <a:off x="8037511" y="5651500"/>
            <a:ext cx="9524" cy="461961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0" name="Shape 250"/>
          <p:cNvCxnSpPr/>
          <p:nvPr/>
        </p:nvCxnSpPr>
        <p:spPr>
          <a:xfrm rot="10800000" flipH="1">
            <a:off x="11195050" y="62039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51" name="Shape 251"/>
          <p:cNvSpPr txBox="1"/>
          <p:nvPr/>
        </p:nvSpPr>
        <p:spPr>
          <a:xfrm>
            <a:off x="9410700" y="69215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xfrm>
            <a:off x="558800" y="457200"/>
            <a:ext cx="5109899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Two-way using else :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528621" y="3067050"/>
            <a:ext cx="4814099" cy="507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 dirty="0">
              <a:solidFill>
                <a:schemeClr val="bg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'Bigger'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'Smaller'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 dirty="0">
              <a:solidFill>
                <a:schemeClr val="bg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258" name="Shape 258"/>
          <p:cNvSpPr/>
          <p:nvPr/>
        </p:nvSpPr>
        <p:spPr>
          <a:xfrm>
            <a:off x="9093200" y="28829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&gt; 2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12153900" y="43815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'Bigger'</a:t>
            </a:r>
          </a:p>
        </p:txBody>
      </p:sp>
      <p:cxnSp>
        <p:nvCxnSpPr>
          <p:cNvPr id="260" name="Shape 260"/>
          <p:cNvCxnSpPr/>
          <p:nvPr/>
        </p:nvCxnSpPr>
        <p:spPr>
          <a:xfrm rot="10800000" flipH="1">
            <a:off x="12623800" y="3594100"/>
            <a:ext cx="1395411" cy="126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1" name="Shape 261"/>
          <p:cNvCxnSpPr/>
          <p:nvPr/>
        </p:nvCxnSpPr>
        <p:spPr>
          <a:xfrm rot="10800000" flipH="1">
            <a:off x="13963650" y="36131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62" name="Shape 262"/>
          <p:cNvCxnSpPr/>
          <p:nvPr/>
        </p:nvCxnSpPr>
        <p:spPr>
          <a:xfrm rot="10800000" flipH="1">
            <a:off x="10902950" y="6127749"/>
            <a:ext cx="3081337" cy="3175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3" name="Shape 263"/>
          <p:cNvSpPr txBox="1"/>
          <p:nvPr/>
        </p:nvSpPr>
        <p:spPr>
          <a:xfrm>
            <a:off x="13134975" y="29400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8634411" y="2940050"/>
            <a:ext cx="541337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265" name="Shape 265"/>
          <p:cNvCxnSpPr/>
          <p:nvPr/>
        </p:nvCxnSpPr>
        <p:spPr>
          <a:xfrm rot="10800000">
            <a:off x="13955712" y="5638800"/>
            <a:ext cx="9524" cy="46196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" name="Shape 266"/>
          <p:cNvCxnSpPr/>
          <p:nvPr/>
        </p:nvCxnSpPr>
        <p:spPr>
          <a:xfrm rot="10800000">
            <a:off x="10885487" y="2236787"/>
            <a:ext cx="4762" cy="687387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7" name="Shape 267"/>
          <p:cNvSpPr txBox="1"/>
          <p:nvPr/>
        </p:nvSpPr>
        <p:spPr>
          <a:xfrm>
            <a:off x="9182100" y="12573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= 4</a:t>
            </a:r>
          </a:p>
        </p:txBody>
      </p:sp>
      <p:cxnSp>
        <p:nvCxnSpPr>
          <p:cNvPr id="268" name="Shape 268"/>
          <p:cNvCxnSpPr/>
          <p:nvPr/>
        </p:nvCxnSpPr>
        <p:spPr>
          <a:xfrm rot="10800000" flipH="1">
            <a:off x="7810500" y="3619500"/>
            <a:ext cx="1395411" cy="12699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9" name="Shape 269"/>
          <p:cNvCxnSpPr/>
          <p:nvPr/>
        </p:nvCxnSpPr>
        <p:spPr>
          <a:xfrm rot="10800000" flipH="1">
            <a:off x="7791450" y="36131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70" name="Shape 270"/>
          <p:cNvSpPr txBox="1"/>
          <p:nvPr/>
        </p:nvSpPr>
        <p:spPr>
          <a:xfrm>
            <a:off x="6121400" y="43561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'Smaller'</a:t>
            </a:r>
          </a:p>
        </p:txBody>
      </p:sp>
      <p:cxnSp>
        <p:nvCxnSpPr>
          <p:cNvPr id="271" name="Shape 271"/>
          <p:cNvCxnSpPr/>
          <p:nvPr/>
        </p:nvCxnSpPr>
        <p:spPr>
          <a:xfrm flipH="1">
            <a:off x="7786686" y="6137275"/>
            <a:ext cx="3117849" cy="3174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72" name="Shape 272"/>
          <p:cNvCxnSpPr/>
          <p:nvPr/>
        </p:nvCxnSpPr>
        <p:spPr>
          <a:xfrm rot="10800000">
            <a:off x="7758111" y="5651500"/>
            <a:ext cx="9524" cy="461961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3" name="Shape 273"/>
          <p:cNvCxnSpPr/>
          <p:nvPr/>
        </p:nvCxnSpPr>
        <p:spPr>
          <a:xfrm rot="10800000" flipH="1">
            <a:off x="10915650" y="62039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74" name="Shape 274"/>
          <p:cNvSpPr txBox="1"/>
          <p:nvPr/>
        </p:nvSpPr>
        <p:spPr>
          <a:xfrm>
            <a:off x="9131300" y="69215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/>
        </p:nvSpPr>
        <p:spPr>
          <a:xfrm>
            <a:off x="9093200" y="28829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&gt; 2</a:t>
            </a:r>
          </a:p>
        </p:txBody>
      </p:sp>
      <p:sp>
        <p:nvSpPr>
          <p:cNvPr id="280" name="Shape 280"/>
          <p:cNvSpPr txBox="1"/>
          <p:nvPr/>
        </p:nvSpPr>
        <p:spPr>
          <a:xfrm>
            <a:off x="12153900" y="43815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'Bigger'</a:t>
            </a:r>
          </a:p>
        </p:txBody>
      </p:sp>
      <p:cxnSp>
        <p:nvCxnSpPr>
          <p:cNvPr id="281" name="Shape 281"/>
          <p:cNvCxnSpPr/>
          <p:nvPr/>
        </p:nvCxnSpPr>
        <p:spPr>
          <a:xfrm rot="10800000" flipH="1">
            <a:off x="12623800" y="3594100"/>
            <a:ext cx="1395411" cy="126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82" name="Shape 282"/>
          <p:cNvCxnSpPr/>
          <p:nvPr/>
        </p:nvCxnSpPr>
        <p:spPr>
          <a:xfrm rot="10800000" flipH="1">
            <a:off x="13963650" y="36131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3" name="Shape 283"/>
          <p:cNvCxnSpPr/>
          <p:nvPr/>
        </p:nvCxnSpPr>
        <p:spPr>
          <a:xfrm rot="10800000" flipH="1">
            <a:off x="10902950" y="6127749"/>
            <a:ext cx="3081337" cy="3175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84" name="Shape 284"/>
          <p:cNvSpPr txBox="1"/>
          <p:nvPr/>
        </p:nvSpPr>
        <p:spPr>
          <a:xfrm>
            <a:off x="13134975" y="29400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8634411" y="2940050"/>
            <a:ext cx="541337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286" name="Shape 286"/>
          <p:cNvCxnSpPr/>
          <p:nvPr/>
        </p:nvCxnSpPr>
        <p:spPr>
          <a:xfrm rot="10800000">
            <a:off x="13955712" y="5638800"/>
            <a:ext cx="9524" cy="46196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87" name="Shape 287"/>
          <p:cNvCxnSpPr/>
          <p:nvPr/>
        </p:nvCxnSpPr>
        <p:spPr>
          <a:xfrm rot="10800000">
            <a:off x="10885487" y="2236787"/>
            <a:ext cx="4762" cy="687387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88" name="Shape 288"/>
          <p:cNvSpPr txBox="1"/>
          <p:nvPr/>
        </p:nvSpPr>
        <p:spPr>
          <a:xfrm>
            <a:off x="9182100" y="12573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= 4</a:t>
            </a:r>
          </a:p>
        </p:txBody>
      </p:sp>
      <p:cxnSp>
        <p:nvCxnSpPr>
          <p:cNvPr id="289" name="Shape 289"/>
          <p:cNvCxnSpPr/>
          <p:nvPr/>
        </p:nvCxnSpPr>
        <p:spPr>
          <a:xfrm rot="10800000" flipH="1">
            <a:off x="7810500" y="3619500"/>
            <a:ext cx="1395411" cy="12699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0" name="Shape 290"/>
          <p:cNvCxnSpPr/>
          <p:nvPr/>
        </p:nvCxnSpPr>
        <p:spPr>
          <a:xfrm rot="10800000" flipH="1">
            <a:off x="7791450" y="36131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91" name="Shape 291"/>
          <p:cNvSpPr txBox="1"/>
          <p:nvPr/>
        </p:nvSpPr>
        <p:spPr>
          <a:xfrm>
            <a:off x="6121400" y="43561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'Smaller'</a:t>
            </a:r>
          </a:p>
        </p:txBody>
      </p:sp>
      <p:cxnSp>
        <p:nvCxnSpPr>
          <p:cNvPr id="292" name="Shape 292"/>
          <p:cNvCxnSpPr/>
          <p:nvPr/>
        </p:nvCxnSpPr>
        <p:spPr>
          <a:xfrm flipH="1">
            <a:off x="7786686" y="6137275"/>
            <a:ext cx="3117849" cy="3174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93" name="Shape 293"/>
          <p:cNvCxnSpPr/>
          <p:nvPr/>
        </p:nvCxnSpPr>
        <p:spPr>
          <a:xfrm rot="10800000">
            <a:off x="7758111" y="5651500"/>
            <a:ext cx="9524" cy="461961"/>
          </a:xfrm>
          <a:prstGeom prst="straightConnector1">
            <a:avLst/>
          </a:prstGeom>
          <a:noFill/>
          <a:ln w="635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4" name="Shape 294"/>
          <p:cNvCxnSpPr/>
          <p:nvPr/>
        </p:nvCxnSpPr>
        <p:spPr>
          <a:xfrm rot="10800000" flipH="1">
            <a:off x="10915650" y="62039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95" name="Shape 295"/>
          <p:cNvSpPr txBox="1"/>
          <p:nvPr/>
        </p:nvSpPr>
        <p:spPr>
          <a:xfrm>
            <a:off x="9131300" y="69215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5854700" y="2895600"/>
            <a:ext cx="10045700" cy="3378200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Shape 297"/>
          <p:cNvSpPr txBox="1"/>
          <p:nvPr/>
        </p:nvSpPr>
        <p:spPr>
          <a:xfrm>
            <a:off x="406400" y="4445000"/>
            <a:ext cx="4560600" cy="2298600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Shape 298"/>
          <p:cNvSpPr txBox="1"/>
          <p:nvPr/>
        </p:nvSpPr>
        <p:spPr>
          <a:xfrm>
            <a:off x="528621" y="3067050"/>
            <a:ext cx="4814099" cy="507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'Bigger'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'Smaller'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rgbClr val="FF7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title"/>
          </p:nvPr>
        </p:nvSpPr>
        <p:spPr>
          <a:xfrm>
            <a:off x="558800" y="457200"/>
            <a:ext cx="5109899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Two-way using else :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 txBox="1">
            <a:spLocks noGrp="1"/>
          </p:cNvSpPr>
          <p:nvPr>
            <p:ph type="title"/>
          </p:nvPr>
        </p:nvSpPr>
        <p:spPr>
          <a:xfrm>
            <a:off x="558800" y="304800"/>
            <a:ext cx="5397500" cy="1650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Multi-way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n-US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mall'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x &lt; 10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'Medium'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'LARGE'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'All done'</a:t>
            </a:r>
          </a:p>
        </p:txBody>
      </p:sp>
      <p:sp>
        <p:nvSpPr>
          <p:cNvPr id="306" name="Shape 306"/>
          <p:cNvSpPr/>
          <p:nvPr/>
        </p:nvSpPr>
        <p:spPr>
          <a:xfrm>
            <a:off x="6972300" y="1790700"/>
            <a:ext cx="3555899" cy="147330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2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11226800" y="1892300"/>
            <a:ext cx="3467099" cy="12698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</a:t>
            </a: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mall'</a:t>
            </a:r>
          </a:p>
        </p:txBody>
      </p:sp>
      <p:cxnSp>
        <p:nvCxnSpPr>
          <p:cNvPr id="308" name="Shape 308"/>
          <p:cNvCxnSpPr/>
          <p:nvPr/>
        </p:nvCxnSpPr>
        <p:spPr>
          <a:xfrm rot="10800000">
            <a:off x="10585436" y="2530475"/>
            <a:ext cx="598499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9" name="Shape 309"/>
          <p:cNvCxnSpPr/>
          <p:nvPr/>
        </p:nvCxnSpPr>
        <p:spPr>
          <a:xfrm rot="10800000" flipH="1">
            <a:off x="8820150" y="7008799"/>
            <a:ext cx="6488099" cy="1032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10" name="Shape 310"/>
          <p:cNvSpPr txBox="1"/>
          <p:nvPr/>
        </p:nvSpPr>
        <p:spPr>
          <a:xfrm>
            <a:off x="9909175" y="1695450"/>
            <a:ext cx="635100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7948611" y="3168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312" name="Shape 312"/>
          <p:cNvCxnSpPr/>
          <p:nvPr/>
        </p:nvCxnSpPr>
        <p:spPr>
          <a:xfrm rot="10800000">
            <a:off x="15289212" y="2547961"/>
            <a:ext cx="38099" cy="44798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3" name="Shape 313"/>
          <p:cNvCxnSpPr/>
          <p:nvPr/>
        </p:nvCxnSpPr>
        <p:spPr>
          <a:xfrm rot="10800000">
            <a:off x="8764549" y="1144674"/>
            <a:ext cx="4799" cy="6873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4" name="Shape 314"/>
          <p:cNvCxnSpPr/>
          <p:nvPr/>
        </p:nvCxnSpPr>
        <p:spPr>
          <a:xfrm rot="10800000" flipH="1">
            <a:off x="8769350" y="6838975"/>
            <a:ext cx="18900" cy="7460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15" name="Shape 315"/>
          <p:cNvSpPr txBox="1"/>
          <p:nvPr/>
        </p:nvSpPr>
        <p:spPr>
          <a:xfrm>
            <a:off x="6985000" y="7556500"/>
            <a:ext cx="3467099" cy="9651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  <p:sp>
        <p:nvSpPr>
          <p:cNvPr id="316" name="Shape 316"/>
          <p:cNvSpPr/>
          <p:nvPr/>
        </p:nvSpPr>
        <p:spPr>
          <a:xfrm>
            <a:off x="6959600" y="3733800"/>
            <a:ext cx="3555899" cy="147330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10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11214100" y="3835400"/>
            <a:ext cx="3467099" cy="12698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'Medium'</a:t>
            </a:r>
          </a:p>
        </p:txBody>
      </p:sp>
      <p:cxnSp>
        <p:nvCxnSpPr>
          <p:cNvPr id="318" name="Shape 318"/>
          <p:cNvCxnSpPr/>
          <p:nvPr/>
        </p:nvCxnSpPr>
        <p:spPr>
          <a:xfrm rot="10800000">
            <a:off x="10572736" y="4473575"/>
            <a:ext cx="598499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19" name="Shape 319"/>
          <p:cNvSpPr txBox="1"/>
          <p:nvPr/>
        </p:nvSpPr>
        <p:spPr>
          <a:xfrm>
            <a:off x="10061575" y="3702050"/>
            <a:ext cx="635100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cxnSp>
        <p:nvCxnSpPr>
          <p:cNvPr id="320" name="Shape 320"/>
          <p:cNvCxnSpPr/>
          <p:nvPr/>
        </p:nvCxnSpPr>
        <p:spPr>
          <a:xfrm rot="10800000">
            <a:off x="14738337" y="2530475"/>
            <a:ext cx="598499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1" name="Shape 321"/>
          <p:cNvCxnSpPr/>
          <p:nvPr/>
        </p:nvCxnSpPr>
        <p:spPr>
          <a:xfrm rot="10800000">
            <a:off x="14700237" y="4460875"/>
            <a:ext cx="598499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2" name="Shape 322"/>
          <p:cNvCxnSpPr/>
          <p:nvPr/>
        </p:nvCxnSpPr>
        <p:spPr>
          <a:xfrm rot="10800000">
            <a:off x="8718636" y="3254237"/>
            <a:ext cx="1500" cy="5637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23" name="Shape 323"/>
          <p:cNvSpPr txBox="1"/>
          <p:nvPr/>
        </p:nvSpPr>
        <p:spPr>
          <a:xfrm>
            <a:off x="6997700" y="5562600"/>
            <a:ext cx="3467099" cy="12698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'LARGE'</a:t>
            </a:r>
          </a:p>
        </p:txBody>
      </p:sp>
      <p:cxnSp>
        <p:nvCxnSpPr>
          <p:cNvPr id="324" name="Shape 324"/>
          <p:cNvCxnSpPr/>
          <p:nvPr/>
        </p:nvCxnSpPr>
        <p:spPr>
          <a:xfrm rot="10800000" flipH="1">
            <a:off x="8770936" y="5199137"/>
            <a:ext cx="4799" cy="4095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25" name="Shape 325"/>
          <p:cNvSpPr txBox="1"/>
          <p:nvPr/>
        </p:nvSpPr>
        <p:spPr>
          <a:xfrm>
            <a:off x="7745411" y="4946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>
            <a:spLocks noGrp="1"/>
          </p:cNvSpPr>
          <p:nvPr>
            <p:ph type="title"/>
          </p:nvPr>
        </p:nvSpPr>
        <p:spPr>
          <a:xfrm>
            <a:off x="558800" y="304800"/>
            <a:ext cx="5397500" cy="1650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Multi-way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985822" y="3067050"/>
            <a:ext cx="4797900" cy="507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</a:t>
            </a:r>
            <a:r>
              <a:rPr lang="en-US" sz="300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mall'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10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'Medium'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'LARGE'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332" name="Shape 332"/>
          <p:cNvSpPr/>
          <p:nvPr/>
        </p:nvSpPr>
        <p:spPr>
          <a:xfrm>
            <a:off x="6743700" y="21717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2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10998200" y="22733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</a:t>
            </a: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mall'</a:t>
            </a:r>
          </a:p>
        </p:txBody>
      </p:sp>
      <p:cxnSp>
        <p:nvCxnSpPr>
          <p:cNvPr id="334" name="Shape 334"/>
          <p:cNvCxnSpPr/>
          <p:nvPr/>
        </p:nvCxnSpPr>
        <p:spPr>
          <a:xfrm rot="10800000">
            <a:off x="10356849" y="29114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5" name="Shape 335"/>
          <p:cNvCxnSpPr/>
          <p:nvPr/>
        </p:nvCxnSpPr>
        <p:spPr>
          <a:xfrm rot="10800000" flipH="1">
            <a:off x="8591550" y="7389812"/>
            <a:ext cx="6488111" cy="103186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6" name="Shape 336"/>
          <p:cNvSpPr txBox="1"/>
          <p:nvPr/>
        </p:nvSpPr>
        <p:spPr>
          <a:xfrm>
            <a:off x="9680575" y="20764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7720011" y="3549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338" name="Shape 338"/>
          <p:cNvCxnSpPr/>
          <p:nvPr/>
        </p:nvCxnSpPr>
        <p:spPr>
          <a:xfrm rot="10800000">
            <a:off x="15060612" y="2928936"/>
            <a:ext cx="38099" cy="4479924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39" name="Shape 339"/>
          <p:cNvCxnSpPr/>
          <p:nvPr/>
        </p:nvCxnSpPr>
        <p:spPr>
          <a:xfrm rot="10800000">
            <a:off x="8535987" y="1525587"/>
            <a:ext cx="4762" cy="687387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0" name="Shape 340"/>
          <p:cNvSpPr txBox="1"/>
          <p:nvPr/>
        </p:nvSpPr>
        <p:spPr>
          <a:xfrm>
            <a:off x="6832600" y="5461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</a:p>
        </p:txBody>
      </p:sp>
      <p:cxnSp>
        <p:nvCxnSpPr>
          <p:cNvPr id="341" name="Shape 341"/>
          <p:cNvCxnSpPr/>
          <p:nvPr/>
        </p:nvCxnSpPr>
        <p:spPr>
          <a:xfrm rot="10800000" flipH="1">
            <a:off x="8540750" y="72199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2" name="Shape 342"/>
          <p:cNvSpPr txBox="1"/>
          <p:nvPr/>
        </p:nvSpPr>
        <p:spPr>
          <a:xfrm>
            <a:off x="6756400" y="79375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  <p:sp>
        <p:nvSpPr>
          <p:cNvPr id="343" name="Shape 343"/>
          <p:cNvSpPr/>
          <p:nvPr/>
        </p:nvSpPr>
        <p:spPr>
          <a:xfrm>
            <a:off x="6731000" y="41148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10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10985500" y="42164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'Medium'</a:t>
            </a:r>
          </a:p>
        </p:txBody>
      </p:sp>
      <p:cxnSp>
        <p:nvCxnSpPr>
          <p:cNvPr id="345" name="Shape 345"/>
          <p:cNvCxnSpPr/>
          <p:nvPr/>
        </p:nvCxnSpPr>
        <p:spPr>
          <a:xfrm rot="10800000">
            <a:off x="10344149" y="48545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6" name="Shape 346"/>
          <p:cNvSpPr txBox="1"/>
          <p:nvPr/>
        </p:nvSpPr>
        <p:spPr>
          <a:xfrm>
            <a:off x="9832975" y="40830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cxnSp>
        <p:nvCxnSpPr>
          <p:cNvPr id="347" name="Shape 347"/>
          <p:cNvCxnSpPr/>
          <p:nvPr/>
        </p:nvCxnSpPr>
        <p:spPr>
          <a:xfrm rot="10800000">
            <a:off x="14509750" y="29114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8" name="Shape 348"/>
          <p:cNvCxnSpPr/>
          <p:nvPr/>
        </p:nvCxnSpPr>
        <p:spPr>
          <a:xfrm rot="10800000">
            <a:off x="14471650" y="48418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9" name="Shape 349"/>
          <p:cNvCxnSpPr/>
          <p:nvPr/>
        </p:nvCxnSpPr>
        <p:spPr>
          <a:xfrm rot="10800000">
            <a:off x="8489949" y="3635375"/>
            <a:ext cx="1587" cy="56356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50" name="Shape 350"/>
          <p:cNvSpPr txBox="1"/>
          <p:nvPr/>
        </p:nvSpPr>
        <p:spPr>
          <a:xfrm>
            <a:off x="6769100" y="59436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'LARGE'</a:t>
            </a:r>
          </a:p>
        </p:txBody>
      </p:sp>
      <p:cxnSp>
        <p:nvCxnSpPr>
          <p:cNvPr id="351" name="Shape 351"/>
          <p:cNvCxnSpPr/>
          <p:nvPr/>
        </p:nvCxnSpPr>
        <p:spPr>
          <a:xfrm rot="10800000" flipH="1">
            <a:off x="8542336" y="5580062"/>
            <a:ext cx="4762" cy="40957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52" name="Shape 352"/>
          <p:cNvSpPr txBox="1"/>
          <p:nvPr/>
        </p:nvSpPr>
        <p:spPr>
          <a:xfrm>
            <a:off x="7516811" y="5327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>
            <a:spLocks noGrp="1"/>
          </p:cNvSpPr>
          <p:nvPr>
            <p:ph type="title"/>
          </p:nvPr>
        </p:nvSpPr>
        <p:spPr>
          <a:xfrm>
            <a:off x="558800" y="304800"/>
            <a:ext cx="5397500" cy="1650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Multi-way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985821" y="3067050"/>
            <a:ext cx="4970400" cy="507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</a:t>
            </a:r>
            <a:r>
              <a:rPr lang="en-US" sz="3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mall'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10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'Medium'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'LARGE'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359" name="Shape 359"/>
          <p:cNvSpPr/>
          <p:nvPr/>
        </p:nvSpPr>
        <p:spPr>
          <a:xfrm>
            <a:off x="6743700" y="21717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2</a:t>
            </a:r>
          </a:p>
        </p:txBody>
      </p:sp>
      <p:sp>
        <p:nvSpPr>
          <p:cNvPr id="360" name="Shape 360"/>
          <p:cNvSpPr txBox="1"/>
          <p:nvPr/>
        </p:nvSpPr>
        <p:spPr>
          <a:xfrm>
            <a:off x="10998200" y="22733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</a:t>
            </a: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mall'</a:t>
            </a:r>
          </a:p>
        </p:txBody>
      </p:sp>
      <p:cxnSp>
        <p:nvCxnSpPr>
          <p:cNvPr id="361" name="Shape 361"/>
          <p:cNvCxnSpPr/>
          <p:nvPr/>
        </p:nvCxnSpPr>
        <p:spPr>
          <a:xfrm rot="10800000">
            <a:off x="10356849" y="29114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2" name="Shape 362"/>
          <p:cNvCxnSpPr/>
          <p:nvPr/>
        </p:nvCxnSpPr>
        <p:spPr>
          <a:xfrm rot="10800000" flipH="1">
            <a:off x="8591550" y="7389812"/>
            <a:ext cx="6488111" cy="103186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3" name="Shape 363"/>
          <p:cNvSpPr txBox="1"/>
          <p:nvPr/>
        </p:nvSpPr>
        <p:spPr>
          <a:xfrm>
            <a:off x="9680575" y="20764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364" name="Shape 364"/>
          <p:cNvSpPr txBox="1"/>
          <p:nvPr/>
        </p:nvSpPr>
        <p:spPr>
          <a:xfrm>
            <a:off x="7720011" y="3549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365" name="Shape 365"/>
          <p:cNvCxnSpPr/>
          <p:nvPr/>
        </p:nvCxnSpPr>
        <p:spPr>
          <a:xfrm rot="10800000">
            <a:off x="15060612" y="2928936"/>
            <a:ext cx="38099" cy="4479924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6" name="Shape 366"/>
          <p:cNvCxnSpPr/>
          <p:nvPr/>
        </p:nvCxnSpPr>
        <p:spPr>
          <a:xfrm rot="10800000">
            <a:off x="8535987" y="1525587"/>
            <a:ext cx="4762" cy="687387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7" name="Shape 367"/>
          <p:cNvSpPr txBox="1"/>
          <p:nvPr/>
        </p:nvSpPr>
        <p:spPr>
          <a:xfrm>
            <a:off x="6832600" y="5461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= 5</a:t>
            </a:r>
          </a:p>
        </p:txBody>
      </p:sp>
      <p:cxnSp>
        <p:nvCxnSpPr>
          <p:cNvPr id="368" name="Shape 368"/>
          <p:cNvCxnSpPr/>
          <p:nvPr/>
        </p:nvCxnSpPr>
        <p:spPr>
          <a:xfrm rot="10800000" flipH="1">
            <a:off x="8540750" y="72199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9" name="Shape 369"/>
          <p:cNvSpPr txBox="1"/>
          <p:nvPr/>
        </p:nvSpPr>
        <p:spPr>
          <a:xfrm>
            <a:off x="6756400" y="79375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  <p:sp>
        <p:nvSpPr>
          <p:cNvPr id="370" name="Shape 370"/>
          <p:cNvSpPr/>
          <p:nvPr/>
        </p:nvSpPr>
        <p:spPr>
          <a:xfrm>
            <a:off x="6731000" y="41148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10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10985500" y="42164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'Medium'</a:t>
            </a:r>
          </a:p>
        </p:txBody>
      </p:sp>
      <p:cxnSp>
        <p:nvCxnSpPr>
          <p:cNvPr id="372" name="Shape 372"/>
          <p:cNvCxnSpPr/>
          <p:nvPr/>
        </p:nvCxnSpPr>
        <p:spPr>
          <a:xfrm rot="10800000">
            <a:off x="10344149" y="48545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3" name="Shape 373"/>
          <p:cNvSpPr txBox="1"/>
          <p:nvPr/>
        </p:nvSpPr>
        <p:spPr>
          <a:xfrm>
            <a:off x="9832975" y="40830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cxnSp>
        <p:nvCxnSpPr>
          <p:cNvPr id="374" name="Shape 374"/>
          <p:cNvCxnSpPr/>
          <p:nvPr/>
        </p:nvCxnSpPr>
        <p:spPr>
          <a:xfrm rot="10800000">
            <a:off x="14509750" y="29114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5" name="Shape 375"/>
          <p:cNvCxnSpPr/>
          <p:nvPr/>
        </p:nvCxnSpPr>
        <p:spPr>
          <a:xfrm rot="10800000">
            <a:off x="14471650" y="48418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6" name="Shape 376"/>
          <p:cNvCxnSpPr/>
          <p:nvPr/>
        </p:nvCxnSpPr>
        <p:spPr>
          <a:xfrm rot="10800000">
            <a:off x="8489949" y="3635375"/>
            <a:ext cx="1587" cy="563562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7" name="Shape 377"/>
          <p:cNvSpPr txBox="1"/>
          <p:nvPr/>
        </p:nvSpPr>
        <p:spPr>
          <a:xfrm>
            <a:off x="6769100" y="59436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'LARGE'</a:t>
            </a:r>
          </a:p>
        </p:txBody>
      </p:sp>
      <p:cxnSp>
        <p:nvCxnSpPr>
          <p:cNvPr id="378" name="Shape 378"/>
          <p:cNvCxnSpPr/>
          <p:nvPr/>
        </p:nvCxnSpPr>
        <p:spPr>
          <a:xfrm rot="10800000" flipH="1">
            <a:off x="8542336" y="5580062"/>
            <a:ext cx="4762" cy="40957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9" name="Shape 379"/>
          <p:cNvSpPr txBox="1"/>
          <p:nvPr/>
        </p:nvSpPr>
        <p:spPr>
          <a:xfrm>
            <a:off x="7516811" y="5327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380" name="Shape 380"/>
          <p:cNvCxnSpPr/>
          <p:nvPr/>
        </p:nvCxnSpPr>
        <p:spPr>
          <a:xfrm rot="10800000" flipH="1">
            <a:off x="15060612" y="2911475"/>
            <a:ext cx="19049" cy="186531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 txBox="1">
            <a:spLocks noGrp="1"/>
          </p:cNvSpPr>
          <p:nvPr>
            <p:ph type="title"/>
          </p:nvPr>
        </p:nvSpPr>
        <p:spPr>
          <a:xfrm>
            <a:off x="558800" y="304800"/>
            <a:ext cx="5397500" cy="1650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Multi-way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985821" y="3067050"/>
            <a:ext cx="5046599" cy="507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 = 20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</a:t>
            </a:r>
            <a:r>
              <a:rPr lang="en-US" sz="30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mall'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10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print 'Medium'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'LARGE'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387" name="Shape 387"/>
          <p:cNvSpPr/>
          <p:nvPr/>
        </p:nvSpPr>
        <p:spPr>
          <a:xfrm>
            <a:off x="6743700" y="21717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2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10998200" y="22733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</a:t>
            </a: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mall'</a:t>
            </a:r>
          </a:p>
        </p:txBody>
      </p:sp>
      <p:cxnSp>
        <p:nvCxnSpPr>
          <p:cNvPr id="389" name="Shape 389"/>
          <p:cNvCxnSpPr/>
          <p:nvPr/>
        </p:nvCxnSpPr>
        <p:spPr>
          <a:xfrm rot="10800000">
            <a:off x="10356849" y="29114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90" name="Shape 390"/>
          <p:cNvCxnSpPr/>
          <p:nvPr/>
        </p:nvCxnSpPr>
        <p:spPr>
          <a:xfrm rot="10800000" flipH="1">
            <a:off x="8591550" y="7389812"/>
            <a:ext cx="6488111" cy="103186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1" name="Shape 391"/>
          <p:cNvSpPr txBox="1"/>
          <p:nvPr/>
        </p:nvSpPr>
        <p:spPr>
          <a:xfrm>
            <a:off x="9680575" y="20764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7720011" y="3549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393" name="Shape 393"/>
          <p:cNvCxnSpPr/>
          <p:nvPr/>
        </p:nvCxnSpPr>
        <p:spPr>
          <a:xfrm rot="10800000">
            <a:off x="15060612" y="2928936"/>
            <a:ext cx="38099" cy="447992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4" name="Shape 394"/>
          <p:cNvCxnSpPr/>
          <p:nvPr/>
        </p:nvCxnSpPr>
        <p:spPr>
          <a:xfrm rot="10800000">
            <a:off x="8535987" y="1525587"/>
            <a:ext cx="4762" cy="687387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5" name="Shape 395"/>
          <p:cNvSpPr txBox="1"/>
          <p:nvPr/>
        </p:nvSpPr>
        <p:spPr>
          <a:xfrm>
            <a:off x="6832600" y="5461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= 20</a:t>
            </a:r>
          </a:p>
        </p:txBody>
      </p:sp>
      <p:cxnSp>
        <p:nvCxnSpPr>
          <p:cNvPr id="396" name="Shape 396"/>
          <p:cNvCxnSpPr/>
          <p:nvPr/>
        </p:nvCxnSpPr>
        <p:spPr>
          <a:xfrm rot="10800000" flipH="1">
            <a:off x="8540750" y="7219949"/>
            <a:ext cx="19049" cy="746125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7" name="Shape 397"/>
          <p:cNvSpPr txBox="1"/>
          <p:nvPr/>
        </p:nvSpPr>
        <p:spPr>
          <a:xfrm>
            <a:off x="6756400" y="7937500"/>
            <a:ext cx="3467099" cy="965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'All Done'</a:t>
            </a:r>
          </a:p>
        </p:txBody>
      </p:sp>
      <p:sp>
        <p:nvSpPr>
          <p:cNvPr id="398" name="Shape 398"/>
          <p:cNvSpPr/>
          <p:nvPr/>
        </p:nvSpPr>
        <p:spPr>
          <a:xfrm>
            <a:off x="6731000" y="4114800"/>
            <a:ext cx="3556000" cy="1473199"/>
          </a:xfrm>
          <a:prstGeom prst="diamond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x &lt; 10</a:t>
            </a:r>
          </a:p>
        </p:txBody>
      </p:sp>
      <p:sp>
        <p:nvSpPr>
          <p:cNvPr id="399" name="Shape 399"/>
          <p:cNvSpPr txBox="1"/>
          <p:nvPr/>
        </p:nvSpPr>
        <p:spPr>
          <a:xfrm>
            <a:off x="10985500" y="42164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'Medium'</a:t>
            </a:r>
          </a:p>
        </p:txBody>
      </p:sp>
      <p:cxnSp>
        <p:nvCxnSpPr>
          <p:cNvPr id="400" name="Shape 400"/>
          <p:cNvCxnSpPr/>
          <p:nvPr/>
        </p:nvCxnSpPr>
        <p:spPr>
          <a:xfrm rot="10800000">
            <a:off x="10344149" y="48545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9832975" y="4083050"/>
            <a:ext cx="635000" cy="558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cxnSp>
        <p:nvCxnSpPr>
          <p:cNvPr id="402" name="Shape 402"/>
          <p:cNvCxnSpPr/>
          <p:nvPr/>
        </p:nvCxnSpPr>
        <p:spPr>
          <a:xfrm rot="10800000">
            <a:off x="14509750" y="29114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3" name="Shape 403"/>
          <p:cNvCxnSpPr/>
          <p:nvPr/>
        </p:nvCxnSpPr>
        <p:spPr>
          <a:xfrm rot="10800000">
            <a:off x="14471650" y="4841875"/>
            <a:ext cx="598487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4" name="Shape 404"/>
          <p:cNvCxnSpPr/>
          <p:nvPr/>
        </p:nvCxnSpPr>
        <p:spPr>
          <a:xfrm rot="10800000">
            <a:off x="8489949" y="3635375"/>
            <a:ext cx="1587" cy="563562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6769100" y="5943600"/>
            <a:ext cx="3467099" cy="1270000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'LARGE'</a:t>
            </a:r>
          </a:p>
        </p:txBody>
      </p:sp>
      <p:cxnSp>
        <p:nvCxnSpPr>
          <p:cNvPr id="406" name="Shape 406"/>
          <p:cNvCxnSpPr/>
          <p:nvPr/>
        </p:nvCxnSpPr>
        <p:spPr>
          <a:xfrm rot="10800000" flipH="1">
            <a:off x="8542336" y="5580062"/>
            <a:ext cx="4762" cy="409575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7" name="Shape 407"/>
          <p:cNvSpPr txBox="1"/>
          <p:nvPr/>
        </p:nvSpPr>
        <p:spPr>
          <a:xfrm>
            <a:off x="7516811" y="5327650"/>
            <a:ext cx="5411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  <p:cxnSp>
        <p:nvCxnSpPr>
          <p:cNvPr id="408" name="Shape 408"/>
          <p:cNvCxnSpPr/>
          <p:nvPr/>
        </p:nvCxnSpPr>
        <p:spPr>
          <a:xfrm rot="10800000" flipH="1">
            <a:off x="15060612" y="2911475"/>
            <a:ext cx="19049" cy="186531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title"/>
          </p:nvPr>
        </p:nvSpPr>
        <p:spPr>
          <a:xfrm>
            <a:off x="558800" y="304800"/>
            <a:ext cx="5397500" cy="16509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Multi-way</a:t>
            </a:r>
          </a:p>
        </p:txBody>
      </p:sp>
      <p:sp>
        <p:nvSpPr>
          <p:cNvPr id="414" name="Shape 414"/>
          <p:cNvSpPr txBox="1"/>
          <p:nvPr/>
        </p:nvSpPr>
        <p:spPr>
          <a:xfrm>
            <a:off x="1354120" y="2914650"/>
            <a:ext cx="5311799" cy="507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# No Else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'Small'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10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print 'Medium'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print 'All done'</a:t>
            </a:r>
          </a:p>
        </p:txBody>
      </p:sp>
      <p:sp>
        <p:nvSpPr>
          <p:cNvPr id="415" name="Shape 415"/>
          <p:cNvSpPr txBox="1"/>
          <p:nvPr/>
        </p:nvSpPr>
        <p:spPr>
          <a:xfrm>
            <a:off x="8707420" y="882650"/>
            <a:ext cx="6437700" cy="7569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'Small'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10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'Medium'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20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'Big'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40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'Large'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100: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'Huge'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'Ginormous'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 txBox="1">
            <a:spLocks noGrp="1"/>
          </p:cNvSpPr>
          <p:nvPr>
            <p:ph type="title"/>
          </p:nvPr>
        </p:nvSpPr>
        <p:spPr>
          <a:xfrm>
            <a:off x="577850" y="237025"/>
            <a:ext cx="15100200" cy="2201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Multi-way Puzzles</a:t>
            </a:r>
          </a:p>
        </p:txBody>
      </p:sp>
      <p:sp>
        <p:nvSpPr>
          <p:cNvPr id="421" name="Shape 421"/>
          <p:cNvSpPr txBox="1"/>
          <p:nvPr/>
        </p:nvSpPr>
        <p:spPr>
          <a:xfrm>
            <a:off x="8724425" y="3028950"/>
            <a:ext cx="6410699" cy="458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'Below 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20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'Below 20'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elif x &lt; 10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'Below 10'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'Something else'</a:t>
            </a:r>
          </a:p>
        </p:txBody>
      </p:sp>
      <p:sp>
        <p:nvSpPr>
          <p:cNvPr id="422" name="Shape 422"/>
          <p:cNvSpPr txBox="1"/>
          <p:nvPr/>
        </p:nvSpPr>
        <p:spPr>
          <a:xfrm>
            <a:off x="1404925" y="3854450"/>
            <a:ext cx="6113400" cy="3835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 x &lt;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'Below 2'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elif x &gt;= 2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'Two or more'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'Something else'</a:t>
            </a:r>
          </a:p>
        </p:txBody>
      </p:sp>
      <p:sp>
        <p:nvSpPr>
          <p:cNvPr id="423" name="Shape 423"/>
          <p:cNvSpPr txBox="1"/>
          <p:nvPr/>
        </p:nvSpPr>
        <p:spPr>
          <a:xfrm>
            <a:off x="1404936" y="2835337"/>
            <a:ext cx="44340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Which will never print?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try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/ 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except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Structure</a:t>
            </a:r>
          </a:p>
        </p:txBody>
      </p:sp>
      <p:sp>
        <p:nvSpPr>
          <p:cNvPr id="429" name="Shape 42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surround a dangerous section of code with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try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except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the code in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try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works -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except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skipped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the code in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try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fails - it jumps to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except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section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 txBox="1"/>
          <p:nvPr/>
        </p:nvSpPr>
        <p:spPr>
          <a:xfrm>
            <a:off x="1350600" y="2633700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$ cat notry.py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astr = 'Hello Bob</a:t>
            </a:r>
            <a:r>
              <a:rPr lang="en-US" sz="3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istr = int(astr)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'First', istr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astr = '123</a:t>
            </a:r>
            <a:r>
              <a:rPr lang="en-US" sz="3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istr = int(astr)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'Second', istr</a:t>
            </a:r>
          </a:p>
        </p:txBody>
      </p:sp>
      <p:sp>
        <p:nvSpPr>
          <p:cNvPr id="435" name="Shape 435"/>
          <p:cNvSpPr txBox="1"/>
          <p:nvPr/>
        </p:nvSpPr>
        <p:spPr>
          <a:xfrm>
            <a:off x="7912100" y="2946400"/>
            <a:ext cx="72516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 python notry.py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Traceback (most recent call last):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File "notry.py", line 2, in &lt;module&gt;    istr = int(astr)ValueError: invalid literal for int() with base 10: 'Hello Bob'</a:t>
            </a:r>
          </a:p>
        </p:txBody>
      </p:sp>
      <p:cxnSp>
        <p:nvCxnSpPr>
          <p:cNvPr id="436" name="Shape 436"/>
          <p:cNvCxnSpPr/>
          <p:nvPr/>
        </p:nvCxnSpPr>
        <p:spPr>
          <a:xfrm>
            <a:off x="12031450" y="6431250"/>
            <a:ext cx="1921199" cy="3000"/>
          </a:xfrm>
          <a:prstGeom prst="straightConnector1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37" name="Shape 437"/>
          <p:cNvSpPr txBox="1"/>
          <p:nvPr/>
        </p:nvSpPr>
        <p:spPr>
          <a:xfrm>
            <a:off x="13154025" y="6635750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Done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 txBox="1"/>
          <p:nvPr/>
        </p:nvSpPr>
        <p:spPr>
          <a:xfrm>
            <a:off x="8293100" y="2946400"/>
            <a:ext cx="7251699" cy="322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 python notry.py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Traceback (most recent call last):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File "notry.py", line 2, in &lt;module&gt;    istr = int(astr)ValueError: invalid literal for int() with base 10: 'Hello Bob'</a:t>
            </a:r>
          </a:p>
        </p:txBody>
      </p:sp>
      <p:cxnSp>
        <p:nvCxnSpPr>
          <p:cNvPr id="443" name="Shape 443"/>
          <p:cNvCxnSpPr/>
          <p:nvPr/>
        </p:nvCxnSpPr>
        <p:spPr>
          <a:xfrm rot="10800000">
            <a:off x="1037274" y="4120125"/>
            <a:ext cx="1217400" cy="13499"/>
          </a:xfrm>
          <a:prstGeom prst="straightConnector1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44" name="Shape 444"/>
          <p:cNvSpPr txBox="1"/>
          <p:nvPr/>
        </p:nvSpPr>
        <p:spPr>
          <a:xfrm>
            <a:off x="274325" y="4576775"/>
            <a:ext cx="1904999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The program stops here</a:t>
            </a:r>
          </a:p>
        </p:txBody>
      </p:sp>
      <p:cxnSp>
        <p:nvCxnSpPr>
          <p:cNvPr id="445" name="Shape 445"/>
          <p:cNvCxnSpPr/>
          <p:nvPr/>
        </p:nvCxnSpPr>
        <p:spPr>
          <a:xfrm>
            <a:off x="12440125" y="6431250"/>
            <a:ext cx="1893299" cy="3000"/>
          </a:xfrm>
          <a:prstGeom prst="straightConnector1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46" name="Shape 446"/>
          <p:cNvSpPr txBox="1"/>
          <p:nvPr/>
        </p:nvSpPr>
        <p:spPr>
          <a:xfrm>
            <a:off x="13535025" y="6635750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Done</a:t>
            </a:r>
          </a:p>
        </p:txBody>
      </p:sp>
      <p:sp>
        <p:nvSpPr>
          <p:cNvPr id="447" name="Shape 447"/>
          <p:cNvSpPr txBox="1"/>
          <p:nvPr/>
        </p:nvSpPr>
        <p:spPr>
          <a:xfrm>
            <a:off x="2389200" y="2632675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$ cat notry.py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astr = 'Hello Bob</a:t>
            </a:r>
            <a:r>
              <a:rPr lang="en-US" sz="3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istr = int(astr)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'First', istr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astr = '123’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istr = int(astr)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'Second', istr</a:t>
            </a:r>
          </a:p>
        </p:txBody>
      </p:sp>
      <p:sp>
        <p:nvSpPr>
          <p:cNvPr id="448" name="Shape 448"/>
          <p:cNvSpPr txBox="1"/>
          <p:nvPr/>
        </p:nvSpPr>
        <p:spPr>
          <a:xfrm>
            <a:off x="2254677" y="4402650"/>
            <a:ext cx="4819500" cy="27206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 txBox="1"/>
          <p:nvPr/>
        </p:nvSpPr>
        <p:spPr>
          <a:xfrm>
            <a:off x="6096000" y="1041400"/>
            <a:ext cx="3454399" cy="6489699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 Software</a:t>
            </a:r>
          </a:p>
        </p:txBody>
      </p:sp>
      <p:sp>
        <p:nvSpPr>
          <p:cNvPr id="492" name="Shape 492"/>
          <p:cNvSpPr txBox="1"/>
          <p:nvPr/>
        </p:nvSpPr>
        <p:spPr>
          <a:xfrm>
            <a:off x="2794000" y="1320800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Devices</a:t>
            </a:r>
          </a:p>
        </p:txBody>
      </p:sp>
      <p:sp>
        <p:nvSpPr>
          <p:cNvPr id="493" name="Shape 493"/>
          <p:cNvSpPr txBox="1"/>
          <p:nvPr/>
        </p:nvSpPr>
        <p:spPr>
          <a:xfrm>
            <a:off x="6731000" y="1892300"/>
            <a:ext cx="2133599" cy="19811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Central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Processing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Unit</a:t>
            </a:r>
          </a:p>
        </p:txBody>
      </p:sp>
      <p:sp>
        <p:nvSpPr>
          <p:cNvPr id="494" name="Shape 494"/>
          <p:cNvSpPr txBox="1"/>
          <p:nvPr/>
        </p:nvSpPr>
        <p:spPr>
          <a:xfrm>
            <a:off x="6731000" y="4927600"/>
            <a:ext cx="2171700" cy="21335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Memory</a:t>
            </a:r>
          </a:p>
        </p:txBody>
      </p:sp>
      <p:sp>
        <p:nvSpPr>
          <p:cNvPr id="495" name="Shape 495"/>
          <p:cNvSpPr txBox="1"/>
          <p:nvPr/>
        </p:nvSpPr>
        <p:spPr>
          <a:xfrm>
            <a:off x="2794000" y="4902200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Output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Devices</a:t>
            </a:r>
          </a:p>
        </p:txBody>
      </p:sp>
      <p:sp>
        <p:nvSpPr>
          <p:cNvPr id="496" name="Shape 496"/>
          <p:cNvSpPr txBox="1"/>
          <p:nvPr/>
        </p:nvSpPr>
        <p:spPr>
          <a:xfrm>
            <a:off x="11264900" y="3098800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Memory</a:t>
            </a:r>
          </a:p>
        </p:txBody>
      </p:sp>
      <p:cxnSp>
        <p:nvCxnSpPr>
          <p:cNvPr id="497" name="Shape 497"/>
          <p:cNvCxnSpPr/>
          <p:nvPr/>
        </p:nvCxnSpPr>
        <p:spPr>
          <a:xfrm flipH="1">
            <a:off x="4992686" y="2447925"/>
            <a:ext cx="1058862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98" name="Shape 498"/>
          <p:cNvCxnSpPr/>
          <p:nvPr/>
        </p:nvCxnSpPr>
        <p:spPr>
          <a:xfrm rot="10800000">
            <a:off x="7391400" y="3902074"/>
            <a:ext cx="0" cy="97155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99" name="Shape 499"/>
          <p:cNvCxnSpPr/>
          <p:nvPr/>
        </p:nvCxnSpPr>
        <p:spPr>
          <a:xfrm>
            <a:off x="8345486" y="3919537"/>
            <a:ext cx="0" cy="919162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00" name="Shape 500"/>
          <p:cNvCxnSpPr/>
          <p:nvPr/>
        </p:nvCxnSpPr>
        <p:spPr>
          <a:xfrm rot="10800000" flipH="1">
            <a:off x="5024437" y="5943600"/>
            <a:ext cx="989012" cy="1904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01" name="Shape 501"/>
          <p:cNvCxnSpPr/>
          <p:nvPr/>
        </p:nvCxnSpPr>
        <p:spPr>
          <a:xfrm flipH="1">
            <a:off x="9655175" y="3541712"/>
            <a:ext cx="1562099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02" name="Shape 502"/>
          <p:cNvCxnSpPr/>
          <p:nvPr/>
        </p:nvCxnSpPr>
        <p:spPr>
          <a:xfrm>
            <a:off x="9620250" y="4546600"/>
            <a:ext cx="1579562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03" name="Shape 503"/>
          <p:cNvSpPr txBox="1"/>
          <p:nvPr/>
        </p:nvSpPr>
        <p:spPr>
          <a:xfrm>
            <a:off x="12438061" y="692150"/>
            <a:ext cx="2052636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Generic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Computer</a:t>
            </a:r>
          </a:p>
        </p:txBody>
      </p:sp>
      <p:grpSp>
        <p:nvGrpSpPr>
          <p:cNvPr id="504" name="Shape 504"/>
          <p:cNvGrpSpPr/>
          <p:nvPr/>
        </p:nvGrpSpPr>
        <p:grpSpPr>
          <a:xfrm>
            <a:off x="8556625" y="3400425"/>
            <a:ext cx="814387" cy="1300161"/>
            <a:chOff x="0" y="0"/>
            <a:chExt cx="812800" cy="1300161"/>
          </a:xfrm>
        </p:grpSpPr>
        <p:pic>
          <p:nvPicPr>
            <p:cNvPr id="505" name="Shape 50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5600" y="649287"/>
              <a:ext cx="457200" cy="6508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6" name="Shape 506"/>
            <p:cNvCxnSpPr/>
            <p:nvPr/>
          </p:nvCxnSpPr>
          <p:spPr>
            <a:xfrm>
              <a:off x="0" y="0"/>
              <a:ext cx="428625" cy="709612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11"/>
          <p:cNvSpPr txBox="1"/>
          <p:nvPr/>
        </p:nvSpPr>
        <p:spPr>
          <a:xfrm>
            <a:off x="2882900" y="349250"/>
            <a:ext cx="5204399" cy="8432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$ cat tryexcept.py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astr =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istr = int(astr)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istr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'First', istr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astr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istr = int(astr)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istr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'Second', istr</a:t>
            </a:r>
          </a:p>
        </p:txBody>
      </p:sp>
      <p:sp>
        <p:nvSpPr>
          <p:cNvPr id="512" name="Shape 512"/>
          <p:cNvSpPr txBox="1"/>
          <p:nvPr/>
        </p:nvSpPr>
        <p:spPr>
          <a:xfrm>
            <a:off x="8877300" y="3714750"/>
            <a:ext cx="5204399" cy="16890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$ python tryexcept.py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First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Second 123</a:t>
            </a:r>
          </a:p>
        </p:txBody>
      </p:sp>
      <p:sp>
        <p:nvSpPr>
          <p:cNvPr id="513" name="Shape 513"/>
          <p:cNvSpPr txBox="1"/>
          <p:nvPr/>
        </p:nvSpPr>
        <p:spPr>
          <a:xfrm>
            <a:off x="8836025" y="1130300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When the first conversion fails -  it just drops into the except: clause and the program continues.</a:t>
            </a:r>
          </a:p>
        </p:txBody>
      </p:sp>
      <p:cxnSp>
        <p:nvCxnSpPr>
          <p:cNvPr id="514" name="Shape 514"/>
          <p:cNvCxnSpPr/>
          <p:nvPr/>
        </p:nvCxnSpPr>
        <p:spPr>
          <a:xfrm flipH="1">
            <a:off x="1552724" y="2565411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15" name="Shape 515"/>
          <p:cNvSpPr txBox="1"/>
          <p:nvPr/>
        </p:nvSpPr>
        <p:spPr>
          <a:xfrm>
            <a:off x="8836025" y="6311900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When the second conversion succeeds -  it just skips the except: clause and the program continues.</a:t>
            </a:r>
          </a:p>
        </p:txBody>
      </p:sp>
      <p:cxnSp>
        <p:nvCxnSpPr>
          <p:cNvPr id="516" name="Shape 516"/>
          <p:cNvCxnSpPr/>
          <p:nvPr/>
        </p:nvCxnSpPr>
        <p:spPr>
          <a:xfrm>
            <a:off x="6301625" y="3443150"/>
            <a:ext cx="903299" cy="17399"/>
          </a:xfrm>
          <a:prstGeom prst="straightConnector1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17" name="Shape 517"/>
          <p:cNvCxnSpPr/>
          <p:nvPr/>
        </p:nvCxnSpPr>
        <p:spPr>
          <a:xfrm flipH="1">
            <a:off x="1356674" y="6179937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18" name="Shape 518"/>
          <p:cNvCxnSpPr/>
          <p:nvPr/>
        </p:nvCxnSpPr>
        <p:spPr>
          <a:xfrm rot="10800000" flipH="1">
            <a:off x="7643025" y="8017811"/>
            <a:ext cx="969900" cy="1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5765799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try / except</a:t>
            </a:r>
          </a:p>
        </p:txBody>
      </p:sp>
      <p:sp>
        <p:nvSpPr>
          <p:cNvPr id="524" name="Shape 524"/>
          <p:cNvSpPr txBox="1"/>
          <p:nvPr/>
        </p:nvSpPr>
        <p:spPr>
          <a:xfrm>
            <a:off x="7581900" y="9525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astr = 'Bob'</a:t>
            </a:r>
          </a:p>
        </p:txBody>
      </p:sp>
      <p:cxnSp>
        <p:nvCxnSpPr>
          <p:cNvPr id="525" name="Shape 525"/>
          <p:cNvCxnSpPr/>
          <p:nvPr/>
        </p:nvCxnSpPr>
        <p:spPr>
          <a:xfrm rot="10800000">
            <a:off x="11690350" y="2797174"/>
            <a:ext cx="2417761" cy="20636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526" name="Shape 526"/>
          <p:cNvSpPr txBox="1"/>
          <p:nvPr/>
        </p:nvSpPr>
        <p:spPr>
          <a:xfrm>
            <a:off x="1968500" y="2863850"/>
            <a:ext cx="5171100" cy="5245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astr = 'Bob'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'Hello'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istr = int(astr)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0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istr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 'Done', istr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8229600" y="2387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'Hello'</a:t>
            </a:r>
          </a:p>
        </p:txBody>
      </p:sp>
      <p:sp>
        <p:nvSpPr>
          <p:cNvPr id="528" name="Shape 528"/>
          <p:cNvSpPr txBox="1"/>
          <p:nvPr/>
        </p:nvSpPr>
        <p:spPr>
          <a:xfrm>
            <a:off x="8229600" y="50800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'There'</a:t>
            </a:r>
          </a:p>
        </p:txBody>
      </p:sp>
      <p:sp>
        <p:nvSpPr>
          <p:cNvPr id="529" name="Shape 529"/>
          <p:cNvSpPr txBox="1"/>
          <p:nvPr/>
        </p:nvSpPr>
        <p:spPr>
          <a:xfrm>
            <a:off x="8229600" y="37719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istr = int(astr)</a:t>
            </a:r>
          </a:p>
        </p:txBody>
      </p:sp>
      <p:sp>
        <p:nvSpPr>
          <p:cNvPr id="530" name="Shape 530"/>
          <p:cNvSpPr txBox="1"/>
          <p:nvPr/>
        </p:nvSpPr>
        <p:spPr>
          <a:xfrm>
            <a:off x="8153400" y="74422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'Done', istr</a:t>
            </a:r>
          </a:p>
        </p:txBody>
      </p:sp>
      <p:cxnSp>
        <p:nvCxnSpPr>
          <p:cNvPr id="531" name="Shape 531"/>
          <p:cNvCxnSpPr/>
          <p:nvPr/>
        </p:nvCxnSpPr>
        <p:spPr>
          <a:xfrm rot="10800000">
            <a:off x="9947275" y="3227386"/>
            <a:ext cx="19049" cy="541337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32" name="Shape 532"/>
          <p:cNvCxnSpPr/>
          <p:nvPr/>
        </p:nvCxnSpPr>
        <p:spPr>
          <a:xfrm rot="10800000" flipH="1">
            <a:off x="9947275" y="4618036"/>
            <a:ext cx="22225" cy="439736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33" name="Shape 533"/>
          <p:cNvSpPr txBox="1"/>
          <p:nvPr/>
        </p:nvSpPr>
        <p:spPr>
          <a:xfrm>
            <a:off x="12369800" y="6324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istr = -1</a:t>
            </a:r>
          </a:p>
        </p:txBody>
      </p:sp>
      <p:cxnSp>
        <p:nvCxnSpPr>
          <p:cNvPr id="534" name="Shape 534"/>
          <p:cNvCxnSpPr/>
          <p:nvPr/>
        </p:nvCxnSpPr>
        <p:spPr>
          <a:xfrm rot="10800000" flipH="1">
            <a:off x="9942675" y="5940375"/>
            <a:ext cx="4799" cy="15503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35" name="Shape 535"/>
          <p:cNvCxnSpPr/>
          <p:nvPr/>
        </p:nvCxnSpPr>
        <p:spPr>
          <a:xfrm rot="10800000">
            <a:off x="9293225" y="1884361"/>
            <a:ext cx="673099" cy="48577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36" name="Shape 536"/>
          <p:cNvCxnSpPr/>
          <p:nvPr/>
        </p:nvCxnSpPr>
        <p:spPr>
          <a:xfrm rot="10800000">
            <a:off x="11690349" y="4181475"/>
            <a:ext cx="2400300" cy="17461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537" name="Shape 537"/>
          <p:cNvCxnSpPr/>
          <p:nvPr/>
        </p:nvCxnSpPr>
        <p:spPr>
          <a:xfrm rot="10800000">
            <a:off x="11690349" y="5489575"/>
            <a:ext cx="2400300" cy="33336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538" name="Shape 538"/>
          <p:cNvCxnSpPr/>
          <p:nvPr/>
        </p:nvCxnSpPr>
        <p:spPr>
          <a:xfrm rot="10800000">
            <a:off x="14150600" y="2753249"/>
            <a:ext cx="14999" cy="3511500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539" name="Shape 539"/>
          <p:cNvCxnSpPr/>
          <p:nvPr/>
        </p:nvCxnSpPr>
        <p:spPr>
          <a:xfrm rot="10800000" flipH="1">
            <a:off x="9927550" y="6737349"/>
            <a:ext cx="2351700" cy="405300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540" name="Shape 540"/>
          <p:cNvSpPr txBox="1"/>
          <p:nvPr/>
        </p:nvSpPr>
        <p:spPr>
          <a:xfrm>
            <a:off x="12920677" y="7340600"/>
            <a:ext cx="23517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Safety net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Sample try / except</a:t>
            </a:r>
          </a:p>
        </p:txBody>
      </p:sp>
      <p:sp>
        <p:nvSpPr>
          <p:cNvPr id="546" name="Shape 546"/>
          <p:cNvSpPr txBox="1"/>
          <p:nvPr/>
        </p:nvSpPr>
        <p:spPr>
          <a:xfrm>
            <a:off x="9579425" y="4200450"/>
            <a:ext cx="5941499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python trynum.py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number: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Nice work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python trynum.py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number: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forty-two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Not a number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</a:p>
        </p:txBody>
      </p:sp>
      <p:sp>
        <p:nvSpPr>
          <p:cNvPr id="547" name="Shape 547"/>
          <p:cNvSpPr txBox="1"/>
          <p:nvPr/>
        </p:nvSpPr>
        <p:spPr>
          <a:xfrm>
            <a:off x="910375" y="2860675"/>
            <a:ext cx="85610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rawstr</a:t>
            </a: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0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('Enter a number:')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try: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0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ival</a:t>
            </a: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0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0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rawstr</a:t>
            </a: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except: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0" i="0" u="none" strike="noStrike" cap="none" baseline="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ival</a:t>
            </a:r>
            <a:r>
              <a:rPr lang="en-US" sz="3000" b="0" i="0" u="none" strike="noStrike" cap="none" baseline="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 baseline="0" dirty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3000" b="0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ival</a:t>
            </a: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&gt; 0 :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'Nice work'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else: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'Not a number'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591"/>
          <p:cNvSpPr txBox="1"/>
          <p:nvPr/>
        </p:nvSpPr>
        <p:spPr>
          <a:xfrm>
            <a:off x="749300" y="342900"/>
            <a:ext cx="1727199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Exercise</a:t>
            </a:r>
          </a:p>
        </p:txBody>
      </p:sp>
      <p:sp>
        <p:nvSpPr>
          <p:cNvPr id="592" name="Shape 592"/>
          <p:cNvSpPr txBox="1"/>
          <p:nvPr/>
        </p:nvSpPr>
        <p:spPr>
          <a:xfrm>
            <a:off x="2476500" y="2182600"/>
            <a:ext cx="10706100" cy="4013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Rewrite your pay computation to give the employee 1.5 times the hourly rate for hours worked above 40 hours.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8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 Hours: </a:t>
            </a:r>
            <a:r>
              <a:rPr lang="en-US" sz="3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45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 Rate: </a:t>
            </a:r>
            <a:r>
              <a:rPr lang="en-US" sz="3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Pay: 475.0</a:t>
            </a:r>
          </a:p>
        </p:txBody>
      </p:sp>
      <p:sp>
        <p:nvSpPr>
          <p:cNvPr id="593" name="Shape 593"/>
          <p:cNvSpPr txBox="1"/>
          <p:nvPr/>
        </p:nvSpPr>
        <p:spPr>
          <a:xfrm>
            <a:off x="9896475" y="6731000"/>
            <a:ext cx="456565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475 = 40 * 10 + 5 * 15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 txBox="1"/>
          <p:nvPr/>
        </p:nvSpPr>
        <p:spPr>
          <a:xfrm>
            <a:off x="749300" y="342900"/>
            <a:ext cx="1727199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Exercise</a:t>
            </a:r>
          </a:p>
        </p:txBody>
      </p:sp>
      <p:sp>
        <p:nvSpPr>
          <p:cNvPr id="599" name="Shape 599"/>
          <p:cNvSpPr txBox="1"/>
          <p:nvPr/>
        </p:nvSpPr>
        <p:spPr>
          <a:xfrm>
            <a:off x="3136900" y="1916225"/>
            <a:ext cx="10706100" cy="5689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Rewrite your pay program using try and except so that your program handles non-numeric input gracefully.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80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 Hours: </a:t>
            </a:r>
            <a:r>
              <a:rPr lang="en-US" sz="3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20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 Rate: </a:t>
            </a:r>
            <a:r>
              <a:rPr lang="en-US" sz="3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nine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Error, please enter numeric 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b="0" i="0" u="none" strike="noStrike" cap="none" baseline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 Hours: </a:t>
            </a:r>
            <a:r>
              <a:rPr lang="en-US" sz="3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forty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Error, please enter numeric input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9248" y="1475656"/>
            <a:ext cx="13931900" cy="5702299"/>
          </a:xfrm>
        </p:spPr>
        <p:txBody>
          <a:bodyPr/>
          <a:lstStyle/>
          <a:p>
            <a:r>
              <a:rPr lang="en-US" sz="4400" i="1" dirty="0" smtClean="0">
                <a:solidFill>
                  <a:srgbClr val="FFFF00"/>
                </a:solidFill>
              </a:rPr>
              <a:t>Write a program to prompt for a score between 0.0 and 1.0. If the score is out of range, print an error message. If the score is between 0.0 and 1.0, print a grade using the following table:</a:t>
            </a:r>
          </a:p>
          <a:p>
            <a:pPr marL="396000">
              <a:spcBef>
                <a:spcPts val="0"/>
              </a:spcBef>
              <a:buNone/>
            </a:pPr>
            <a:r>
              <a:rPr lang="en-US" sz="3200" i="1" dirty="0" smtClean="0">
                <a:solidFill>
                  <a:srgbClr val="FFFF00"/>
                </a:solidFill>
              </a:rPr>
              <a:t>Score Grade &gt;= 0.9 A </a:t>
            </a:r>
          </a:p>
          <a:p>
            <a:pPr marL="396000">
              <a:spcBef>
                <a:spcPts val="0"/>
              </a:spcBef>
              <a:buNone/>
            </a:pPr>
            <a:r>
              <a:rPr lang="en-US" sz="3200" i="1" dirty="0" smtClean="0">
                <a:solidFill>
                  <a:srgbClr val="FFFF00"/>
                </a:solidFill>
              </a:rPr>
              <a:t>&gt;= 0.8 B </a:t>
            </a:r>
          </a:p>
          <a:p>
            <a:pPr marL="396000">
              <a:spcBef>
                <a:spcPts val="0"/>
              </a:spcBef>
              <a:buNone/>
            </a:pPr>
            <a:r>
              <a:rPr lang="en-US" sz="3200" i="1" dirty="0" smtClean="0">
                <a:solidFill>
                  <a:srgbClr val="FFFF00"/>
                </a:solidFill>
              </a:rPr>
              <a:t>&gt;= 0.7 C </a:t>
            </a:r>
          </a:p>
          <a:p>
            <a:pPr marL="396000">
              <a:spcBef>
                <a:spcPts val="0"/>
              </a:spcBef>
              <a:buNone/>
            </a:pPr>
            <a:r>
              <a:rPr lang="en-US" sz="3200" i="1" dirty="0" smtClean="0">
                <a:solidFill>
                  <a:srgbClr val="FFFF00"/>
                </a:solidFill>
              </a:rPr>
              <a:t>&gt;= 0.6 </a:t>
            </a:r>
            <a:r>
              <a:rPr lang="en-US" sz="3200" i="1" dirty="0" smtClean="0">
                <a:solidFill>
                  <a:srgbClr val="FFFF00"/>
                </a:solidFill>
              </a:rPr>
              <a:t> D</a:t>
            </a:r>
            <a:endParaRPr lang="en-US" sz="3200" i="1" dirty="0" smtClean="0">
              <a:solidFill>
                <a:srgbClr val="FFFF00"/>
              </a:solidFill>
            </a:endParaRPr>
          </a:p>
          <a:p>
            <a:pPr marL="396000">
              <a:spcBef>
                <a:spcPts val="0"/>
              </a:spcBef>
              <a:buNone/>
            </a:pPr>
            <a:r>
              <a:rPr lang="en-US" sz="3200" i="1" dirty="0" smtClean="0">
                <a:solidFill>
                  <a:srgbClr val="FFFF00"/>
                </a:solidFill>
              </a:rPr>
              <a:t>D &lt; 0.6 F </a:t>
            </a:r>
            <a:endParaRPr lang="en-US" sz="3200" i="1" dirty="0" smtClean="0">
              <a:solidFill>
                <a:srgbClr val="FFFF00"/>
              </a:solidFill>
            </a:endParaRPr>
          </a:p>
          <a:p>
            <a:pPr marL="396000">
              <a:spcBef>
                <a:spcPts val="0"/>
              </a:spcBef>
              <a:buNone/>
            </a:pPr>
            <a:endParaRPr lang="en-US" sz="3200" i="1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  <p:sp>
        <p:nvSpPr>
          <p:cNvPr id="644" name="Shape 644"/>
          <p:cNvSpPr txBox="1">
            <a:spLocks noGrp="1"/>
          </p:cNvSpPr>
          <p:nvPr>
            <p:ph type="body" idx="1"/>
          </p:nvPr>
        </p:nvSpPr>
        <p:spPr>
          <a:xfrm>
            <a:off x="1155700" y="2540000"/>
            <a:ext cx="63596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Comparison operators  </a:t>
            </a:r>
            <a:b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==   &lt;=   &gt;=   &gt;   &lt;   !   =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Logical operators: and or not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Indentation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One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-w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ay Decision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Two-way decisions:</a:t>
            </a:r>
            <a:b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if:  and  else:</a:t>
            </a:r>
          </a:p>
        </p:txBody>
      </p:sp>
      <p:sp>
        <p:nvSpPr>
          <p:cNvPr id="645" name="Shape 645"/>
          <p:cNvSpPr txBox="1">
            <a:spLocks noGrp="1"/>
          </p:cNvSpPr>
          <p:nvPr>
            <p:ph type="body" idx="2"/>
          </p:nvPr>
        </p:nvSpPr>
        <p:spPr>
          <a:xfrm>
            <a:off x="8186275" y="2554475"/>
            <a:ext cx="63596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Nested Decisions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Multi-way decisions using </a:t>
            </a:r>
            <a:r>
              <a:rPr lang="en-US" sz="3600" b="0" i="0" u="none" strike="noStrike" cap="none" baseline="0" dirty="0" err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elif</a:t>
            </a:r>
            <a:endParaRPr lang="en-US" sz="36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Try / Except to compensate for </a:t>
            </a:r>
            <a:r>
              <a:rPr lang="en-US" sz="3600" b="0" i="0" u="none" strike="noStrike" cap="none" baseline="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errors</a:t>
            </a:r>
            <a:endParaRPr lang="en-US" sz="36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vignette2.wikia.nocookie.net/animaljam/images/3/38/Dancing_gir.gif/revision/latest?cb=20141122094457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216" y="323528"/>
            <a:ext cx="12889432" cy="817190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35112" y="251520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Chapter 3 : Finished</a:t>
            </a:r>
          </a:p>
          <a:p>
            <a:endParaRPr lang="en-US" sz="8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00208" y="7209001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Any Doubt?</a:t>
            </a:r>
            <a:endParaRPr lang="en-US" sz="8000" b="1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FF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AAFF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- Center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1798</Words>
  <Application>Microsoft Office PowerPoint</Application>
  <PresentationFormat>Custom</PresentationFormat>
  <Paragraphs>438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Cabin</vt:lpstr>
      <vt:lpstr>Courier New</vt:lpstr>
      <vt:lpstr>Merriweather Sans</vt:lpstr>
      <vt:lpstr>Title &amp; Subtitle</vt:lpstr>
      <vt:lpstr>1_Title &amp; Bullets</vt:lpstr>
      <vt:lpstr>Title - Center</vt:lpstr>
      <vt:lpstr>Title &amp; Bullets</vt:lpstr>
      <vt:lpstr>Title &amp; Bullets - 2 Column</vt:lpstr>
      <vt:lpstr>Conditional Execution</vt:lpstr>
      <vt:lpstr>Conditional Steps</vt:lpstr>
      <vt:lpstr>Comparison Operators</vt:lpstr>
      <vt:lpstr>Comparison Operators</vt:lpstr>
      <vt:lpstr>One-Way Decisions</vt:lpstr>
      <vt:lpstr>Indentation</vt:lpstr>
      <vt:lpstr>Warning: Turn Off Tabs</vt:lpstr>
      <vt:lpstr>Slide 8</vt:lpstr>
      <vt:lpstr>Slide 9</vt:lpstr>
      <vt:lpstr>Slide 10</vt:lpstr>
      <vt:lpstr>Slide 11</vt:lpstr>
      <vt:lpstr>Two-way Decisions</vt:lpstr>
      <vt:lpstr>Two-way using else :</vt:lpstr>
      <vt:lpstr>Two-way using else :</vt:lpstr>
      <vt:lpstr>Multi-way</vt:lpstr>
      <vt:lpstr>Multi-way</vt:lpstr>
      <vt:lpstr>Multi-way</vt:lpstr>
      <vt:lpstr>Multi-way</vt:lpstr>
      <vt:lpstr>Multi-way</vt:lpstr>
      <vt:lpstr>Multi-way Puzzles</vt:lpstr>
      <vt:lpstr>The try / except Structure</vt:lpstr>
      <vt:lpstr>Slide 22</vt:lpstr>
      <vt:lpstr>Slide 23</vt:lpstr>
      <vt:lpstr>Slide 24</vt:lpstr>
      <vt:lpstr>Slide 25</vt:lpstr>
      <vt:lpstr>try / except</vt:lpstr>
      <vt:lpstr>Sample try / except</vt:lpstr>
      <vt:lpstr>Slide 28</vt:lpstr>
      <vt:lpstr>Slide 29</vt:lpstr>
      <vt:lpstr>Slide 30</vt:lpstr>
      <vt:lpstr>Summary</vt:lpstr>
      <vt:lpstr>Slide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Execution</dc:title>
  <cp:lastModifiedBy>Atul Ghumade</cp:lastModifiedBy>
  <cp:revision>31</cp:revision>
  <dcterms:modified xsi:type="dcterms:W3CDTF">2015-09-13T06:25:00Z</dcterms:modified>
</cp:coreProperties>
</file>