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 id="2147483717" r:id="rId3"/>
    <p:sldMasterId id="2147483718" r:id="rId4"/>
  </p:sldMasterIdLst>
  <p:notesMasterIdLst>
    <p:notesMasterId r:id="rId43"/>
  </p:notesMasterIdLst>
  <p:sldIdLst>
    <p:sldId id="256" r:id="rId5"/>
    <p:sldId id="257" r:id="rId6"/>
    <p:sldId id="258" r:id="rId7"/>
    <p:sldId id="259" r:id="rId8"/>
    <p:sldId id="260" r:id="rId9"/>
    <p:sldId id="261" r:id="rId10"/>
    <p:sldId id="262" r:id="rId11"/>
    <p:sldId id="289"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90" r:id="rId28"/>
    <p:sldId id="278" r:id="rId29"/>
    <p:sldId id="279" r:id="rId30"/>
    <p:sldId id="280" r:id="rId31"/>
    <p:sldId id="281" r:id="rId32"/>
    <p:sldId id="282" r:id="rId33"/>
    <p:sldId id="283" r:id="rId34"/>
    <p:sldId id="284" r:id="rId35"/>
    <p:sldId id="285" r:id="rId36"/>
    <p:sldId id="286" r:id="rId37"/>
    <p:sldId id="291" r:id="rId38"/>
    <p:sldId id="292" r:id="rId39"/>
    <p:sldId id="293" r:id="rId40"/>
    <p:sldId id="287" r:id="rId41"/>
    <p:sldId id="294" r:id="rId42"/>
  </p:sldIdLst>
  <p:sldSz cx="16256000" cy="9144000"/>
  <p:notesSz cx="6858000" cy="9144000"/>
  <p:embeddedFontLst>
    <p:embeddedFont>
      <p:font typeface="Merriweather Sans" panose="020B0604020202020204" charset="0"/>
      <p:italic r:id="rId44"/>
      <p:boldItalic r:id="rId45"/>
    </p:embeddedFont>
    <p:embeddedFont>
      <p:font typeface="Cabin" panose="020B0604020202020204" charset="0"/>
      <p:regular r:id="rId46"/>
      <p:bold r:id="rId47"/>
      <p:italic r:id="rId48"/>
      <p:boldItalic r:id="rId49"/>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98A04C-20DC-4C87-BC84-62704544E0CF}">
  <a:tblStyle styleId="{0898A04C-20DC-4C87-BC84-62704544E0CF}" styleName="Table_0"/>
  <a:tblStyle styleId="{BC987CDA-01E2-434E-AB49-963D1FF41025}" styleName="Table_1"/>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246" y="60"/>
      </p:cViewPr>
      <p:guideLst>
        <p:guide orient="horz" pos="2880"/>
        <p:guide pos="5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4.fntdata"/><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4.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1734935879"/>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dirty="0"/>
          </a:p>
        </p:txBody>
      </p:sp>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594126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7" name="Shape 9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88392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48" name="Shape 1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100780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58042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685196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solidFill>
            <a:srgbClr val="FFFFFF"/>
          </a:solidFill>
          <a:ln w="9525" cap="rnd" cmpd="sng">
            <a:solidFill>
              <a:srgbClr val="000000"/>
            </a:solidFill>
            <a:prstDash val="solid"/>
            <a:miter/>
            <a:headEnd type="none" w="med" len="med"/>
            <a:tailEnd type="none" w="med" len="med"/>
          </a:ln>
        </p:spPr>
      </p:sp>
      <p:sp>
        <p:nvSpPr>
          <p:cNvPr id="177" name="Shape 177"/>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Font typeface="Merriweather Sans"/>
              <a:buNone/>
            </a:pPr>
            <a:r>
              <a:rPr lang="en-US" sz="2000" b="0" i="0" u="none" strike="noStrike" cap="none" baseline="0">
                <a:latin typeface="Merriweather Sans"/>
                <a:ea typeface="Merriweather Sans"/>
                <a:cs typeface="Merriweather Sans"/>
                <a:sym typeface="Merriweather Sans"/>
              </a:rPr>
              <a:t>Like a dog .... food ... food ...</a:t>
            </a:r>
          </a:p>
        </p:txBody>
      </p:sp>
    </p:spTree>
    <p:extLst>
      <p:ext uri="{BB962C8B-B14F-4D97-AF65-F5344CB8AC3E}">
        <p14:creationId xmlns:p14="http://schemas.microsoft.com/office/powerpoint/2010/main" val="2137516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91" name="Shape 1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55766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99" name="Shape 1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232969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56" name="Shape 25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360723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70" name="Shape 27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70638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Shape 2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77" name="Shape 2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835672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47993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Shape 2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0" name="Shape 3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860310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9" name="Shape 3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435697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Shape 32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26" name="Shape 3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798015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Shape 33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36" name="Shape 3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588000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Shape 34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44" name="Shape 3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831420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Shape 3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1" name="Shape 3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346666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Shape 35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9" name="Shape 3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533101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749990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Shape 37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3" name="Shape 3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10162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Shape 37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80" name="Shape 38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558626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Shape 38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87" name="Shape 3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870264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Shape 39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95" name="Shape 3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10402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Shape 40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04" name="Shape 40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3682130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Shape 4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0" name="Shape 4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4050130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Shape 41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5" name="Shape 41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358161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Shape 42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22" name="Shape 42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9489865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Shape 4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29" name="Shape 4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788002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Shape 4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37" name="Shape 4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906211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Shape 44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43" name="Shape 44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235458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Shape 48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90" name="Shape 49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9124037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Shape 6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9" name="Shape 64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596494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
        <p:cNvGrpSpPr/>
        <p:nvPr/>
      </p:nvGrpSpPr>
      <p:grpSpPr>
        <a:xfrm>
          <a:off x="0" y="0"/>
          <a:ext cx="0" cy="0"/>
          <a:chOff x="0" y="0"/>
          <a:chExt cx="0" cy="0"/>
        </a:xfrm>
      </p:grpSpPr>
      <p:sp>
        <p:nvSpPr>
          <p:cNvPr id="8" name="Shape 8"/>
          <p:cNvSpPr txBox="1">
            <a:spLocks noGrp="1"/>
          </p:cNvSpPr>
          <p:nvPr>
            <p:ph type="title"/>
          </p:nvPr>
        </p:nvSpPr>
        <p:spPr>
          <a:xfrm rot="5400000">
            <a:off x="11231562" y="1909762"/>
            <a:ext cx="4229100" cy="3482975"/>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9" name="Shape 9"/>
          <p:cNvSpPr txBox="1">
            <a:spLocks noGrp="1"/>
          </p:cNvSpPr>
          <p:nvPr>
            <p:ph type="body" idx="1"/>
          </p:nvPr>
        </p:nvSpPr>
        <p:spPr>
          <a:xfrm rot="5400000">
            <a:off x="4189412" y="-1497012"/>
            <a:ext cx="4229100" cy="10296524"/>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 name="Shape 12"/>
          <p:cNvSpPr txBox="1">
            <a:spLocks noGrp="1"/>
          </p:cNvSpPr>
          <p:nvPr>
            <p:ph type="body" idx="1"/>
          </p:nvPr>
        </p:nvSpPr>
        <p:spPr>
          <a:xfrm rot="5400000">
            <a:off x="7594599" y="-1727200"/>
            <a:ext cx="1054100" cy="139319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 name="Shape 15"/>
          <p:cNvSpPr>
            <a:spLocks noGrp="1"/>
          </p:cNvSpPr>
          <p:nvPr>
            <p:ph type="pic" idx="2"/>
          </p:nvPr>
        </p:nvSpPr>
        <p:spPr>
          <a:xfrm>
            <a:off x="3186113" y="817562"/>
            <a:ext cx="9753599" cy="5486399"/>
          </a:xfrm>
          <a:prstGeom prst="rect">
            <a:avLst/>
          </a:prstGeom>
          <a:noFill/>
          <a:ln>
            <a:noFill/>
          </a:ln>
        </p:spPr>
      </p:sp>
      <p:sp>
        <p:nvSpPr>
          <p:cNvPr id="16" name="Shape 16"/>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9" name="Shape 19"/>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0" name="Shape 20"/>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812800" y="366712"/>
            <a:ext cx="14630400" cy="1524000"/>
          </a:xfrm>
          <a:prstGeom prst="rect">
            <a:avLst/>
          </a:prstGeom>
          <a:noFill/>
          <a:ln>
            <a:noFill/>
          </a:ln>
        </p:spPr>
        <p:txBody>
          <a:bodyPr lIns="91425" tIns="91425" rIns="91425" bIns="91425" anchor="b"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6" name="Shape 26"/>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7" name="Shape 27"/>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 name="Shape 28"/>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9" name="Shape 29"/>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2" name="Shape 32"/>
          <p:cNvSpPr txBox="1">
            <a:spLocks noGrp="1"/>
          </p:cNvSpPr>
          <p:nvPr>
            <p:ph type="body" idx="1"/>
          </p:nvPr>
        </p:nvSpPr>
        <p:spPr>
          <a:xfrm>
            <a:off x="115570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 name="Shape 33"/>
          <p:cNvSpPr txBox="1">
            <a:spLocks noGrp="1"/>
          </p:cNvSpPr>
          <p:nvPr>
            <p:ph type="body" idx="2"/>
          </p:nvPr>
        </p:nvSpPr>
        <p:spPr>
          <a:xfrm>
            <a:off x="819785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 name="Shape 36"/>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9" name="Shape 39"/>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0"/>
        <p:cNvGrpSpPr/>
        <p:nvPr/>
      </p:nvGrpSpPr>
      <p:grpSpPr>
        <a:xfrm>
          <a:off x="0" y="0"/>
          <a:ext cx="0" cy="0"/>
          <a:chOff x="0" y="0"/>
          <a:chExt cx="0" cy="0"/>
        </a:xfrm>
      </p:grpSpPr>
      <p:sp>
        <p:nvSpPr>
          <p:cNvPr id="41" name="Shape 41"/>
          <p:cNvSpPr txBox="1">
            <a:spLocks noGrp="1"/>
          </p:cNvSpPr>
          <p:nvPr>
            <p:ph type="ctrTitle"/>
          </p:nvPr>
        </p:nvSpPr>
        <p:spPr>
          <a:xfrm>
            <a:off x="1219200" y="2840038"/>
            <a:ext cx="13817599" cy="1960561"/>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2" name="Shape 42"/>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rot="5400000">
            <a:off x="9236075" y="2441574"/>
            <a:ext cx="7708899" cy="330834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57" name="Shape 57"/>
          <p:cNvSpPr txBox="1">
            <a:spLocks noGrp="1"/>
          </p:cNvSpPr>
          <p:nvPr>
            <p:ph type="body" idx="1"/>
          </p:nvPr>
        </p:nvSpPr>
        <p:spPr>
          <a:xfrm rot="5400000">
            <a:off x="2543175" y="-790575"/>
            <a:ext cx="7708899" cy="977265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0" name="Shape 60"/>
          <p:cNvSpPr txBox="1">
            <a:spLocks noGrp="1"/>
          </p:cNvSpPr>
          <p:nvPr>
            <p:ph type="body" idx="1"/>
          </p:nvPr>
        </p:nvSpPr>
        <p:spPr>
          <a:xfrm rot="5400000">
            <a:off x="5448299" y="-1346199"/>
            <a:ext cx="5359400" cy="13233399"/>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3" name="Shape 63"/>
          <p:cNvSpPr>
            <a:spLocks noGrp="1"/>
          </p:cNvSpPr>
          <p:nvPr>
            <p:ph type="pic" idx="2"/>
          </p:nvPr>
        </p:nvSpPr>
        <p:spPr>
          <a:xfrm>
            <a:off x="3186113" y="817562"/>
            <a:ext cx="9753599" cy="5486399"/>
          </a:xfrm>
          <a:prstGeom prst="rect">
            <a:avLst/>
          </a:prstGeom>
          <a:noFill/>
          <a:ln>
            <a:noFill/>
          </a:ln>
        </p:spPr>
      </p:sp>
      <p:sp>
        <p:nvSpPr>
          <p:cNvPr id="64" name="Shape 64"/>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8" name="Shape 68"/>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4" name="Shape 74"/>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5" name="Shape 75"/>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6" name="Shape 76"/>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7" name="Shape 77"/>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 name="Shape 80"/>
          <p:cNvSpPr txBox="1">
            <a:spLocks noGrp="1"/>
          </p:cNvSpPr>
          <p:nvPr>
            <p:ph type="body" idx="1"/>
          </p:nvPr>
        </p:nvSpPr>
        <p:spPr>
          <a:xfrm>
            <a:off x="15113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1" name="Shape 81"/>
          <p:cNvSpPr txBox="1">
            <a:spLocks noGrp="1"/>
          </p:cNvSpPr>
          <p:nvPr>
            <p:ph type="body" idx="2"/>
          </p:nvPr>
        </p:nvSpPr>
        <p:spPr>
          <a:xfrm>
            <a:off x="82042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4" name="Shape 84"/>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5"/>
        <p:cNvGrpSpPr/>
        <p:nvPr/>
      </p:nvGrpSpPr>
      <p:grpSpPr>
        <a:xfrm>
          <a:off x="0" y="0"/>
          <a:ext cx="0" cy="0"/>
          <a:chOff x="0" y="0"/>
          <a:chExt cx="0" cy="0"/>
        </a:xfrm>
      </p:grpSpPr>
      <p:sp>
        <p:nvSpPr>
          <p:cNvPr id="86" name="Shape 86"/>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7" name="Shape 87"/>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90" name="Shape 90"/>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2300"/>
              </a:spcBef>
              <a:spcAft>
                <a:spcPts val="0"/>
              </a:spcAft>
              <a:buClr>
                <a:schemeClr val="lt1"/>
              </a:buClr>
              <a:buFont typeface="Cabin"/>
              <a:buNone/>
              <a:defRPr/>
            </a:lvl1pPr>
            <a:lvl2pPr marL="457200" marR="0" indent="0" algn="ctr" rtl="0">
              <a:spcBef>
                <a:spcPts val="2300"/>
              </a:spcBef>
              <a:spcAft>
                <a:spcPts val="0"/>
              </a:spcAft>
              <a:buClr>
                <a:schemeClr val="lt1"/>
              </a:buClr>
              <a:buFont typeface="Cabin"/>
              <a:buNone/>
              <a:defRPr/>
            </a:lvl2pPr>
            <a:lvl3pPr marL="914400" marR="0" indent="0" algn="ctr" rtl="0">
              <a:spcBef>
                <a:spcPts val="2300"/>
              </a:spcBef>
              <a:spcAft>
                <a:spcPts val="0"/>
              </a:spcAft>
              <a:buClr>
                <a:schemeClr val="lt1"/>
              </a:buClr>
              <a:buFont typeface="Cabin"/>
              <a:buNone/>
              <a:defRPr/>
            </a:lvl3pPr>
            <a:lvl4pPr marL="1371600" marR="0" indent="0" algn="ctr" rtl="0">
              <a:spcBef>
                <a:spcPts val="2300"/>
              </a:spcBef>
              <a:spcAft>
                <a:spcPts val="0"/>
              </a:spcAft>
              <a:buClr>
                <a:schemeClr val="lt1"/>
              </a:buClr>
              <a:buFont typeface="Cabin"/>
              <a:buNone/>
              <a:defRPr/>
            </a:lvl4pPr>
            <a:lvl5pPr marL="1828800" marR="0" indent="0" algn="ctr" rtl="0">
              <a:spcBef>
                <a:spcPts val="2300"/>
              </a:spcBef>
              <a:spcAft>
                <a:spcPts val="0"/>
              </a:spcAft>
              <a:buClr>
                <a:schemeClr val="lt1"/>
              </a:buClr>
              <a:buFont typeface="Cabin"/>
              <a:buNone/>
              <a:defRPr/>
            </a:lvl5pPr>
            <a:lvl6pPr marL="2286000" marR="0" indent="0" algn="ctr" rtl="0">
              <a:spcBef>
                <a:spcPts val="2300"/>
              </a:spcBef>
              <a:spcAft>
                <a:spcPts val="0"/>
              </a:spcAft>
              <a:buClr>
                <a:schemeClr val="lt1"/>
              </a:buClr>
              <a:buFont typeface="Cabin"/>
              <a:buNone/>
              <a:defRPr/>
            </a:lvl6pPr>
            <a:lvl7pPr marL="2743200" marR="0" indent="0" algn="ctr" rtl="0">
              <a:spcBef>
                <a:spcPts val="2300"/>
              </a:spcBef>
              <a:spcAft>
                <a:spcPts val="0"/>
              </a:spcAft>
              <a:buClr>
                <a:schemeClr val="lt1"/>
              </a:buClr>
              <a:buFont typeface="Cabin"/>
              <a:buNone/>
              <a:defRPr/>
            </a:lvl7pPr>
            <a:lvl8pPr marL="3200400" marR="0" indent="0" algn="ctr" rtl="0">
              <a:spcBef>
                <a:spcPts val="2300"/>
              </a:spcBef>
              <a:spcAft>
                <a:spcPts val="0"/>
              </a:spcAft>
              <a:buClr>
                <a:schemeClr val="lt1"/>
              </a:buClr>
              <a:buFont typeface="Cabin"/>
              <a:buNone/>
              <a:defRPr/>
            </a:lvl8pPr>
            <a:lvl9pPr marL="3657600" marR="0" indent="0" algn="ctr" rtl="0">
              <a:spcBef>
                <a:spcPts val="2300"/>
              </a:spcBef>
              <a:spcAft>
                <a:spcPts val="0"/>
              </a:spcAft>
              <a:buClr>
                <a:schemeClr val="lt1"/>
              </a:buClr>
              <a:buFont typeface="Cabin"/>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201"/>
        <p:cNvGrpSpPr/>
        <p:nvPr/>
      </p:nvGrpSpPr>
      <p:grpSpPr>
        <a:xfrm>
          <a:off x="0" y="0"/>
          <a:ext cx="0" cy="0"/>
          <a:chOff x="0" y="0"/>
          <a:chExt cx="0" cy="0"/>
        </a:xfrm>
      </p:grpSpPr>
      <p:sp>
        <p:nvSpPr>
          <p:cNvPr id="202" name="Shape 202"/>
          <p:cNvSpPr txBox="1">
            <a:spLocks noGrp="1"/>
          </p:cNvSpPr>
          <p:nvPr>
            <p:ph type="title"/>
          </p:nvPr>
        </p:nvSpPr>
        <p:spPr>
          <a:xfrm rot="5400000">
            <a:off x="9713912" y="2438400"/>
            <a:ext cx="7800975" cy="36576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03" name="Shape 203"/>
          <p:cNvSpPr txBox="1">
            <a:spLocks noGrp="1"/>
          </p:cNvSpPr>
          <p:nvPr>
            <p:ph type="body" idx="1"/>
          </p:nvPr>
        </p:nvSpPr>
        <p:spPr>
          <a:xfrm rot="5400000">
            <a:off x="2322512" y="-1142999"/>
            <a:ext cx="7800975" cy="10820400"/>
          </a:xfrm>
          <a:prstGeom prst="rect">
            <a:avLst/>
          </a:prstGeom>
          <a:noFill/>
          <a:ln>
            <a:noFill/>
          </a:ln>
        </p:spPr>
        <p:txBody>
          <a:bodyPr lIns="91425" tIns="91425" rIns="91425" bIns="91425" anchor="t" anchorCtr="0"/>
          <a:lstStyle>
            <a:lvl1pPr marL="749300" indent="-142494" algn="l" rtl="0">
              <a:spcBef>
                <a:spcPts val="3500"/>
              </a:spcBef>
              <a:spcAft>
                <a:spcPts val="0"/>
              </a:spcAft>
              <a:buClr>
                <a:schemeClr val="lt1"/>
              </a:buClr>
              <a:buFont typeface="Cabin"/>
              <a:buChar char="•"/>
              <a:defRPr/>
            </a:lvl1pPr>
            <a:lvl2pPr marL="1041400" indent="-142494" algn="l" rtl="0">
              <a:spcBef>
                <a:spcPts val="3500"/>
              </a:spcBef>
              <a:spcAft>
                <a:spcPts val="0"/>
              </a:spcAft>
              <a:buClr>
                <a:schemeClr val="lt1"/>
              </a:buClr>
              <a:buFont typeface="Cabin"/>
              <a:buChar char="•"/>
              <a:defRPr/>
            </a:lvl2pPr>
            <a:lvl3pPr marL="1333500" indent="-142494" algn="l" rtl="0">
              <a:spcBef>
                <a:spcPts val="3500"/>
              </a:spcBef>
              <a:spcAft>
                <a:spcPts val="0"/>
              </a:spcAft>
              <a:buClr>
                <a:schemeClr val="lt1"/>
              </a:buClr>
              <a:buFont typeface="Cabin"/>
              <a:buChar char="•"/>
              <a:defRPr/>
            </a:lvl3pPr>
            <a:lvl4pPr marL="1638300" indent="-142494" algn="l" rtl="0">
              <a:spcBef>
                <a:spcPts val="3500"/>
              </a:spcBef>
              <a:spcAft>
                <a:spcPts val="0"/>
              </a:spcAft>
              <a:buClr>
                <a:schemeClr val="lt1"/>
              </a:buClr>
              <a:buFont typeface="Cabin"/>
              <a:buChar char="•"/>
              <a:defRPr/>
            </a:lvl4pPr>
            <a:lvl5pPr marL="1930400" indent="-142494" algn="l" rtl="0">
              <a:spcBef>
                <a:spcPts val="3500"/>
              </a:spcBef>
              <a:spcAft>
                <a:spcPts val="0"/>
              </a:spcAft>
              <a:buClr>
                <a:schemeClr val="lt1"/>
              </a:buClr>
              <a:buFont typeface="Cabin"/>
              <a:buChar char="•"/>
              <a:defRPr/>
            </a:lvl5pPr>
            <a:lvl6pPr marL="2387600" indent="-142494" algn="l" rtl="0">
              <a:spcBef>
                <a:spcPts val="3500"/>
              </a:spcBef>
              <a:spcAft>
                <a:spcPts val="0"/>
              </a:spcAft>
              <a:buClr>
                <a:schemeClr val="lt1"/>
              </a:buClr>
              <a:buFont typeface="Cabin"/>
              <a:buChar char="•"/>
              <a:defRPr/>
            </a:lvl6pPr>
            <a:lvl7pPr marL="2844800" indent="-142494" algn="l" rtl="0">
              <a:spcBef>
                <a:spcPts val="3500"/>
              </a:spcBef>
              <a:spcAft>
                <a:spcPts val="0"/>
              </a:spcAft>
              <a:buClr>
                <a:schemeClr val="lt1"/>
              </a:buClr>
              <a:buFont typeface="Cabin"/>
              <a:buChar char="•"/>
              <a:defRPr/>
            </a:lvl7pPr>
            <a:lvl8pPr marL="3302000" indent="-142494" algn="l" rtl="0">
              <a:spcBef>
                <a:spcPts val="3500"/>
              </a:spcBef>
              <a:spcAft>
                <a:spcPts val="0"/>
              </a:spcAft>
              <a:buClr>
                <a:schemeClr val="lt1"/>
              </a:buClr>
              <a:buFont typeface="Cabin"/>
              <a:buChar char="•"/>
              <a:defRPr/>
            </a:lvl8pPr>
            <a:lvl9pPr marL="37592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06" name="Shape 206"/>
          <p:cNvSpPr txBox="1">
            <a:spLocks noGrp="1"/>
          </p:cNvSpPr>
          <p:nvPr>
            <p:ph type="body" idx="1"/>
          </p:nvPr>
        </p:nvSpPr>
        <p:spPr>
          <a:xfrm rot="5400000">
            <a:off x="5110956" y="-2164556"/>
            <a:ext cx="6034087" cy="14630400"/>
          </a:xfrm>
          <a:prstGeom prst="rect">
            <a:avLst/>
          </a:prstGeom>
          <a:noFill/>
          <a:ln>
            <a:noFill/>
          </a:ln>
        </p:spPr>
        <p:txBody>
          <a:bodyPr lIns="91425" tIns="91425" rIns="91425" bIns="91425" anchor="t" anchorCtr="0"/>
          <a:lstStyle>
            <a:lvl1pPr marL="749300" indent="-142494" algn="l" rtl="0">
              <a:spcBef>
                <a:spcPts val="3500"/>
              </a:spcBef>
              <a:spcAft>
                <a:spcPts val="0"/>
              </a:spcAft>
              <a:buClr>
                <a:schemeClr val="lt1"/>
              </a:buClr>
              <a:buFont typeface="Cabin"/>
              <a:buChar char="•"/>
              <a:defRPr/>
            </a:lvl1pPr>
            <a:lvl2pPr marL="1041400" indent="-142494" algn="l" rtl="0">
              <a:spcBef>
                <a:spcPts val="3500"/>
              </a:spcBef>
              <a:spcAft>
                <a:spcPts val="0"/>
              </a:spcAft>
              <a:buClr>
                <a:schemeClr val="lt1"/>
              </a:buClr>
              <a:buFont typeface="Cabin"/>
              <a:buChar char="•"/>
              <a:defRPr/>
            </a:lvl2pPr>
            <a:lvl3pPr marL="1333500" indent="-142494" algn="l" rtl="0">
              <a:spcBef>
                <a:spcPts val="3500"/>
              </a:spcBef>
              <a:spcAft>
                <a:spcPts val="0"/>
              </a:spcAft>
              <a:buClr>
                <a:schemeClr val="lt1"/>
              </a:buClr>
              <a:buFont typeface="Cabin"/>
              <a:buChar char="•"/>
              <a:defRPr/>
            </a:lvl3pPr>
            <a:lvl4pPr marL="1638300" indent="-142494" algn="l" rtl="0">
              <a:spcBef>
                <a:spcPts val="3500"/>
              </a:spcBef>
              <a:spcAft>
                <a:spcPts val="0"/>
              </a:spcAft>
              <a:buClr>
                <a:schemeClr val="lt1"/>
              </a:buClr>
              <a:buFont typeface="Cabin"/>
              <a:buChar char="•"/>
              <a:defRPr/>
            </a:lvl4pPr>
            <a:lvl5pPr marL="1930400" indent="-142494" algn="l" rtl="0">
              <a:spcBef>
                <a:spcPts val="3500"/>
              </a:spcBef>
              <a:spcAft>
                <a:spcPts val="0"/>
              </a:spcAft>
              <a:buClr>
                <a:schemeClr val="lt1"/>
              </a:buClr>
              <a:buFont typeface="Cabin"/>
              <a:buChar char="•"/>
              <a:defRPr/>
            </a:lvl5pPr>
            <a:lvl6pPr marL="2387600" indent="-142494" algn="l" rtl="0">
              <a:spcBef>
                <a:spcPts val="3500"/>
              </a:spcBef>
              <a:spcAft>
                <a:spcPts val="0"/>
              </a:spcAft>
              <a:buClr>
                <a:schemeClr val="lt1"/>
              </a:buClr>
              <a:buFont typeface="Cabin"/>
              <a:buChar char="•"/>
              <a:defRPr/>
            </a:lvl6pPr>
            <a:lvl7pPr marL="2844800" indent="-142494" algn="l" rtl="0">
              <a:spcBef>
                <a:spcPts val="3500"/>
              </a:spcBef>
              <a:spcAft>
                <a:spcPts val="0"/>
              </a:spcAft>
              <a:buClr>
                <a:schemeClr val="lt1"/>
              </a:buClr>
              <a:buFont typeface="Cabin"/>
              <a:buChar char="•"/>
              <a:defRPr/>
            </a:lvl7pPr>
            <a:lvl8pPr marL="3302000" indent="-142494" algn="l" rtl="0">
              <a:spcBef>
                <a:spcPts val="3500"/>
              </a:spcBef>
              <a:spcAft>
                <a:spcPts val="0"/>
              </a:spcAft>
              <a:buClr>
                <a:schemeClr val="lt1"/>
              </a:buClr>
              <a:buFont typeface="Cabin"/>
              <a:buChar char="•"/>
              <a:defRPr/>
            </a:lvl8pPr>
            <a:lvl9pPr marL="37592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207"/>
        <p:cNvGrpSpPr/>
        <p:nvPr/>
      </p:nvGrpSpPr>
      <p:grpSpPr>
        <a:xfrm>
          <a:off x="0" y="0"/>
          <a:ext cx="0" cy="0"/>
          <a:chOff x="0" y="0"/>
          <a:chExt cx="0" cy="0"/>
        </a:xfrm>
      </p:grpSpPr>
      <p:sp>
        <p:nvSpPr>
          <p:cNvPr id="208" name="Shape 208"/>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09" name="Shape 209"/>
          <p:cNvSpPr>
            <a:spLocks noGrp="1"/>
          </p:cNvSpPr>
          <p:nvPr>
            <p:ph type="pic" idx="2"/>
          </p:nvPr>
        </p:nvSpPr>
        <p:spPr>
          <a:xfrm>
            <a:off x="3186113" y="817562"/>
            <a:ext cx="9753599" cy="5486399"/>
          </a:xfrm>
          <a:prstGeom prst="rect">
            <a:avLst/>
          </a:prstGeom>
          <a:noFill/>
          <a:ln>
            <a:noFill/>
          </a:ln>
        </p:spPr>
      </p:sp>
      <p:sp>
        <p:nvSpPr>
          <p:cNvPr id="210" name="Shape 210"/>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13" name="Shape 213"/>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14" name="Shape 214"/>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5"/>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16"/>
        <p:cNvGrpSpPr/>
        <p:nvPr/>
      </p:nvGrpSpPr>
      <p:grpSpPr>
        <a:xfrm>
          <a:off x="0" y="0"/>
          <a:ext cx="0" cy="0"/>
          <a:chOff x="0" y="0"/>
          <a:chExt cx="0" cy="0"/>
        </a:xfrm>
      </p:grpSpPr>
      <p:sp>
        <p:nvSpPr>
          <p:cNvPr id="217" name="Shape 217"/>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18"/>
        <p:cNvGrpSpPr/>
        <p:nvPr/>
      </p:nvGrpSpPr>
      <p:grpSpPr>
        <a:xfrm>
          <a:off x="0" y="0"/>
          <a:ext cx="0" cy="0"/>
          <a:chOff x="0" y="0"/>
          <a:chExt cx="0" cy="0"/>
        </a:xfrm>
      </p:grpSpPr>
      <p:sp>
        <p:nvSpPr>
          <p:cNvPr id="219" name="Shape 219"/>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20" name="Shape 220"/>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21" name="Shape 221"/>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22" name="Shape 222"/>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23" name="Shape 223"/>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24"/>
        <p:cNvGrpSpPr/>
        <p:nvPr/>
      </p:nvGrpSpPr>
      <p:grpSpPr>
        <a:xfrm>
          <a:off x="0" y="0"/>
          <a:ext cx="0" cy="0"/>
          <a:chOff x="0" y="0"/>
          <a:chExt cx="0" cy="0"/>
        </a:xfrm>
      </p:grpSpPr>
      <p:sp>
        <p:nvSpPr>
          <p:cNvPr id="225" name="Shape 225"/>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26" name="Shape 226"/>
          <p:cNvSpPr txBox="1">
            <a:spLocks noGrp="1"/>
          </p:cNvSpPr>
          <p:nvPr>
            <p:ph type="body" idx="1"/>
          </p:nvPr>
        </p:nvSpPr>
        <p:spPr>
          <a:xfrm>
            <a:off x="8128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27" name="Shape 227"/>
          <p:cNvSpPr txBox="1">
            <a:spLocks noGrp="1"/>
          </p:cNvSpPr>
          <p:nvPr>
            <p:ph type="body" idx="2"/>
          </p:nvPr>
        </p:nvSpPr>
        <p:spPr>
          <a:xfrm>
            <a:off x="82042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28"/>
        <p:cNvGrpSpPr/>
        <p:nvPr/>
      </p:nvGrpSpPr>
      <p:grpSpPr>
        <a:xfrm>
          <a:off x="0" y="0"/>
          <a:ext cx="0" cy="0"/>
          <a:chOff x="0" y="0"/>
          <a:chExt cx="0" cy="0"/>
        </a:xfrm>
      </p:grpSpPr>
      <p:sp>
        <p:nvSpPr>
          <p:cNvPr id="229" name="Shape 229"/>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30" name="Shape 230"/>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31"/>
        <p:cNvGrpSpPr/>
        <p:nvPr/>
      </p:nvGrpSpPr>
      <p:grpSpPr>
        <a:xfrm>
          <a:off x="0" y="0"/>
          <a:ext cx="0" cy="0"/>
          <a:chOff x="0" y="0"/>
          <a:chExt cx="0" cy="0"/>
        </a:xfrm>
      </p:grpSpPr>
      <p:sp>
        <p:nvSpPr>
          <p:cNvPr id="232" name="Shape 232"/>
          <p:cNvSpPr txBox="1">
            <a:spLocks noGrp="1"/>
          </p:cNvSpPr>
          <p:nvPr>
            <p:ph type="title"/>
          </p:nvPr>
        </p:nvSpPr>
        <p:spPr>
          <a:xfrm>
            <a:off x="812800" y="366712"/>
            <a:ext cx="14630400" cy="15240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33" name="Shape 233"/>
          <p:cNvSpPr txBox="1">
            <a:spLocks noGrp="1"/>
          </p:cNvSpPr>
          <p:nvPr>
            <p:ph type="body" idx="1"/>
          </p:nvPr>
        </p:nvSpPr>
        <p:spPr>
          <a:xfrm>
            <a:off x="812800" y="2133600"/>
            <a:ext cx="14630400" cy="6034087"/>
          </a:xfrm>
          <a:prstGeom prst="rect">
            <a:avLst/>
          </a:prstGeom>
          <a:noFill/>
          <a:ln>
            <a:noFill/>
          </a:ln>
        </p:spPr>
        <p:txBody>
          <a:bodyPr lIns="91425" tIns="91425" rIns="91425" bIns="91425" anchor="t" anchorCtr="0"/>
          <a:lstStyle>
            <a:lvl1pPr marL="749300" indent="-142494" algn="l" rtl="0">
              <a:spcBef>
                <a:spcPts val="3500"/>
              </a:spcBef>
              <a:spcAft>
                <a:spcPts val="0"/>
              </a:spcAft>
              <a:buClr>
                <a:schemeClr val="lt1"/>
              </a:buClr>
              <a:buFont typeface="Cabin"/>
              <a:buChar char="•"/>
              <a:defRPr/>
            </a:lvl1pPr>
            <a:lvl2pPr marL="1041400" indent="-142494" algn="l" rtl="0">
              <a:spcBef>
                <a:spcPts val="3500"/>
              </a:spcBef>
              <a:spcAft>
                <a:spcPts val="0"/>
              </a:spcAft>
              <a:buClr>
                <a:schemeClr val="lt1"/>
              </a:buClr>
              <a:buFont typeface="Cabin"/>
              <a:buChar char="•"/>
              <a:defRPr/>
            </a:lvl2pPr>
            <a:lvl3pPr marL="1333500" indent="-142494" algn="l" rtl="0">
              <a:spcBef>
                <a:spcPts val="3500"/>
              </a:spcBef>
              <a:spcAft>
                <a:spcPts val="0"/>
              </a:spcAft>
              <a:buClr>
                <a:schemeClr val="lt1"/>
              </a:buClr>
              <a:buFont typeface="Cabin"/>
              <a:buChar char="•"/>
              <a:defRPr/>
            </a:lvl3pPr>
            <a:lvl4pPr marL="1638300" indent="-142494" algn="l" rtl="0">
              <a:spcBef>
                <a:spcPts val="3500"/>
              </a:spcBef>
              <a:spcAft>
                <a:spcPts val="0"/>
              </a:spcAft>
              <a:buClr>
                <a:schemeClr val="lt1"/>
              </a:buClr>
              <a:buFont typeface="Cabin"/>
              <a:buChar char="•"/>
              <a:defRPr/>
            </a:lvl4pPr>
            <a:lvl5pPr marL="1930400" indent="-142494" algn="l" rtl="0">
              <a:spcBef>
                <a:spcPts val="3500"/>
              </a:spcBef>
              <a:spcAft>
                <a:spcPts val="0"/>
              </a:spcAft>
              <a:buClr>
                <a:schemeClr val="lt1"/>
              </a:buClr>
              <a:buFont typeface="Cabin"/>
              <a:buChar char="•"/>
              <a:defRPr/>
            </a:lvl5pPr>
            <a:lvl6pPr marL="2387600" indent="-142494" algn="l" rtl="0">
              <a:spcBef>
                <a:spcPts val="3500"/>
              </a:spcBef>
              <a:spcAft>
                <a:spcPts val="0"/>
              </a:spcAft>
              <a:buClr>
                <a:schemeClr val="lt1"/>
              </a:buClr>
              <a:buFont typeface="Cabin"/>
              <a:buChar char="•"/>
              <a:defRPr/>
            </a:lvl6pPr>
            <a:lvl7pPr marL="2844800" indent="-142494" algn="l" rtl="0">
              <a:spcBef>
                <a:spcPts val="3500"/>
              </a:spcBef>
              <a:spcAft>
                <a:spcPts val="0"/>
              </a:spcAft>
              <a:buClr>
                <a:schemeClr val="lt1"/>
              </a:buClr>
              <a:buFont typeface="Cabin"/>
              <a:buChar char="•"/>
              <a:defRPr/>
            </a:lvl7pPr>
            <a:lvl8pPr marL="3302000" indent="-142494" algn="l" rtl="0">
              <a:spcBef>
                <a:spcPts val="3500"/>
              </a:spcBef>
              <a:spcAft>
                <a:spcPts val="0"/>
              </a:spcAft>
              <a:buClr>
                <a:schemeClr val="lt1"/>
              </a:buClr>
              <a:buFont typeface="Cabin"/>
              <a:buChar char="•"/>
              <a:defRPr/>
            </a:lvl8pPr>
            <a:lvl9pPr marL="37592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234"/>
        <p:cNvGrpSpPr/>
        <p:nvPr/>
      </p:nvGrpSpPr>
      <p:grpSpPr>
        <a:xfrm>
          <a:off x="0" y="0"/>
          <a:ext cx="0" cy="0"/>
          <a:chOff x="0" y="0"/>
          <a:chExt cx="0" cy="0"/>
        </a:xfrm>
      </p:grpSpPr>
      <p:sp>
        <p:nvSpPr>
          <p:cNvPr id="235" name="Shape 235"/>
          <p:cNvSpPr txBox="1">
            <a:spLocks noGrp="1"/>
          </p:cNvSpPr>
          <p:nvPr>
            <p:ph type="ctrTitle"/>
          </p:nvPr>
        </p:nvSpPr>
        <p:spPr>
          <a:xfrm>
            <a:off x="1219200" y="2840038"/>
            <a:ext cx="13817599" cy="1960561"/>
          </a:xfrm>
          <a:prstGeom prst="rect">
            <a:avLst/>
          </a:prstGeom>
          <a:noFill/>
          <a:ln>
            <a:noFill/>
          </a:ln>
        </p:spPr>
        <p:txBody>
          <a:bodyPr lIns="91425" tIns="91425" rIns="91425" bIns="91425" anchor="t"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236" name="Shape 236"/>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447"/>
        <p:cNvGrpSpPr/>
        <p:nvPr/>
      </p:nvGrpSpPr>
      <p:grpSpPr>
        <a:xfrm>
          <a:off x="0" y="0"/>
          <a:ext cx="0" cy="0"/>
          <a:chOff x="0" y="0"/>
          <a:chExt cx="0" cy="0"/>
        </a:xfrm>
      </p:grpSpPr>
      <p:sp>
        <p:nvSpPr>
          <p:cNvPr id="448" name="Shape 448"/>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49" name="Shape 449"/>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450"/>
        <p:cNvGrpSpPr/>
        <p:nvPr/>
      </p:nvGrpSpPr>
      <p:grpSpPr>
        <a:xfrm>
          <a:off x="0" y="0"/>
          <a:ext cx="0" cy="0"/>
          <a:chOff x="0" y="0"/>
          <a:chExt cx="0" cy="0"/>
        </a:xfrm>
      </p:grpSpPr>
      <p:sp>
        <p:nvSpPr>
          <p:cNvPr id="451" name="Shape 45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52" name="Shape 452"/>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453"/>
        <p:cNvGrpSpPr/>
        <p:nvPr/>
      </p:nvGrpSpPr>
      <p:grpSpPr>
        <a:xfrm>
          <a:off x="0" y="0"/>
          <a:ext cx="0" cy="0"/>
          <a:chOff x="0" y="0"/>
          <a:chExt cx="0" cy="0"/>
        </a:xfrm>
      </p:grpSpPr>
      <p:sp>
        <p:nvSpPr>
          <p:cNvPr id="454" name="Shape 454"/>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5" name="Shape 455"/>
          <p:cNvSpPr>
            <a:spLocks noGrp="1"/>
          </p:cNvSpPr>
          <p:nvPr>
            <p:ph type="pic" idx="2"/>
          </p:nvPr>
        </p:nvSpPr>
        <p:spPr>
          <a:xfrm>
            <a:off x="3186113" y="817562"/>
            <a:ext cx="9753599" cy="5486399"/>
          </a:xfrm>
          <a:prstGeom prst="rect">
            <a:avLst/>
          </a:prstGeom>
          <a:noFill/>
          <a:ln>
            <a:noFill/>
          </a:ln>
        </p:spPr>
      </p:sp>
      <p:sp>
        <p:nvSpPr>
          <p:cNvPr id="456" name="Shape 456"/>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457"/>
        <p:cNvGrpSpPr/>
        <p:nvPr/>
      </p:nvGrpSpPr>
      <p:grpSpPr>
        <a:xfrm>
          <a:off x="0" y="0"/>
          <a:ext cx="0" cy="0"/>
          <a:chOff x="0" y="0"/>
          <a:chExt cx="0" cy="0"/>
        </a:xfrm>
      </p:grpSpPr>
      <p:sp>
        <p:nvSpPr>
          <p:cNvPr id="458" name="Shape 458"/>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9" name="Shape 459"/>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0" name="Shape 460"/>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61"/>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62"/>
        <p:cNvGrpSpPr/>
        <p:nvPr/>
      </p:nvGrpSpPr>
      <p:grpSpPr>
        <a:xfrm>
          <a:off x="0" y="0"/>
          <a:ext cx="0" cy="0"/>
          <a:chOff x="0" y="0"/>
          <a:chExt cx="0" cy="0"/>
        </a:xfrm>
      </p:grpSpPr>
      <p:sp>
        <p:nvSpPr>
          <p:cNvPr id="463" name="Shape 46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64"/>
        <p:cNvGrpSpPr/>
        <p:nvPr/>
      </p:nvGrpSpPr>
      <p:grpSpPr>
        <a:xfrm>
          <a:off x="0" y="0"/>
          <a:ext cx="0" cy="0"/>
          <a:chOff x="0" y="0"/>
          <a:chExt cx="0" cy="0"/>
        </a:xfrm>
      </p:grpSpPr>
      <p:sp>
        <p:nvSpPr>
          <p:cNvPr id="465" name="Shape 465"/>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6" name="Shape 466"/>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67" name="Shape 467"/>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68" name="Shape 468"/>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69" name="Shape 469"/>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470"/>
        <p:cNvGrpSpPr/>
        <p:nvPr/>
      </p:nvGrpSpPr>
      <p:grpSpPr>
        <a:xfrm>
          <a:off x="0" y="0"/>
          <a:ext cx="0" cy="0"/>
          <a:chOff x="0" y="0"/>
          <a:chExt cx="0" cy="0"/>
        </a:xfrm>
      </p:grpSpPr>
      <p:sp>
        <p:nvSpPr>
          <p:cNvPr id="471" name="Shape 47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72" name="Shape 472"/>
          <p:cNvSpPr txBox="1">
            <a:spLocks noGrp="1"/>
          </p:cNvSpPr>
          <p:nvPr>
            <p:ph type="body" idx="1"/>
          </p:nvPr>
        </p:nvSpPr>
        <p:spPr>
          <a:xfrm>
            <a:off x="115570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73" name="Shape 473"/>
          <p:cNvSpPr txBox="1">
            <a:spLocks noGrp="1"/>
          </p:cNvSpPr>
          <p:nvPr>
            <p:ph type="body" idx="2"/>
          </p:nvPr>
        </p:nvSpPr>
        <p:spPr>
          <a:xfrm>
            <a:off x="819785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474"/>
        <p:cNvGrpSpPr/>
        <p:nvPr/>
      </p:nvGrpSpPr>
      <p:grpSpPr>
        <a:xfrm>
          <a:off x="0" y="0"/>
          <a:ext cx="0" cy="0"/>
          <a:chOff x="0" y="0"/>
          <a:chExt cx="0" cy="0"/>
        </a:xfrm>
      </p:grpSpPr>
      <p:sp>
        <p:nvSpPr>
          <p:cNvPr id="475" name="Shape 475"/>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76" name="Shape 476"/>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77"/>
        <p:cNvGrpSpPr/>
        <p:nvPr/>
      </p:nvGrpSpPr>
      <p:grpSpPr>
        <a:xfrm>
          <a:off x="0" y="0"/>
          <a:ext cx="0" cy="0"/>
          <a:chOff x="0" y="0"/>
          <a:chExt cx="0" cy="0"/>
        </a:xfrm>
      </p:grpSpPr>
      <p:sp>
        <p:nvSpPr>
          <p:cNvPr id="478" name="Shape 478"/>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79" name="Shape 479"/>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80"/>
        <p:cNvGrpSpPr/>
        <p:nvPr/>
      </p:nvGrpSpPr>
      <p:grpSpPr>
        <a:xfrm>
          <a:off x="0" y="0"/>
          <a:ext cx="0" cy="0"/>
          <a:chOff x="0" y="0"/>
          <a:chExt cx="0" cy="0"/>
        </a:xfrm>
      </p:grpSpPr>
      <p:sp>
        <p:nvSpPr>
          <p:cNvPr id="481" name="Shape 481"/>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82" name="Shape 482"/>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 name="Shape 6"/>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54" name="Shape 54"/>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marR="0" indent="-374776" algn="l" rtl="0">
              <a:spcBef>
                <a:spcPts val="2300"/>
              </a:spcBef>
              <a:spcAft>
                <a:spcPts val="0"/>
              </a:spcAft>
              <a:buClr>
                <a:schemeClr val="lt1"/>
              </a:buClr>
              <a:buFont typeface="Cabin"/>
              <a:buChar char="•"/>
              <a:defRPr/>
            </a:lvl1pPr>
            <a:lvl2pPr marL="1498600" marR="0" indent="-374776" algn="l" rtl="0">
              <a:spcBef>
                <a:spcPts val="2300"/>
              </a:spcBef>
              <a:spcAft>
                <a:spcPts val="0"/>
              </a:spcAft>
              <a:buClr>
                <a:schemeClr val="lt1"/>
              </a:buClr>
              <a:buFont typeface="Cabin"/>
              <a:buChar char="•"/>
              <a:defRPr/>
            </a:lvl2pPr>
            <a:lvl3pPr marL="1943100" marR="0" indent="-374776" algn="l" rtl="0">
              <a:spcBef>
                <a:spcPts val="2300"/>
              </a:spcBef>
              <a:spcAft>
                <a:spcPts val="0"/>
              </a:spcAft>
              <a:buClr>
                <a:schemeClr val="lt1"/>
              </a:buClr>
              <a:buFont typeface="Cabin"/>
              <a:buChar char="•"/>
              <a:defRPr/>
            </a:lvl3pPr>
            <a:lvl4pPr marL="2387600" marR="0" indent="-374776" algn="l" rtl="0">
              <a:spcBef>
                <a:spcPts val="2300"/>
              </a:spcBef>
              <a:spcAft>
                <a:spcPts val="0"/>
              </a:spcAft>
              <a:buClr>
                <a:schemeClr val="lt1"/>
              </a:buClr>
              <a:buFont typeface="Cabin"/>
              <a:buChar char="•"/>
              <a:defRPr/>
            </a:lvl4pPr>
            <a:lvl5pPr marL="2832100" marR="0" indent="-374776" algn="l" rtl="0">
              <a:spcBef>
                <a:spcPts val="2300"/>
              </a:spcBef>
              <a:spcAft>
                <a:spcPts val="0"/>
              </a:spcAft>
              <a:buClr>
                <a:schemeClr val="lt1"/>
              </a:buClr>
              <a:buFont typeface="Cabin"/>
              <a:buChar char="•"/>
              <a:defRPr/>
            </a:lvl5pPr>
            <a:lvl6pPr marL="3289300" marR="0" indent="-374776" algn="l" rtl="0">
              <a:spcBef>
                <a:spcPts val="2300"/>
              </a:spcBef>
              <a:spcAft>
                <a:spcPts val="0"/>
              </a:spcAft>
              <a:buClr>
                <a:schemeClr val="lt1"/>
              </a:buClr>
              <a:buFont typeface="Cabin"/>
              <a:buChar char="•"/>
              <a:defRPr/>
            </a:lvl6pPr>
            <a:lvl7pPr marL="3746500" marR="0" indent="-374777" algn="l" rtl="0">
              <a:spcBef>
                <a:spcPts val="2300"/>
              </a:spcBef>
              <a:spcAft>
                <a:spcPts val="0"/>
              </a:spcAft>
              <a:buClr>
                <a:schemeClr val="lt1"/>
              </a:buClr>
              <a:buFont typeface="Cabin"/>
              <a:buChar char="•"/>
              <a:defRPr/>
            </a:lvl7pPr>
            <a:lvl8pPr marL="4203700" marR="0" indent="-374777" algn="l" rtl="0">
              <a:spcBef>
                <a:spcPts val="2300"/>
              </a:spcBef>
              <a:spcAft>
                <a:spcPts val="0"/>
              </a:spcAft>
              <a:buClr>
                <a:schemeClr val="lt1"/>
              </a:buClr>
              <a:buFont typeface="Cabin"/>
              <a:buChar char="•"/>
              <a:defRPr/>
            </a:lvl8pPr>
            <a:lvl9pPr marL="4660900" marR="0" indent="-374777" algn="l" rtl="0">
              <a:spcBef>
                <a:spcPts val="23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44"/>
        <p:cNvGrpSpPr/>
        <p:nvPr/>
      </p:nvGrpSpPr>
      <p:grpSpPr>
        <a:xfrm>
          <a:off x="0" y="0"/>
          <a:ext cx="0" cy="0"/>
          <a:chOff x="0" y="0"/>
          <a:chExt cx="0" cy="0"/>
        </a:xfrm>
      </p:grpSpPr>
      <p:sp>
        <p:nvSpPr>
          <p:cNvPr id="445" name="Shape 445"/>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46" name="Shape 446"/>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marR="0" indent="-165861" algn="l" rtl="0">
              <a:spcBef>
                <a:spcPts val="3500"/>
              </a:spcBef>
              <a:spcAft>
                <a:spcPts val="0"/>
              </a:spcAft>
              <a:buClr>
                <a:schemeClr val="lt1"/>
              </a:buClr>
              <a:buFont typeface="Cabin"/>
              <a:buChar char="•"/>
              <a:defRPr/>
            </a:lvl1pPr>
            <a:lvl2pPr marL="939800" marR="0" indent="-165861" algn="l" rtl="0">
              <a:spcBef>
                <a:spcPts val="3500"/>
              </a:spcBef>
              <a:spcAft>
                <a:spcPts val="0"/>
              </a:spcAft>
              <a:buClr>
                <a:schemeClr val="lt1"/>
              </a:buClr>
              <a:buFont typeface="Cabin"/>
              <a:buChar char="•"/>
              <a:defRPr/>
            </a:lvl2pPr>
            <a:lvl3pPr marL="1231900" marR="0" indent="-165861" algn="l" rtl="0">
              <a:spcBef>
                <a:spcPts val="3500"/>
              </a:spcBef>
              <a:spcAft>
                <a:spcPts val="0"/>
              </a:spcAft>
              <a:buClr>
                <a:schemeClr val="lt1"/>
              </a:buClr>
              <a:buFont typeface="Cabin"/>
              <a:buChar char="•"/>
              <a:defRPr/>
            </a:lvl3pPr>
            <a:lvl4pPr marL="1536700" marR="0" indent="-165861" algn="l" rtl="0">
              <a:spcBef>
                <a:spcPts val="3500"/>
              </a:spcBef>
              <a:spcAft>
                <a:spcPts val="0"/>
              </a:spcAft>
              <a:buClr>
                <a:schemeClr val="lt1"/>
              </a:buClr>
              <a:buFont typeface="Cabin"/>
              <a:buChar char="•"/>
              <a:defRPr/>
            </a:lvl4pPr>
            <a:lvl5pPr marL="1828800" marR="0" indent="-165861" algn="l" rtl="0">
              <a:spcBef>
                <a:spcPts val="3500"/>
              </a:spcBef>
              <a:spcAft>
                <a:spcPts val="0"/>
              </a:spcAft>
              <a:buClr>
                <a:schemeClr val="lt1"/>
              </a:buClr>
              <a:buFont typeface="Cabin"/>
              <a:buChar char="•"/>
              <a:defRPr/>
            </a:lvl5pPr>
            <a:lvl6pPr marL="2286000" marR="0" indent="-165861" algn="l" rtl="0">
              <a:spcBef>
                <a:spcPts val="3500"/>
              </a:spcBef>
              <a:spcAft>
                <a:spcPts val="0"/>
              </a:spcAft>
              <a:buClr>
                <a:schemeClr val="lt1"/>
              </a:buClr>
              <a:buFont typeface="Cabin"/>
              <a:buChar char="•"/>
              <a:defRPr/>
            </a:lvl6pPr>
            <a:lvl7pPr marL="2743200" marR="0" indent="-165861" algn="l" rtl="0">
              <a:spcBef>
                <a:spcPts val="3500"/>
              </a:spcBef>
              <a:spcAft>
                <a:spcPts val="0"/>
              </a:spcAft>
              <a:buClr>
                <a:schemeClr val="lt1"/>
              </a:buClr>
              <a:buFont typeface="Cabin"/>
              <a:buChar char="•"/>
              <a:defRPr/>
            </a:lvl7pPr>
            <a:lvl8pPr marL="3200400" marR="0" indent="-165861" algn="l" rtl="0">
              <a:spcBef>
                <a:spcPts val="3500"/>
              </a:spcBef>
              <a:spcAft>
                <a:spcPts val="0"/>
              </a:spcAft>
              <a:buClr>
                <a:schemeClr val="lt1"/>
              </a:buClr>
              <a:buFont typeface="Cabin"/>
              <a:buChar char="•"/>
              <a:defRPr/>
            </a:lvl8pPr>
            <a:lvl9pPr marL="3657600" marR="0" indent="-165861"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3.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Variables, Expressions, and Statements</a:t>
            </a:r>
          </a:p>
        </p:txBody>
      </p:sp>
      <p:sp>
        <p:nvSpPr>
          <p:cNvPr id="45" name="Shape 45"/>
          <p:cNvSpPr txBox="1">
            <a:spLocks noGrp="1"/>
          </p:cNvSpPr>
          <p:nvPr>
            <p:ph type="body" idx="1"/>
          </p:nvPr>
        </p:nvSpPr>
        <p:spPr>
          <a:xfrm>
            <a:off x="1155700" y="4711700"/>
            <a:ext cx="13931900" cy="15494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Chapter 2</a:t>
            </a:r>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1282700" y="241300"/>
            <a:ext cx="13233299"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800" b="0" i="0" u="none" strike="noStrike" cap="none" baseline="0">
                <a:solidFill>
                  <a:srgbClr val="FF7F00"/>
                </a:solidFill>
                <a:latin typeface="Cabin"/>
                <a:ea typeface="Cabin"/>
                <a:cs typeface="Cabin"/>
                <a:sym typeface="Cabin"/>
              </a:rPr>
              <a:t>Constants</a:t>
            </a:r>
          </a:p>
        </p:txBody>
      </p:sp>
      <p:sp>
        <p:nvSpPr>
          <p:cNvPr id="93" name="Shape 93"/>
          <p:cNvSpPr txBox="1">
            <a:spLocks noGrp="1"/>
          </p:cNvSpPr>
          <p:nvPr>
            <p:ph type="body" idx="1"/>
          </p:nvPr>
        </p:nvSpPr>
        <p:spPr>
          <a:xfrm>
            <a:off x="977900" y="2590800"/>
            <a:ext cx="13233299" cy="4521299"/>
          </a:xfrm>
          <a:prstGeom prst="rect">
            <a:avLst/>
          </a:prstGeom>
          <a:noFill/>
          <a:ln>
            <a:noFill/>
          </a:ln>
        </p:spPr>
        <p:txBody>
          <a:bodyPr lIns="50800" tIns="50800" rIns="50800" bIns="50800" anchor="ctr" anchorCtr="0">
            <a:noAutofit/>
          </a:bodyPr>
          <a:lstStyle/>
          <a:p>
            <a:pPr marL="1104900" marR="0" lvl="0" indent="-603377" algn="l" rtl="0">
              <a:lnSpc>
                <a:spcPct val="100000"/>
              </a:lnSpc>
              <a:spcBef>
                <a:spcPts val="0"/>
              </a:spcBef>
              <a:spcAft>
                <a:spcPts val="0"/>
              </a:spcAft>
              <a:buClr>
                <a:srgbClr val="FF7F00"/>
              </a:buClr>
              <a:buSzPct val="100000"/>
              <a:buFont typeface="Cabin"/>
              <a:buChar char="•"/>
            </a:pPr>
            <a:r>
              <a:rPr lang="en-US" sz="3600" b="0" i="0" u="none" strike="noStrike" cap="none" baseline="0">
                <a:solidFill>
                  <a:srgbClr val="FF7F00"/>
                </a:solidFill>
                <a:latin typeface="Cabin"/>
                <a:ea typeface="Cabin"/>
                <a:cs typeface="Cabin"/>
                <a:sym typeface="Cabin"/>
              </a:rPr>
              <a:t>Fixed values</a:t>
            </a:r>
            <a:r>
              <a:rPr lang="en-US" sz="3600" b="0" i="0" u="none" strike="noStrike" cap="none" baseline="0">
                <a:solidFill>
                  <a:schemeClr val="lt1"/>
                </a:solidFill>
                <a:latin typeface="Cabin"/>
                <a:ea typeface="Cabin"/>
                <a:cs typeface="Cabin"/>
                <a:sym typeface="Cabin"/>
              </a:rPr>
              <a:t> such as numbers, letters, and strings are called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7F00"/>
                </a:solidFill>
                <a:latin typeface="Cabin"/>
                <a:ea typeface="Cabin"/>
                <a:cs typeface="Cabin"/>
                <a:sym typeface="Cabin"/>
              </a:rPr>
              <a:t>constants</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 because their value does not change</a:t>
            </a:r>
          </a:p>
          <a:p>
            <a:pPr marL="1104900" marR="0" lvl="0" indent="-603377" algn="l" rtl="0">
              <a:lnSpc>
                <a:spcPct val="100000"/>
              </a:lnSpc>
              <a:spcBef>
                <a:spcPts val="23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Numeric </a:t>
            </a:r>
            <a:r>
              <a:rPr lang="en-US" sz="3600" b="0" i="0" u="none" strike="noStrike" cap="none" baseline="0">
                <a:solidFill>
                  <a:srgbClr val="FF7F00"/>
                </a:solidFill>
                <a:latin typeface="Cabin"/>
                <a:ea typeface="Cabin"/>
                <a:cs typeface="Cabin"/>
                <a:sym typeface="Cabin"/>
              </a:rPr>
              <a:t>constants</a:t>
            </a:r>
            <a:r>
              <a:rPr lang="en-US" sz="3600" b="0" i="0" u="none" strike="noStrike" cap="none" baseline="0">
                <a:solidFill>
                  <a:schemeClr val="lt1"/>
                </a:solidFill>
                <a:latin typeface="Cabin"/>
                <a:ea typeface="Cabin"/>
                <a:cs typeface="Cabin"/>
                <a:sym typeface="Cabin"/>
              </a:rPr>
              <a:t> are as you expect</a:t>
            </a:r>
          </a:p>
          <a:p>
            <a:pPr marL="1104900" marR="0" lvl="0" indent="-603377" algn="l" rtl="0">
              <a:lnSpc>
                <a:spcPct val="100000"/>
              </a:lnSpc>
              <a:spcBef>
                <a:spcPts val="23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String </a:t>
            </a:r>
            <a:r>
              <a:rPr lang="en-US" sz="3600" b="0" i="0" u="none" strike="noStrike" cap="none" baseline="0">
                <a:solidFill>
                  <a:srgbClr val="FF7F00"/>
                </a:solidFill>
                <a:latin typeface="Cabin"/>
                <a:ea typeface="Cabin"/>
                <a:cs typeface="Cabin"/>
                <a:sym typeface="Cabin"/>
              </a:rPr>
              <a:t>constants</a:t>
            </a:r>
            <a:r>
              <a:rPr lang="en-US" sz="3600" b="0" i="0" u="none" strike="noStrike" cap="none" baseline="0">
                <a:solidFill>
                  <a:schemeClr val="lt1"/>
                </a:solidFill>
                <a:latin typeface="Cabin"/>
                <a:ea typeface="Cabin"/>
                <a:cs typeface="Cabin"/>
                <a:sym typeface="Cabin"/>
              </a:rPr>
              <a:t> use single</a:t>
            </a: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quotes (')</a:t>
            </a:r>
            <a:br>
              <a:rPr lang="en-US" sz="3600" b="0" i="0" u="none" strike="noStrike" cap="none" baseline="0">
                <a:solidFill>
                  <a:schemeClr val="lt1"/>
                </a:solidFill>
                <a:latin typeface="Cabin"/>
                <a:ea typeface="Cabin"/>
                <a:cs typeface="Cabin"/>
                <a:sym typeface="Cabin"/>
              </a:rPr>
            </a:br>
            <a:r>
              <a:rPr lang="en-US" sz="3600" b="0" i="0" u="none" strike="noStrike" cap="none" baseline="0">
                <a:solidFill>
                  <a:schemeClr val="lt1"/>
                </a:solidFill>
                <a:latin typeface="Cabin"/>
                <a:ea typeface="Cabin"/>
                <a:cs typeface="Cabin"/>
                <a:sym typeface="Cabin"/>
              </a:rPr>
              <a:t>or double</a:t>
            </a: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quotes (")</a:t>
            </a:r>
            <a:br>
              <a:rPr lang="en-US" sz="3600" b="0" i="0" u="none" strike="noStrike" cap="none" baseline="0">
                <a:solidFill>
                  <a:schemeClr val="lt1"/>
                </a:solidFill>
                <a:latin typeface="Cabin"/>
                <a:ea typeface="Cabin"/>
                <a:cs typeface="Cabin"/>
                <a:sym typeface="Cabin"/>
              </a:rPr>
            </a:br>
            <a:endParaRPr lang="en-US" sz="3600" b="0" i="0" u="none" strike="noStrike" cap="none" baseline="0">
              <a:solidFill>
                <a:schemeClr val="lt1"/>
              </a:solidFill>
              <a:latin typeface="Cabin"/>
              <a:ea typeface="Cabin"/>
              <a:cs typeface="Cabin"/>
              <a:sym typeface="Cabin"/>
            </a:endParaRPr>
          </a:p>
        </p:txBody>
      </p:sp>
      <p:sp>
        <p:nvSpPr>
          <p:cNvPr id="94" name="Shape 94"/>
          <p:cNvSpPr txBox="1"/>
          <p:nvPr/>
        </p:nvSpPr>
        <p:spPr>
          <a:xfrm>
            <a:off x="10326050" y="5041900"/>
            <a:ext cx="5320199" cy="34544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rgbClr val="FF7F00"/>
                </a:solidFill>
                <a:latin typeface="Courier New"/>
                <a:ea typeface="Courier New"/>
                <a:cs typeface="Courier New"/>
                <a:sym typeface="Courier New"/>
              </a:rPr>
              <a:t> 123</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123</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rgbClr val="FF7F00"/>
                </a:solidFill>
                <a:latin typeface="Courier New"/>
                <a:ea typeface="Courier New"/>
                <a:cs typeface="Courier New"/>
                <a:sym typeface="Courier New"/>
              </a:rPr>
              <a:t> 98.6</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98.6</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a:t>
            </a:r>
            <a:r>
              <a:rPr lang="en-US" sz="3000" b="0" i="0" u="none" strike="noStrike" cap="none" baseline="0">
                <a:solidFill>
                  <a:srgbClr val="FFFF00"/>
                </a:solidFill>
                <a:latin typeface="Courier New"/>
                <a:ea typeface="Courier New"/>
                <a:cs typeface="Courier New"/>
                <a:sym typeface="Courier New"/>
              </a:rPr>
              <a:t> print</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FF7F00"/>
                </a:solidFill>
                <a:latin typeface="Courier New"/>
                <a:ea typeface="Courier New"/>
                <a:cs typeface="Courier New"/>
                <a:sym typeface="Courier New"/>
              </a:rPr>
              <a:t>'Hello world'</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Hello world</a:t>
            </a:r>
          </a:p>
        </p:txBody>
      </p: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xfrm>
            <a:off x="1155700" y="-108520"/>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dirty="0">
                <a:solidFill>
                  <a:srgbClr val="00FF00"/>
                </a:solidFill>
                <a:latin typeface="Cabin"/>
                <a:ea typeface="Cabin"/>
                <a:cs typeface="Cabin"/>
                <a:sym typeface="Cabin"/>
              </a:rPr>
              <a:t>Variables</a:t>
            </a:r>
          </a:p>
        </p:txBody>
      </p:sp>
      <p:sp>
        <p:nvSpPr>
          <p:cNvPr id="139" name="Shape 139"/>
          <p:cNvSpPr txBox="1">
            <a:spLocks noGrp="1"/>
          </p:cNvSpPr>
          <p:nvPr>
            <p:ph type="body" idx="1"/>
          </p:nvPr>
        </p:nvSpPr>
        <p:spPr>
          <a:xfrm>
            <a:off x="1155700" y="2167905"/>
            <a:ext cx="13932000" cy="33401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A </a:t>
            </a:r>
            <a:r>
              <a:rPr lang="en-US" sz="3600" b="0" i="0" u="none" strike="noStrike" cap="none" baseline="0" dirty="0">
                <a:solidFill>
                  <a:srgbClr val="00FF00"/>
                </a:solidFill>
                <a:latin typeface="Cabin"/>
                <a:ea typeface="Cabin"/>
                <a:cs typeface="Cabin"/>
                <a:sym typeface="Cabin"/>
              </a:rPr>
              <a:t>variable</a:t>
            </a:r>
            <a:r>
              <a:rPr lang="en-US" sz="3600" b="0" i="0" u="none" strike="noStrike" cap="none" baseline="0" dirty="0">
                <a:solidFill>
                  <a:schemeClr val="lt1"/>
                </a:solidFill>
                <a:latin typeface="Cabin"/>
                <a:ea typeface="Cabin"/>
                <a:cs typeface="Cabin"/>
                <a:sym typeface="Cabin"/>
              </a:rPr>
              <a:t> is a named place in the memory where a programmer can store data and later retrieve the data using the </a:t>
            </a:r>
            <a:r>
              <a:rPr lang="en-US" sz="3600" b="0" i="0" u="none" strike="noStrike" cap="none" baseline="0" dirty="0">
                <a:solidFill>
                  <a:srgbClr val="00FF00"/>
                </a:solidFill>
                <a:latin typeface="Cabin"/>
                <a:ea typeface="Cabin"/>
                <a:cs typeface="Cabin"/>
                <a:sym typeface="Cabin"/>
              </a:rPr>
              <a:t>variable</a:t>
            </a:r>
            <a:r>
              <a:rPr lang="en-US" sz="3600" b="0" i="0" u="none" strike="noStrike" cap="none" baseline="0" dirty="0">
                <a:solidFill>
                  <a:schemeClr val="lt1"/>
                </a:solidFill>
                <a:latin typeface="Cabin"/>
                <a:ea typeface="Cabin"/>
                <a:cs typeface="Cabin"/>
                <a:sym typeface="Cabin"/>
              </a:rPr>
              <a:t>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name</a:t>
            </a:r>
            <a:r>
              <a:rPr lang="en-US" sz="3600" b="0" i="0" u="none" strike="noStrike" cap="none" baseline="0" dirty="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Programmers get to choose the names of the </a:t>
            </a:r>
            <a:r>
              <a:rPr lang="en-US" sz="3600" b="0" i="0" u="none" strike="noStrike" cap="none" baseline="0" dirty="0">
                <a:solidFill>
                  <a:srgbClr val="00FF00"/>
                </a:solidFill>
                <a:latin typeface="Cabin"/>
                <a:ea typeface="Cabin"/>
                <a:cs typeface="Cabin"/>
                <a:sym typeface="Cabin"/>
              </a:rPr>
              <a:t>variables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You can change the contents of a </a:t>
            </a:r>
            <a:r>
              <a:rPr lang="en-US" sz="3600" b="0" i="0" u="none" strike="noStrike" cap="none" baseline="0" dirty="0">
                <a:solidFill>
                  <a:srgbClr val="00FF00"/>
                </a:solidFill>
                <a:latin typeface="Cabin"/>
                <a:ea typeface="Cabin"/>
                <a:cs typeface="Cabin"/>
                <a:sym typeface="Cabin"/>
              </a:rPr>
              <a:t>variable </a:t>
            </a:r>
            <a:r>
              <a:rPr lang="en-US" sz="3600" b="0" i="0" u="none" strike="noStrike" cap="none" baseline="0" dirty="0">
                <a:solidFill>
                  <a:schemeClr val="lt1"/>
                </a:solidFill>
                <a:latin typeface="Cabin"/>
                <a:ea typeface="Cabin"/>
                <a:cs typeface="Cabin"/>
                <a:sym typeface="Cabin"/>
              </a:rPr>
              <a:t>in a later statement</a:t>
            </a:r>
          </a:p>
        </p:txBody>
      </p:sp>
      <p:sp>
        <p:nvSpPr>
          <p:cNvPr id="140" name="Shape 140"/>
          <p:cNvSpPr txBox="1"/>
          <p:nvPr/>
        </p:nvSpPr>
        <p:spPr>
          <a:xfrm>
            <a:off x="10388600" y="6083300"/>
            <a:ext cx="5016500" cy="1270000"/>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900">
                <a:solidFill>
                  <a:schemeClr val="lt1"/>
                </a:solidFill>
                <a:latin typeface="Cabin"/>
                <a:ea typeface="Cabin"/>
                <a:cs typeface="Cabin"/>
                <a:sym typeface="Cabin"/>
              </a:rPr>
              <a:t> </a:t>
            </a:r>
            <a:r>
              <a:rPr lang="en-US" sz="4900" b="1" i="0" u="none" strike="noStrike" cap="none" baseline="0">
                <a:solidFill>
                  <a:schemeClr val="lt1"/>
                </a:solidFill>
                <a:latin typeface="Cabin"/>
                <a:ea typeface="Cabin"/>
                <a:cs typeface="Cabin"/>
                <a:sym typeface="Cabin"/>
              </a:rPr>
              <a:t>12.2</a:t>
            </a:r>
          </a:p>
        </p:txBody>
      </p:sp>
      <p:sp>
        <p:nvSpPr>
          <p:cNvPr id="141" name="Shape 141"/>
          <p:cNvSpPr txBox="1"/>
          <p:nvPr/>
        </p:nvSpPr>
        <p:spPr>
          <a:xfrm>
            <a:off x="9534525" y="6280150"/>
            <a:ext cx="444500" cy="863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x</a:t>
            </a:r>
          </a:p>
        </p:txBody>
      </p:sp>
      <p:sp>
        <p:nvSpPr>
          <p:cNvPr id="142" name="Shape 142"/>
          <p:cNvSpPr txBox="1"/>
          <p:nvPr/>
        </p:nvSpPr>
        <p:spPr>
          <a:xfrm>
            <a:off x="10350500" y="7721600"/>
            <a:ext cx="5016500" cy="1270000"/>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900">
                <a:solidFill>
                  <a:schemeClr val="lt1"/>
                </a:solidFill>
                <a:latin typeface="Cabin"/>
                <a:ea typeface="Cabin"/>
                <a:cs typeface="Cabin"/>
                <a:sym typeface="Cabin"/>
              </a:rPr>
              <a:t> </a:t>
            </a:r>
            <a:r>
              <a:rPr lang="en-US" sz="4900" b="1" i="0" u="none" strike="noStrike" cap="none" baseline="0">
                <a:solidFill>
                  <a:schemeClr val="lt1"/>
                </a:solidFill>
                <a:latin typeface="Cabin"/>
                <a:ea typeface="Cabin"/>
                <a:cs typeface="Cabin"/>
                <a:sym typeface="Cabin"/>
              </a:rPr>
              <a:t>14</a:t>
            </a:r>
            <a:r>
              <a:rPr lang="en-US" sz="4900" b="0" i="0" u="none" strike="noStrike" cap="none" baseline="0">
                <a:solidFill>
                  <a:schemeClr val="lt1"/>
                </a:solidFill>
                <a:latin typeface="Cabin"/>
                <a:ea typeface="Cabin"/>
                <a:cs typeface="Cabin"/>
                <a:sym typeface="Cabin"/>
              </a:rPr>
              <a:t>               </a:t>
            </a:r>
          </a:p>
        </p:txBody>
      </p:sp>
      <p:sp>
        <p:nvSpPr>
          <p:cNvPr id="143" name="Shape 143"/>
          <p:cNvSpPr txBox="1"/>
          <p:nvPr/>
        </p:nvSpPr>
        <p:spPr>
          <a:xfrm>
            <a:off x="9518650" y="7924800"/>
            <a:ext cx="404811" cy="863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y</a:t>
            </a:r>
          </a:p>
        </p:txBody>
      </p:sp>
      <p:sp>
        <p:nvSpPr>
          <p:cNvPr id="144" name="Shape 144"/>
          <p:cNvSpPr txBox="1"/>
          <p:nvPr/>
        </p:nvSpPr>
        <p:spPr>
          <a:xfrm>
            <a:off x="2624145" y="6235700"/>
            <a:ext cx="4038900" cy="23876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800" b="0" i="0" u="none" strike="noStrike" cap="none" baseline="0">
                <a:solidFill>
                  <a:srgbClr val="00FF00"/>
                </a:solidFill>
                <a:latin typeface="Courier New"/>
                <a:ea typeface="Courier New"/>
                <a:cs typeface="Courier New"/>
                <a:sym typeface="Courier New"/>
              </a:rPr>
              <a:t>x </a:t>
            </a:r>
            <a:r>
              <a:rPr lang="en-US" sz="4800" b="0" i="0" u="none" strike="noStrike" cap="none" baseline="0">
                <a:solidFill>
                  <a:srgbClr val="FFFF00"/>
                </a:solidFill>
                <a:latin typeface="Courier New"/>
                <a:ea typeface="Courier New"/>
                <a:cs typeface="Courier New"/>
                <a:sym typeface="Courier New"/>
              </a:rPr>
              <a:t>= </a:t>
            </a:r>
            <a:r>
              <a:rPr lang="en-US" sz="4800" b="0" i="0" u="none" strike="noStrike" cap="none" baseline="0">
                <a:solidFill>
                  <a:srgbClr val="FF7F00"/>
                </a:solidFill>
                <a:latin typeface="Courier New"/>
                <a:ea typeface="Courier New"/>
                <a:cs typeface="Courier New"/>
                <a:sym typeface="Courier New"/>
              </a:rPr>
              <a:t>12.2</a:t>
            </a:r>
          </a:p>
          <a:p>
            <a:pPr marL="0" marR="0" lvl="0" indent="0" algn="l" rtl="0">
              <a:lnSpc>
                <a:spcPct val="100000"/>
              </a:lnSpc>
              <a:spcBef>
                <a:spcPts val="0"/>
              </a:spcBef>
              <a:spcAft>
                <a:spcPts val="0"/>
              </a:spcAft>
              <a:buClr>
                <a:srgbClr val="00FF00"/>
              </a:buClr>
              <a:buSzPct val="25000"/>
              <a:buFont typeface="Cabin"/>
              <a:buNone/>
            </a:pPr>
            <a:r>
              <a:rPr lang="en-US" sz="4800" b="0" i="0" u="none" strike="noStrike" cap="none" baseline="0">
                <a:solidFill>
                  <a:srgbClr val="00FF00"/>
                </a:solidFill>
                <a:latin typeface="Courier New"/>
                <a:ea typeface="Courier New"/>
                <a:cs typeface="Courier New"/>
                <a:sym typeface="Courier New"/>
              </a:rPr>
              <a:t>y</a:t>
            </a:r>
            <a:r>
              <a:rPr lang="en-US" sz="4800" b="0" i="0" u="none" strike="noStrike" cap="none" baseline="0">
                <a:solidFill>
                  <a:srgbClr val="FFFF00"/>
                </a:solidFill>
                <a:latin typeface="Courier New"/>
                <a:ea typeface="Courier New"/>
                <a:cs typeface="Courier New"/>
                <a:sym typeface="Courier New"/>
              </a:rPr>
              <a:t> = </a:t>
            </a:r>
            <a:r>
              <a:rPr lang="en-US" sz="4800" b="0" i="0" u="none" strike="noStrike" cap="none" baseline="0">
                <a:solidFill>
                  <a:srgbClr val="FF7F00"/>
                </a:solidFill>
                <a:latin typeface="Courier New"/>
                <a:ea typeface="Courier New"/>
                <a:cs typeface="Courier New"/>
                <a:sym typeface="Courier New"/>
              </a:rPr>
              <a:t>14</a:t>
            </a:r>
          </a:p>
          <a:p>
            <a:pPr marL="0" marR="0" lvl="0" indent="0" algn="ctr" rtl="0">
              <a:lnSpc>
                <a:spcPct val="100000"/>
              </a:lnSpc>
              <a:spcBef>
                <a:spcPts val="0"/>
              </a:spcBef>
              <a:spcAft>
                <a:spcPts val="0"/>
              </a:spcAft>
              <a:buNone/>
            </a:pPr>
            <a:endParaRPr sz="4800">
              <a:latin typeface="Courier New"/>
              <a:ea typeface="Courier New"/>
              <a:cs typeface="Courier New"/>
              <a:sym typeface="Courier New"/>
            </a:endParaRPr>
          </a:p>
        </p:txBody>
      </p:sp>
      <p:sp>
        <p:nvSpPr>
          <p:cNvPr id="145" name="Shape 145"/>
          <p:cNvSpPr txBox="1"/>
          <p:nvPr/>
        </p:nvSpPr>
        <p:spPr>
          <a:xfrm>
            <a:off x="2624125" y="8034325"/>
            <a:ext cx="3789000" cy="863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Font typeface="Cabin"/>
              <a:buNone/>
            </a:pPr>
            <a:endParaRPr sz="4800">
              <a:latin typeface="Courier New"/>
              <a:ea typeface="Courier New"/>
              <a:cs typeface="Courier New"/>
              <a:sym typeface="Courier New"/>
            </a:endParaRPr>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1155700" y="-540568"/>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dirty="0">
                <a:solidFill>
                  <a:srgbClr val="00FF00"/>
                </a:solidFill>
                <a:latin typeface="Cabin"/>
                <a:ea typeface="Cabin"/>
                <a:cs typeface="Cabin"/>
                <a:sym typeface="Cabin"/>
              </a:rPr>
              <a:t>Variables</a:t>
            </a:r>
          </a:p>
        </p:txBody>
      </p:sp>
      <p:sp>
        <p:nvSpPr>
          <p:cNvPr id="151" name="Shape 151"/>
          <p:cNvSpPr txBox="1">
            <a:spLocks noGrp="1"/>
          </p:cNvSpPr>
          <p:nvPr>
            <p:ph type="body" idx="1"/>
          </p:nvPr>
        </p:nvSpPr>
        <p:spPr>
          <a:xfrm>
            <a:off x="1155700" y="1979712"/>
            <a:ext cx="13932000" cy="33401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A </a:t>
            </a:r>
            <a:r>
              <a:rPr lang="en-US" sz="3600" b="0" i="0" u="none" strike="noStrike" cap="none" baseline="0" dirty="0">
                <a:solidFill>
                  <a:srgbClr val="00FF00"/>
                </a:solidFill>
                <a:latin typeface="Cabin"/>
                <a:ea typeface="Cabin"/>
                <a:cs typeface="Cabin"/>
                <a:sym typeface="Cabin"/>
              </a:rPr>
              <a:t>variable</a:t>
            </a:r>
            <a:r>
              <a:rPr lang="en-US" sz="3600" b="0" i="0" u="none" strike="noStrike" cap="none" baseline="0" dirty="0">
                <a:solidFill>
                  <a:schemeClr val="lt1"/>
                </a:solidFill>
                <a:latin typeface="Cabin"/>
                <a:ea typeface="Cabin"/>
                <a:cs typeface="Cabin"/>
                <a:sym typeface="Cabin"/>
              </a:rPr>
              <a:t> is a named place in the memory where a programmer can store data and later retrieve the data using the </a:t>
            </a:r>
            <a:r>
              <a:rPr lang="en-US" sz="3600" b="0" i="0" u="none" strike="noStrike" cap="none" baseline="0" dirty="0">
                <a:solidFill>
                  <a:srgbClr val="00FF00"/>
                </a:solidFill>
                <a:latin typeface="Cabin"/>
                <a:ea typeface="Cabin"/>
                <a:cs typeface="Cabin"/>
                <a:sym typeface="Cabin"/>
              </a:rPr>
              <a:t>variable</a:t>
            </a:r>
            <a:r>
              <a:rPr lang="en-US" sz="3600" b="0" i="0" u="none" strike="noStrike" cap="none" baseline="0" dirty="0">
                <a:solidFill>
                  <a:schemeClr val="lt1"/>
                </a:solidFill>
                <a:latin typeface="Cabin"/>
                <a:ea typeface="Cabin"/>
                <a:cs typeface="Cabin"/>
                <a:sym typeface="Cabin"/>
              </a:rPr>
              <a:t>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name</a:t>
            </a:r>
            <a:r>
              <a:rPr lang="en-US" sz="3600" b="0" i="0" u="none" strike="noStrike" cap="none" baseline="0" dirty="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Programmers get to choose the names of the </a:t>
            </a:r>
            <a:r>
              <a:rPr lang="en-US" sz="3600" b="0" i="0" u="none" strike="noStrike" cap="none" baseline="0" dirty="0">
                <a:solidFill>
                  <a:srgbClr val="00FF00"/>
                </a:solidFill>
                <a:latin typeface="Cabin"/>
                <a:ea typeface="Cabin"/>
                <a:cs typeface="Cabin"/>
                <a:sym typeface="Cabin"/>
              </a:rPr>
              <a:t>variables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You can change the contents of a </a:t>
            </a:r>
            <a:r>
              <a:rPr lang="en-US" sz="3600" b="0" i="0" u="none" strike="noStrike" cap="none" baseline="0" dirty="0">
                <a:solidFill>
                  <a:srgbClr val="00FF00"/>
                </a:solidFill>
                <a:latin typeface="Cabin"/>
                <a:ea typeface="Cabin"/>
                <a:cs typeface="Cabin"/>
                <a:sym typeface="Cabin"/>
              </a:rPr>
              <a:t>variable </a:t>
            </a:r>
            <a:r>
              <a:rPr lang="en-US" sz="3600" b="0" i="0" u="none" strike="noStrike" cap="none" baseline="0" dirty="0">
                <a:solidFill>
                  <a:schemeClr val="lt1"/>
                </a:solidFill>
                <a:latin typeface="Cabin"/>
                <a:ea typeface="Cabin"/>
                <a:cs typeface="Cabin"/>
                <a:sym typeface="Cabin"/>
              </a:rPr>
              <a:t>in a later statement</a:t>
            </a:r>
          </a:p>
        </p:txBody>
      </p:sp>
      <p:sp>
        <p:nvSpPr>
          <p:cNvPr id="152" name="Shape 152"/>
          <p:cNvSpPr txBox="1"/>
          <p:nvPr/>
        </p:nvSpPr>
        <p:spPr>
          <a:xfrm>
            <a:off x="10388600" y="6083300"/>
            <a:ext cx="5016599" cy="1269899"/>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900">
                <a:solidFill>
                  <a:schemeClr val="lt1"/>
                </a:solidFill>
                <a:latin typeface="Cabin"/>
                <a:ea typeface="Cabin"/>
                <a:cs typeface="Cabin"/>
                <a:sym typeface="Cabin"/>
              </a:rPr>
              <a:t> </a:t>
            </a:r>
            <a:r>
              <a:rPr lang="en-US" sz="4900" b="0" i="0" u="none" strike="noStrike" cap="none" baseline="0">
                <a:solidFill>
                  <a:schemeClr val="lt1"/>
                </a:solidFill>
                <a:latin typeface="Cabin"/>
                <a:ea typeface="Cabin"/>
                <a:cs typeface="Cabin"/>
                <a:sym typeface="Cabin"/>
              </a:rPr>
              <a:t>12.2</a:t>
            </a:r>
          </a:p>
        </p:txBody>
      </p:sp>
      <p:sp>
        <p:nvSpPr>
          <p:cNvPr id="153" name="Shape 153"/>
          <p:cNvSpPr txBox="1"/>
          <p:nvPr/>
        </p:nvSpPr>
        <p:spPr>
          <a:xfrm>
            <a:off x="9534525" y="6280150"/>
            <a:ext cx="444600" cy="863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x</a:t>
            </a:r>
          </a:p>
        </p:txBody>
      </p:sp>
      <p:sp>
        <p:nvSpPr>
          <p:cNvPr id="154" name="Shape 154"/>
          <p:cNvSpPr txBox="1"/>
          <p:nvPr/>
        </p:nvSpPr>
        <p:spPr>
          <a:xfrm>
            <a:off x="10350500" y="7721600"/>
            <a:ext cx="5016599" cy="1269899"/>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900">
                <a:solidFill>
                  <a:schemeClr val="lt1"/>
                </a:solidFill>
                <a:latin typeface="Cabin"/>
                <a:ea typeface="Cabin"/>
                <a:cs typeface="Cabin"/>
                <a:sym typeface="Cabin"/>
              </a:rPr>
              <a:t> </a:t>
            </a:r>
            <a:r>
              <a:rPr lang="en-US" sz="4900" b="1" i="0" u="none" strike="noStrike" cap="none" baseline="0">
                <a:solidFill>
                  <a:schemeClr val="lt1"/>
                </a:solidFill>
                <a:latin typeface="Cabin"/>
                <a:ea typeface="Cabin"/>
                <a:cs typeface="Cabin"/>
                <a:sym typeface="Cabin"/>
              </a:rPr>
              <a:t>14</a:t>
            </a:r>
            <a:r>
              <a:rPr lang="en-US" sz="4900" b="0" i="0" u="none" strike="noStrike" cap="none" baseline="0">
                <a:solidFill>
                  <a:schemeClr val="lt1"/>
                </a:solidFill>
                <a:latin typeface="Cabin"/>
                <a:ea typeface="Cabin"/>
                <a:cs typeface="Cabin"/>
                <a:sym typeface="Cabin"/>
              </a:rPr>
              <a:t>               </a:t>
            </a:r>
          </a:p>
        </p:txBody>
      </p:sp>
      <p:sp>
        <p:nvSpPr>
          <p:cNvPr id="155" name="Shape 155"/>
          <p:cNvSpPr txBox="1"/>
          <p:nvPr/>
        </p:nvSpPr>
        <p:spPr>
          <a:xfrm>
            <a:off x="9518650" y="7924800"/>
            <a:ext cx="404700" cy="863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y</a:t>
            </a:r>
          </a:p>
        </p:txBody>
      </p:sp>
      <p:sp>
        <p:nvSpPr>
          <p:cNvPr id="156" name="Shape 156"/>
          <p:cNvSpPr txBox="1"/>
          <p:nvPr/>
        </p:nvSpPr>
        <p:spPr>
          <a:xfrm>
            <a:off x="2624145" y="6235700"/>
            <a:ext cx="4038900" cy="23876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800" b="0" i="0" u="none" strike="noStrike" cap="none" baseline="0">
                <a:solidFill>
                  <a:srgbClr val="00FF00"/>
                </a:solidFill>
                <a:latin typeface="Courier New"/>
                <a:ea typeface="Courier New"/>
                <a:cs typeface="Courier New"/>
                <a:sym typeface="Courier New"/>
              </a:rPr>
              <a:t>x </a:t>
            </a:r>
            <a:r>
              <a:rPr lang="en-US" sz="4800" b="0" i="0" u="none" strike="noStrike" cap="none" baseline="0">
                <a:solidFill>
                  <a:srgbClr val="FFFF00"/>
                </a:solidFill>
                <a:latin typeface="Courier New"/>
                <a:ea typeface="Courier New"/>
                <a:cs typeface="Courier New"/>
                <a:sym typeface="Courier New"/>
              </a:rPr>
              <a:t>= </a:t>
            </a:r>
            <a:r>
              <a:rPr lang="en-US" sz="4800" b="0" i="0" u="none" strike="noStrike" cap="none" baseline="0">
                <a:solidFill>
                  <a:srgbClr val="FF7F00"/>
                </a:solidFill>
                <a:latin typeface="Courier New"/>
                <a:ea typeface="Courier New"/>
                <a:cs typeface="Courier New"/>
                <a:sym typeface="Courier New"/>
              </a:rPr>
              <a:t>12.2</a:t>
            </a:r>
          </a:p>
          <a:p>
            <a:pPr marL="0" marR="0" lvl="0" indent="0" algn="l" rtl="0">
              <a:lnSpc>
                <a:spcPct val="100000"/>
              </a:lnSpc>
              <a:spcBef>
                <a:spcPts val="0"/>
              </a:spcBef>
              <a:spcAft>
                <a:spcPts val="0"/>
              </a:spcAft>
              <a:buClr>
                <a:srgbClr val="00FF00"/>
              </a:buClr>
              <a:buSzPct val="25000"/>
              <a:buFont typeface="Cabin"/>
              <a:buNone/>
            </a:pPr>
            <a:r>
              <a:rPr lang="en-US" sz="4800" b="0" i="0" u="none" strike="noStrike" cap="none" baseline="0">
                <a:solidFill>
                  <a:srgbClr val="00FF00"/>
                </a:solidFill>
                <a:latin typeface="Courier New"/>
                <a:ea typeface="Courier New"/>
                <a:cs typeface="Courier New"/>
                <a:sym typeface="Courier New"/>
              </a:rPr>
              <a:t>y</a:t>
            </a:r>
            <a:r>
              <a:rPr lang="en-US" sz="4800" b="0" i="0" u="none" strike="noStrike" cap="none" baseline="0">
                <a:solidFill>
                  <a:srgbClr val="FFFF00"/>
                </a:solidFill>
                <a:latin typeface="Courier New"/>
                <a:ea typeface="Courier New"/>
                <a:cs typeface="Courier New"/>
                <a:sym typeface="Courier New"/>
              </a:rPr>
              <a:t> = </a:t>
            </a:r>
            <a:r>
              <a:rPr lang="en-US" sz="4800" b="0" i="0" u="none" strike="noStrike" cap="none" baseline="0">
                <a:solidFill>
                  <a:srgbClr val="FF7F00"/>
                </a:solidFill>
                <a:latin typeface="Courier New"/>
                <a:ea typeface="Courier New"/>
                <a:cs typeface="Courier New"/>
                <a:sym typeface="Courier New"/>
              </a:rPr>
              <a:t>14</a:t>
            </a:r>
          </a:p>
          <a:p>
            <a:pPr marL="0" marR="0" lvl="0" indent="0" algn="ctr" rtl="0">
              <a:lnSpc>
                <a:spcPct val="100000"/>
              </a:lnSpc>
              <a:spcBef>
                <a:spcPts val="0"/>
              </a:spcBef>
              <a:spcAft>
                <a:spcPts val="0"/>
              </a:spcAft>
              <a:buNone/>
            </a:pPr>
            <a:endParaRPr sz="4800">
              <a:latin typeface="Courier New"/>
              <a:ea typeface="Courier New"/>
              <a:cs typeface="Courier New"/>
              <a:sym typeface="Courier New"/>
            </a:endParaRPr>
          </a:p>
        </p:txBody>
      </p:sp>
      <p:grpSp>
        <p:nvGrpSpPr>
          <p:cNvPr id="157" name="Shape 157"/>
          <p:cNvGrpSpPr/>
          <p:nvPr/>
        </p:nvGrpSpPr>
        <p:grpSpPr>
          <a:xfrm>
            <a:off x="10690224" y="6305550"/>
            <a:ext cx="763600" cy="903398"/>
            <a:chOff x="0" y="0"/>
            <a:chExt cx="762000" cy="901775"/>
          </a:xfrm>
        </p:grpSpPr>
        <p:cxnSp>
          <p:nvCxnSpPr>
            <p:cNvPr id="158" name="Shape 158"/>
            <p:cNvCxnSpPr/>
            <p:nvPr/>
          </p:nvCxnSpPr>
          <p:spPr>
            <a:xfrm flipH="1">
              <a:off x="0" y="15875"/>
              <a:ext cx="762000" cy="885900"/>
            </a:xfrm>
            <a:prstGeom prst="straightConnector1">
              <a:avLst/>
            </a:prstGeom>
            <a:noFill/>
            <a:ln w="63500" cap="rnd" cmpd="sng">
              <a:solidFill>
                <a:srgbClr val="FF00FF"/>
              </a:solidFill>
              <a:prstDash val="solid"/>
              <a:miter/>
              <a:headEnd type="none" w="med" len="med"/>
              <a:tailEnd type="none" w="med" len="med"/>
            </a:ln>
          </p:spPr>
        </p:cxnSp>
        <p:cxnSp>
          <p:nvCxnSpPr>
            <p:cNvPr id="159" name="Shape 159"/>
            <p:cNvCxnSpPr/>
            <p:nvPr/>
          </p:nvCxnSpPr>
          <p:spPr>
            <a:xfrm>
              <a:off x="0" y="0"/>
              <a:ext cx="571500" cy="796799"/>
            </a:xfrm>
            <a:prstGeom prst="straightConnector1">
              <a:avLst/>
            </a:prstGeom>
            <a:noFill/>
            <a:ln w="63500" cap="rnd" cmpd="sng">
              <a:solidFill>
                <a:srgbClr val="FF00FF"/>
              </a:solidFill>
              <a:prstDash val="solid"/>
              <a:miter/>
              <a:headEnd type="none" w="med" len="med"/>
              <a:tailEnd type="none" w="med" len="med"/>
            </a:ln>
          </p:spPr>
        </p:cxnSp>
      </p:grpSp>
      <p:sp>
        <p:nvSpPr>
          <p:cNvPr id="160" name="Shape 160"/>
          <p:cNvSpPr txBox="1"/>
          <p:nvPr/>
        </p:nvSpPr>
        <p:spPr>
          <a:xfrm>
            <a:off x="11852275" y="6242050"/>
            <a:ext cx="1669799" cy="939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5800" b="1" i="0" u="none" strike="noStrike" cap="none" baseline="0">
                <a:solidFill>
                  <a:schemeClr val="lt1"/>
                </a:solidFill>
                <a:latin typeface="Cabin"/>
                <a:ea typeface="Cabin"/>
                <a:cs typeface="Cabin"/>
                <a:sym typeface="Cabin"/>
              </a:rPr>
              <a:t>100</a:t>
            </a:r>
          </a:p>
        </p:txBody>
      </p:sp>
      <p:sp>
        <p:nvSpPr>
          <p:cNvPr id="161" name="Shape 161"/>
          <p:cNvSpPr txBox="1"/>
          <p:nvPr/>
        </p:nvSpPr>
        <p:spPr>
          <a:xfrm>
            <a:off x="2624125" y="7881925"/>
            <a:ext cx="3789000" cy="863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800" b="0" i="0" u="none" strike="noStrike" cap="none" baseline="0">
                <a:solidFill>
                  <a:srgbClr val="00FF00"/>
                </a:solidFill>
                <a:latin typeface="Courier New"/>
                <a:ea typeface="Courier New"/>
                <a:cs typeface="Courier New"/>
                <a:sym typeface="Courier New"/>
              </a:rPr>
              <a:t>x</a:t>
            </a:r>
            <a:r>
              <a:rPr lang="en-US" sz="4800" b="0" i="0" u="none" strike="noStrike" cap="none" baseline="0">
                <a:solidFill>
                  <a:srgbClr val="FFFF00"/>
                </a:solidFill>
                <a:latin typeface="Courier New"/>
                <a:ea typeface="Courier New"/>
                <a:cs typeface="Courier New"/>
                <a:sym typeface="Courier New"/>
              </a:rPr>
              <a:t> = </a:t>
            </a:r>
            <a:r>
              <a:rPr lang="en-US" sz="4800" b="0" i="0" u="none" strike="noStrike" cap="none" baseline="0">
                <a:solidFill>
                  <a:srgbClr val="FF7F00"/>
                </a:solidFill>
                <a:latin typeface="Courier New"/>
                <a:ea typeface="Courier New"/>
                <a:cs typeface="Courier New"/>
                <a:sym typeface="Courier New"/>
              </a:rPr>
              <a:t>100</a:t>
            </a:r>
          </a:p>
        </p:txBody>
      </p:sp>
    </p:spTree>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1155700" y="-396552"/>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dirty="0">
                <a:solidFill>
                  <a:srgbClr val="FF7F00"/>
                </a:solidFill>
                <a:latin typeface="Cabin"/>
                <a:ea typeface="Cabin"/>
                <a:cs typeface="Cabin"/>
                <a:sym typeface="Cabin"/>
              </a:rPr>
              <a:t>Python Variable Name Rules</a:t>
            </a:r>
          </a:p>
        </p:txBody>
      </p:sp>
      <p:sp>
        <p:nvSpPr>
          <p:cNvPr id="167" name="Shape 167"/>
          <p:cNvSpPr txBox="1">
            <a:spLocks noGrp="1"/>
          </p:cNvSpPr>
          <p:nvPr>
            <p:ph type="body" idx="1"/>
          </p:nvPr>
        </p:nvSpPr>
        <p:spPr>
          <a:xfrm>
            <a:off x="1540916" y="4499992"/>
            <a:ext cx="13931900" cy="105410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Must start with a letter or underscore _ </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Must consist of letters and numbers and underscores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Case Sensitive</a:t>
            </a:r>
          </a:p>
          <a:p>
            <a:pPr marL="749300" marR="0" lvl="0" indent="-371094" algn="l" rtl="0">
              <a:lnSpc>
                <a:spcPct val="100000"/>
              </a:lnSpc>
              <a:spcBef>
                <a:spcPts val="3500"/>
              </a:spcBef>
              <a:spcAft>
                <a:spcPts val="0"/>
              </a:spcAft>
              <a:buClr>
                <a:srgbClr val="00FF00"/>
              </a:buClr>
              <a:buSzPct val="100000"/>
              <a:buFont typeface="Cabin"/>
              <a:buChar char="•"/>
            </a:pPr>
            <a:r>
              <a:rPr lang="en-US" sz="3600" b="0" i="0" u="none" strike="noStrike" cap="none" baseline="0" dirty="0">
                <a:solidFill>
                  <a:srgbClr val="00FF00"/>
                </a:solidFill>
                <a:latin typeface="Cabin"/>
                <a:ea typeface="Cabin"/>
                <a:cs typeface="Cabin"/>
                <a:sym typeface="Cabin"/>
              </a:rPr>
              <a:t>Good: </a:t>
            </a:r>
            <a:r>
              <a:rPr lang="en-US" sz="3600" b="0" i="0" u="none" strike="noStrike" cap="none" baseline="0" dirty="0">
                <a:solidFill>
                  <a:schemeClr val="lt1"/>
                </a:solidFill>
                <a:latin typeface="Cabin"/>
                <a:ea typeface="Cabin"/>
                <a:cs typeface="Cabin"/>
                <a:sym typeface="Cabin"/>
              </a:rPr>
              <a:t>   spam    eggs   spam23    _speed</a:t>
            </a:r>
          </a:p>
          <a:p>
            <a:pPr marL="749300" marR="0" lvl="0" indent="-371094" algn="l" rtl="0">
              <a:lnSpc>
                <a:spcPct val="100000"/>
              </a:lnSpc>
              <a:spcBef>
                <a:spcPts val="3500"/>
              </a:spcBef>
              <a:spcAft>
                <a:spcPts val="0"/>
              </a:spcAft>
              <a:buClr>
                <a:srgbClr val="FF0000"/>
              </a:buClr>
              <a:buSzPct val="100000"/>
              <a:buFont typeface="Cabin"/>
              <a:buChar char="•"/>
            </a:pPr>
            <a:r>
              <a:rPr lang="en-US" sz="3600" b="0" i="0" u="none" strike="noStrike" cap="none" baseline="0" dirty="0">
                <a:solidFill>
                  <a:srgbClr val="FF0000"/>
                </a:solidFill>
                <a:latin typeface="Cabin"/>
                <a:ea typeface="Cabin"/>
                <a:cs typeface="Cabin"/>
                <a:sym typeface="Cabin"/>
              </a:rPr>
              <a:t>Bad:</a:t>
            </a:r>
            <a:r>
              <a:rPr lang="en-US" sz="3600" b="0" i="0" u="none" strike="noStrike" cap="none" baseline="0" dirty="0">
                <a:solidFill>
                  <a:schemeClr val="lt1"/>
                </a:solidFill>
                <a:latin typeface="Cabin"/>
                <a:ea typeface="Cabin"/>
                <a:cs typeface="Cabin"/>
                <a:sym typeface="Cabin"/>
              </a:rPr>
              <a:t>       23spam     #sign  var.12</a:t>
            </a:r>
          </a:p>
          <a:p>
            <a:pPr marL="749300" marR="0" lvl="0" indent="-371094" algn="l" rtl="0">
              <a:lnSpc>
                <a:spcPct val="100000"/>
              </a:lnSpc>
              <a:spcBef>
                <a:spcPts val="3500"/>
              </a:spcBef>
              <a:spcAft>
                <a:spcPts val="0"/>
              </a:spcAft>
              <a:buClr>
                <a:srgbClr val="FF00FF"/>
              </a:buClr>
              <a:buSzPct val="100000"/>
              <a:buFont typeface="Cabin"/>
              <a:buChar char="•"/>
            </a:pPr>
            <a:r>
              <a:rPr lang="en-US" sz="3600" b="0" i="0" u="none" strike="noStrike" cap="none" baseline="0" dirty="0">
                <a:solidFill>
                  <a:srgbClr val="FF00FF"/>
                </a:solidFill>
                <a:latin typeface="Cabin"/>
                <a:ea typeface="Cabin"/>
                <a:cs typeface="Cabin"/>
                <a:sym typeface="Cabin"/>
              </a:rPr>
              <a:t>Different: </a:t>
            </a:r>
            <a:r>
              <a:rPr lang="en-US" sz="3600" b="0" i="0" u="none" strike="noStrike" cap="none" baseline="0" dirty="0">
                <a:solidFill>
                  <a:schemeClr val="lt1"/>
                </a:solidFill>
                <a:latin typeface="Cabin"/>
                <a:ea typeface="Cabin"/>
                <a:cs typeface="Cabin"/>
                <a:sym typeface="Cabin"/>
              </a:rPr>
              <a:t>   spam   </a:t>
            </a:r>
            <a:r>
              <a:rPr lang="en-US" sz="3600" b="0" i="0" u="none" strike="noStrike" cap="none" baseline="0" dirty="0" err="1">
                <a:solidFill>
                  <a:schemeClr val="lt1"/>
                </a:solidFill>
                <a:latin typeface="Cabin"/>
                <a:ea typeface="Cabin"/>
                <a:cs typeface="Cabin"/>
                <a:sym typeface="Cabin"/>
              </a:rPr>
              <a:t>Spam</a:t>
            </a:r>
            <a:r>
              <a:rPr lang="en-US" sz="3600" b="0" i="0" u="none" strike="noStrike" cap="none" baseline="0" dirty="0">
                <a:solidFill>
                  <a:schemeClr val="lt1"/>
                </a:solidFill>
                <a:latin typeface="Cabin"/>
                <a:ea typeface="Cabin"/>
                <a:cs typeface="Cabin"/>
                <a:sym typeface="Cabin"/>
              </a:rPr>
              <a:t>   </a:t>
            </a:r>
            <a:r>
              <a:rPr lang="en-US" sz="3600" b="0" i="0" u="none" strike="noStrike" cap="none" baseline="0" dirty="0" err="1">
                <a:solidFill>
                  <a:schemeClr val="lt1"/>
                </a:solidFill>
                <a:latin typeface="Cabin"/>
                <a:ea typeface="Cabin"/>
                <a:cs typeface="Cabin"/>
                <a:sym typeface="Cabin"/>
              </a:rPr>
              <a:t>SPAM</a:t>
            </a:r>
            <a:endParaRPr lang="en-US" sz="3600" b="0" i="0" u="none" strike="noStrike" cap="none" baseline="0" dirty="0">
              <a:solidFill>
                <a:schemeClr val="lt1"/>
              </a:solidFill>
              <a:latin typeface="Cabin"/>
              <a:ea typeface="Cabin"/>
              <a:cs typeface="Cabin"/>
              <a:sym typeface="Cabin"/>
            </a:endParaRPr>
          </a:p>
        </p:txBody>
      </p:sp>
    </p:spTree>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Shape 172"/>
          <p:cNvSpPr txBox="1">
            <a:spLocks noGrp="1"/>
          </p:cNvSpPr>
          <p:nvPr>
            <p:ph type="title"/>
          </p:nvPr>
        </p:nvSpPr>
        <p:spPr>
          <a:xfrm>
            <a:off x="1155700" y="621805"/>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dirty="0">
                <a:solidFill>
                  <a:srgbClr val="FFFF00"/>
                </a:solidFill>
                <a:latin typeface="Cabin"/>
                <a:ea typeface="Cabin"/>
                <a:cs typeface="Cabin"/>
                <a:sym typeface="Cabin"/>
              </a:rPr>
              <a:t>Reserved Words</a:t>
            </a:r>
          </a:p>
        </p:txBody>
      </p:sp>
      <p:sp>
        <p:nvSpPr>
          <p:cNvPr id="174" name="Shape 174"/>
          <p:cNvSpPr txBox="1">
            <a:spLocks noGrp="1"/>
          </p:cNvSpPr>
          <p:nvPr>
            <p:ph type="body" idx="1"/>
          </p:nvPr>
        </p:nvSpPr>
        <p:spPr>
          <a:xfrm>
            <a:off x="1917700" y="2603500"/>
            <a:ext cx="12801299" cy="21210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You</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cannot</a:t>
            </a:r>
            <a:r>
              <a:rPr lang="en-US" sz="3600" b="0" i="0" u="none" strike="noStrike" cap="none" baseline="0">
                <a:solidFill>
                  <a:srgbClr val="FFFF00"/>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use </a:t>
            </a:r>
            <a:r>
              <a:rPr lang="en-US" sz="3600" b="0" i="0" u="none" strike="noStrike" cap="none" baseline="0">
                <a:solidFill>
                  <a:srgbClr val="FFFF00"/>
                </a:solidFill>
                <a:latin typeface="Cabin"/>
                <a:ea typeface="Cabin"/>
                <a:cs typeface="Cabin"/>
                <a:sym typeface="Cabin"/>
              </a:rPr>
              <a:t>reserved words</a:t>
            </a:r>
            <a:r>
              <a:rPr lang="en-US" sz="3600" b="0" i="0" u="none" strike="noStrike" cap="none" baseline="0">
                <a:solidFill>
                  <a:schemeClr val="lt1"/>
                </a:solidFill>
                <a:latin typeface="Cabin"/>
                <a:ea typeface="Cabin"/>
                <a:cs typeface="Cabin"/>
                <a:sym typeface="Cabin"/>
              </a:rPr>
              <a:t> as variable names / identifiers</a:t>
            </a:r>
          </a:p>
        </p:txBody>
      </p:sp>
      <p:sp>
        <p:nvSpPr>
          <p:cNvPr id="173" name="Shape 173"/>
          <p:cNvSpPr txBox="1"/>
          <p:nvPr/>
        </p:nvSpPr>
        <p:spPr>
          <a:xfrm>
            <a:off x="3733150" y="4724400"/>
            <a:ext cx="8967600" cy="323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4200" b="0" i="0" u="none" strike="noStrike" cap="none" baseline="0">
                <a:solidFill>
                  <a:srgbClr val="FFFF00"/>
                </a:solidFill>
                <a:latin typeface="Cabin"/>
                <a:ea typeface="Cabin"/>
                <a:cs typeface="Cabin"/>
                <a:sym typeface="Cabin"/>
              </a:rPr>
              <a:t>and   del   for   is   raise   assert   elif   from   lambda   return   break   else   global   not   try   class   except   if   or   while   continue   exec   import   pass   yield   def   ﬁnally   in   print   as   with</a:t>
            </a:r>
          </a:p>
        </p:txBody>
      </p:sp>
    </p:spTree>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927200" y="333773"/>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dirty="0">
                <a:solidFill>
                  <a:srgbClr val="00FF00"/>
                </a:solidFill>
                <a:latin typeface="Cabin"/>
                <a:ea typeface="Cabin"/>
                <a:cs typeface="Cabin"/>
                <a:sym typeface="Cabin"/>
              </a:rPr>
              <a:t>Sentences or Lines</a:t>
            </a:r>
          </a:p>
        </p:txBody>
      </p:sp>
      <p:sp>
        <p:nvSpPr>
          <p:cNvPr id="180" name="Shape 180"/>
          <p:cNvSpPr txBox="1"/>
          <p:nvPr/>
        </p:nvSpPr>
        <p:spPr>
          <a:xfrm>
            <a:off x="1362075" y="2711450"/>
            <a:ext cx="4371899" cy="4038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5400" b="0" i="0" u="none" strike="noStrike" cap="none" baseline="0">
                <a:solidFill>
                  <a:srgbClr val="00FF00"/>
                </a:solidFill>
                <a:latin typeface="Courier New"/>
                <a:ea typeface="Courier New"/>
                <a:cs typeface="Courier New"/>
                <a:sym typeface="Courier New"/>
              </a:rPr>
              <a:t>x</a:t>
            </a:r>
            <a:r>
              <a:rPr lang="en-US" sz="5400" b="0" i="0" u="none" strike="noStrike" cap="none" baseline="0">
                <a:solidFill>
                  <a:srgbClr val="FF7F00"/>
                </a:solidFill>
                <a:latin typeface="Courier New"/>
                <a:ea typeface="Courier New"/>
                <a:cs typeface="Courier New"/>
                <a:sym typeface="Courier New"/>
              </a:rPr>
              <a:t> </a:t>
            </a:r>
            <a:r>
              <a:rPr lang="en-US" sz="5400" b="0" i="0" u="none" strike="noStrike" cap="none" baseline="0">
                <a:solidFill>
                  <a:schemeClr val="lt1"/>
                </a:solidFill>
                <a:latin typeface="Courier New"/>
                <a:ea typeface="Courier New"/>
                <a:cs typeface="Courier New"/>
                <a:sym typeface="Courier New"/>
              </a:rPr>
              <a:t>=</a:t>
            </a:r>
            <a:r>
              <a:rPr lang="en-US" sz="5400" b="0" i="0" u="none" strike="noStrike" cap="none" baseline="0">
                <a:solidFill>
                  <a:srgbClr val="FF7F00"/>
                </a:solidFill>
                <a:latin typeface="Courier New"/>
                <a:ea typeface="Courier New"/>
                <a:cs typeface="Courier New"/>
                <a:sym typeface="Courier New"/>
              </a:rPr>
              <a:t> 2</a:t>
            </a:r>
          </a:p>
          <a:p>
            <a:pPr marL="0" marR="0" lvl="0" indent="0" algn="l" rtl="0">
              <a:lnSpc>
                <a:spcPct val="100000"/>
              </a:lnSpc>
              <a:spcBef>
                <a:spcPts val="0"/>
              </a:spcBef>
              <a:spcAft>
                <a:spcPts val="0"/>
              </a:spcAft>
              <a:buClr>
                <a:srgbClr val="00FF00"/>
              </a:buClr>
              <a:buSzPct val="25000"/>
              <a:buFont typeface="Cabin"/>
              <a:buNone/>
            </a:pPr>
            <a:r>
              <a:rPr lang="en-US" sz="5400" b="0" i="0" u="none" strike="noStrike" cap="none" baseline="0">
                <a:solidFill>
                  <a:srgbClr val="00FF00"/>
                </a:solidFill>
                <a:latin typeface="Courier New"/>
                <a:ea typeface="Courier New"/>
                <a:cs typeface="Courier New"/>
                <a:sym typeface="Courier New"/>
              </a:rPr>
              <a:t>x</a:t>
            </a:r>
            <a:r>
              <a:rPr lang="en-US" sz="5400" b="0" i="0" u="none" strike="noStrike" cap="none" baseline="0">
                <a:solidFill>
                  <a:srgbClr val="FF7F00"/>
                </a:solidFill>
                <a:latin typeface="Courier New"/>
                <a:ea typeface="Courier New"/>
                <a:cs typeface="Courier New"/>
                <a:sym typeface="Courier New"/>
              </a:rPr>
              <a:t> </a:t>
            </a:r>
            <a:r>
              <a:rPr lang="en-US" sz="5400" b="0" i="0" u="none" strike="noStrike" cap="none" baseline="0">
                <a:solidFill>
                  <a:schemeClr val="lt1"/>
                </a:solidFill>
                <a:latin typeface="Courier New"/>
                <a:ea typeface="Courier New"/>
                <a:cs typeface="Courier New"/>
                <a:sym typeface="Courier New"/>
              </a:rPr>
              <a:t>=</a:t>
            </a:r>
            <a:r>
              <a:rPr lang="en-US" sz="5400" b="0" i="0" u="none" strike="noStrike" cap="none" baseline="0">
                <a:solidFill>
                  <a:srgbClr val="FF7F00"/>
                </a:solidFill>
                <a:latin typeface="Courier New"/>
                <a:ea typeface="Courier New"/>
                <a:cs typeface="Courier New"/>
                <a:sym typeface="Courier New"/>
              </a:rPr>
              <a:t> </a:t>
            </a:r>
            <a:r>
              <a:rPr lang="en-US" sz="5400" b="0" i="0" u="none" strike="noStrike" cap="none" baseline="0">
                <a:solidFill>
                  <a:srgbClr val="00FF00"/>
                </a:solidFill>
                <a:latin typeface="Courier New"/>
                <a:ea typeface="Courier New"/>
                <a:cs typeface="Courier New"/>
                <a:sym typeface="Courier New"/>
              </a:rPr>
              <a:t>x</a:t>
            </a:r>
            <a:r>
              <a:rPr lang="en-US" sz="5400" b="0" i="0" u="none" strike="noStrike" cap="none" baseline="0">
                <a:solidFill>
                  <a:srgbClr val="FF7F00"/>
                </a:solidFill>
                <a:latin typeface="Courier New"/>
                <a:ea typeface="Courier New"/>
                <a:cs typeface="Courier New"/>
                <a:sym typeface="Courier New"/>
              </a:rPr>
              <a:t> </a:t>
            </a:r>
            <a:r>
              <a:rPr lang="en-US" sz="5400" b="0" i="0" u="none" strike="noStrike" cap="none" baseline="0">
                <a:solidFill>
                  <a:srgbClr val="00FFFF"/>
                </a:solidFill>
                <a:latin typeface="Courier New"/>
                <a:ea typeface="Courier New"/>
                <a:cs typeface="Courier New"/>
                <a:sym typeface="Courier New"/>
              </a:rPr>
              <a:t>+</a:t>
            </a:r>
            <a:r>
              <a:rPr lang="en-US" sz="5400" b="0" i="0" u="none" strike="noStrike" cap="none" baseline="0">
                <a:solidFill>
                  <a:srgbClr val="FF7F00"/>
                </a:solidFill>
                <a:latin typeface="Courier New"/>
                <a:ea typeface="Courier New"/>
                <a:cs typeface="Courier New"/>
                <a:sym typeface="Courier New"/>
              </a:rPr>
              <a:t> 2</a:t>
            </a:r>
          </a:p>
          <a:p>
            <a:pPr marL="0" marR="0" lvl="0" indent="0" algn="l" rtl="0">
              <a:lnSpc>
                <a:spcPct val="100000"/>
              </a:lnSpc>
              <a:spcBef>
                <a:spcPts val="0"/>
              </a:spcBef>
              <a:spcAft>
                <a:spcPts val="0"/>
              </a:spcAft>
              <a:buClr>
                <a:srgbClr val="FFFF00"/>
              </a:buClr>
              <a:buSzPct val="25000"/>
              <a:buFont typeface="Cabin"/>
              <a:buNone/>
            </a:pPr>
            <a:r>
              <a:rPr lang="en-US" sz="5400" b="0" i="0" u="none" strike="noStrike" cap="none" baseline="0">
                <a:solidFill>
                  <a:srgbClr val="FFFF00"/>
                </a:solidFill>
                <a:latin typeface="Courier New"/>
                <a:ea typeface="Courier New"/>
                <a:cs typeface="Courier New"/>
                <a:sym typeface="Courier New"/>
              </a:rPr>
              <a:t>print</a:t>
            </a:r>
            <a:r>
              <a:rPr lang="en-US" sz="5400" b="0" i="0" u="none" strike="noStrike" cap="none" baseline="0">
                <a:solidFill>
                  <a:srgbClr val="FF7F00"/>
                </a:solidFill>
                <a:latin typeface="Courier New"/>
                <a:ea typeface="Courier New"/>
                <a:cs typeface="Courier New"/>
                <a:sym typeface="Courier New"/>
              </a:rPr>
              <a:t> </a:t>
            </a:r>
            <a:r>
              <a:rPr lang="en-US" sz="5400" b="0" i="0" u="none" strike="noStrike" cap="none" baseline="0">
                <a:solidFill>
                  <a:srgbClr val="00FF00"/>
                </a:solidFill>
                <a:latin typeface="Courier New"/>
                <a:ea typeface="Courier New"/>
                <a:cs typeface="Courier New"/>
                <a:sym typeface="Courier New"/>
              </a:rPr>
              <a:t>x</a:t>
            </a:r>
          </a:p>
        </p:txBody>
      </p:sp>
      <p:sp>
        <p:nvSpPr>
          <p:cNvPr id="181" name="Shape 181"/>
          <p:cNvSpPr txBox="1"/>
          <p:nvPr/>
        </p:nvSpPr>
        <p:spPr>
          <a:xfrm>
            <a:off x="1362075" y="7874000"/>
            <a:ext cx="21972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200" b="0" i="0" u="none" strike="noStrike" cap="none" baseline="0">
                <a:solidFill>
                  <a:srgbClr val="00FF00"/>
                </a:solidFill>
                <a:latin typeface="Cabin"/>
                <a:ea typeface="Cabin"/>
                <a:cs typeface="Cabin"/>
                <a:sym typeface="Cabin"/>
              </a:rPr>
              <a:t>Variable</a:t>
            </a:r>
          </a:p>
        </p:txBody>
      </p:sp>
      <p:sp>
        <p:nvSpPr>
          <p:cNvPr id="182" name="Shape 182"/>
          <p:cNvSpPr txBox="1"/>
          <p:nvPr/>
        </p:nvSpPr>
        <p:spPr>
          <a:xfrm>
            <a:off x="4441825" y="7874000"/>
            <a:ext cx="21972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4200" b="0" i="0" u="none" strike="noStrike" cap="none" baseline="0">
                <a:solidFill>
                  <a:srgbClr val="00FFFF"/>
                </a:solidFill>
                <a:latin typeface="Cabin"/>
                <a:ea typeface="Cabin"/>
                <a:cs typeface="Cabin"/>
                <a:sym typeface="Cabin"/>
              </a:rPr>
              <a:t>Operator</a:t>
            </a:r>
          </a:p>
        </p:txBody>
      </p:sp>
      <p:sp>
        <p:nvSpPr>
          <p:cNvPr id="183" name="Shape 183"/>
          <p:cNvSpPr txBox="1"/>
          <p:nvPr/>
        </p:nvSpPr>
        <p:spPr>
          <a:xfrm>
            <a:off x="7978775" y="7848600"/>
            <a:ext cx="2108100"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4200" b="0" i="0" u="none" strike="noStrike" cap="none" baseline="0">
                <a:solidFill>
                  <a:srgbClr val="FF7F00"/>
                </a:solidFill>
                <a:latin typeface="Cabin"/>
                <a:ea typeface="Cabin"/>
                <a:cs typeface="Cabin"/>
                <a:sym typeface="Cabin"/>
              </a:rPr>
              <a:t>Constant</a:t>
            </a:r>
          </a:p>
        </p:txBody>
      </p:sp>
      <p:sp>
        <p:nvSpPr>
          <p:cNvPr id="184" name="Shape 184"/>
          <p:cNvSpPr txBox="1"/>
          <p:nvPr/>
        </p:nvSpPr>
        <p:spPr>
          <a:xfrm>
            <a:off x="11550650" y="7848600"/>
            <a:ext cx="3489325" cy="7239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4200" b="0" i="0" u="none" strike="noStrike" cap="none" baseline="0">
                <a:solidFill>
                  <a:srgbClr val="FFFF00"/>
                </a:solidFill>
                <a:latin typeface="Cabin"/>
                <a:ea typeface="Cabin"/>
                <a:cs typeface="Cabin"/>
                <a:sym typeface="Cabin"/>
              </a:rPr>
              <a:t>Reserved Word</a:t>
            </a:r>
          </a:p>
        </p:txBody>
      </p:sp>
      <p:sp>
        <p:nvSpPr>
          <p:cNvPr id="185" name="Shape 185"/>
          <p:cNvSpPr txBox="1"/>
          <p:nvPr/>
        </p:nvSpPr>
        <p:spPr>
          <a:xfrm>
            <a:off x="7670800" y="2771800"/>
            <a:ext cx="7908900" cy="4038599"/>
          </a:xfrm>
          <a:prstGeom prst="rect">
            <a:avLst/>
          </a:prstGeom>
          <a:noFill/>
          <a:ln>
            <a:noFill/>
          </a:ln>
        </p:spPr>
        <p:txBody>
          <a:bodyPr lIns="0" tIns="0" rIns="0" bIns="0" anchor="ctr" anchorCtr="0">
            <a:noAutofit/>
          </a:bodyPr>
          <a:lstStyle/>
          <a:p>
            <a:pPr marL="0" marR="0" lvl="0" indent="0" algn="l" rtl="0">
              <a:lnSpc>
                <a:spcPct val="115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Assignment </a:t>
            </a:r>
            <a:r>
              <a:rPr lang="en-US" sz="4800">
                <a:solidFill>
                  <a:schemeClr val="lt1"/>
                </a:solidFill>
                <a:latin typeface="Cabin"/>
                <a:ea typeface="Cabin"/>
                <a:cs typeface="Cabin"/>
                <a:sym typeface="Cabin"/>
              </a:rPr>
              <a:t>s</a:t>
            </a:r>
            <a:r>
              <a:rPr lang="en-US" sz="4800" b="0" i="0" u="none" strike="noStrike" cap="none" baseline="0">
                <a:solidFill>
                  <a:schemeClr val="lt1"/>
                </a:solidFill>
                <a:latin typeface="Cabin"/>
                <a:ea typeface="Cabin"/>
                <a:cs typeface="Cabin"/>
                <a:sym typeface="Cabin"/>
              </a:rPr>
              <a:t>tatement</a:t>
            </a:r>
          </a:p>
          <a:p>
            <a:pPr marL="0" marR="0" lvl="0" indent="0" algn="l" rtl="0">
              <a:lnSpc>
                <a:spcPct val="115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Assignment with expression</a:t>
            </a:r>
          </a:p>
          <a:p>
            <a:pPr marL="0" marR="0" lvl="0" indent="0" algn="l" rtl="0">
              <a:lnSpc>
                <a:spcPct val="115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Print statement</a:t>
            </a:r>
          </a:p>
        </p:txBody>
      </p:sp>
      <p:cxnSp>
        <p:nvCxnSpPr>
          <p:cNvPr id="186" name="Shape 186"/>
          <p:cNvCxnSpPr/>
          <p:nvPr/>
        </p:nvCxnSpPr>
        <p:spPr>
          <a:xfrm>
            <a:off x="4312125" y="3948950"/>
            <a:ext cx="2931300" cy="6299"/>
          </a:xfrm>
          <a:prstGeom prst="straightConnector1">
            <a:avLst/>
          </a:prstGeom>
          <a:noFill/>
          <a:ln w="63500" cap="rnd" cmpd="sng">
            <a:solidFill>
              <a:schemeClr val="lt1"/>
            </a:solidFill>
            <a:prstDash val="solid"/>
            <a:miter/>
            <a:headEnd type="stealth" w="med" len="med"/>
            <a:tailEnd type="none" w="med" len="med"/>
          </a:ln>
        </p:spPr>
      </p:cxnSp>
      <p:cxnSp>
        <p:nvCxnSpPr>
          <p:cNvPr id="187" name="Shape 187"/>
          <p:cNvCxnSpPr/>
          <p:nvPr/>
        </p:nvCxnSpPr>
        <p:spPr>
          <a:xfrm>
            <a:off x="5733975" y="4806950"/>
            <a:ext cx="1514400" cy="15300"/>
          </a:xfrm>
          <a:prstGeom prst="straightConnector1">
            <a:avLst/>
          </a:prstGeom>
          <a:noFill/>
          <a:ln w="63500" cap="rnd" cmpd="sng">
            <a:solidFill>
              <a:schemeClr val="lt1"/>
            </a:solidFill>
            <a:prstDash val="solid"/>
            <a:miter/>
            <a:headEnd type="stealth" w="med" len="med"/>
            <a:tailEnd type="none" w="med" len="med"/>
          </a:ln>
        </p:spPr>
      </p:cxnSp>
      <p:cxnSp>
        <p:nvCxnSpPr>
          <p:cNvPr id="188" name="Shape 188"/>
          <p:cNvCxnSpPr/>
          <p:nvPr/>
        </p:nvCxnSpPr>
        <p:spPr>
          <a:xfrm>
            <a:off x="4829425" y="5778925"/>
            <a:ext cx="2403899" cy="16499"/>
          </a:xfrm>
          <a:prstGeom prst="straightConnector1">
            <a:avLst/>
          </a:prstGeom>
          <a:noFill/>
          <a:ln w="63500" cap="rnd" cmpd="sng">
            <a:solidFill>
              <a:schemeClr val="lt1"/>
            </a:solidFill>
            <a:prstDash val="solid"/>
            <a:miter/>
            <a:headEnd type="stealth" w="med" len="med"/>
            <a:tailEnd type="none" w="med" len="med"/>
          </a:ln>
        </p:spPr>
      </p:cxnSp>
    </p:spTree>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700" y="-1044624"/>
            <a:ext cx="13931900" cy="3086099"/>
          </a:xfrm>
        </p:spPr>
        <p:txBody>
          <a:bodyPr/>
          <a:lstStyle/>
          <a:p>
            <a:r>
              <a:rPr lang="en-US" sz="8000" dirty="0" smtClean="0">
                <a:solidFill>
                  <a:srgbClr val="FF0066"/>
                </a:solidFill>
              </a:rPr>
              <a:t>Beauty of Python</a:t>
            </a:r>
            <a:endParaRPr lang="en-US" sz="8000" dirty="0">
              <a:solidFill>
                <a:srgbClr val="FF0066"/>
              </a:solidFill>
            </a:endParaRPr>
          </a:p>
        </p:txBody>
      </p:sp>
      <p:sp>
        <p:nvSpPr>
          <p:cNvPr id="4" name="TextBox 3"/>
          <p:cNvSpPr txBox="1"/>
          <p:nvPr/>
        </p:nvSpPr>
        <p:spPr>
          <a:xfrm>
            <a:off x="567160" y="2771800"/>
            <a:ext cx="15688840" cy="5878532"/>
          </a:xfrm>
          <a:prstGeom prst="rect">
            <a:avLst/>
          </a:prstGeom>
          <a:noFill/>
        </p:spPr>
        <p:txBody>
          <a:bodyPr wrap="square" rtlCol="0">
            <a:spAutoFit/>
          </a:bodyPr>
          <a:lstStyle/>
          <a:p>
            <a:pPr algn="ctr"/>
            <a:r>
              <a:rPr lang="en-US" sz="4800" dirty="0" smtClean="0">
                <a:solidFill>
                  <a:srgbClr val="FFFF00"/>
                </a:solidFill>
              </a:rPr>
              <a:t>Multiple assignment is possible which cannot do in another languages</a:t>
            </a:r>
          </a:p>
          <a:p>
            <a:pPr algn="ctr"/>
            <a:endParaRPr lang="en-US" sz="4800" dirty="0" smtClean="0">
              <a:solidFill>
                <a:srgbClr val="FFFF00"/>
              </a:solidFill>
            </a:endParaRPr>
          </a:p>
          <a:p>
            <a:pPr algn="ctr"/>
            <a:r>
              <a:rPr lang="en-US" sz="8800" dirty="0" smtClean="0">
                <a:solidFill>
                  <a:srgbClr val="FFFF00"/>
                </a:solidFill>
              </a:rPr>
              <a:t>a, b, c = 10, 5.5, ”xyz”</a:t>
            </a:r>
          </a:p>
          <a:p>
            <a:pPr algn="ctr"/>
            <a:endParaRPr lang="en-US" sz="4800" dirty="0" smtClean="0">
              <a:solidFill>
                <a:srgbClr val="FFFF00"/>
              </a:solidFill>
            </a:endParaRPr>
          </a:p>
          <a:p>
            <a:pPr algn="ctr"/>
            <a:endParaRPr lang="en-US" sz="4800" dirty="0" smtClean="0">
              <a:solidFill>
                <a:srgbClr val="FFFF00"/>
              </a:solidFill>
            </a:endParaRPr>
          </a:p>
          <a:p>
            <a:pPr algn="ctr"/>
            <a:r>
              <a:rPr lang="en-US" sz="4800" dirty="0" smtClean="0">
                <a:solidFill>
                  <a:srgbClr val="FFFF00"/>
                </a:solidFill>
              </a:rPr>
              <a:t>KEWL…!!!!!!</a:t>
            </a:r>
            <a:endParaRPr lang="en-US" sz="4800" dirty="0">
              <a:solidFill>
                <a:srgbClr val="FFFF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1155700" y="-180528"/>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dirty="0">
                <a:solidFill>
                  <a:srgbClr val="FF7F00"/>
                </a:solidFill>
                <a:latin typeface="Cabin"/>
                <a:ea typeface="Cabin"/>
                <a:cs typeface="Cabin"/>
                <a:sym typeface="Cabin"/>
              </a:rPr>
              <a:t>Assignment Statements</a:t>
            </a:r>
          </a:p>
        </p:txBody>
      </p:sp>
      <p:sp>
        <p:nvSpPr>
          <p:cNvPr id="194" name="Shape 194"/>
          <p:cNvSpPr txBox="1">
            <a:spLocks noGrp="1"/>
          </p:cNvSpPr>
          <p:nvPr>
            <p:ph type="body" idx="1"/>
          </p:nvPr>
        </p:nvSpPr>
        <p:spPr>
          <a:xfrm>
            <a:off x="1155700" y="2411760"/>
            <a:ext cx="13931900" cy="29845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dirty="0">
                <a:solidFill>
                  <a:schemeClr val="lt1"/>
                </a:solidFill>
                <a:latin typeface="Cabin"/>
                <a:ea typeface="Cabin"/>
                <a:cs typeface="Cabin"/>
                <a:sym typeface="Cabin"/>
              </a:rPr>
              <a:t>We assign a value to a variable using the </a:t>
            </a:r>
            <a:r>
              <a:rPr lang="en-US" sz="3600" b="0" i="0" u="none" strike="noStrike" cap="none" baseline="0" dirty="0">
                <a:solidFill>
                  <a:srgbClr val="FF7F00"/>
                </a:solidFill>
                <a:latin typeface="Cabin"/>
                <a:ea typeface="Cabin"/>
                <a:cs typeface="Cabin"/>
                <a:sym typeface="Cabin"/>
              </a:rPr>
              <a:t>assignment</a:t>
            </a:r>
            <a:r>
              <a:rPr lang="en-US" sz="3600" b="0" i="0" u="none" strike="noStrike" cap="none" baseline="0" dirty="0">
                <a:solidFill>
                  <a:schemeClr val="lt1"/>
                </a:solidFill>
                <a:latin typeface="Cabin"/>
                <a:ea typeface="Cabin"/>
                <a:cs typeface="Cabin"/>
                <a:sym typeface="Cabin"/>
              </a:rPr>
              <a:t> statement (=)</a:t>
            </a:r>
            <a:br>
              <a:rPr lang="en-US" sz="3600" b="0" i="0" u="none" strike="noStrike" cap="none" baseline="0" dirty="0">
                <a:solidFill>
                  <a:schemeClr val="lt1"/>
                </a:solidFill>
                <a:latin typeface="Cabin"/>
                <a:ea typeface="Cabin"/>
                <a:cs typeface="Cabin"/>
                <a:sym typeface="Cabin"/>
              </a:rPr>
            </a:br>
            <a:endParaRPr lang="en-US" sz="3600" b="0" i="0" u="none" strike="noStrike" cap="none" baseline="0" dirty="0">
              <a:solidFill>
                <a:schemeClr val="lt1"/>
              </a:solidFill>
              <a:latin typeface="Cabin"/>
              <a:ea typeface="Cabin"/>
              <a:cs typeface="Cabin"/>
              <a:sym typeface="Cabin"/>
            </a:endParaRPr>
          </a:p>
          <a:p>
            <a:pPr marL="457200" marR="0" lvl="0" indent="-228600" algn="l" rtl="0">
              <a:lnSpc>
                <a:spcPct val="100000"/>
              </a:lnSpc>
              <a:spcBef>
                <a:spcPts val="3500"/>
              </a:spcBef>
              <a:spcAft>
                <a:spcPts val="0"/>
              </a:spcAft>
              <a:buSzPct val="100000"/>
              <a:buFont typeface="Cabin"/>
            </a:pPr>
            <a:r>
              <a:rPr lang="en-US" sz="3600" b="0" i="0" u="none" strike="noStrike" cap="none" baseline="0" dirty="0">
                <a:solidFill>
                  <a:schemeClr val="lt1"/>
                </a:solidFill>
                <a:latin typeface="Cabin"/>
                <a:ea typeface="Cabin"/>
                <a:cs typeface="Cabin"/>
                <a:sym typeface="Cabin"/>
              </a:rPr>
              <a:t>An </a:t>
            </a:r>
            <a:r>
              <a:rPr lang="en-US" sz="3600" b="0" i="0" u="none" strike="noStrike" cap="none" baseline="0" dirty="0">
                <a:solidFill>
                  <a:srgbClr val="FF7F00"/>
                </a:solidFill>
                <a:latin typeface="Cabin"/>
                <a:ea typeface="Cabin"/>
                <a:cs typeface="Cabin"/>
                <a:sym typeface="Cabin"/>
              </a:rPr>
              <a:t>assignment statement</a:t>
            </a:r>
            <a:r>
              <a:rPr lang="en-US" sz="3600" b="0" i="0" u="none" strike="noStrike" cap="none" baseline="0" dirty="0">
                <a:solidFill>
                  <a:schemeClr val="lt1"/>
                </a:solidFill>
                <a:latin typeface="Cabin"/>
                <a:ea typeface="Cabin"/>
                <a:cs typeface="Cabin"/>
                <a:sym typeface="Cabin"/>
              </a:rPr>
              <a:t> consists of an </a:t>
            </a:r>
            <a:r>
              <a:rPr lang="en-US" sz="3600" b="0" i="0" u="none" strike="noStrike" cap="none" baseline="0" dirty="0">
                <a:solidFill>
                  <a:srgbClr val="FFFF00"/>
                </a:solidFill>
                <a:latin typeface="Cabin"/>
                <a:ea typeface="Cabin"/>
                <a:cs typeface="Cabin"/>
                <a:sym typeface="Cabin"/>
              </a:rPr>
              <a:t>expression on the </a:t>
            </a:r>
            <a:br>
              <a:rPr lang="en-US" sz="3600" b="0" i="0" u="none" strike="noStrike" cap="none" baseline="0" dirty="0">
                <a:solidFill>
                  <a:srgbClr val="FFFF00"/>
                </a:solidFill>
                <a:latin typeface="Cabin"/>
                <a:ea typeface="Cabin"/>
                <a:cs typeface="Cabin"/>
                <a:sym typeface="Cabin"/>
              </a:rPr>
            </a:br>
            <a:r>
              <a:rPr lang="en-US" sz="3600" b="0" i="0" u="none" strike="noStrike" cap="none" baseline="0" dirty="0">
                <a:solidFill>
                  <a:srgbClr val="FFFF00"/>
                </a:solidFill>
                <a:latin typeface="Cabin"/>
                <a:ea typeface="Cabin"/>
                <a:cs typeface="Cabin"/>
                <a:sym typeface="Cabin"/>
              </a:rPr>
              <a:t>right</a:t>
            </a:r>
            <a:r>
              <a:rPr lang="en-US" sz="3600" dirty="0">
                <a:solidFill>
                  <a:srgbClr val="FFFF00"/>
                </a:solidFill>
                <a:latin typeface="Cabin"/>
                <a:ea typeface="Cabin"/>
                <a:cs typeface="Cabin"/>
                <a:sym typeface="Cabin"/>
              </a:rPr>
              <a:t>-</a:t>
            </a:r>
            <a:r>
              <a:rPr lang="en-US" sz="3600" b="0" i="0" u="none" strike="noStrike" cap="none" baseline="0" dirty="0">
                <a:solidFill>
                  <a:srgbClr val="FFFF00"/>
                </a:solidFill>
                <a:latin typeface="Cabin"/>
                <a:ea typeface="Cabin"/>
                <a:cs typeface="Cabin"/>
                <a:sym typeface="Cabin"/>
              </a:rPr>
              <a:t>hand side</a:t>
            </a:r>
            <a:r>
              <a:rPr lang="en-US" sz="3600" b="0" i="0" u="none" strike="noStrike" cap="none" baseline="0" dirty="0">
                <a:solidFill>
                  <a:schemeClr val="lt1"/>
                </a:solidFill>
                <a:latin typeface="Cabin"/>
                <a:ea typeface="Cabin"/>
                <a:cs typeface="Cabin"/>
                <a:sym typeface="Cabin"/>
              </a:rPr>
              <a:t> and  a </a:t>
            </a:r>
            <a:r>
              <a:rPr lang="en-US" sz="3600" b="0" i="0" u="none" strike="noStrike" cap="none" baseline="0" dirty="0">
                <a:solidFill>
                  <a:srgbClr val="00FF00"/>
                </a:solidFill>
                <a:latin typeface="Cabin"/>
                <a:ea typeface="Cabin"/>
                <a:cs typeface="Cabin"/>
                <a:sym typeface="Cabin"/>
              </a:rPr>
              <a:t>variable</a:t>
            </a:r>
            <a:r>
              <a:rPr lang="en-US" sz="3600" b="0" i="0" u="none" strike="noStrike" cap="none" baseline="0" dirty="0">
                <a:solidFill>
                  <a:schemeClr val="lt1"/>
                </a:solidFill>
                <a:latin typeface="Cabin"/>
                <a:ea typeface="Cabin"/>
                <a:cs typeface="Cabin"/>
                <a:sym typeface="Cabin"/>
              </a:rPr>
              <a:t> to store the result</a:t>
            </a:r>
          </a:p>
        </p:txBody>
      </p:sp>
      <p:sp>
        <p:nvSpPr>
          <p:cNvPr id="195" name="Shape 195"/>
          <p:cNvSpPr txBox="1"/>
          <p:nvPr/>
        </p:nvSpPr>
        <p:spPr>
          <a:xfrm>
            <a:off x="3708400" y="6438900"/>
            <a:ext cx="8843961" cy="914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600" b="1" i="0" u="none" strike="noStrike" cap="none" baseline="0">
                <a:solidFill>
                  <a:srgbClr val="00FF00"/>
                </a:solidFill>
                <a:latin typeface="Courier New"/>
                <a:ea typeface="Courier New"/>
                <a:cs typeface="Courier New"/>
                <a:sym typeface="Courier New"/>
              </a:rPr>
              <a:t>x</a:t>
            </a:r>
            <a:r>
              <a:rPr lang="en-US" sz="3600" b="1" i="0" u="none" strike="noStrike" cap="none" baseline="0">
                <a:solidFill>
                  <a:schemeClr val="lt1"/>
                </a:solidFill>
                <a:latin typeface="Courier New"/>
                <a:ea typeface="Courier New"/>
                <a:cs typeface="Courier New"/>
                <a:sym typeface="Courier New"/>
              </a:rPr>
              <a:t> = 3.9 </a:t>
            </a:r>
            <a:r>
              <a:rPr lang="en-US" sz="3600" b="1" i="0" u="none" strike="noStrike" cap="none" baseline="0">
                <a:solidFill>
                  <a:srgbClr val="00FFFF"/>
                </a:solidFill>
                <a:latin typeface="Courier New"/>
                <a:ea typeface="Courier New"/>
                <a:cs typeface="Courier New"/>
                <a:sym typeface="Courier New"/>
              </a:rPr>
              <a:t>*</a:t>
            </a:r>
            <a:r>
              <a:rPr lang="en-US" sz="3600" b="1" i="0" u="none" strike="noStrike" cap="none" baseline="0">
                <a:solidFill>
                  <a:schemeClr val="lt1"/>
                </a:solidFill>
                <a:latin typeface="Courier New"/>
                <a:ea typeface="Courier New"/>
                <a:cs typeface="Courier New"/>
                <a:sym typeface="Courier New"/>
              </a:rPr>
              <a:t> </a:t>
            </a:r>
            <a:r>
              <a:rPr lang="en-US" sz="3600" b="1" i="0" u="none" strike="noStrike" cap="none" baseline="0">
                <a:solidFill>
                  <a:srgbClr val="00FF00"/>
                </a:solidFill>
                <a:latin typeface="Courier New"/>
                <a:ea typeface="Courier New"/>
                <a:cs typeface="Courier New"/>
                <a:sym typeface="Courier New"/>
              </a:rPr>
              <a:t>x </a:t>
            </a:r>
            <a:r>
              <a:rPr lang="en-US" sz="3600" b="1" i="0" u="none" strike="noStrike" cap="none" baseline="0">
                <a:solidFill>
                  <a:srgbClr val="00FFFF"/>
                </a:solidFill>
                <a:latin typeface="Courier New"/>
                <a:ea typeface="Courier New"/>
                <a:cs typeface="Courier New"/>
                <a:sym typeface="Courier New"/>
              </a:rPr>
              <a:t>*</a:t>
            </a:r>
            <a:r>
              <a:rPr lang="en-US" sz="3600" b="1" i="0" u="none" strike="noStrike" cap="none" baseline="0">
                <a:solidFill>
                  <a:schemeClr val="lt1"/>
                </a:solidFill>
                <a:latin typeface="Courier New"/>
                <a:ea typeface="Courier New"/>
                <a:cs typeface="Courier New"/>
                <a:sym typeface="Courier New"/>
              </a:rPr>
              <a:t> ( 1 </a:t>
            </a:r>
            <a:r>
              <a:rPr lang="en-US" sz="3600" b="1" i="0" u="none" strike="noStrike" cap="none" baseline="0">
                <a:solidFill>
                  <a:srgbClr val="00FFFF"/>
                </a:solidFill>
                <a:latin typeface="Courier New"/>
                <a:ea typeface="Courier New"/>
                <a:cs typeface="Courier New"/>
                <a:sym typeface="Courier New"/>
              </a:rPr>
              <a:t>-</a:t>
            </a:r>
            <a:r>
              <a:rPr lang="en-US" sz="3600" b="1" i="0" u="none" strike="noStrike" cap="none" baseline="0">
                <a:solidFill>
                  <a:schemeClr val="lt1"/>
                </a:solidFill>
                <a:latin typeface="Courier New"/>
                <a:ea typeface="Courier New"/>
                <a:cs typeface="Courier New"/>
                <a:sym typeface="Courier New"/>
              </a:rPr>
              <a:t> </a:t>
            </a:r>
            <a:r>
              <a:rPr lang="en-US" sz="3600" b="1" i="0" u="none" strike="noStrike" cap="none" baseline="0">
                <a:solidFill>
                  <a:srgbClr val="00FF00"/>
                </a:solidFill>
                <a:latin typeface="Courier New"/>
                <a:ea typeface="Courier New"/>
                <a:cs typeface="Courier New"/>
                <a:sym typeface="Courier New"/>
              </a:rPr>
              <a:t>x</a:t>
            </a:r>
            <a:r>
              <a:rPr lang="en-US" sz="3600" b="1" i="0" u="none" strike="noStrike" cap="none" baseline="0">
                <a:solidFill>
                  <a:schemeClr val="lt1"/>
                </a:solidFill>
                <a:latin typeface="Courier New"/>
                <a:ea typeface="Courier New"/>
                <a:cs typeface="Courier New"/>
                <a:sym typeface="Courier New"/>
              </a:rPr>
              <a:t> )</a:t>
            </a:r>
          </a:p>
        </p:txBody>
      </p:sp>
      <p:sp>
        <p:nvSpPr>
          <p:cNvPr id="196" name="Shape 196"/>
          <p:cNvSpPr txBox="1"/>
          <p:nvPr/>
        </p:nvSpPr>
        <p:spPr>
          <a:xfrm>
            <a:off x="4665725" y="6388100"/>
            <a:ext cx="5549700" cy="1066799"/>
          </a:xfrm>
          <a:prstGeom prst="rect">
            <a:avLst/>
          </a:prstGeom>
          <a:noFill/>
          <a:ln w="508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Shape 238"/>
          <p:cNvSpPr txBox="1"/>
          <p:nvPr/>
        </p:nvSpPr>
        <p:spPr>
          <a:xfrm>
            <a:off x="6362700" y="3632200"/>
            <a:ext cx="8843961" cy="914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5600" b="0" i="0" u="none" strike="noStrike" cap="none" baseline="0">
                <a:solidFill>
                  <a:srgbClr val="FF00FF"/>
                </a:solidFill>
                <a:latin typeface="Cabin"/>
                <a:ea typeface="Cabin"/>
                <a:cs typeface="Cabin"/>
                <a:sym typeface="Cabin"/>
              </a:rPr>
              <a:t>x =</a:t>
            </a:r>
            <a:r>
              <a:rPr lang="en-US" sz="5600" b="0" i="0" u="none" strike="noStrike" cap="none" baseline="0">
                <a:solidFill>
                  <a:schemeClr val="lt1"/>
                </a:solidFill>
                <a:latin typeface="Cabin"/>
                <a:ea typeface="Cabin"/>
                <a:cs typeface="Cabin"/>
                <a:sym typeface="Cabin"/>
              </a:rPr>
              <a:t> </a:t>
            </a:r>
            <a:r>
              <a:rPr lang="en-US" sz="5600" b="0" i="0" u="none" strike="noStrike" cap="none" baseline="0">
                <a:solidFill>
                  <a:srgbClr val="FFFF00"/>
                </a:solidFill>
                <a:latin typeface="Cabin"/>
                <a:ea typeface="Cabin"/>
                <a:cs typeface="Cabin"/>
                <a:sym typeface="Cabin"/>
              </a:rPr>
              <a:t>3.9   *   x   *   (  1   -   x  )</a:t>
            </a:r>
          </a:p>
        </p:txBody>
      </p:sp>
      <p:sp>
        <p:nvSpPr>
          <p:cNvPr id="239" name="Shape 239"/>
          <p:cNvSpPr txBox="1"/>
          <p:nvPr/>
        </p:nvSpPr>
        <p:spPr>
          <a:xfrm>
            <a:off x="10668000" y="850900"/>
            <a:ext cx="5016500" cy="1270000"/>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4900">
                <a:solidFill>
                  <a:schemeClr val="lt1"/>
                </a:solidFill>
                <a:latin typeface="Cabin"/>
                <a:ea typeface="Cabin"/>
                <a:cs typeface="Cabin"/>
                <a:sym typeface="Cabin"/>
              </a:rPr>
              <a:t> </a:t>
            </a:r>
            <a:r>
              <a:rPr lang="en-US" sz="4900" b="0" i="0" u="none" strike="noStrike" cap="none" baseline="0">
                <a:solidFill>
                  <a:schemeClr val="lt1"/>
                </a:solidFill>
                <a:latin typeface="Cabin"/>
                <a:ea typeface="Cabin"/>
                <a:cs typeface="Cabin"/>
                <a:sym typeface="Cabin"/>
              </a:rPr>
              <a:t>0.6</a:t>
            </a:r>
          </a:p>
        </p:txBody>
      </p:sp>
      <p:sp>
        <p:nvSpPr>
          <p:cNvPr id="240" name="Shape 240"/>
          <p:cNvSpPr txBox="1"/>
          <p:nvPr/>
        </p:nvSpPr>
        <p:spPr>
          <a:xfrm>
            <a:off x="9813925" y="1047750"/>
            <a:ext cx="444500" cy="863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x</a:t>
            </a:r>
          </a:p>
        </p:txBody>
      </p:sp>
      <p:sp>
        <p:nvSpPr>
          <p:cNvPr id="241" name="Shape 241"/>
          <p:cNvSpPr txBox="1"/>
          <p:nvPr/>
        </p:nvSpPr>
        <p:spPr>
          <a:xfrm>
            <a:off x="581025" y="6477000"/>
            <a:ext cx="6578599" cy="1663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Right side is an expression. </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7F00"/>
                </a:solidFill>
                <a:latin typeface="Cabin"/>
                <a:ea typeface="Cabin"/>
                <a:cs typeface="Cabin"/>
                <a:sym typeface="Cabin"/>
              </a:rPr>
              <a:t>Once the expression is evaluated</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00FF"/>
                </a:solidFill>
                <a:latin typeface="Cabin"/>
                <a:ea typeface="Cabin"/>
                <a:cs typeface="Cabin"/>
                <a:sym typeface="Cabin"/>
              </a:rPr>
              <a:t>the result is placed in (assigned to)  x.</a:t>
            </a:r>
          </a:p>
        </p:txBody>
      </p:sp>
      <p:sp>
        <p:nvSpPr>
          <p:cNvPr id="242" name="Shape 242"/>
          <p:cNvSpPr txBox="1"/>
          <p:nvPr/>
        </p:nvSpPr>
        <p:spPr>
          <a:xfrm>
            <a:off x="9699625" y="2844800"/>
            <a:ext cx="9000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0.6</a:t>
            </a:r>
          </a:p>
        </p:txBody>
      </p:sp>
      <p:sp>
        <p:nvSpPr>
          <p:cNvPr id="243" name="Shape 243"/>
          <p:cNvSpPr txBox="1"/>
          <p:nvPr/>
        </p:nvSpPr>
        <p:spPr>
          <a:xfrm>
            <a:off x="12713125" y="3039312"/>
            <a:ext cx="10632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0.6</a:t>
            </a:r>
          </a:p>
        </p:txBody>
      </p:sp>
      <p:cxnSp>
        <p:nvCxnSpPr>
          <p:cNvPr id="244" name="Shape 244"/>
          <p:cNvCxnSpPr/>
          <p:nvPr/>
        </p:nvCxnSpPr>
        <p:spPr>
          <a:xfrm rot="10800000" flipH="1">
            <a:off x="10323511" y="1925637"/>
            <a:ext cx="606425" cy="849312"/>
          </a:xfrm>
          <a:prstGeom prst="straightConnector1">
            <a:avLst/>
          </a:prstGeom>
          <a:noFill/>
          <a:ln w="63500" cap="rnd" cmpd="sng">
            <a:solidFill>
              <a:schemeClr val="lt1"/>
            </a:solidFill>
            <a:prstDash val="solid"/>
            <a:miter/>
            <a:headEnd type="stealth" w="med" len="med"/>
            <a:tailEnd type="none" w="med" len="med"/>
          </a:ln>
        </p:spPr>
      </p:cxnSp>
      <p:cxnSp>
        <p:nvCxnSpPr>
          <p:cNvPr id="245" name="Shape 245"/>
          <p:cNvCxnSpPr>
            <a:stCxn id="243" idx="0"/>
          </p:cNvCxnSpPr>
          <p:nvPr/>
        </p:nvCxnSpPr>
        <p:spPr>
          <a:xfrm rot="10800000">
            <a:off x="11207725" y="1976412"/>
            <a:ext cx="2037000" cy="1062900"/>
          </a:xfrm>
          <a:prstGeom prst="straightConnector1">
            <a:avLst/>
          </a:prstGeom>
          <a:noFill/>
          <a:ln w="63500" cap="rnd" cmpd="sng">
            <a:solidFill>
              <a:schemeClr val="lt1"/>
            </a:solidFill>
            <a:prstDash val="solid"/>
            <a:miter/>
            <a:headEnd type="stealth" w="med" len="med"/>
            <a:tailEnd type="none" w="med" len="med"/>
          </a:ln>
        </p:spPr>
      </p:cxnSp>
      <p:sp>
        <p:nvSpPr>
          <p:cNvPr id="246" name="Shape 246"/>
          <p:cNvSpPr txBox="1"/>
          <p:nvPr/>
        </p:nvSpPr>
        <p:spPr>
          <a:xfrm>
            <a:off x="13065125" y="5054600"/>
            <a:ext cx="10632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0.4</a:t>
            </a:r>
          </a:p>
        </p:txBody>
      </p:sp>
      <p:cxnSp>
        <p:nvCxnSpPr>
          <p:cNvPr id="247" name="Shape 247"/>
          <p:cNvCxnSpPr/>
          <p:nvPr/>
        </p:nvCxnSpPr>
        <p:spPr>
          <a:xfrm rot="10800000">
            <a:off x="8085136" y="4718049"/>
            <a:ext cx="2393950" cy="1857375"/>
          </a:xfrm>
          <a:prstGeom prst="straightConnector1">
            <a:avLst/>
          </a:prstGeom>
          <a:noFill/>
          <a:ln w="63500" cap="rnd" cmpd="sng">
            <a:solidFill>
              <a:srgbClr val="FF7F00"/>
            </a:solidFill>
            <a:prstDash val="solid"/>
            <a:miter/>
            <a:headEnd type="stealth" w="med" len="med"/>
            <a:tailEnd type="none" w="med" len="med"/>
          </a:ln>
        </p:spPr>
      </p:cxnSp>
      <p:cxnSp>
        <p:nvCxnSpPr>
          <p:cNvPr id="248" name="Shape 248"/>
          <p:cNvCxnSpPr/>
          <p:nvPr/>
        </p:nvCxnSpPr>
        <p:spPr>
          <a:xfrm rot="10800000">
            <a:off x="10115550" y="4579937"/>
            <a:ext cx="796924" cy="1873249"/>
          </a:xfrm>
          <a:prstGeom prst="straightConnector1">
            <a:avLst/>
          </a:prstGeom>
          <a:noFill/>
          <a:ln w="63500" cap="rnd" cmpd="sng">
            <a:solidFill>
              <a:srgbClr val="FF7F00"/>
            </a:solidFill>
            <a:prstDash val="solid"/>
            <a:miter/>
            <a:headEnd type="stealth" w="med" len="med"/>
            <a:tailEnd type="none" w="med" len="med"/>
          </a:ln>
        </p:spPr>
      </p:cxnSp>
      <p:cxnSp>
        <p:nvCxnSpPr>
          <p:cNvPr id="249" name="Shape 249"/>
          <p:cNvCxnSpPr/>
          <p:nvPr/>
        </p:nvCxnSpPr>
        <p:spPr>
          <a:xfrm rot="10800000" flipH="1">
            <a:off x="11555411" y="5638800"/>
            <a:ext cx="1630361" cy="849312"/>
          </a:xfrm>
          <a:prstGeom prst="straightConnector1">
            <a:avLst/>
          </a:prstGeom>
          <a:noFill/>
          <a:ln w="63500" cap="rnd" cmpd="sng">
            <a:solidFill>
              <a:srgbClr val="FF7F00"/>
            </a:solidFill>
            <a:prstDash val="solid"/>
            <a:miter/>
            <a:headEnd type="stealth" w="med" len="med"/>
            <a:tailEnd type="none" w="med" len="med"/>
          </a:ln>
        </p:spPr>
      </p:cxnSp>
      <p:sp>
        <p:nvSpPr>
          <p:cNvPr id="250" name="Shape 250"/>
          <p:cNvSpPr txBox="1"/>
          <p:nvPr/>
        </p:nvSpPr>
        <p:spPr>
          <a:xfrm>
            <a:off x="10115550" y="6575425"/>
            <a:ext cx="17328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0.93</a:t>
            </a:r>
          </a:p>
        </p:txBody>
      </p:sp>
      <p:cxnSp>
        <p:nvCxnSpPr>
          <p:cNvPr id="251" name="Shape 251"/>
          <p:cNvCxnSpPr/>
          <p:nvPr/>
        </p:nvCxnSpPr>
        <p:spPr>
          <a:xfrm rot="10800000" flipH="1">
            <a:off x="13776325" y="4579937"/>
            <a:ext cx="485775" cy="485775"/>
          </a:xfrm>
          <a:prstGeom prst="straightConnector1">
            <a:avLst/>
          </a:prstGeom>
          <a:noFill/>
          <a:ln w="63500" cap="rnd" cmpd="sng">
            <a:solidFill>
              <a:srgbClr val="FF7F00"/>
            </a:solidFill>
            <a:prstDash val="solid"/>
            <a:miter/>
            <a:headEnd type="stealth" w="med" len="med"/>
            <a:tailEnd type="none" w="med" len="med"/>
          </a:ln>
        </p:spPr>
      </p:cxnSp>
      <p:cxnSp>
        <p:nvCxnSpPr>
          <p:cNvPr id="252" name="Shape 252"/>
          <p:cNvCxnSpPr/>
          <p:nvPr/>
        </p:nvCxnSpPr>
        <p:spPr>
          <a:xfrm rot="10800000">
            <a:off x="12665074" y="4457699"/>
            <a:ext cx="520700" cy="660400"/>
          </a:xfrm>
          <a:prstGeom prst="straightConnector1">
            <a:avLst/>
          </a:prstGeom>
          <a:noFill/>
          <a:ln w="63500" cap="rnd" cmpd="sng">
            <a:solidFill>
              <a:srgbClr val="FF7F00"/>
            </a:solidFill>
            <a:prstDash val="solid"/>
            <a:miter/>
            <a:headEnd type="stealth" w="med" len="med"/>
            <a:tailEnd type="none" w="med" len="med"/>
          </a:ln>
        </p:spPr>
      </p:cxnSp>
      <p:sp>
        <p:nvSpPr>
          <p:cNvPr id="253" name="Shape 253"/>
          <p:cNvSpPr txBox="1"/>
          <p:nvPr/>
        </p:nvSpPr>
        <p:spPr>
          <a:xfrm>
            <a:off x="581025" y="1085850"/>
            <a:ext cx="6578599"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A variable is a memory location used to store a value (0.6)</a:t>
            </a:r>
          </a:p>
        </p:txBody>
      </p:sp>
    </p:spTree>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Shape 258"/>
          <p:cNvSpPr txBox="1"/>
          <p:nvPr/>
        </p:nvSpPr>
        <p:spPr>
          <a:xfrm>
            <a:off x="6362700" y="3632200"/>
            <a:ext cx="8843961" cy="914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5600" b="0" i="0" u="none" strike="noStrike" cap="none" baseline="0">
                <a:solidFill>
                  <a:srgbClr val="FF00FF"/>
                </a:solidFill>
                <a:latin typeface="Cabin"/>
                <a:ea typeface="Cabin"/>
                <a:cs typeface="Cabin"/>
                <a:sym typeface="Cabin"/>
              </a:rPr>
              <a:t>x =</a:t>
            </a:r>
            <a:r>
              <a:rPr lang="en-US" sz="5600" b="0" i="0" u="none" strike="noStrike" cap="none" baseline="0">
                <a:solidFill>
                  <a:schemeClr val="lt1"/>
                </a:solidFill>
                <a:latin typeface="Cabin"/>
                <a:ea typeface="Cabin"/>
                <a:cs typeface="Cabin"/>
                <a:sym typeface="Cabin"/>
              </a:rPr>
              <a:t> </a:t>
            </a:r>
            <a:r>
              <a:rPr lang="en-US" sz="5600" b="0" i="0" u="none" strike="noStrike" cap="none" baseline="0">
                <a:solidFill>
                  <a:srgbClr val="FFFF00"/>
                </a:solidFill>
                <a:latin typeface="Cabin"/>
                <a:ea typeface="Cabin"/>
                <a:cs typeface="Cabin"/>
                <a:sym typeface="Cabin"/>
              </a:rPr>
              <a:t>3.9   *   x   *   (  1   -   x  )</a:t>
            </a:r>
          </a:p>
        </p:txBody>
      </p:sp>
      <p:sp>
        <p:nvSpPr>
          <p:cNvPr id="259" name="Shape 259"/>
          <p:cNvSpPr txBox="1"/>
          <p:nvPr/>
        </p:nvSpPr>
        <p:spPr>
          <a:xfrm>
            <a:off x="10668000" y="850900"/>
            <a:ext cx="5016500" cy="1270000"/>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4900">
                <a:solidFill>
                  <a:schemeClr val="lt1"/>
                </a:solidFill>
                <a:latin typeface="Cabin"/>
                <a:ea typeface="Cabin"/>
                <a:cs typeface="Cabin"/>
                <a:sym typeface="Cabin"/>
              </a:rPr>
              <a:t> </a:t>
            </a:r>
            <a:r>
              <a:rPr lang="en-US" sz="4900" b="0" i="0" u="none" strike="noStrike" cap="none" baseline="0">
                <a:solidFill>
                  <a:schemeClr val="lt1"/>
                </a:solidFill>
                <a:latin typeface="Cabin"/>
                <a:ea typeface="Cabin"/>
                <a:cs typeface="Cabin"/>
                <a:sym typeface="Cabin"/>
              </a:rPr>
              <a:t>0.6    0.93</a:t>
            </a:r>
          </a:p>
        </p:txBody>
      </p:sp>
      <p:sp>
        <p:nvSpPr>
          <p:cNvPr id="260" name="Shape 260"/>
          <p:cNvSpPr txBox="1"/>
          <p:nvPr/>
        </p:nvSpPr>
        <p:spPr>
          <a:xfrm>
            <a:off x="9813925" y="1047750"/>
            <a:ext cx="444500" cy="863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200" b="0" i="0" u="none" strike="noStrike" cap="none" baseline="0">
                <a:solidFill>
                  <a:srgbClr val="00FF00"/>
                </a:solidFill>
                <a:latin typeface="Cabin"/>
                <a:ea typeface="Cabin"/>
                <a:cs typeface="Cabin"/>
                <a:sym typeface="Cabin"/>
              </a:rPr>
              <a:t>x</a:t>
            </a:r>
          </a:p>
        </p:txBody>
      </p:sp>
      <p:sp>
        <p:nvSpPr>
          <p:cNvPr id="261" name="Shape 261"/>
          <p:cNvSpPr txBox="1"/>
          <p:nvPr/>
        </p:nvSpPr>
        <p:spPr>
          <a:xfrm>
            <a:off x="581025" y="6216650"/>
            <a:ext cx="6578599" cy="2184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b="0" i="0" u="none" strike="noStrike" cap="none" baseline="0">
                <a:solidFill>
                  <a:srgbClr val="FFFF00"/>
                </a:solidFill>
                <a:latin typeface="Cabin"/>
                <a:ea typeface="Cabin"/>
                <a:cs typeface="Cabin"/>
                <a:sym typeface="Cabin"/>
              </a:rPr>
              <a:t>Right side is an expression. </a:t>
            </a:r>
            <a:r>
              <a:rPr lang="en-US" sz="3200" b="0" i="0" u="none" strike="noStrike" cap="none" baseline="0">
                <a:solidFill>
                  <a:schemeClr val="lt1"/>
                </a:solidFill>
                <a:latin typeface="Cabin"/>
                <a:ea typeface="Cabin"/>
                <a:cs typeface="Cabin"/>
                <a:sym typeface="Cabin"/>
              </a:rPr>
              <a:t> </a:t>
            </a:r>
            <a:r>
              <a:rPr lang="en-US" sz="3200" b="0" i="0" u="none" strike="noStrike" cap="none" baseline="0">
                <a:solidFill>
                  <a:srgbClr val="FF7F00"/>
                </a:solidFill>
                <a:latin typeface="Cabin"/>
                <a:ea typeface="Cabin"/>
                <a:cs typeface="Cabin"/>
                <a:sym typeface="Cabin"/>
              </a:rPr>
              <a:t>Once the expression is evaluated</a:t>
            </a:r>
            <a:r>
              <a:rPr lang="en-US" sz="3200" b="0" i="0" u="none" strike="noStrike" cap="none" baseline="0">
                <a:solidFill>
                  <a:schemeClr val="lt1"/>
                </a:solidFill>
                <a:latin typeface="Cabin"/>
                <a:ea typeface="Cabin"/>
                <a:cs typeface="Cabin"/>
                <a:sym typeface="Cabin"/>
              </a:rPr>
              <a:t>, </a:t>
            </a:r>
            <a:r>
              <a:rPr lang="en-US" sz="3200" b="0" i="0" u="none" strike="noStrike" cap="none" baseline="0">
                <a:solidFill>
                  <a:srgbClr val="FF00FF"/>
                </a:solidFill>
                <a:latin typeface="Cabin"/>
                <a:ea typeface="Cabin"/>
                <a:cs typeface="Cabin"/>
                <a:sym typeface="Cabin"/>
              </a:rPr>
              <a:t>the result is placed in (assigned to) the variable on the left side (i.e. x).</a:t>
            </a:r>
          </a:p>
        </p:txBody>
      </p:sp>
      <p:cxnSp>
        <p:nvCxnSpPr>
          <p:cNvPr id="262" name="Shape 262"/>
          <p:cNvCxnSpPr/>
          <p:nvPr/>
        </p:nvCxnSpPr>
        <p:spPr>
          <a:xfrm>
            <a:off x="6662736" y="4492625"/>
            <a:ext cx="3868737" cy="2395537"/>
          </a:xfrm>
          <a:prstGeom prst="straightConnector1">
            <a:avLst/>
          </a:prstGeom>
          <a:noFill/>
          <a:ln w="63500" cap="rnd" cmpd="sng">
            <a:solidFill>
              <a:srgbClr val="FF00FF"/>
            </a:solidFill>
            <a:prstDash val="solid"/>
            <a:miter/>
            <a:headEnd type="stealth" w="med" len="med"/>
            <a:tailEnd type="none" w="med" len="med"/>
          </a:ln>
        </p:spPr>
      </p:cxnSp>
      <p:sp>
        <p:nvSpPr>
          <p:cNvPr id="263" name="Shape 263"/>
          <p:cNvSpPr txBox="1"/>
          <p:nvPr/>
        </p:nvSpPr>
        <p:spPr>
          <a:xfrm>
            <a:off x="10652125" y="6604000"/>
            <a:ext cx="1347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0.93</a:t>
            </a:r>
          </a:p>
        </p:txBody>
      </p:sp>
      <p:sp>
        <p:nvSpPr>
          <p:cNvPr id="264" name="Shape 264"/>
          <p:cNvSpPr txBox="1"/>
          <p:nvPr/>
        </p:nvSpPr>
        <p:spPr>
          <a:xfrm>
            <a:off x="581025" y="304800"/>
            <a:ext cx="7003799" cy="27051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b="0" i="0" u="none" strike="noStrike" cap="none" baseline="0">
                <a:solidFill>
                  <a:srgbClr val="00FF00"/>
                </a:solidFill>
                <a:latin typeface="Cabin"/>
                <a:ea typeface="Cabin"/>
                <a:cs typeface="Cabin"/>
                <a:sym typeface="Cabin"/>
              </a:rPr>
              <a:t>A variable is a memory location used to store a value.  </a:t>
            </a:r>
            <a:r>
              <a:rPr lang="en-US" sz="3200" b="0" i="0" u="none" strike="noStrike" cap="none" baseline="0">
                <a:solidFill>
                  <a:srgbClr val="FF00FF"/>
                </a:solidFill>
                <a:latin typeface="Cabin"/>
                <a:ea typeface="Cabin"/>
                <a:cs typeface="Cabin"/>
                <a:sym typeface="Cabin"/>
              </a:rPr>
              <a:t>The value stored in a variable can be updated by replacing the old value (0.6) with a new value (0.93).</a:t>
            </a:r>
          </a:p>
        </p:txBody>
      </p:sp>
      <p:cxnSp>
        <p:nvCxnSpPr>
          <p:cNvPr id="265" name="Shape 265"/>
          <p:cNvCxnSpPr/>
          <p:nvPr/>
        </p:nvCxnSpPr>
        <p:spPr>
          <a:xfrm flipH="1">
            <a:off x="6696075" y="1855786"/>
            <a:ext cx="5813424" cy="1943100"/>
          </a:xfrm>
          <a:prstGeom prst="straightConnector1">
            <a:avLst/>
          </a:prstGeom>
          <a:noFill/>
          <a:ln w="63500" cap="rnd" cmpd="sng">
            <a:solidFill>
              <a:srgbClr val="FF00FF"/>
            </a:solidFill>
            <a:prstDash val="solid"/>
            <a:miter/>
            <a:headEnd type="stealth" w="med" len="med"/>
            <a:tailEnd type="none" w="med" len="med"/>
          </a:ln>
        </p:spPr>
      </p:cxnSp>
      <p:cxnSp>
        <p:nvCxnSpPr>
          <p:cNvPr id="266" name="Shape 266"/>
          <p:cNvCxnSpPr/>
          <p:nvPr/>
        </p:nvCxnSpPr>
        <p:spPr>
          <a:xfrm flipH="1">
            <a:off x="10791824" y="1039812"/>
            <a:ext cx="763586" cy="885825"/>
          </a:xfrm>
          <a:prstGeom prst="straightConnector1">
            <a:avLst/>
          </a:prstGeom>
          <a:noFill/>
          <a:ln w="63500" cap="rnd" cmpd="sng">
            <a:solidFill>
              <a:srgbClr val="FF00FF"/>
            </a:solidFill>
            <a:prstDash val="solid"/>
            <a:miter/>
            <a:headEnd type="none" w="med" len="med"/>
            <a:tailEnd type="none" w="med" len="med"/>
          </a:ln>
        </p:spPr>
      </p:cxnSp>
      <p:cxnSp>
        <p:nvCxnSpPr>
          <p:cNvPr id="267" name="Shape 267"/>
          <p:cNvCxnSpPr/>
          <p:nvPr/>
        </p:nvCxnSpPr>
        <p:spPr>
          <a:xfrm>
            <a:off x="10791825" y="1022350"/>
            <a:ext cx="573086" cy="798512"/>
          </a:xfrm>
          <a:prstGeom prst="straightConnector1">
            <a:avLst/>
          </a:prstGeom>
          <a:noFill/>
          <a:ln w="63500" cap="rnd" cmpd="sng">
            <a:solidFill>
              <a:srgbClr val="FF00FF"/>
            </a:solidFill>
            <a:prstDash val="solid"/>
            <a:miter/>
            <a:headEnd type="none" w="med" len="med"/>
            <a:tailEnd type="none" w="med" len="med"/>
          </a:ln>
        </p:spPr>
      </p:cxnSp>
    </p:spTree>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title"/>
          </p:nvPr>
        </p:nvSpPr>
        <p:spPr>
          <a:xfrm>
            <a:off x="1155700" y="-108520"/>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dirty="0">
                <a:solidFill>
                  <a:srgbClr val="FF00FF"/>
                </a:solidFill>
                <a:latin typeface="Cabin"/>
                <a:ea typeface="Cabin"/>
                <a:cs typeface="Cabin"/>
                <a:sym typeface="Cabin"/>
              </a:rPr>
              <a:t>Numeric Expressions</a:t>
            </a:r>
          </a:p>
        </p:txBody>
      </p:sp>
      <p:sp>
        <p:nvSpPr>
          <p:cNvPr id="273" name="Shape 273"/>
          <p:cNvSpPr txBox="1">
            <a:spLocks noGrp="1"/>
          </p:cNvSpPr>
          <p:nvPr>
            <p:ph type="body" idx="1"/>
          </p:nvPr>
        </p:nvSpPr>
        <p:spPr>
          <a:xfrm>
            <a:off x="850900" y="2603500"/>
            <a:ext cx="8452500" cy="57023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Because of the lack of mathematical symbols on computer keyboards - we use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computer-speak</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 to express the classic math operations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Asterisk is multiplication</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Exponentiation (raise to a power) looks different from in math.</a:t>
            </a:r>
          </a:p>
        </p:txBody>
      </p:sp>
      <p:graphicFrame>
        <p:nvGraphicFramePr>
          <p:cNvPr id="274" name="Shape 274"/>
          <p:cNvGraphicFramePr/>
          <p:nvPr/>
        </p:nvGraphicFramePr>
        <p:xfrm>
          <a:off x="10337800" y="2670175"/>
          <a:ext cx="5025250" cy="5567275"/>
        </p:xfrm>
        <a:graphic>
          <a:graphicData uri="http://schemas.openxmlformats.org/drawingml/2006/table">
            <a:tbl>
              <a:tblPr>
                <a:noFill/>
                <a:tableStyleId>{0898A04C-20DC-4C87-BC84-62704544E0CF}</a:tableStyleId>
              </a:tblPr>
              <a:tblGrid>
                <a:gridCol w="2398575"/>
                <a:gridCol w="2626675"/>
              </a:tblGrid>
              <a:tr h="795325">
                <a:tc>
                  <a:txBody>
                    <a:bodyPr/>
                    <a:lstStyle/>
                    <a:p>
                      <a:pPr marL="0" lvl="0" indent="0" algn="ctr" rtl="0">
                        <a:lnSpc>
                          <a:spcPct val="100000"/>
                        </a:lnSpc>
                        <a:spcBef>
                          <a:spcPts val="0"/>
                        </a:spcBef>
                        <a:spcAft>
                          <a:spcPts val="0"/>
                        </a:spcAft>
                        <a:buClr>
                          <a:srgbClr val="00FFFF"/>
                        </a:buClr>
                        <a:buSzPct val="25000"/>
                        <a:buFont typeface="Cabin"/>
                        <a:buNone/>
                      </a:pPr>
                      <a:r>
                        <a:rPr lang="en-US" sz="3200" b="0" i="0" u="none" baseline="0">
                          <a:solidFill>
                            <a:srgbClr val="00FFFF"/>
                          </a:solidFill>
                          <a:latin typeface="Cabin"/>
                          <a:ea typeface="Cabin"/>
                          <a:cs typeface="Cabin"/>
                          <a:sym typeface="Cabin"/>
                        </a:rPr>
                        <a:t>Operator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solidFill>
                      <a:srgbClr val="7F7F7F">
                        <a:alpha val="49411"/>
                      </a:srgbClr>
                    </a:solidFill>
                  </a:tcPr>
                </a:tc>
                <a:tc>
                  <a:txBody>
                    <a:bodyPr/>
                    <a:lstStyle/>
                    <a:p>
                      <a:pPr marL="0" lvl="0" indent="0" algn="ctr" rtl="0">
                        <a:lnSpc>
                          <a:spcPct val="100000"/>
                        </a:lnSpc>
                        <a:spcBef>
                          <a:spcPts val="0"/>
                        </a:spcBef>
                        <a:spcAft>
                          <a:spcPts val="0"/>
                        </a:spcAft>
                        <a:buClr>
                          <a:schemeClr val="lt1"/>
                        </a:buClr>
                        <a:buSzPct val="25000"/>
                        <a:buFont typeface="Cabin"/>
                        <a:buNone/>
                      </a:pPr>
                      <a:r>
                        <a:rPr lang="en-US" sz="3200" b="0" i="0" u="none" baseline="0">
                          <a:solidFill>
                            <a:schemeClr val="lt1"/>
                          </a:solidFill>
                          <a:latin typeface="Cabin"/>
                          <a:ea typeface="Cabin"/>
                          <a:cs typeface="Cabin"/>
                          <a:sym typeface="Cabin"/>
                        </a:rPr>
                        <a:t>Operation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solidFill>
                      <a:srgbClr val="7F7F7F">
                        <a:alpha val="49411"/>
                      </a:srgbClr>
                    </a:solidFill>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Addition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Subtraction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Multiplication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Division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Power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795325">
                <a:tc>
                  <a:txBody>
                    <a:bodyPr/>
                    <a:lstStyle/>
                    <a:p>
                      <a:pPr marL="0" lvl="0" indent="0" algn="ctr" rtl="0">
                        <a:lnSpc>
                          <a:spcPct val="100000"/>
                        </a:lnSpc>
                        <a:spcBef>
                          <a:spcPts val="0"/>
                        </a:spcBef>
                        <a:spcAft>
                          <a:spcPts val="0"/>
                        </a:spcAft>
                        <a:buClr>
                          <a:srgbClr val="00FFFF"/>
                        </a:buClr>
                        <a:buSzPct val="25000"/>
                        <a:buFont typeface="Cabin"/>
                        <a:buNone/>
                      </a:pPr>
                      <a:r>
                        <a:rPr lang="en-US" sz="31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3100" b="0" i="0" u="none" baseline="0">
                          <a:solidFill>
                            <a:schemeClr val="lt1"/>
                          </a:solidFill>
                          <a:latin typeface="Cabin"/>
                          <a:ea typeface="Cabin"/>
                          <a:cs typeface="Cabin"/>
                          <a:sym typeface="Cabin"/>
                        </a:rPr>
                        <a:t>Remainder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bl>
          </a:graphicData>
        </a:graphic>
      </p:graphicFrame>
    </p:spTree>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Shape 279"/>
          <p:cNvSpPr txBox="1"/>
          <p:nvPr/>
        </p:nvSpPr>
        <p:spPr>
          <a:xfrm>
            <a:off x="1727200" y="2838450"/>
            <a:ext cx="44609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00FF00"/>
                </a:solidFill>
                <a:latin typeface="Courier New"/>
                <a:ea typeface="Courier New"/>
                <a:cs typeface="Courier New"/>
                <a:sym typeface="Courier New"/>
              </a:rPr>
              <a:t>xx</a:t>
            </a:r>
            <a:r>
              <a:rPr lang="en-US" sz="3000" b="0" i="0" u="none" strike="noStrike" cap="none" baseline="0">
                <a:solidFill>
                  <a:schemeClr val="lt1"/>
                </a:solidFill>
                <a:latin typeface="Courier New"/>
                <a:ea typeface="Courier New"/>
                <a:cs typeface="Courier New"/>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00FF00"/>
                </a:solidFill>
                <a:latin typeface="Courier New"/>
                <a:ea typeface="Courier New"/>
                <a:cs typeface="Courier New"/>
                <a:sym typeface="Courier New"/>
              </a:rPr>
              <a:t>xx</a:t>
            </a:r>
            <a:r>
              <a:rPr lang="en-US" sz="3000" b="0" i="0" u="none" strike="noStrike" cap="none" baseline="0">
                <a:solidFill>
                  <a:schemeClr val="lt1"/>
                </a:solidFill>
                <a:latin typeface="Courier New"/>
                <a:ea typeface="Courier New"/>
                <a:cs typeface="Courier New"/>
                <a:sym typeface="Courier New"/>
              </a:rPr>
              <a:t> = </a:t>
            </a:r>
            <a:r>
              <a:rPr lang="en-US" sz="3000" b="0" i="0" u="none" strike="noStrike" cap="none" baseline="0">
                <a:solidFill>
                  <a:srgbClr val="00FF00"/>
                </a:solidFill>
                <a:latin typeface="Courier New"/>
                <a:ea typeface="Courier New"/>
                <a:cs typeface="Courier New"/>
                <a:sym typeface="Courier New"/>
              </a:rPr>
              <a:t>xx</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2</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print </a:t>
            </a:r>
            <a:r>
              <a:rPr lang="en-US" sz="3000" b="0" i="0" u="none" strike="noStrike" cap="none" baseline="0">
                <a:solidFill>
                  <a:srgbClr val="00FF00"/>
                </a:solidFill>
                <a:latin typeface="Courier New"/>
                <a:ea typeface="Courier New"/>
                <a:cs typeface="Courier New"/>
                <a:sym typeface="Courier New"/>
              </a:rPr>
              <a:t>xx</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4</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00FF00"/>
                </a:solidFill>
                <a:latin typeface="Courier New"/>
                <a:ea typeface="Courier New"/>
                <a:cs typeface="Courier New"/>
                <a:sym typeface="Courier New"/>
              </a:rPr>
              <a:t>yy</a:t>
            </a:r>
            <a:r>
              <a:rPr lang="en-US" sz="3000" b="0" i="0" u="none" strike="noStrike" cap="none" baseline="0">
                <a:solidFill>
                  <a:schemeClr val="lt1"/>
                </a:solidFill>
                <a:latin typeface="Courier New"/>
                <a:ea typeface="Courier New"/>
                <a:cs typeface="Courier New"/>
                <a:sym typeface="Courier New"/>
              </a:rPr>
              <a:t> = 440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12</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00FF00"/>
                </a:solidFill>
                <a:latin typeface="Courier New"/>
                <a:ea typeface="Courier New"/>
                <a:cs typeface="Courier New"/>
                <a:sym typeface="Courier New"/>
              </a:rPr>
              <a:t>yy</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5280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00FF00"/>
                </a:solidFill>
                <a:latin typeface="Courier New"/>
                <a:ea typeface="Courier New"/>
                <a:cs typeface="Courier New"/>
                <a:sym typeface="Courier New"/>
              </a:rPr>
              <a:t>zz</a:t>
            </a:r>
            <a:r>
              <a:rPr lang="en-US" sz="3000" b="0" i="0" u="none" strike="noStrike" cap="none" baseline="0">
                <a:solidFill>
                  <a:schemeClr val="lt1"/>
                </a:solidFill>
                <a:latin typeface="Courier New"/>
                <a:ea typeface="Courier New"/>
                <a:cs typeface="Courier New"/>
                <a:sym typeface="Courier New"/>
              </a:rPr>
              <a:t> = </a:t>
            </a:r>
            <a:r>
              <a:rPr lang="en-US" sz="3000" b="0" i="0" u="none" strike="noStrike" cap="none" baseline="0">
                <a:solidFill>
                  <a:srgbClr val="00FF00"/>
                </a:solidFill>
                <a:latin typeface="Courier New"/>
                <a:ea typeface="Courier New"/>
                <a:cs typeface="Courier New"/>
                <a:sym typeface="Courier New"/>
              </a:rPr>
              <a:t>yy</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1000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zz</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5</a:t>
            </a:r>
          </a:p>
        </p:txBody>
      </p:sp>
      <p:sp>
        <p:nvSpPr>
          <p:cNvPr id="280" name="Shape 280"/>
          <p:cNvSpPr txBox="1"/>
          <p:nvPr/>
        </p:nvSpPr>
        <p:spPr>
          <a:xfrm>
            <a:off x="7073900" y="2736850"/>
            <a:ext cx="4026600" cy="32258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a:t>
            </a:r>
            <a:r>
              <a:rPr lang="en-US" sz="3000" b="0" i="0" u="none" strike="noStrike" cap="none" baseline="0">
                <a:solidFill>
                  <a:srgbClr val="00FF00"/>
                </a:solidFill>
                <a:latin typeface="Courier New"/>
                <a:ea typeface="Courier New"/>
                <a:cs typeface="Courier New"/>
                <a:sym typeface="Courier New"/>
              </a:rPr>
              <a:t> jj</a:t>
            </a:r>
            <a:r>
              <a:rPr lang="en-US" sz="3000" b="0" i="0" u="none" strike="noStrike" cap="none" baseline="0">
                <a:solidFill>
                  <a:schemeClr val="lt1"/>
                </a:solidFill>
                <a:latin typeface="Courier New"/>
                <a:ea typeface="Courier New"/>
                <a:cs typeface="Courier New"/>
                <a:sym typeface="Courier New"/>
              </a:rPr>
              <a:t> = 23</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00FF00"/>
                </a:solidFill>
                <a:latin typeface="Courier New"/>
                <a:ea typeface="Courier New"/>
                <a:cs typeface="Courier New"/>
                <a:sym typeface="Courier New"/>
              </a:rPr>
              <a:t>kk</a:t>
            </a:r>
            <a:r>
              <a:rPr lang="en-US" sz="3000" b="0" i="0" u="none" strike="noStrike" cap="none" baseline="0">
                <a:solidFill>
                  <a:schemeClr val="lt1"/>
                </a:solidFill>
                <a:latin typeface="Courier New"/>
                <a:ea typeface="Courier New"/>
                <a:cs typeface="Courier New"/>
                <a:sym typeface="Courier New"/>
              </a:rPr>
              <a:t> = </a:t>
            </a:r>
            <a:r>
              <a:rPr lang="en-US" sz="3000" b="0" i="0" u="none" strike="noStrike" cap="none" baseline="0">
                <a:solidFill>
                  <a:srgbClr val="00FF00"/>
                </a:solidFill>
                <a:latin typeface="Courier New"/>
                <a:ea typeface="Courier New"/>
                <a:cs typeface="Courier New"/>
                <a:sym typeface="Courier New"/>
              </a:rPr>
              <a:t>jj</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00FFFF"/>
                </a:solidFill>
                <a:latin typeface="Courier New"/>
                <a:ea typeface="Courier New"/>
                <a:cs typeface="Courier New"/>
                <a:sym typeface="Courier New"/>
              </a:rPr>
              <a:t>% </a:t>
            </a:r>
            <a:r>
              <a:rPr lang="en-US" sz="3000" b="0" i="0" u="none" strike="noStrike" cap="none" baseline="0">
                <a:solidFill>
                  <a:schemeClr val="lt1"/>
                </a:solidFill>
                <a:latin typeface="Courier New"/>
                <a:ea typeface="Courier New"/>
                <a:cs typeface="Courier New"/>
                <a:sym typeface="Courier New"/>
              </a:rPr>
              <a:t>5</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a:t>
            </a:r>
            <a:r>
              <a:rPr lang="en-US" sz="3000" b="0" i="0" u="none" strike="noStrike" cap="none" baseline="0">
                <a:solidFill>
                  <a:srgbClr val="00FF00"/>
                </a:solidFill>
                <a:latin typeface="Courier New"/>
                <a:ea typeface="Courier New"/>
                <a:cs typeface="Courier New"/>
                <a:sym typeface="Courier New"/>
              </a:rPr>
              <a:t>kk</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4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3</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64</a:t>
            </a:r>
          </a:p>
        </p:txBody>
      </p:sp>
      <p:graphicFrame>
        <p:nvGraphicFramePr>
          <p:cNvPr id="281" name="Shape 281"/>
          <p:cNvGraphicFramePr/>
          <p:nvPr/>
        </p:nvGraphicFramePr>
        <p:xfrm>
          <a:off x="11783875" y="2965450"/>
          <a:ext cx="3752000" cy="4556125"/>
        </p:xfrm>
        <a:graphic>
          <a:graphicData uri="http://schemas.openxmlformats.org/drawingml/2006/table">
            <a:tbl>
              <a:tblPr>
                <a:noFill/>
                <a:tableStyleId>{BC987CDA-01E2-434E-AB49-963D1FF41025}</a:tableStyleId>
              </a:tblPr>
              <a:tblGrid>
                <a:gridCol w="1876000"/>
                <a:gridCol w="1876000"/>
              </a:tblGrid>
              <a:tr h="650875">
                <a:tc>
                  <a:txBody>
                    <a:bodyPr/>
                    <a:lstStyle/>
                    <a:p>
                      <a:pPr marL="0" lvl="0" indent="0" algn="ctr" rtl="0">
                        <a:lnSpc>
                          <a:spcPct val="100000"/>
                        </a:lnSpc>
                        <a:spcBef>
                          <a:spcPts val="0"/>
                        </a:spcBef>
                        <a:spcAft>
                          <a:spcPts val="0"/>
                        </a:spcAft>
                        <a:buClr>
                          <a:srgbClr val="00FFFF"/>
                        </a:buClr>
                        <a:buSzPct val="25000"/>
                        <a:buFont typeface="Cabin"/>
                        <a:buNone/>
                      </a:pPr>
                      <a:r>
                        <a:rPr lang="en-US" sz="2400" b="0" i="0" u="none" baseline="0">
                          <a:solidFill>
                            <a:srgbClr val="00FFFF"/>
                          </a:solidFill>
                          <a:latin typeface="Cabin"/>
                          <a:ea typeface="Cabin"/>
                          <a:cs typeface="Cabin"/>
                          <a:sym typeface="Cabin"/>
                        </a:rPr>
                        <a:t>Operator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solidFill>
                      <a:srgbClr val="7F7F7F">
                        <a:alpha val="49411"/>
                      </a:srgbClr>
                    </a:solidFill>
                  </a:tcPr>
                </a:tc>
                <a:tc>
                  <a:txBody>
                    <a:bodyPr/>
                    <a:lstStyle/>
                    <a:p>
                      <a:pPr marL="0" lvl="0" indent="0" algn="ctr" rtl="0">
                        <a:lnSpc>
                          <a:spcPct val="100000"/>
                        </a:lnSpc>
                        <a:spcBef>
                          <a:spcPts val="0"/>
                        </a:spcBef>
                        <a:spcAft>
                          <a:spcPts val="0"/>
                        </a:spcAft>
                        <a:buClr>
                          <a:schemeClr val="lt1"/>
                        </a:buClr>
                        <a:buSzPct val="25000"/>
                        <a:buFont typeface="Cabin"/>
                        <a:buNone/>
                      </a:pPr>
                      <a:r>
                        <a:rPr lang="en-US" sz="2400" b="0" i="0" u="none" baseline="0">
                          <a:solidFill>
                            <a:schemeClr val="lt1"/>
                          </a:solidFill>
                          <a:latin typeface="Cabin"/>
                          <a:ea typeface="Cabin"/>
                          <a:cs typeface="Cabin"/>
                          <a:sym typeface="Cabin"/>
                        </a:rPr>
                        <a:t>Operation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solidFill>
                      <a:srgbClr val="7F7F7F">
                        <a:alpha val="49411"/>
                      </a:srgbClr>
                    </a:solidFill>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Addition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Subtraction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Multiplication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Division</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Power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r h="650875">
                <a:tc>
                  <a:txBody>
                    <a:bodyPr/>
                    <a:lstStyle/>
                    <a:p>
                      <a:pPr marL="0" lvl="0" indent="0" algn="ctr" rtl="0">
                        <a:lnSpc>
                          <a:spcPct val="100000"/>
                        </a:lnSpc>
                        <a:spcBef>
                          <a:spcPts val="0"/>
                        </a:spcBef>
                        <a:spcAft>
                          <a:spcPts val="0"/>
                        </a:spcAft>
                        <a:buClr>
                          <a:srgbClr val="00FFFF"/>
                        </a:buClr>
                        <a:buSzPct val="25000"/>
                        <a:buFont typeface="Cabin"/>
                        <a:buNone/>
                      </a:pPr>
                      <a:r>
                        <a:rPr lang="en-US" sz="2300" b="0" i="0" u="none" baseline="0">
                          <a:solidFill>
                            <a:srgbClr val="00FFFF"/>
                          </a:solidFill>
                          <a:latin typeface="Cabin"/>
                          <a:ea typeface="Cabin"/>
                          <a:cs typeface="Cabin"/>
                          <a:sym typeface="Cabin"/>
                        </a:rPr>
                        <a:t>%</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c>
                  <a:txBody>
                    <a:bodyPr/>
                    <a:lstStyle/>
                    <a:p>
                      <a:pPr marL="0" lvl="0" indent="0" algn="ctr" rtl="0">
                        <a:lnSpc>
                          <a:spcPct val="100000"/>
                        </a:lnSpc>
                        <a:spcBef>
                          <a:spcPts val="0"/>
                        </a:spcBef>
                        <a:spcAft>
                          <a:spcPts val="0"/>
                        </a:spcAft>
                        <a:buClr>
                          <a:schemeClr val="lt1"/>
                        </a:buClr>
                        <a:buSzPct val="25000"/>
                        <a:buFont typeface="Cabin"/>
                        <a:buNone/>
                      </a:pPr>
                      <a:r>
                        <a:rPr lang="en-US" sz="2300" b="0" i="0" u="none" baseline="0">
                          <a:solidFill>
                            <a:schemeClr val="lt1"/>
                          </a:solidFill>
                          <a:latin typeface="Cabin"/>
                          <a:ea typeface="Cabin"/>
                          <a:cs typeface="Cabin"/>
                          <a:sym typeface="Cabin"/>
                        </a:rPr>
                        <a:t>Remainder</a:t>
                      </a:r>
                    </a:p>
                  </a:txBody>
                  <a:tcPr marL="38100" marR="38100" marT="38100" marB="38100" anchor="ctr">
                    <a:lnL w="25400" cap="flat" cmpd="sng">
                      <a:solidFill>
                        <a:srgbClr val="FFFFFF"/>
                      </a:solidFill>
                      <a:prstDash val="solid"/>
                      <a:round/>
                      <a:headEnd type="none" w="med" len="med"/>
                      <a:tailEnd type="none" w="med" len="med"/>
                    </a:lnL>
                    <a:lnR w="25400" cap="flat" cmpd="sng">
                      <a:solidFill>
                        <a:srgbClr val="FFFFFF"/>
                      </a:solidFill>
                      <a:prstDash val="solid"/>
                      <a:round/>
                      <a:headEnd type="none" w="med" len="med"/>
                      <a:tailEnd type="none" w="med" len="med"/>
                    </a:lnR>
                    <a:lnT w="25400" cap="flat" cmpd="sng">
                      <a:solidFill>
                        <a:srgbClr val="FFFFFF"/>
                      </a:solidFill>
                      <a:prstDash val="solid"/>
                      <a:round/>
                      <a:headEnd type="none" w="med" len="med"/>
                      <a:tailEnd type="none" w="med" len="med"/>
                    </a:lnT>
                    <a:lnB w="25400" cap="flat" cmpd="sng">
                      <a:solidFill>
                        <a:srgbClr val="FFFFFF"/>
                      </a:solidFill>
                      <a:prstDash val="solid"/>
                      <a:round/>
                      <a:headEnd type="none" w="med" len="med"/>
                      <a:tailEnd type="none" w="med" len="med"/>
                    </a:lnB>
                  </a:tcPr>
                </a:tc>
              </a:tr>
            </a:tbl>
          </a:graphicData>
        </a:graphic>
      </p:graphicFrame>
      <p:cxnSp>
        <p:nvCxnSpPr>
          <p:cNvPr id="282" name="Shape 282"/>
          <p:cNvCxnSpPr/>
          <p:nvPr/>
        </p:nvCxnSpPr>
        <p:spPr>
          <a:xfrm>
            <a:off x="8128000" y="6858000"/>
            <a:ext cx="12699" cy="595311"/>
          </a:xfrm>
          <a:prstGeom prst="straightConnector1">
            <a:avLst/>
          </a:prstGeom>
          <a:noFill/>
          <a:ln w="25400" cap="rnd" cmpd="sng">
            <a:solidFill>
              <a:schemeClr val="lt1"/>
            </a:solidFill>
            <a:prstDash val="solid"/>
            <a:miter/>
            <a:headEnd type="none" w="med" len="med"/>
            <a:tailEnd type="none" w="med" len="med"/>
          </a:ln>
        </p:spPr>
      </p:cxnSp>
      <p:cxnSp>
        <p:nvCxnSpPr>
          <p:cNvPr id="283" name="Shape 283"/>
          <p:cNvCxnSpPr/>
          <p:nvPr/>
        </p:nvCxnSpPr>
        <p:spPr>
          <a:xfrm rot="10800000" flipH="1">
            <a:off x="8128000" y="6858000"/>
            <a:ext cx="2035175" cy="25399"/>
          </a:xfrm>
          <a:prstGeom prst="straightConnector1">
            <a:avLst/>
          </a:prstGeom>
          <a:noFill/>
          <a:ln w="25400" cap="rnd" cmpd="sng">
            <a:solidFill>
              <a:schemeClr val="lt1"/>
            </a:solidFill>
            <a:prstDash val="solid"/>
            <a:miter/>
            <a:headEnd type="none" w="med" len="med"/>
            <a:tailEnd type="none" w="med" len="med"/>
          </a:ln>
        </p:spPr>
      </p:cxnSp>
      <p:sp>
        <p:nvSpPr>
          <p:cNvPr id="284" name="Shape 284"/>
          <p:cNvSpPr txBox="1"/>
          <p:nvPr/>
        </p:nvSpPr>
        <p:spPr>
          <a:xfrm>
            <a:off x="7502525" y="6921500"/>
            <a:ext cx="3428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5</a:t>
            </a:r>
          </a:p>
        </p:txBody>
      </p:sp>
      <p:sp>
        <p:nvSpPr>
          <p:cNvPr id="285" name="Shape 285"/>
          <p:cNvSpPr txBox="1"/>
          <p:nvPr/>
        </p:nvSpPr>
        <p:spPr>
          <a:xfrm>
            <a:off x="8267700" y="6921500"/>
            <a:ext cx="5715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23</a:t>
            </a:r>
          </a:p>
        </p:txBody>
      </p:sp>
      <p:sp>
        <p:nvSpPr>
          <p:cNvPr id="286" name="Shape 286"/>
          <p:cNvSpPr txBox="1"/>
          <p:nvPr/>
        </p:nvSpPr>
        <p:spPr>
          <a:xfrm>
            <a:off x="8512175" y="6253162"/>
            <a:ext cx="1100136"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4 R 3</a:t>
            </a:r>
          </a:p>
        </p:txBody>
      </p:sp>
      <p:sp>
        <p:nvSpPr>
          <p:cNvPr id="287" name="Shape 287"/>
          <p:cNvSpPr txBox="1"/>
          <p:nvPr/>
        </p:nvSpPr>
        <p:spPr>
          <a:xfrm>
            <a:off x="8267700" y="7378700"/>
            <a:ext cx="5715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20</a:t>
            </a:r>
          </a:p>
        </p:txBody>
      </p:sp>
      <p:cxnSp>
        <p:nvCxnSpPr>
          <p:cNvPr id="288" name="Shape 288"/>
          <p:cNvCxnSpPr/>
          <p:nvPr/>
        </p:nvCxnSpPr>
        <p:spPr>
          <a:xfrm>
            <a:off x="8191500" y="8088311"/>
            <a:ext cx="584200" cy="0"/>
          </a:xfrm>
          <a:prstGeom prst="straightConnector1">
            <a:avLst/>
          </a:prstGeom>
          <a:noFill/>
          <a:ln w="25400" cap="rnd" cmpd="sng">
            <a:solidFill>
              <a:schemeClr val="lt1"/>
            </a:solidFill>
            <a:prstDash val="solid"/>
            <a:miter/>
            <a:headEnd type="none" w="med" len="med"/>
            <a:tailEnd type="none" w="med" len="med"/>
          </a:ln>
        </p:spPr>
      </p:cxnSp>
      <p:sp>
        <p:nvSpPr>
          <p:cNvPr id="289" name="Shape 289"/>
          <p:cNvSpPr txBox="1"/>
          <p:nvPr/>
        </p:nvSpPr>
        <p:spPr>
          <a:xfrm>
            <a:off x="8496300" y="8153400"/>
            <a:ext cx="3428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3</a:t>
            </a:r>
          </a:p>
        </p:txBody>
      </p:sp>
      <p:sp>
        <p:nvSpPr>
          <p:cNvPr id="290" name="Shape 290"/>
          <p:cNvSpPr txBox="1">
            <a:spLocks noGrp="1"/>
          </p:cNvSpPr>
          <p:nvPr>
            <p:ph type="title"/>
          </p:nvPr>
        </p:nvSpPr>
        <p:spPr>
          <a:xfrm>
            <a:off x="1155700" y="35496"/>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dirty="0">
                <a:solidFill>
                  <a:srgbClr val="FF00FF"/>
                </a:solidFill>
                <a:latin typeface="Cabin"/>
                <a:ea typeface="Cabin"/>
                <a:cs typeface="Cabin"/>
                <a:sym typeface="Cabin"/>
              </a:rPr>
              <a:t>Numeric Expressions</a:t>
            </a:r>
          </a:p>
        </p:txBody>
      </p:sp>
    </p:spTree>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xfrm>
            <a:off x="1155700" y="395536"/>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7600" b="0" i="0" u="none" strike="noStrike" cap="none" baseline="0" dirty="0">
                <a:solidFill>
                  <a:srgbClr val="00FFFF"/>
                </a:solidFill>
                <a:latin typeface="Cabin"/>
                <a:ea typeface="Cabin"/>
                <a:cs typeface="Cabin"/>
                <a:sym typeface="Cabin"/>
              </a:rPr>
              <a:t>Order of Evaluation</a:t>
            </a:r>
          </a:p>
        </p:txBody>
      </p:sp>
      <p:sp>
        <p:nvSpPr>
          <p:cNvPr id="296" name="Shape 296"/>
          <p:cNvSpPr txBox="1">
            <a:spLocks noGrp="1"/>
          </p:cNvSpPr>
          <p:nvPr>
            <p:ph type="body" idx="1"/>
          </p:nvPr>
        </p:nvSpPr>
        <p:spPr>
          <a:xfrm>
            <a:off x="1155700" y="2819400"/>
            <a:ext cx="13931900" cy="349250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When we string operators together - Python must know which one to do first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This is called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00FFFF"/>
                </a:solidFill>
                <a:latin typeface="Cabin"/>
                <a:ea typeface="Cabin"/>
                <a:cs typeface="Cabin"/>
                <a:sym typeface="Cabin"/>
              </a:rPr>
              <a:t>operator precedence</a:t>
            </a:r>
            <a:r>
              <a:rPr lang="en-US" sz="3600" b="0" i="0" u="none" strike="noStrike" cap="none" baseline="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Which operator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takes precedence</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over the others?</a:t>
            </a:r>
          </a:p>
        </p:txBody>
      </p:sp>
      <p:sp>
        <p:nvSpPr>
          <p:cNvPr id="297" name="Shape 297"/>
          <p:cNvSpPr txBox="1"/>
          <p:nvPr/>
        </p:nvSpPr>
        <p:spPr>
          <a:xfrm>
            <a:off x="5095875" y="7307650"/>
            <a:ext cx="46212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x</a:t>
            </a:r>
            <a:r>
              <a:rPr lang="en-US" sz="3600" b="0" i="0" u="none" strike="noStrike" cap="none" baseline="0">
                <a:solidFill>
                  <a:schemeClr val="lt1"/>
                </a:solidFill>
                <a:latin typeface="Cabin"/>
                <a:ea typeface="Cabin"/>
                <a:cs typeface="Cabin"/>
                <a:sym typeface="Cabin"/>
              </a:rPr>
              <a:t> = 1</a:t>
            </a:r>
            <a:r>
              <a:rPr lang="en-US" sz="3600" b="0" i="0" u="none" strike="noStrike" cap="none" baseline="0">
                <a:solidFill>
                  <a:srgbClr val="00FFFF"/>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 2 </a:t>
            </a:r>
            <a:r>
              <a:rPr lang="en-US" sz="3600" b="0" i="0" u="none" strike="noStrike" cap="none" baseline="0">
                <a:solidFill>
                  <a:srgbClr val="00FFFF"/>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3 </a:t>
            </a:r>
            <a:r>
              <a:rPr lang="en-US" sz="3600" b="0" i="0" u="none" strike="noStrike" cap="none" baseline="0">
                <a:solidFill>
                  <a:srgbClr val="00FFFF"/>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4</a:t>
            </a:r>
            <a:r>
              <a:rPr lang="en-US" sz="3600" b="0" i="0" u="none" strike="noStrike" cap="none" baseline="0">
                <a:solidFill>
                  <a:srgbClr val="00FFFF"/>
                </a:solidFill>
                <a:latin typeface="Cabin"/>
                <a:ea typeface="Cabin"/>
                <a:cs typeface="Cabin"/>
                <a:sym typeface="Cabin"/>
              </a:rPr>
              <a:t> / </a:t>
            </a:r>
            <a:r>
              <a:rPr lang="en-US" sz="3600" b="0" i="0" u="none" strike="noStrike" cap="none" baseline="0">
                <a:solidFill>
                  <a:schemeClr val="lt1"/>
                </a:solidFill>
                <a:latin typeface="Cabin"/>
                <a:ea typeface="Cabin"/>
                <a:cs typeface="Cabin"/>
                <a:sym typeface="Cabin"/>
              </a:rPr>
              <a:t>5 </a:t>
            </a:r>
            <a:r>
              <a:rPr lang="en-US" sz="3600" b="0" i="0" u="none" strike="noStrike" cap="none" baseline="0">
                <a:solidFill>
                  <a:srgbClr val="00FFFF"/>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6</a:t>
            </a:r>
          </a:p>
        </p:txBody>
      </p:sp>
    </p:spTree>
  </p:cSld>
  <p:clrMapOvr>
    <a:masterClrMapping/>
  </p:clrMapOvr>
  <p:transition spd="slow">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Shape 302"/>
          <p:cNvSpPr txBox="1">
            <a:spLocks noGrp="1"/>
          </p:cNvSpPr>
          <p:nvPr>
            <p:ph type="title"/>
          </p:nvPr>
        </p:nvSpPr>
        <p:spPr>
          <a:xfrm>
            <a:off x="927200" y="-180528"/>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dirty="0">
                <a:solidFill>
                  <a:srgbClr val="00FF00"/>
                </a:solidFill>
                <a:latin typeface="Cabin"/>
                <a:ea typeface="Cabin"/>
                <a:cs typeface="Cabin"/>
                <a:sym typeface="Cabin"/>
              </a:rPr>
              <a:t>Operator Precedence Rules</a:t>
            </a:r>
          </a:p>
        </p:txBody>
      </p:sp>
      <p:sp>
        <p:nvSpPr>
          <p:cNvPr id="303" name="Shape 303"/>
          <p:cNvSpPr txBox="1">
            <a:spLocks noGrp="1"/>
          </p:cNvSpPr>
          <p:nvPr>
            <p:ph type="body" idx="1"/>
          </p:nvPr>
        </p:nvSpPr>
        <p:spPr>
          <a:xfrm>
            <a:off x="1155700" y="5462116"/>
            <a:ext cx="13931900" cy="1054100"/>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None/>
            </a:pPr>
            <a:r>
              <a:rPr lang="en-US" sz="3200" b="0" i="0" u="none" strike="noStrike" cap="none" baseline="0" dirty="0">
                <a:solidFill>
                  <a:schemeClr val="lt1"/>
                </a:solidFill>
                <a:latin typeface="Cabin"/>
                <a:ea typeface="Cabin"/>
                <a:cs typeface="Cabin"/>
                <a:sym typeface="Cabin"/>
              </a:rPr>
              <a:t>Highest precedence rule to lowest precedence rule:</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dirty="0">
                <a:solidFill>
                  <a:schemeClr val="lt1"/>
                </a:solidFill>
                <a:latin typeface="Cabin"/>
                <a:ea typeface="Cabin"/>
                <a:cs typeface="Cabin"/>
                <a:sym typeface="Cabin"/>
              </a:rPr>
              <a:t>Parenthesis are always respected</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dirty="0">
                <a:solidFill>
                  <a:schemeClr val="lt1"/>
                </a:solidFill>
                <a:latin typeface="Cabin"/>
                <a:ea typeface="Cabin"/>
                <a:cs typeface="Cabin"/>
                <a:sym typeface="Cabin"/>
              </a:rPr>
              <a:t>Exponentiation (raise to a power)</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dirty="0">
                <a:solidFill>
                  <a:schemeClr val="lt1"/>
                </a:solidFill>
                <a:latin typeface="Cabin"/>
                <a:ea typeface="Cabin"/>
                <a:cs typeface="Cabin"/>
                <a:sym typeface="Cabin"/>
              </a:rPr>
              <a:t>Multiplication, Division, and Remainder</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dirty="0">
                <a:solidFill>
                  <a:schemeClr val="lt1"/>
                </a:solidFill>
                <a:latin typeface="Cabin"/>
                <a:ea typeface="Cabin"/>
                <a:cs typeface="Cabin"/>
                <a:sym typeface="Cabin"/>
              </a:rPr>
              <a:t>Addition and Subtraction</a:t>
            </a:r>
          </a:p>
          <a:p>
            <a:pPr marL="1041400" marR="0" lvl="1" indent="-142494" algn="l" rtl="0">
              <a:lnSpc>
                <a:spcPct val="100000"/>
              </a:lnSpc>
              <a:spcBef>
                <a:spcPts val="3500"/>
              </a:spcBef>
              <a:spcAft>
                <a:spcPts val="0"/>
              </a:spcAft>
              <a:buClr>
                <a:schemeClr val="lt1"/>
              </a:buClr>
              <a:buSzPct val="100000"/>
              <a:buFont typeface="Cabin"/>
            </a:pPr>
            <a:r>
              <a:rPr lang="en-US" sz="3200" b="0" i="0" u="none" strike="noStrike" cap="none" baseline="0" dirty="0">
                <a:solidFill>
                  <a:schemeClr val="lt1"/>
                </a:solidFill>
                <a:latin typeface="Cabin"/>
                <a:ea typeface="Cabin"/>
                <a:cs typeface="Cabin"/>
                <a:sym typeface="Cabin"/>
              </a:rPr>
              <a:t>Left to right</a:t>
            </a:r>
          </a:p>
        </p:txBody>
      </p:sp>
      <p:grpSp>
        <p:nvGrpSpPr>
          <p:cNvPr id="304" name="Shape 304"/>
          <p:cNvGrpSpPr/>
          <p:nvPr/>
        </p:nvGrpSpPr>
        <p:grpSpPr>
          <a:xfrm>
            <a:off x="12079286" y="4749800"/>
            <a:ext cx="2541586" cy="2324099"/>
            <a:chOff x="0" y="0"/>
            <a:chExt cx="2541586" cy="2324099"/>
          </a:xfrm>
        </p:grpSpPr>
        <p:sp>
          <p:nvSpPr>
            <p:cNvPr id="305" name="Shape 305"/>
            <p:cNvSpPr txBox="1"/>
            <p:nvPr/>
          </p:nvSpPr>
          <p:spPr>
            <a:xfrm>
              <a:off x="0" y="0"/>
              <a:ext cx="2262187" cy="2324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100" b="0" i="0" u="none" strike="noStrike" cap="none" baseline="0" dirty="0">
                  <a:solidFill>
                    <a:srgbClr val="FF00FF"/>
                  </a:solidFill>
                  <a:latin typeface="Cabin"/>
                  <a:ea typeface="Cabin"/>
                  <a:cs typeface="Cabin"/>
                  <a:sym typeface="Cabin"/>
                </a:rPr>
                <a:t>Parenthesis</a:t>
              </a:r>
            </a:p>
            <a:p>
              <a:pPr marL="0" marR="0" lvl="0" indent="0" algn="ctr" rtl="0">
                <a:lnSpc>
                  <a:spcPct val="100000"/>
                </a:lnSpc>
                <a:spcBef>
                  <a:spcPts val="0"/>
                </a:spcBef>
                <a:spcAft>
                  <a:spcPts val="0"/>
                </a:spcAft>
                <a:buClr>
                  <a:srgbClr val="FF0000"/>
                </a:buClr>
                <a:buSzPct val="25000"/>
                <a:buFont typeface="Cabin"/>
                <a:buNone/>
              </a:pPr>
              <a:r>
                <a:rPr lang="en-US" sz="3100" dirty="0" smtClean="0">
                  <a:solidFill>
                    <a:srgbClr val="FF0000"/>
                  </a:solidFill>
                  <a:latin typeface="Cabin"/>
                  <a:ea typeface="Cabin"/>
                  <a:cs typeface="Cabin"/>
                  <a:sym typeface="Cabin"/>
                </a:rPr>
                <a:t>Exponential</a:t>
              </a:r>
              <a:endParaRPr lang="en-US" sz="3100" b="0" i="0" u="none" strike="noStrike" cap="none" baseline="0" dirty="0">
                <a:solidFill>
                  <a:srgbClr val="FF0000"/>
                </a:solidFill>
                <a:latin typeface="Cabin"/>
                <a:ea typeface="Cabin"/>
                <a:cs typeface="Cabin"/>
                <a:sym typeface="Cabin"/>
              </a:endParaRPr>
            </a:p>
            <a:p>
              <a:pPr marL="0" marR="0" lvl="0" indent="0" algn="ctr" rtl="0">
                <a:lnSpc>
                  <a:spcPct val="100000"/>
                </a:lnSpc>
                <a:spcBef>
                  <a:spcPts val="0"/>
                </a:spcBef>
                <a:spcAft>
                  <a:spcPts val="0"/>
                </a:spcAft>
                <a:buClr>
                  <a:srgbClr val="00FF00"/>
                </a:buClr>
                <a:buSzPct val="25000"/>
                <a:buFont typeface="Cabin"/>
                <a:buNone/>
              </a:pPr>
              <a:r>
                <a:rPr lang="en-US" sz="3100" b="0" i="0" u="none" strike="noStrike" cap="none" baseline="0" dirty="0" smtClean="0">
                  <a:solidFill>
                    <a:srgbClr val="0070C0"/>
                  </a:solidFill>
                  <a:latin typeface="Cabin"/>
                  <a:ea typeface="Cabin"/>
                  <a:cs typeface="Cabin"/>
                  <a:sym typeface="Cabin"/>
                </a:rPr>
                <a:t>Multiplication</a:t>
              </a:r>
            </a:p>
            <a:p>
              <a:pPr marL="0" marR="0" lvl="0" indent="0" algn="ctr" rtl="0">
                <a:lnSpc>
                  <a:spcPct val="100000"/>
                </a:lnSpc>
                <a:spcBef>
                  <a:spcPts val="0"/>
                </a:spcBef>
                <a:spcAft>
                  <a:spcPts val="0"/>
                </a:spcAft>
                <a:buClr>
                  <a:srgbClr val="00FF00"/>
                </a:buClr>
                <a:buSzPct val="25000"/>
                <a:buFont typeface="Cabin"/>
                <a:buNone/>
              </a:pPr>
              <a:r>
                <a:rPr lang="en-US" sz="3100" dirty="0" smtClean="0">
                  <a:solidFill>
                    <a:srgbClr val="00FF00"/>
                  </a:solidFill>
                  <a:latin typeface="Cabin"/>
                  <a:ea typeface="Cabin"/>
                  <a:cs typeface="Cabin"/>
                  <a:sym typeface="Cabin"/>
                </a:rPr>
                <a:t>Division</a:t>
              </a:r>
              <a:endParaRPr lang="en-US" sz="3100" b="0" i="0" u="none" strike="noStrike" cap="none" baseline="0" dirty="0">
                <a:solidFill>
                  <a:srgbClr val="00FF00"/>
                </a:solidFill>
                <a:latin typeface="Cabin"/>
                <a:ea typeface="Cabin"/>
                <a:cs typeface="Cabin"/>
                <a:sym typeface="Cabin"/>
              </a:endParaRPr>
            </a:p>
            <a:p>
              <a:pPr marL="0" marR="0" lvl="0" indent="0" algn="ctr" rtl="0">
                <a:lnSpc>
                  <a:spcPct val="100000"/>
                </a:lnSpc>
                <a:spcBef>
                  <a:spcPts val="0"/>
                </a:spcBef>
                <a:spcAft>
                  <a:spcPts val="0"/>
                </a:spcAft>
                <a:buClr>
                  <a:srgbClr val="FF7F00"/>
                </a:buClr>
                <a:buSzPct val="25000"/>
                <a:buFont typeface="Cabin"/>
                <a:buNone/>
              </a:pPr>
              <a:r>
                <a:rPr lang="en-US" sz="3100" b="0" i="0" u="none" strike="noStrike" cap="none" baseline="0" dirty="0">
                  <a:solidFill>
                    <a:srgbClr val="FF7F00"/>
                  </a:solidFill>
                  <a:latin typeface="Cabin"/>
                  <a:ea typeface="Cabin"/>
                  <a:cs typeface="Cabin"/>
                  <a:sym typeface="Cabin"/>
                </a:rPr>
                <a:t>Addition</a:t>
              </a:r>
            </a:p>
            <a:p>
              <a:pPr marL="0" marR="0" lvl="0" indent="0" algn="ctr" rtl="0">
                <a:lnSpc>
                  <a:spcPct val="100000"/>
                </a:lnSpc>
                <a:spcBef>
                  <a:spcPts val="0"/>
                </a:spcBef>
                <a:spcAft>
                  <a:spcPts val="0"/>
                </a:spcAft>
                <a:buClr>
                  <a:srgbClr val="FFFF00"/>
                </a:buClr>
                <a:buSzPct val="25000"/>
                <a:buFont typeface="Cabin"/>
                <a:buNone/>
              </a:pPr>
              <a:r>
                <a:rPr lang="en-US" sz="3100" b="0" i="0" u="none" strike="noStrike" cap="none" baseline="0" dirty="0">
                  <a:solidFill>
                    <a:srgbClr val="FFFF00"/>
                  </a:solidFill>
                  <a:latin typeface="Cabin"/>
                  <a:ea typeface="Cabin"/>
                  <a:cs typeface="Cabin"/>
                  <a:sym typeface="Cabin"/>
                </a:rPr>
                <a:t>Left to Right</a:t>
              </a:r>
            </a:p>
          </p:txBody>
        </p:sp>
        <p:cxnSp>
          <p:nvCxnSpPr>
            <p:cNvPr id="306" name="Shape 306"/>
            <p:cNvCxnSpPr/>
            <p:nvPr/>
          </p:nvCxnSpPr>
          <p:spPr>
            <a:xfrm rot="10800000">
              <a:off x="2522536" y="134936"/>
              <a:ext cx="19049" cy="2051050"/>
            </a:xfrm>
            <a:prstGeom prst="straightConnector1">
              <a:avLst/>
            </a:prstGeom>
            <a:noFill/>
            <a:ln w="88900" cap="rnd" cmpd="sng">
              <a:solidFill>
                <a:schemeClr val="lt1"/>
              </a:solidFill>
              <a:prstDash val="solid"/>
              <a:miter/>
              <a:headEnd type="stealth" w="med" len="med"/>
              <a:tailEnd type="none" w="med" len="med"/>
            </a:ln>
          </p:spPr>
        </p:cxnSp>
      </p:grpSp>
      <p:sp>
        <p:nvSpPr>
          <p:cNvPr id="7" name="TextBox 6"/>
          <p:cNvSpPr txBox="1"/>
          <p:nvPr/>
        </p:nvSpPr>
        <p:spPr>
          <a:xfrm>
            <a:off x="10648280" y="2555776"/>
            <a:ext cx="5792451" cy="1569660"/>
          </a:xfrm>
          <a:prstGeom prst="rect">
            <a:avLst/>
          </a:prstGeom>
          <a:noFill/>
        </p:spPr>
        <p:txBody>
          <a:bodyPr wrap="square" rtlCol="0">
            <a:spAutoFit/>
          </a:bodyPr>
          <a:lstStyle/>
          <a:p>
            <a:r>
              <a:rPr lang="en-US" sz="9600" dirty="0" smtClean="0">
                <a:solidFill>
                  <a:srgbClr val="FF0066"/>
                </a:solidFill>
              </a:rPr>
              <a:t>P</a:t>
            </a:r>
            <a:r>
              <a:rPr lang="en-US" sz="9600" dirty="0" smtClean="0">
                <a:solidFill>
                  <a:srgbClr val="FF0000"/>
                </a:solidFill>
              </a:rPr>
              <a:t>E</a:t>
            </a:r>
            <a:r>
              <a:rPr lang="en-US" sz="9600" dirty="0" smtClean="0">
                <a:solidFill>
                  <a:srgbClr val="0070C0"/>
                </a:solidFill>
              </a:rPr>
              <a:t>M</a:t>
            </a:r>
            <a:r>
              <a:rPr lang="en-US" sz="9600" dirty="0" smtClean="0">
                <a:solidFill>
                  <a:schemeClr val="accent1"/>
                </a:solidFill>
              </a:rPr>
              <a:t>D</a:t>
            </a:r>
            <a:r>
              <a:rPr lang="en-US" sz="9600" dirty="0" smtClean="0">
                <a:solidFill>
                  <a:srgbClr val="FF9900"/>
                </a:solidFill>
              </a:rPr>
              <a:t>A</a:t>
            </a:r>
            <a:r>
              <a:rPr lang="en-US" sz="9600" dirty="0" smtClean="0">
                <a:solidFill>
                  <a:srgbClr val="FFFF00"/>
                </a:solidFill>
              </a:rPr>
              <a:t>S</a:t>
            </a:r>
            <a:endParaRPr lang="en-US" sz="9600" dirty="0">
              <a:solidFill>
                <a:srgbClr val="FFFF00"/>
              </a:solidFill>
            </a:endParaRPr>
          </a:p>
        </p:txBody>
      </p:sp>
      <p:sp>
        <p:nvSpPr>
          <p:cNvPr id="8" name="Right Arrow 7"/>
          <p:cNvSpPr/>
          <p:nvPr/>
        </p:nvSpPr>
        <p:spPr>
          <a:xfrm>
            <a:off x="10864304" y="2483768"/>
            <a:ext cx="4680520" cy="216024"/>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4" name="Shape 314"/>
          <p:cNvSpPr txBox="1"/>
          <p:nvPr/>
        </p:nvSpPr>
        <p:spPr>
          <a:xfrm>
            <a:off x="10307636" y="990600"/>
            <a:ext cx="4283075" cy="80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1 + </a:t>
            </a:r>
            <a:r>
              <a:rPr lang="en-US" sz="4800" b="0" i="0" u="none" strike="noStrike" cap="none" baseline="0">
                <a:solidFill>
                  <a:srgbClr val="FF0000"/>
                </a:solidFill>
                <a:latin typeface="Cabin"/>
                <a:ea typeface="Cabin"/>
                <a:cs typeface="Cabin"/>
                <a:sym typeface="Cabin"/>
              </a:rPr>
              <a:t>2 ** 3</a:t>
            </a:r>
            <a:r>
              <a:rPr lang="en-US" sz="4800" b="0" i="0" u="none" strike="noStrike" cap="none" baseline="0">
                <a:solidFill>
                  <a:schemeClr val="lt1"/>
                </a:solidFill>
                <a:latin typeface="Cabin"/>
                <a:ea typeface="Cabin"/>
                <a:cs typeface="Cabin"/>
                <a:sym typeface="Cabin"/>
              </a:rPr>
              <a:t> / 4 * 5</a:t>
            </a:r>
          </a:p>
        </p:txBody>
      </p:sp>
      <p:sp>
        <p:nvSpPr>
          <p:cNvPr id="315" name="Shape 315"/>
          <p:cNvSpPr txBox="1"/>
          <p:nvPr/>
        </p:nvSpPr>
        <p:spPr>
          <a:xfrm>
            <a:off x="10891836" y="2540000"/>
            <a:ext cx="3130549" cy="80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1 + </a:t>
            </a:r>
            <a:r>
              <a:rPr lang="en-US" sz="4800" b="0" i="0" u="none" strike="noStrike" cap="none" baseline="0">
                <a:solidFill>
                  <a:srgbClr val="00FF00"/>
                </a:solidFill>
                <a:latin typeface="Cabin"/>
                <a:ea typeface="Cabin"/>
                <a:cs typeface="Cabin"/>
                <a:sym typeface="Cabin"/>
              </a:rPr>
              <a:t>8 / 4</a:t>
            </a:r>
            <a:r>
              <a:rPr lang="en-US" sz="4800" b="0" i="0" u="none" strike="noStrike" cap="none" baseline="0">
                <a:solidFill>
                  <a:schemeClr val="lt1"/>
                </a:solidFill>
                <a:latin typeface="Cabin"/>
                <a:ea typeface="Cabin"/>
                <a:cs typeface="Cabin"/>
                <a:sym typeface="Cabin"/>
              </a:rPr>
              <a:t> * 5</a:t>
            </a:r>
          </a:p>
        </p:txBody>
      </p:sp>
      <p:cxnSp>
        <p:nvCxnSpPr>
          <p:cNvPr id="316" name="Shape 316"/>
          <p:cNvCxnSpPr/>
          <p:nvPr/>
        </p:nvCxnSpPr>
        <p:spPr>
          <a:xfrm rot="10800000">
            <a:off x="11917975" y="1686224"/>
            <a:ext cx="277199" cy="837900"/>
          </a:xfrm>
          <a:prstGeom prst="straightConnector1">
            <a:avLst/>
          </a:prstGeom>
          <a:noFill/>
          <a:ln w="63500" cap="rnd" cmpd="sng">
            <a:solidFill>
              <a:srgbClr val="FF0000"/>
            </a:solidFill>
            <a:prstDash val="solid"/>
            <a:miter/>
            <a:headEnd type="stealth" w="med" len="med"/>
            <a:tailEnd type="none" w="med" len="med"/>
          </a:ln>
        </p:spPr>
      </p:cxnSp>
      <p:sp>
        <p:nvSpPr>
          <p:cNvPr id="317" name="Shape 317"/>
          <p:cNvSpPr txBox="1"/>
          <p:nvPr/>
        </p:nvSpPr>
        <p:spPr>
          <a:xfrm>
            <a:off x="11298236" y="4000500"/>
            <a:ext cx="2316162" cy="80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1 + </a:t>
            </a:r>
            <a:r>
              <a:rPr lang="en-US" sz="4800" b="0" i="0" u="none" strike="noStrike" cap="none" baseline="0">
                <a:solidFill>
                  <a:srgbClr val="00FF00"/>
                </a:solidFill>
                <a:latin typeface="Cabin"/>
                <a:ea typeface="Cabin"/>
                <a:cs typeface="Cabin"/>
                <a:sym typeface="Cabin"/>
              </a:rPr>
              <a:t>2 * 5</a:t>
            </a:r>
          </a:p>
        </p:txBody>
      </p:sp>
      <p:cxnSp>
        <p:nvCxnSpPr>
          <p:cNvPr id="318" name="Shape 318"/>
          <p:cNvCxnSpPr/>
          <p:nvPr/>
        </p:nvCxnSpPr>
        <p:spPr>
          <a:xfrm rot="10800000" flipH="1">
            <a:off x="12114325" y="3348025"/>
            <a:ext cx="282600" cy="646499"/>
          </a:xfrm>
          <a:prstGeom prst="straightConnector1">
            <a:avLst/>
          </a:prstGeom>
          <a:noFill/>
          <a:ln w="63500" cap="rnd" cmpd="sng">
            <a:solidFill>
              <a:srgbClr val="00FF00"/>
            </a:solidFill>
            <a:prstDash val="solid"/>
            <a:miter/>
            <a:headEnd type="stealth" w="med" len="med"/>
            <a:tailEnd type="none" w="med" len="med"/>
          </a:ln>
        </p:spPr>
      </p:cxnSp>
      <p:sp>
        <p:nvSpPr>
          <p:cNvPr id="319" name="Shape 319"/>
          <p:cNvSpPr txBox="1"/>
          <p:nvPr/>
        </p:nvSpPr>
        <p:spPr>
          <a:xfrm>
            <a:off x="11590336" y="5638800"/>
            <a:ext cx="1722437" cy="80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abin"/>
                <a:ea typeface="Cabin"/>
                <a:cs typeface="Cabin"/>
                <a:sym typeface="Cabin"/>
              </a:rPr>
              <a:t>1 + 10</a:t>
            </a:r>
          </a:p>
        </p:txBody>
      </p:sp>
      <p:cxnSp>
        <p:nvCxnSpPr>
          <p:cNvPr id="320" name="Shape 320"/>
          <p:cNvCxnSpPr/>
          <p:nvPr/>
        </p:nvCxnSpPr>
        <p:spPr>
          <a:xfrm rot="10800000">
            <a:off x="12733324" y="4833924"/>
            <a:ext cx="52200" cy="830400"/>
          </a:xfrm>
          <a:prstGeom prst="straightConnector1">
            <a:avLst/>
          </a:prstGeom>
          <a:noFill/>
          <a:ln w="63500" cap="rnd" cmpd="sng">
            <a:solidFill>
              <a:srgbClr val="00FF00"/>
            </a:solidFill>
            <a:prstDash val="solid"/>
            <a:miter/>
            <a:headEnd type="stealth" w="med" len="med"/>
            <a:tailEnd type="none" w="med" len="med"/>
          </a:ln>
        </p:spPr>
      </p:cxnSp>
      <p:sp>
        <p:nvSpPr>
          <p:cNvPr id="321" name="Shape 321"/>
          <p:cNvSpPr txBox="1"/>
          <p:nvPr/>
        </p:nvSpPr>
        <p:spPr>
          <a:xfrm>
            <a:off x="12085636" y="6934200"/>
            <a:ext cx="723900" cy="80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4800" b="0" i="0" u="none" strike="noStrike" cap="none" baseline="0">
                <a:solidFill>
                  <a:srgbClr val="FF7F00"/>
                </a:solidFill>
                <a:latin typeface="Cabin"/>
                <a:ea typeface="Cabin"/>
                <a:cs typeface="Cabin"/>
                <a:sym typeface="Cabin"/>
              </a:rPr>
              <a:t>11</a:t>
            </a:r>
          </a:p>
        </p:txBody>
      </p:sp>
      <p:cxnSp>
        <p:nvCxnSpPr>
          <p:cNvPr id="322" name="Shape 322"/>
          <p:cNvCxnSpPr/>
          <p:nvPr/>
        </p:nvCxnSpPr>
        <p:spPr>
          <a:xfrm rot="10800000">
            <a:off x="12301537" y="6308725"/>
            <a:ext cx="96836" cy="708024"/>
          </a:xfrm>
          <a:prstGeom prst="straightConnector1">
            <a:avLst/>
          </a:prstGeom>
          <a:noFill/>
          <a:ln w="63500" cap="rnd" cmpd="sng">
            <a:solidFill>
              <a:srgbClr val="FF7F00"/>
            </a:solidFill>
            <a:prstDash val="solid"/>
            <a:miter/>
            <a:headEnd type="stealth" w="med" len="med"/>
            <a:tailEnd type="none" w="med" len="med"/>
          </a:ln>
        </p:spPr>
      </p:cxnSp>
      <p:sp>
        <p:nvSpPr>
          <p:cNvPr id="323" name="Shape 323"/>
          <p:cNvSpPr txBox="1"/>
          <p:nvPr/>
        </p:nvSpPr>
        <p:spPr>
          <a:xfrm>
            <a:off x="1455723" y="1309675"/>
            <a:ext cx="7351799" cy="29559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ourier New"/>
                <a:ea typeface="Courier New"/>
                <a:cs typeface="Courier New"/>
                <a:sym typeface="Courier New"/>
              </a:rPr>
              <a:t>&gt;&gt;&gt; </a:t>
            </a:r>
            <a:r>
              <a:rPr lang="en-US" sz="3600" b="0" i="0" u="none" strike="noStrike" cap="none" baseline="0">
                <a:solidFill>
                  <a:srgbClr val="FFFF00"/>
                </a:solidFill>
                <a:latin typeface="Courier New"/>
                <a:ea typeface="Courier New"/>
                <a:cs typeface="Courier New"/>
                <a:sym typeface="Courier New"/>
              </a:rPr>
              <a:t>x = 1 + 2 ** 3 / 4 * 5</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ourier New"/>
                <a:ea typeface="Courier New"/>
                <a:cs typeface="Courier New"/>
                <a:sym typeface="Courier New"/>
              </a:rPr>
              <a:t>&gt;&gt;&gt; </a:t>
            </a:r>
            <a:r>
              <a:rPr lang="en-US" sz="3600" b="0" i="0" u="none" strike="noStrike" cap="none" baseline="0">
                <a:solidFill>
                  <a:srgbClr val="FFFF00"/>
                </a:solidFill>
                <a:latin typeface="Courier New"/>
                <a:ea typeface="Courier New"/>
                <a:cs typeface="Courier New"/>
                <a:sym typeface="Courier New"/>
              </a:rPr>
              <a:t>print x</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ourier New"/>
                <a:ea typeface="Courier New"/>
                <a:cs typeface="Courier New"/>
                <a:sym typeface="Courier New"/>
              </a:rPr>
              <a:t>11</a:t>
            </a:r>
          </a:p>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ourier New"/>
                <a:ea typeface="Courier New"/>
                <a:cs typeface="Courier New"/>
                <a:sym typeface="Courier New"/>
              </a:rPr>
              <a:t>&gt;&gt;&gt; </a:t>
            </a:r>
          </a:p>
        </p:txBody>
      </p:sp>
    </p:spTree>
  </p:cSld>
  <p:clrMapOvr>
    <a:masterClrMapping/>
  </p:clrMapOvr>
  <p:transition spd="slow">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Shape 328"/>
          <p:cNvSpPr txBox="1">
            <a:spLocks noGrp="1"/>
          </p:cNvSpPr>
          <p:nvPr>
            <p:ph type="title"/>
          </p:nvPr>
        </p:nvSpPr>
        <p:spPr>
          <a:xfrm>
            <a:off x="1155700" y="241300"/>
            <a:ext cx="105791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Operator Precedence</a:t>
            </a:r>
          </a:p>
        </p:txBody>
      </p:sp>
      <p:sp>
        <p:nvSpPr>
          <p:cNvPr id="329" name="Shape 329"/>
          <p:cNvSpPr txBox="1">
            <a:spLocks noGrp="1"/>
          </p:cNvSpPr>
          <p:nvPr>
            <p:ph type="body" idx="1"/>
          </p:nvPr>
        </p:nvSpPr>
        <p:spPr>
          <a:xfrm>
            <a:off x="1155700" y="2374900"/>
            <a:ext cx="13932000" cy="57023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Remember the rules </a:t>
            </a:r>
            <a:r>
              <a:rPr lang="en-US" sz="3600" dirty="0" smtClean="0">
                <a:solidFill>
                  <a:schemeClr val="lt1"/>
                </a:solidFill>
                <a:latin typeface="Cabin"/>
                <a:ea typeface="Cabin"/>
                <a:cs typeface="Cabin"/>
                <a:sym typeface="Cabin"/>
              </a:rPr>
              <a:t>left </a:t>
            </a:r>
            <a:r>
              <a:rPr lang="en-US" sz="3600" b="0" i="0" u="none" strike="noStrike" cap="none" baseline="0" dirty="0" smtClean="0">
                <a:solidFill>
                  <a:schemeClr val="lt1"/>
                </a:solidFill>
                <a:latin typeface="Cabin"/>
                <a:ea typeface="Cabin"/>
                <a:cs typeface="Cabin"/>
                <a:sym typeface="Cabin"/>
              </a:rPr>
              <a:t>to right</a:t>
            </a:r>
            <a:endParaRPr lang="en-US" sz="3600" b="0" i="0" u="none" strike="noStrike" cap="none" baseline="0" dirty="0">
              <a:solidFill>
                <a:schemeClr val="lt1"/>
              </a:solidFill>
              <a:latin typeface="Cabin"/>
              <a:ea typeface="Cabin"/>
              <a:cs typeface="Cabin"/>
              <a:sym typeface="Cabin"/>
            </a:endParaRP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When writing code - use parenthesis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When writing code - keep mathematical expressions simple enough that they are easy to understand</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Break long series of mathematical operations up to make them more clear</a:t>
            </a:r>
          </a:p>
        </p:txBody>
      </p:sp>
      <p:sp>
        <p:nvSpPr>
          <p:cNvPr id="333" name="Shape 333"/>
          <p:cNvSpPr txBox="1"/>
          <p:nvPr/>
        </p:nvSpPr>
        <p:spPr>
          <a:xfrm>
            <a:off x="4157662" y="8039100"/>
            <a:ext cx="6930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rgbClr val="FFFF00"/>
                </a:solidFill>
                <a:latin typeface="Cabin"/>
                <a:ea typeface="Cabin"/>
                <a:cs typeface="Cabin"/>
                <a:sym typeface="Cabin"/>
              </a:rPr>
              <a:t>Exam Question:  x = 1 + 2 * 3 - 4 / 5</a:t>
            </a:r>
          </a:p>
        </p:txBody>
      </p:sp>
    </p:spTree>
  </p:cSld>
  <p:clrMapOvr>
    <a:masterClrMapping/>
  </p:clrMapOvr>
  <p:transition spd="slow">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Shape 338"/>
          <p:cNvSpPr txBox="1">
            <a:spLocks noGrp="1"/>
          </p:cNvSpPr>
          <p:nvPr>
            <p:ph type="title"/>
          </p:nvPr>
        </p:nvSpPr>
        <p:spPr>
          <a:xfrm>
            <a:off x="1155700" y="-26267"/>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dirty="0">
                <a:solidFill>
                  <a:srgbClr val="FFFF00"/>
                </a:solidFill>
                <a:latin typeface="Cabin"/>
                <a:ea typeface="Cabin"/>
                <a:cs typeface="Cabin"/>
                <a:sym typeface="Cabin"/>
              </a:rPr>
              <a:t>Python Integer Division is Weird!</a:t>
            </a:r>
          </a:p>
        </p:txBody>
      </p:sp>
      <p:sp>
        <p:nvSpPr>
          <p:cNvPr id="339" name="Shape 339"/>
          <p:cNvSpPr txBox="1">
            <a:spLocks noGrp="1"/>
          </p:cNvSpPr>
          <p:nvPr>
            <p:ph type="body" idx="1"/>
          </p:nvPr>
        </p:nvSpPr>
        <p:spPr>
          <a:xfrm>
            <a:off x="1155700" y="2085025"/>
            <a:ext cx="7327800" cy="4836600"/>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Integer division truncates</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Floating point division produces floating point numbers</a:t>
            </a:r>
          </a:p>
        </p:txBody>
      </p:sp>
      <p:sp>
        <p:nvSpPr>
          <p:cNvPr id="340" name="Shape 340"/>
          <p:cNvSpPr txBox="1"/>
          <p:nvPr/>
        </p:nvSpPr>
        <p:spPr>
          <a:xfrm>
            <a:off x="9527775" y="2647950"/>
            <a:ext cx="53057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10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2</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5</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9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2</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4</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99 </a:t>
            </a:r>
            <a:r>
              <a:rPr lang="en-US" sz="3000" b="0" i="0" u="none" strike="noStrike" cap="none" baseline="0">
                <a:solidFill>
                  <a:srgbClr val="00FFFF"/>
                </a:solidFill>
                <a:latin typeface="Courier New"/>
                <a:ea typeface="Courier New"/>
                <a:cs typeface="Courier New"/>
                <a:sym typeface="Courier New"/>
              </a:rPr>
              <a:t>/ </a:t>
            </a:r>
            <a:r>
              <a:rPr lang="en-US" sz="3000" b="0" i="0" u="none" strike="noStrike" cap="none" baseline="0">
                <a:solidFill>
                  <a:schemeClr val="lt1"/>
                </a:solidFill>
                <a:latin typeface="Courier New"/>
                <a:ea typeface="Courier New"/>
                <a:cs typeface="Courier New"/>
                <a:sym typeface="Courier New"/>
              </a:rPr>
              <a:t>100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10.0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2.0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5.0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&gt;&gt;&gt; </a:t>
            </a:r>
            <a:r>
              <a:rPr lang="en-US" sz="3000" b="0" i="0" u="none" strike="noStrike" cap="none" baseline="0">
                <a:solidFill>
                  <a:srgbClr val="FFFF00"/>
                </a:solidFill>
                <a:latin typeface="Courier New"/>
                <a:ea typeface="Courier New"/>
                <a:cs typeface="Courier New"/>
                <a:sym typeface="Courier New"/>
              </a:rPr>
              <a:t>print</a:t>
            </a:r>
            <a:r>
              <a:rPr lang="en-US" sz="3000" b="0" i="0" u="none" strike="noStrike" cap="none" baseline="0">
                <a:solidFill>
                  <a:schemeClr val="lt1"/>
                </a:solidFill>
                <a:latin typeface="Courier New"/>
                <a:ea typeface="Courier New"/>
                <a:cs typeface="Courier New"/>
                <a:sym typeface="Courier New"/>
              </a:rPr>
              <a:t> 99.0 </a:t>
            </a:r>
            <a:r>
              <a:rPr lang="en-US" sz="3000" b="0" i="0" u="none" strike="noStrike" cap="none" baseline="0">
                <a:solidFill>
                  <a:srgbClr val="00FFFF"/>
                </a:solidFill>
                <a:latin typeface="Courier New"/>
                <a:ea typeface="Courier New"/>
                <a:cs typeface="Courier New"/>
                <a:sym typeface="Courier New"/>
              </a:rPr>
              <a:t>/</a:t>
            </a:r>
            <a:r>
              <a:rPr lang="en-US" sz="3000" b="0" i="0" u="none" strike="noStrike" cap="none" baseline="0">
                <a:solidFill>
                  <a:schemeClr val="lt1"/>
                </a:solidFill>
                <a:latin typeface="Courier New"/>
                <a:ea typeface="Courier New"/>
                <a:cs typeface="Courier New"/>
                <a:sym typeface="Courier New"/>
              </a:rPr>
              <a:t> 100.0</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ourier New"/>
                <a:ea typeface="Courier New"/>
                <a:cs typeface="Courier New"/>
                <a:sym typeface="Courier New"/>
              </a:rPr>
              <a:t>0.99</a:t>
            </a:r>
          </a:p>
        </p:txBody>
      </p:sp>
      <p:sp>
        <p:nvSpPr>
          <p:cNvPr id="341" name="Shape 341"/>
          <p:cNvSpPr txBox="1"/>
          <p:nvPr/>
        </p:nvSpPr>
        <p:spPr>
          <a:xfrm>
            <a:off x="1367600" y="7834225"/>
            <a:ext cx="6100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This changes in Python 3.0</a:t>
            </a:r>
          </a:p>
        </p:txBody>
      </p:sp>
    </p:spTree>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Shape 346"/>
          <p:cNvSpPr txBox="1">
            <a:spLocks noGrp="1"/>
          </p:cNvSpPr>
          <p:nvPr>
            <p:ph type="title"/>
          </p:nvPr>
        </p:nvSpPr>
        <p:spPr>
          <a:xfrm>
            <a:off x="1155700" y="107504"/>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dirty="0">
                <a:solidFill>
                  <a:srgbClr val="00FF00"/>
                </a:solidFill>
                <a:latin typeface="Cabin"/>
                <a:ea typeface="Cabin"/>
                <a:cs typeface="Cabin"/>
                <a:sym typeface="Cabin"/>
              </a:rPr>
              <a:t>Mixing Integer and Floating</a:t>
            </a:r>
          </a:p>
        </p:txBody>
      </p:sp>
      <p:sp>
        <p:nvSpPr>
          <p:cNvPr id="347" name="Shape 347"/>
          <p:cNvSpPr txBox="1">
            <a:spLocks noGrp="1"/>
          </p:cNvSpPr>
          <p:nvPr>
            <p:ph type="body" idx="1"/>
          </p:nvPr>
        </p:nvSpPr>
        <p:spPr>
          <a:xfrm>
            <a:off x="1155700" y="2603500"/>
            <a:ext cx="63119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When you perform an operation where one operand is an integer and the other operand is a floating point, the result is a floating point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The integer is converted to a floating point before the operation</a:t>
            </a:r>
          </a:p>
        </p:txBody>
      </p:sp>
      <p:sp>
        <p:nvSpPr>
          <p:cNvPr id="348" name="Shape 348"/>
          <p:cNvSpPr txBox="1"/>
          <p:nvPr/>
        </p:nvSpPr>
        <p:spPr>
          <a:xfrm>
            <a:off x="8900725" y="2813050"/>
            <a:ext cx="639150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&gt;&gt;&gt; </a:t>
            </a:r>
            <a:r>
              <a:rPr lang="en-US" sz="2800" b="0" i="0" u="none" strike="noStrike" cap="none" baseline="0">
                <a:solidFill>
                  <a:srgbClr val="FFFF00"/>
                </a:solidFill>
                <a:latin typeface="Courier New"/>
                <a:ea typeface="Courier New"/>
                <a:cs typeface="Courier New"/>
                <a:sym typeface="Courier New"/>
              </a:rPr>
              <a:t>print</a:t>
            </a:r>
            <a:r>
              <a:rPr lang="en-US" sz="2800" b="0" i="0" u="none" strike="noStrike" cap="none" baseline="0">
                <a:solidFill>
                  <a:schemeClr val="lt1"/>
                </a:solidFill>
                <a:latin typeface="Courier New"/>
                <a:ea typeface="Courier New"/>
                <a:cs typeface="Courier New"/>
                <a:sym typeface="Courier New"/>
              </a:rPr>
              <a:t> 99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0</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&gt;&gt;&gt; </a:t>
            </a:r>
            <a:r>
              <a:rPr lang="en-US" sz="2800" b="0" i="0" u="none" strike="noStrike" cap="none" baseline="0">
                <a:solidFill>
                  <a:srgbClr val="FFFF00"/>
                </a:solidFill>
                <a:latin typeface="Courier New"/>
                <a:ea typeface="Courier New"/>
                <a:cs typeface="Courier New"/>
                <a:sym typeface="Courier New"/>
              </a:rPr>
              <a:t>print</a:t>
            </a:r>
            <a:r>
              <a:rPr lang="en-US" sz="2800" b="0" i="0" u="none" strike="noStrike" cap="none" baseline="0">
                <a:solidFill>
                  <a:schemeClr val="lt1"/>
                </a:solidFill>
                <a:latin typeface="Courier New"/>
                <a:ea typeface="Courier New"/>
                <a:cs typeface="Courier New"/>
                <a:sym typeface="Courier New"/>
              </a:rPr>
              <a:t> 99</a:t>
            </a:r>
            <a:r>
              <a:rPr lang="en-US" sz="2800" b="0" i="0" u="none" strike="noStrike" cap="none" baseline="0">
                <a:solidFill>
                  <a:srgbClr val="00FFFF"/>
                </a:solidFill>
                <a:latin typeface="Courier New"/>
                <a:ea typeface="Courier New"/>
                <a:cs typeface="Courier New"/>
                <a:sym typeface="Courier New"/>
              </a:rPr>
              <a:t> /</a:t>
            </a:r>
            <a:r>
              <a:rPr lang="en-US" sz="2800" b="0" i="0" u="none" strike="noStrike" cap="none" baseline="0">
                <a:solidFill>
                  <a:schemeClr val="lt1"/>
                </a:solidFill>
                <a:latin typeface="Courier New"/>
                <a:ea typeface="Courier New"/>
                <a:cs typeface="Courier New"/>
                <a:sym typeface="Courier New"/>
              </a:rPr>
              <a:t> 100.0</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0.99</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&gt;&gt;&gt; </a:t>
            </a:r>
            <a:r>
              <a:rPr lang="en-US" sz="2800" b="0" i="0" u="none" strike="noStrike" cap="none" baseline="0">
                <a:solidFill>
                  <a:srgbClr val="FFFF00"/>
                </a:solidFill>
                <a:latin typeface="Courier New"/>
                <a:ea typeface="Courier New"/>
                <a:cs typeface="Courier New"/>
                <a:sym typeface="Courier New"/>
              </a:rPr>
              <a:t>print</a:t>
            </a:r>
            <a:r>
              <a:rPr lang="en-US" sz="2800" b="0" i="0" u="none" strike="noStrike" cap="none" baseline="0">
                <a:solidFill>
                  <a:schemeClr val="lt1"/>
                </a:solidFill>
                <a:latin typeface="Courier New"/>
                <a:ea typeface="Courier New"/>
                <a:cs typeface="Courier New"/>
                <a:sym typeface="Courier New"/>
              </a:rPr>
              <a:t> 99.0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0.99</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&gt;&gt;&gt; </a:t>
            </a:r>
            <a:r>
              <a:rPr lang="en-US" sz="2800" b="0" i="0" u="none" strike="noStrike" cap="none" baseline="0">
                <a:solidFill>
                  <a:srgbClr val="FFFF00"/>
                </a:solidFill>
                <a:latin typeface="Courier New"/>
                <a:ea typeface="Courier New"/>
                <a:cs typeface="Courier New"/>
                <a:sym typeface="Courier New"/>
              </a:rPr>
              <a:t>print</a:t>
            </a:r>
            <a:r>
              <a:rPr lang="en-US" sz="2800" b="0" i="0" u="none" strike="noStrike" cap="none" baseline="0">
                <a:solidFill>
                  <a:schemeClr val="lt1"/>
                </a:solidFill>
                <a:latin typeface="Courier New"/>
                <a:ea typeface="Courier New"/>
                <a:cs typeface="Courier New"/>
                <a:sym typeface="Courier New"/>
              </a:rPr>
              <a:t> 1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2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3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4.0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5</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-2.5</a:t>
            </a:r>
          </a:p>
          <a:p>
            <a:pPr marL="0" marR="0" lvl="0" indent="0" algn="l" rtl="0">
              <a:lnSpc>
                <a:spcPct val="100000"/>
              </a:lnSpc>
              <a:spcBef>
                <a:spcPts val="0"/>
              </a:spcBef>
              <a:spcAft>
                <a:spcPts val="0"/>
              </a:spcAft>
              <a:buClr>
                <a:schemeClr val="lt1"/>
              </a:buClr>
              <a:buSzPct val="25000"/>
              <a:buFont typeface="Cabin"/>
              <a:buNone/>
            </a:pPr>
            <a:r>
              <a:rPr lang="en-US" sz="2800" b="0" i="0" u="none" strike="noStrike" cap="none" baseline="0">
                <a:solidFill>
                  <a:schemeClr val="lt1"/>
                </a:solidFill>
                <a:latin typeface="Courier New"/>
                <a:ea typeface="Courier New"/>
                <a:cs typeface="Courier New"/>
                <a:sym typeface="Courier New"/>
              </a:rPr>
              <a:t>&gt;&gt;&gt; </a:t>
            </a:r>
          </a:p>
        </p:txBody>
      </p:sp>
    </p:spTree>
  </p:cSld>
  <p:clrMapOvr>
    <a:masterClrMapping/>
  </p:clrMapOvr>
  <p:transition spd="slow">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Shape 353"/>
          <p:cNvSpPr txBox="1">
            <a:spLocks noGrp="1"/>
          </p:cNvSpPr>
          <p:nvPr>
            <p:ph type="title"/>
          </p:nvPr>
        </p:nvSpPr>
        <p:spPr>
          <a:xfrm>
            <a:off x="1155700" y="-108520"/>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dirty="0">
                <a:solidFill>
                  <a:schemeClr val="lt1"/>
                </a:solidFill>
                <a:latin typeface="Cabin"/>
                <a:ea typeface="Cabin"/>
                <a:cs typeface="Cabin"/>
                <a:sym typeface="Cabin"/>
              </a:rPr>
              <a:t>What does </a:t>
            </a:r>
            <a:r>
              <a:rPr lang="en-US" sz="7600" b="0" i="0" u="none" strike="noStrike" cap="none" baseline="0" dirty="0">
                <a:solidFill>
                  <a:schemeClr val="lt1"/>
                </a:solidFill>
                <a:latin typeface="Arial"/>
                <a:ea typeface="Arial"/>
                <a:cs typeface="Arial"/>
                <a:sym typeface="Arial"/>
              </a:rPr>
              <a:t>“</a:t>
            </a:r>
            <a:r>
              <a:rPr lang="en-US" sz="7600" b="0" i="0" u="none" strike="noStrike" cap="none" baseline="0" dirty="0">
                <a:solidFill>
                  <a:srgbClr val="00FF00"/>
                </a:solidFill>
                <a:latin typeface="Cabin"/>
                <a:ea typeface="Cabin"/>
                <a:cs typeface="Cabin"/>
                <a:sym typeface="Cabin"/>
              </a:rPr>
              <a:t>Type</a:t>
            </a:r>
            <a:r>
              <a:rPr lang="en-US" sz="7600" b="0" i="0" u="none" strike="noStrike" cap="none" baseline="0" dirty="0">
                <a:solidFill>
                  <a:schemeClr val="lt1"/>
                </a:solidFill>
                <a:latin typeface="Arial"/>
                <a:ea typeface="Arial"/>
                <a:cs typeface="Arial"/>
                <a:sym typeface="Arial"/>
              </a:rPr>
              <a:t>”</a:t>
            </a:r>
            <a:r>
              <a:rPr lang="en-US" sz="7600" b="0" i="0" u="none" strike="noStrike" cap="none" baseline="0" dirty="0">
                <a:solidFill>
                  <a:schemeClr val="lt1"/>
                </a:solidFill>
                <a:latin typeface="Cabin"/>
                <a:ea typeface="Cabin"/>
                <a:cs typeface="Cabin"/>
                <a:sym typeface="Cabin"/>
              </a:rPr>
              <a:t> Mean?</a:t>
            </a:r>
          </a:p>
        </p:txBody>
      </p:sp>
      <p:sp>
        <p:nvSpPr>
          <p:cNvPr id="354" name="Shape 354"/>
          <p:cNvSpPr txBox="1">
            <a:spLocks noGrp="1"/>
          </p:cNvSpPr>
          <p:nvPr>
            <p:ph type="body" idx="1"/>
          </p:nvPr>
        </p:nvSpPr>
        <p:spPr>
          <a:xfrm>
            <a:off x="1155700" y="2603500"/>
            <a:ext cx="72136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In Python variables, literals and constants have a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00FF00"/>
                </a:solidFill>
                <a:latin typeface="Cabin"/>
                <a:ea typeface="Cabin"/>
                <a:cs typeface="Cabin"/>
                <a:sym typeface="Cabin"/>
              </a:rPr>
              <a:t>type</a:t>
            </a:r>
            <a:r>
              <a:rPr lang="en-US" sz="3600" b="0" i="0" u="none" strike="noStrike" cap="none" baseline="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Python knows the </a:t>
            </a:r>
            <a:r>
              <a:rPr lang="en-US" sz="3600" b="0" i="0" u="none" strike="noStrike" cap="none" baseline="0">
                <a:solidFill>
                  <a:srgbClr val="00FF00"/>
                </a:solidFill>
                <a:latin typeface="Cabin"/>
                <a:ea typeface="Cabin"/>
                <a:cs typeface="Cabin"/>
                <a:sym typeface="Cabin"/>
              </a:rPr>
              <a:t>difference</a:t>
            </a:r>
            <a:r>
              <a:rPr lang="en-US" sz="3600" b="0" i="0" u="none" strike="noStrike" cap="none" baseline="0">
                <a:solidFill>
                  <a:schemeClr val="lt1"/>
                </a:solidFill>
                <a:latin typeface="Cabin"/>
                <a:ea typeface="Cabin"/>
                <a:cs typeface="Cabin"/>
                <a:sym typeface="Cabin"/>
              </a:rPr>
              <a:t> between an integer number and a string</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For example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means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addition</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if something is a number and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concatenate</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if something is a string </a:t>
            </a:r>
          </a:p>
        </p:txBody>
      </p:sp>
      <p:sp>
        <p:nvSpPr>
          <p:cNvPr id="355" name="Shape 355"/>
          <p:cNvSpPr txBox="1"/>
          <p:nvPr/>
        </p:nvSpPr>
        <p:spPr>
          <a:xfrm>
            <a:off x="9982200" y="3549650"/>
            <a:ext cx="6076799" cy="32258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&gt;&gt;&gt; ddd = 1 + 4</a:t>
            </a:r>
          </a:p>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&gt;&gt;&gt; print ddd</a:t>
            </a:r>
          </a:p>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5</a:t>
            </a:r>
          </a:p>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&gt;&gt;&gt; eee = 'hello ' + 'there'</a:t>
            </a:r>
          </a:p>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&gt;&gt;&gt; print eee</a:t>
            </a:r>
          </a:p>
          <a:p>
            <a:pPr marL="0" marR="0" lvl="0" indent="0" algn="l" rtl="0">
              <a:lnSpc>
                <a:spcPct val="100000"/>
              </a:lnSpc>
              <a:spcBef>
                <a:spcPts val="0"/>
              </a:spcBef>
              <a:spcAft>
                <a:spcPts val="0"/>
              </a:spcAft>
              <a:buClr>
                <a:srgbClr val="FFFF00"/>
              </a:buClr>
              <a:buSzPct val="25000"/>
              <a:buFont typeface="Cabin"/>
              <a:buNone/>
            </a:pPr>
            <a:r>
              <a:rPr lang="en-US" sz="2600" b="0" i="0" u="none" strike="noStrike" cap="none" baseline="0">
                <a:solidFill>
                  <a:srgbClr val="FFFF00"/>
                </a:solidFill>
                <a:latin typeface="Courier New"/>
                <a:ea typeface="Courier New"/>
                <a:cs typeface="Courier New"/>
                <a:sym typeface="Courier New"/>
              </a:rPr>
              <a:t>hello there</a:t>
            </a:r>
          </a:p>
        </p:txBody>
      </p:sp>
      <p:sp>
        <p:nvSpPr>
          <p:cNvPr id="356" name="Shape 356"/>
          <p:cNvSpPr txBox="1"/>
          <p:nvPr/>
        </p:nvSpPr>
        <p:spPr>
          <a:xfrm>
            <a:off x="9141125" y="7785100"/>
            <a:ext cx="6214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concatenate = put together</a:t>
            </a:r>
          </a:p>
        </p:txBody>
      </p:sp>
    </p:spTree>
  </p:cSld>
  <p:clrMapOvr>
    <a:masterClrMapping/>
  </p:clrMapOvr>
  <p:transition spd="slow">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Shape 361"/>
          <p:cNvSpPr txBox="1">
            <a:spLocks noGrp="1"/>
          </p:cNvSpPr>
          <p:nvPr>
            <p:ph type="title"/>
          </p:nvPr>
        </p:nvSpPr>
        <p:spPr>
          <a:xfrm>
            <a:off x="3387675" y="83275"/>
            <a:ext cx="73152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Type</a:t>
            </a:r>
            <a:r>
              <a:rPr lang="en-US" sz="7600" b="0" i="0" u="none" strike="noStrike" cap="none" baseline="0">
                <a:solidFill>
                  <a:schemeClr val="lt1"/>
                </a:solidFill>
                <a:latin typeface="Cabin"/>
                <a:ea typeface="Cabin"/>
                <a:cs typeface="Cabin"/>
                <a:sym typeface="Cabin"/>
              </a:rPr>
              <a:t> Matters</a:t>
            </a:r>
          </a:p>
        </p:txBody>
      </p:sp>
      <p:sp>
        <p:nvSpPr>
          <p:cNvPr id="362" name="Shape 362"/>
          <p:cNvSpPr txBox="1">
            <a:spLocks noGrp="1"/>
          </p:cNvSpPr>
          <p:nvPr>
            <p:ph type="body" idx="1"/>
          </p:nvPr>
        </p:nvSpPr>
        <p:spPr>
          <a:xfrm>
            <a:off x="774700" y="2603500"/>
            <a:ext cx="7467600" cy="57023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Python knows what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00FF00"/>
                </a:solidFill>
                <a:latin typeface="Cabin"/>
                <a:ea typeface="Cabin"/>
                <a:cs typeface="Cabin"/>
                <a:sym typeface="Cabin"/>
              </a:rPr>
              <a:t>type</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everything is </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Some operations are prohibited</a:t>
            </a:r>
          </a:p>
          <a:p>
            <a:pPr marL="749300" marR="0" lvl="0" indent="-371094" algn="l" rtl="0">
              <a:lnSpc>
                <a:spcPct val="100000"/>
              </a:lnSpc>
              <a:spcBef>
                <a:spcPts val="3500"/>
              </a:spcBef>
              <a:spcAft>
                <a:spcPts val="0"/>
              </a:spcAft>
              <a:buClr>
                <a:srgbClr val="FF7F00"/>
              </a:buClr>
              <a:buSzPct val="100000"/>
              <a:buFont typeface="Cabin"/>
              <a:buChar char="•"/>
            </a:pPr>
            <a:r>
              <a:rPr lang="en-US" sz="3600" b="0" i="0" u="none" strike="noStrike" cap="none" baseline="0">
                <a:solidFill>
                  <a:srgbClr val="FF7F00"/>
                </a:solidFill>
                <a:latin typeface="Cabin"/>
                <a:ea typeface="Cabin"/>
                <a:cs typeface="Cabin"/>
                <a:sym typeface="Cabin"/>
              </a:rPr>
              <a:t>You cannot </a:t>
            </a:r>
            <a:r>
              <a:rPr lang="en-US" sz="3600" b="0" i="0" u="none" strike="noStrike" cap="none" baseline="0">
                <a:solidFill>
                  <a:srgbClr val="FF7F00"/>
                </a:solidFill>
                <a:latin typeface="Arial"/>
                <a:ea typeface="Arial"/>
                <a:cs typeface="Arial"/>
                <a:sym typeface="Arial"/>
              </a:rPr>
              <a:t>“</a:t>
            </a:r>
            <a:r>
              <a:rPr lang="en-US" sz="3600" b="0" i="0" u="none" strike="noStrike" cap="none" baseline="0">
                <a:solidFill>
                  <a:srgbClr val="FF7F00"/>
                </a:solidFill>
                <a:latin typeface="Cabin"/>
                <a:ea typeface="Cabin"/>
                <a:cs typeface="Cabin"/>
                <a:sym typeface="Cabin"/>
              </a:rPr>
              <a:t>add 1</a:t>
            </a:r>
            <a:r>
              <a:rPr lang="en-US" sz="3600" b="0" i="0" u="none" strike="noStrike" cap="none" baseline="0">
                <a:solidFill>
                  <a:srgbClr val="FF7F00"/>
                </a:solidFill>
                <a:latin typeface="Arial"/>
                <a:ea typeface="Arial"/>
                <a:cs typeface="Arial"/>
                <a:sym typeface="Arial"/>
              </a:rPr>
              <a:t>”</a:t>
            </a:r>
            <a:r>
              <a:rPr lang="en-US" sz="3600" b="0" i="0" u="none" strike="noStrike" cap="none" baseline="0">
                <a:solidFill>
                  <a:srgbClr val="FF7F00"/>
                </a:solidFill>
                <a:latin typeface="Cabin"/>
                <a:ea typeface="Cabin"/>
                <a:cs typeface="Cabin"/>
                <a:sym typeface="Cabin"/>
              </a:rPr>
              <a:t> to a string</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We can ask Python what type something is by using the </a:t>
            </a:r>
            <a:r>
              <a:rPr lang="en-US" sz="3600" b="0" i="0" u="none" strike="noStrike" cap="none" baseline="0">
                <a:solidFill>
                  <a:srgbClr val="00FF00"/>
                </a:solidFill>
                <a:latin typeface="Cabin"/>
                <a:ea typeface="Cabin"/>
                <a:cs typeface="Cabin"/>
                <a:sym typeface="Cabin"/>
              </a:rPr>
              <a:t>type</a:t>
            </a:r>
            <a:r>
              <a:rPr lang="en-US" sz="3600" b="0" i="0" u="none" strike="noStrike" cap="none" baseline="0">
                <a:solidFill>
                  <a:schemeClr val="lt1"/>
                </a:solidFill>
                <a:latin typeface="Cabin"/>
                <a:ea typeface="Cabin"/>
                <a:cs typeface="Cabin"/>
                <a:sym typeface="Cabin"/>
              </a:rPr>
              <a:t>() function</a:t>
            </a:r>
          </a:p>
        </p:txBody>
      </p:sp>
      <p:sp>
        <p:nvSpPr>
          <p:cNvPr id="363" name="Shape 363"/>
          <p:cNvSpPr txBox="1"/>
          <p:nvPr/>
        </p:nvSpPr>
        <p:spPr>
          <a:xfrm>
            <a:off x="8778875" y="2120900"/>
            <a:ext cx="7315200" cy="6403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eee = 'hello ' + 'there'</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a:t>
            </a:r>
            <a:r>
              <a:rPr lang="en-US" sz="2800" b="0" i="0" u="none" strike="noStrike" cap="none" baseline="0">
                <a:solidFill>
                  <a:srgbClr val="FF7F00"/>
                </a:solidFill>
                <a:latin typeface="Courier New"/>
                <a:ea typeface="Courier New"/>
                <a:cs typeface="Courier New"/>
                <a:sym typeface="Courier New"/>
              </a:rPr>
              <a:t>eee = eee + 1</a:t>
            </a:r>
          </a:p>
          <a:p>
            <a:pPr marL="0" marR="0" lvl="0" indent="0" algn="l" rtl="0">
              <a:lnSpc>
                <a:spcPct val="100000"/>
              </a:lnSpc>
              <a:spcBef>
                <a:spcPts val="0"/>
              </a:spcBef>
              <a:spcAft>
                <a:spcPts val="0"/>
              </a:spcAft>
              <a:buClr>
                <a:srgbClr val="FF0000"/>
              </a:buClr>
              <a:buSzPct val="25000"/>
              <a:buFont typeface="Cabin"/>
              <a:buNone/>
            </a:pPr>
            <a:r>
              <a:rPr lang="en-US" sz="2800" b="0" i="0" u="none" strike="noStrike" cap="none" baseline="0">
                <a:solidFill>
                  <a:srgbClr val="FF0000"/>
                </a:solidFill>
                <a:latin typeface="Courier New"/>
                <a:ea typeface="Courier New"/>
                <a:cs typeface="Courier New"/>
                <a:sym typeface="Courier New"/>
              </a:rPr>
              <a:t>Traceback (most recent call last):</a:t>
            </a:r>
          </a:p>
          <a:p>
            <a:pPr marL="0" marR="0" lvl="0" indent="0" algn="l" rtl="0">
              <a:lnSpc>
                <a:spcPct val="100000"/>
              </a:lnSpc>
              <a:spcBef>
                <a:spcPts val="0"/>
              </a:spcBef>
              <a:spcAft>
                <a:spcPts val="0"/>
              </a:spcAft>
              <a:buClr>
                <a:srgbClr val="FF0000"/>
              </a:buClr>
              <a:buSzPct val="25000"/>
              <a:buFont typeface="Cabin"/>
              <a:buNone/>
            </a:pPr>
            <a:r>
              <a:rPr lang="en-US" sz="2800" b="0" i="0" u="none" strike="noStrike" cap="none" baseline="0">
                <a:solidFill>
                  <a:srgbClr val="FF0000"/>
                </a:solidFill>
                <a:latin typeface="Courier New"/>
                <a:ea typeface="Courier New"/>
                <a:cs typeface="Courier New"/>
                <a:sym typeface="Courier New"/>
              </a:rPr>
              <a:t>  File "&lt;stdin&gt;", line 1, in &lt;module&gt;</a:t>
            </a:r>
          </a:p>
          <a:p>
            <a:pPr marL="0" marR="0" lvl="0" indent="0" algn="l" rtl="0">
              <a:lnSpc>
                <a:spcPct val="100000"/>
              </a:lnSpc>
              <a:spcBef>
                <a:spcPts val="0"/>
              </a:spcBef>
              <a:spcAft>
                <a:spcPts val="0"/>
              </a:spcAft>
              <a:buClr>
                <a:srgbClr val="FF0000"/>
              </a:buClr>
              <a:buSzPct val="25000"/>
              <a:buFont typeface="Cabin"/>
              <a:buNone/>
            </a:pPr>
            <a:r>
              <a:rPr lang="en-US" sz="2800" b="0" i="0" u="none" strike="noStrike" cap="none" baseline="0">
                <a:solidFill>
                  <a:srgbClr val="FF0000"/>
                </a:solidFill>
                <a:latin typeface="Courier New"/>
                <a:ea typeface="Courier New"/>
                <a:cs typeface="Courier New"/>
                <a:sym typeface="Courier New"/>
              </a:rPr>
              <a:t>TypeError: cannot concatenate 'str' and 'int' objects</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a:t>
            </a:r>
            <a:r>
              <a:rPr lang="en-US" sz="2800" b="0" i="0" u="none" strike="noStrike" cap="none" baseline="0">
                <a:solidFill>
                  <a:srgbClr val="00FF00"/>
                </a:solidFill>
                <a:latin typeface="Courier New"/>
                <a:ea typeface="Courier New"/>
                <a:cs typeface="Courier New"/>
                <a:sym typeface="Courier New"/>
              </a:rPr>
              <a:t>type</a:t>
            </a:r>
            <a:r>
              <a:rPr lang="en-US" sz="2800" b="0" i="0" u="none" strike="noStrike" cap="none" baseline="0">
                <a:solidFill>
                  <a:srgbClr val="FFFF00"/>
                </a:solidFill>
                <a:latin typeface="Courier New"/>
                <a:ea typeface="Courier New"/>
                <a:cs typeface="Courier New"/>
                <a:sym typeface="Courier New"/>
              </a:rPr>
              <a:t>(eee)</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&lt;type 'str'&gt;</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a:t>
            </a:r>
            <a:r>
              <a:rPr lang="en-US" sz="2800" b="0" i="0" u="none" strike="noStrike" cap="none" baseline="0">
                <a:solidFill>
                  <a:srgbClr val="00FF00"/>
                </a:solidFill>
                <a:latin typeface="Courier New"/>
                <a:ea typeface="Courier New"/>
                <a:cs typeface="Courier New"/>
                <a:sym typeface="Courier New"/>
              </a:rPr>
              <a:t>type</a:t>
            </a:r>
            <a:r>
              <a:rPr lang="en-US" sz="2800" b="0" i="0" u="none" strike="noStrike" cap="none" baseline="0">
                <a:solidFill>
                  <a:srgbClr val="FFFF00"/>
                </a:solidFill>
                <a:latin typeface="Courier New"/>
                <a:ea typeface="Courier New"/>
                <a:cs typeface="Courier New"/>
                <a:sym typeface="Courier New"/>
              </a:rPr>
              <a:t>('hello')</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&lt;type 'str'&gt;</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a:t>
            </a:r>
            <a:r>
              <a:rPr lang="en-US" sz="2800" b="0" i="0" u="none" strike="noStrike" cap="none" baseline="0">
                <a:solidFill>
                  <a:srgbClr val="00FF00"/>
                </a:solidFill>
                <a:latin typeface="Courier New"/>
                <a:ea typeface="Courier New"/>
                <a:cs typeface="Courier New"/>
                <a:sym typeface="Courier New"/>
              </a:rPr>
              <a:t>type</a:t>
            </a:r>
            <a:r>
              <a:rPr lang="en-US" sz="2800" b="0" i="0" u="none" strike="noStrike" cap="none" baseline="0">
                <a:solidFill>
                  <a:srgbClr val="FFFF00"/>
                </a:solidFill>
                <a:latin typeface="Courier New"/>
                <a:ea typeface="Courier New"/>
                <a:cs typeface="Courier New"/>
                <a:sym typeface="Courier New"/>
              </a:rPr>
              <a:t>(1)</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&lt;type 'int'&gt;</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&gt;&gt;&gt; </a:t>
            </a:r>
          </a:p>
        </p:txBody>
      </p:sp>
    </p:spTree>
  </p:cSld>
  <p:clrMapOvr>
    <a:masterClrMapping/>
  </p:clrMapOvr>
  <p:transition spd="slow">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Shape 368"/>
          <p:cNvSpPr txBox="1">
            <a:spLocks noGrp="1"/>
          </p:cNvSpPr>
          <p:nvPr>
            <p:ph type="title"/>
          </p:nvPr>
        </p:nvSpPr>
        <p:spPr>
          <a:xfrm>
            <a:off x="1071216" y="-180528"/>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dirty="0">
                <a:solidFill>
                  <a:schemeClr val="lt1"/>
                </a:solidFill>
                <a:latin typeface="Cabin"/>
                <a:ea typeface="Cabin"/>
                <a:cs typeface="Cabin"/>
                <a:sym typeface="Cabin"/>
              </a:rPr>
              <a:t>Several </a:t>
            </a:r>
            <a:r>
              <a:rPr lang="en-US" sz="7600" b="0" i="0" u="none" strike="noStrike" cap="none" baseline="0" dirty="0">
                <a:solidFill>
                  <a:srgbClr val="00FF00"/>
                </a:solidFill>
                <a:latin typeface="Cabin"/>
                <a:ea typeface="Cabin"/>
                <a:cs typeface="Cabin"/>
                <a:sym typeface="Cabin"/>
              </a:rPr>
              <a:t>Types</a:t>
            </a:r>
            <a:r>
              <a:rPr lang="en-US" sz="7600" b="0" i="0" u="none" strike="noStrike" cap="none" baseline="0" dirty="0">
                <a:solidFill>
                  <a:schemeClr val="lt1"/>
                </a:solidFill>
                <a:latin typeface="Cabin"/>
                <a:ea typeface="Cabin"/>
                <a:cs typeface="Cabin"/>
                <a:sym typeface="Cabin"/>
              </a:rPr>
              <a:t> of Numbers</a:t>
            </a:r>
          </a:p>
        </p:txBody>
      </p:sp>
      <p:sp>
        <p:nvSpPr>
          <p:cNvPr id="369" name="Shape 369"/>
          <p:cNvSpPr txBox="1">
            <a:spLocks noGrp="1"/>
          </p:cNvSpPr>
          <p:nvPr>
            <p:ph type="body" idx="1"/>
          </p:nvPr>
        </p:nvSpPr>
        <p:spPr>
          <a:xfrm>
            <a:off x="1155700" y="2603500"/>
            <a:ext cx="8407399"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Numbers have two main types</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dirty="0">
                <a:solidFill>
                  <a:schemeClr val="lt1"/>
                </a:solidFill>
                <a:latin typeface="Cabin"/>
                <a:ea typeface="Cabin"/>
                <a:cs typeface="Cabin"/>
                <a:sym typeface="Cabin"/>
              </a:rPr>
              <a:t>Integers are whole numbers: </a:t>
            </a:r>
            <a:br>
              <a:rPr lang="en-US" sz="3600" b="0" i="0" u="none" strike="noStrike" cap="none" baseline="0" dirty="0">
                <a:solidFill>
                  <a:schemeClr val="lt1"/>
                </a:solidFill>
                <a:latin typeface="Cabin"/>
                <a:ea typeface="Cabin"/>
                <a:cs typeface="Cabin"/>
                <a:sym typeface="Cabin"/>
              </a:rPr>
            </a:br>
            <a:r>
              <a:rPr lang="en-US" sz="3600" b="0" i="0" u="none" strike="noStrike" cap="none" baseline="0" dirty="0">
                <a:solidFill>
                  <a:schemeClr val="lt1"/>
                </a:solidFill>
                <a:latin typeface="Cabin"/>
                <a:ea typeface="Cabin"/>
                <a:cs typeface="Cabin"/>
                <a:sym typeface="Cabin"/>
              </a:rPr>
              <a:t>-14, -2, 0, 1, 100, 401233</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dirty="0">
                <a:solidFill>
                  <a:schemeClr val="lt1"/>
                </a:solidFill>
                <a:latin typeface="Cabin"/>
                <a:ea typeface="Cabin"/>
                <a:cs typeface="Cabin"/>
                <a:sym typeface="Cabin"/>
              </a:rPr>
              <a:t>Floating Point Numbers have decimal parts:  -2.5 , 0.0, 98.6, 14.0</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There are other number types - they are variations on float and integer</a:t>
            </a:r>
          </a:p>
        </p:txBody>
      </p:sp>
      <p:sp>
        <p:nvSpPr>
          <p:cNvPr id="370" name="Shape 370"/>
          <p:cNvSpPr txBox="1"/>
          <p:nvPr/>
        </p:nvSpPr>
        <p:spPr>
          <a:xfrm>
            <a:off x="10902900" y="2533650"/>
            <a:ext cx="5238599" cy="58292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r>
              <a:rPr lang="en-US" sz="3400" b="0" i="0" u="none" strike="noStrike" cap="none" baseline="0">
                <a:solidFill>
                  <a:srgbClr val="00FF00"/>
                </a:solidFill>
                <a:latin typeface="Courier New"/>
                <a:ea typeface="Courier New"/>
                <a:cs typeface="Courier New"/>
                <a:sym typeface="Courier New"/>
              </a:rPr>
              <a:t>xx</a:t>
            </a:r>
            <a:r>
              <a:rPr lang="en-US" sz="3400" b="0"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type (</a:t>
            </a:r>
            <a:r>
              <a:rPr lang="en-US" sz="3400" b="0" i="0" u="none" strike="noStrike" cap="none" baseline="0">
                <a:solidFill>
                  <a:srgbClr val="00FF00"/>
                </a:solidFill>
                <a:latin typeface="Courier New"/>
                <a:ea typeface="Courier New"/>
                <a:cs typeface="Courier New"/>
                <a:sym typeface="Courier New"/>
              </a:rPr>
              <a:t>xx</a:t>
            </a:r>
            <a:r>
              <a:rPr lang="en-US" sz="34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&lt;type 'int'&gt;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r>
              <a:rPr lang="en-US" sz="3400" b="0" i="0" u="none" strike="noStrike" cap="none" baseline="0">
                <a:solidFill>
                  <a:srgbClr val="00FF00"/>
                </a:solidFill>
                <a:latin typeface="Courier New"/>
                <a:ea typeface="Courier New"/>
                <a:cs typeface="Courier New"/>
                <a:sym typeface="Courier New"/>
              </a:rPr>
              <a:t>temp</a:t>
            </a:r>
            <a:r>
              <a:rPr lang="en-US" sz="3400" b="0" i="0" u="none" strike="noStrike" cap="none" baseline="0">
                <a:solidFill>
                  <a:schemeClr val="lt1"/>
                </a:solidFill>
                <a:latin typeface="Courier New"/>
                <a:ea typeface="Courier New"/>
                <a:cs typeface="Courier New"/>
                <a:sym typeface="Courier New"/>
              </a:rPr>
              <a:t> = 98.6</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r>
              <a:rPr lang="en-US" sz="3400" b="0" i="0" u="none" strike="noStrike" cap="none" baseline="0">
                <a:solidFill>
                  <a:srgbClr val="FF00FF"/>
                </a:solidFill>
                <a:latin typeface="Courier New"/>
                <a:ea typeface="Courier New"/>
                <a:cs typeface="Courier New"/>
                <a:sym typeface="Courier New"/>
              </a:rPr>
              <a:t>type</a:t>
            </a:r>
            <a:r>
              <a:rPr lang="en-US" sz="3400" b="0" i="0" u="none" strike="noStrike" cap="none" baseline="0">
                <a:solidFill>
                  <a:schemeClr val="lt1"/>
                </a:solidFill>
                <a:latin typeface="Courier New"/>
                <a:ea typeface="Courier New"/>
                <a:cs typeface="Courier New"/>
                <a:sym typeface="Courier New"/>
              </a:rPr>
              <a:t>(</a:t>
            </a:r>
            <a:r>
              <a:rPr lang="en-US" sz="3400" b="0" i="0" u="none" strike="noStrike" cap="none" baseline="0">
                <a:solidFill>
                  <a:srgbClr val="00FF00"/>
                </a:solidFill>
                <a:latin typeface="Courier New"/>
                <a:ea typeface="Courier New"/>
                <a:cs typeface="Courier New"/>
                <a:sym typeface="Courier New"/>
              </a:rPr>
              <a:t>temp</a:t>
            </a:r>
            <a:r>
              <a:rPr lang="en-US" sz="34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&lt;type 'float'&gt;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r>
              <a:rPr lang="en-US" sz="3400" b="0" i="0" u="none" strike="noStrike" cap="none" baseline="0">
                <a:solidFill>
                  <a:srgbClr val="FF00FF"/>
                </a:solidFill>
                <a:latin typeface="Courier New"/>
                <a:ea typeface="Courier New"/>
                <a:cs typeface="Courier New"/>
                <a:sym typeface="Courier New"/>
              </a:rPr>
              <a:t>type</a:t>
            </a:r>
            <a:r>
              <a:rPr lang="en-US" sz="3400" b="0" i="0" u="none" strike="noStrike" cap="none" baseline="0">
                <a:solidFill>
                  <a:schemeClr val="lt1"/>
                </a:solidFill>
                <a:latin typeface="Courier New"/>
                <a:ea typeface="Courier New"/>
                <a:cs typeface="Courier New"/>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&lt;type 'int'&gt;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r>
              <a:rPr lang="en-US" sz="3400" b="0" i="0" u="none" strike="noStrike" cap="none" baseline="0">
                <a:solidFill>
                  <a:srgbClr val="FF00FF"/>
                </a:solidFill>
                <a:latin typeface="Courier New"/>
                <a:ea typeface="Courier New"/>
                <a:cs typeface="Courier New"/>
                <a:sym typeface="Courier New"/>
              </a:rPr>
              <a:t>type</a:t>
            </a:r>
            <a:r>
              <a:rPr lang="en-US" sz="3400" b="0" i="0" u="none" strike="noStrike" cap="none" baseline="0">
                <a:solidFill>
                  <a:schemeClr val="lt1"/>
                </a:solidFill>
                <a:latin typeface="Courier New"/>
                <a:ea typeface="Courier New"/>
                <a:cs typeface="Courier New"/>
                <a:sym typeface="Courier New"/>
              </a:rPr>
              <a:t>(1.0)</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&lt;type 'float'&gt;</a:t>
            </a:r>
          </a:p>
          <a:p>
            <a:pPr marL="0" marR="0" lvl="0" indent="0" algn="l"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ourier New"/>
                <a:ea typeface="Courier New"/>
                <a:cs typeface="Courier New"/>
                <a:sym typeface="Courier New"/>
              </a:rPr>
              <a:t>&gt;&gt;&gt; </a:t>
            </a:r>
          </a:p>
        </p:txBody>
      </p:sp>
    </p:spTree>
  </p:cSld>
  <p:clrMapOvr>
    <a:masterClrMapping/>
  </p:clrMapOvr>
  <p:transition spd="slow">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Shape 375"/>
          <p:cNvSpPr txBox="1">
            <a:spLocks noGrp="1"/>
          </p:cNvSpPr>
          <p:nvPr>
            <p:ph type="title"/>
          </p:nvPr>
        </p:nvSpPr>
        <p:spPr>
          <a:xfrm>
            <a:off x="1155700" y="241300"/>
            <a:ext cx="7988300" cy="2298699"/>
          </a:xfrm>
          <a:prstGeom prst="rect">
            <a:avLst/>
          </a:prstGeom>
          <a:noFill/>
          <a:ln>
            <a:noFill/>
          </a:ln>
        </p:spPr>
        <p:txBody>
          <a:bodyPr lIns="38100" tIns="38100" rIns="38100" bIns="3810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Type Conversions</a:t>
            </a:r>
          </a:p>
        </p:txBody>
      </p:sp>
      <p:sp>
        <p:nvSpPr>
          <p:cNvPr id="376" name="Shape 376"/>
          <p:cNvSpPr txBox="1">
            <a:spLocks noGrp="1"/>
          </p:cNvSpPr>
          <p:nvPr>
            <p:ph type="body" idx="1"/>
          </p:nvPr>
        </p:nvSpPr>
        <p:spPr>
          <a:xfrm>
            <a:off x="1155700" y="2298700"/>
            <a:ext cx="6921599" cy="57023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When you put an integer and floating point in an expression, the integer is </a:t>
            </a:r>
            <a:r>
              <a:rPr lang="en-US" sz="3600" b="0" i="0" u="none" strike="noStrike" cap="none" baseline="0">
                <a:solidFill>
                  <a:srgbClr val="FF00FF"/>
                </a:solidFill>
                <a:latin typeface="Cabin"/>
                <a:ea typeface="Cabin"/>
                <a:cs typeface="Cabin"/>
                <a:sym typeface="Cabin"/>
              </a:rPr>
              <a:t>implicitly</a:t>
            </a:r>
            <a:r>
              <a:rPr lang="en-US" sz="3600" b="0" i="0" u="none" strike="noStrike" cap="none" baseline="0">
                <a:solidFill>
                  <a:schemeClr val="lt1"/>
                </a:solidFill>
                <a:latin typeface="Cabin"/>
                <a:ea typeface="Cabin"/>
                <a:cs typeface="Cabin"/>
                <a:sym typeface="Cabin"/>
              </a:rPr>
              <a:t> converted to a float</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You can control this with the built</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in functions int() and float()</a:t>
            </a:r>
          </a:p>
        </p:txBody>
      </p:sp>
      <p:sp>
        <p:nvSpPr>
          <p:cNvPr id="377" name="Shape 377"/>
          <p:cNvSpPr txBox="1"/>
          <p:nvPr/>
        </p:nvSpPr>
        <p:spPr>
          <a:xfrm>
            <a:off x="8780475" y="1714600"/>
            <a:ext cx="6921599" cy="6870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FF00"/>
                </a:solidFill>
                <a:latin typeface="Courier New"/>
                <a:ea typeface="Courier New"/>
                <a:cs typeface="Courier New"/>
                <a:sym typeface="Courier New"/>
              </a:rPr>
              <a:t>print</a:t>
            </a:r>
            <a:r>
              <a:rPr lang="en-US" sz="2600" b="0" i="0" u="none" strike="noStrike" cap="none" baseline="0">
                <a:solidFill>
                  <a:schemeClr val="lt1"/>
                </a:solidFill>
                <a:latin typeface="Courier New"/>
                <a:ea typeface="Courier New"/>
                <a:cs typeface="Courier New"/>
                <a:sym typeface="Courier New"/>
              </a:rPr>
              <a:t> </a:t>
            </a:r>
            <a:r>
              <a:rPr lang="en-US" sz="2600" b="0" i="0" u="none" strike="noStrike" cap="none" baseline="0">
                <a:solidFill>
                  <a:srgbClr val="FF00FF"/>
                </a:solidFill>
                <a:latin typeface="Courier New"/>
                <a:ea typeface="Courier New"/>
                <a:cs typeface="Courier New"/>
                <a:sym typeface="Courier New"/>
              </a:rPr>
              <a:t>float</a:t>
            </a:r>
            <a:r>
              <a:rPr lang="en-US" sz="2600" b="0" i="0" u="none" strike="noStrike" cap="none" baseline="0">
                <a:solidFill>
                  <a:schemeClr val="lt1"/>
                </a:solidFill>
                <a:latin typeface="Courier New"/>
                <a:ea typeface="Courier New"/>
                <a:cs typeface="Courier New"/>
                <a:sym typeface="Courier New"/>
              </a:rPr>
              <a:t>(99)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0.99</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i = 42</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00FF"/>
                </a:solidFill>
                <a:latin typeface="Courier New"/>
                <a:ea typeface="Courier New"/>
                <a:cs typeface="Courier New"/>
                <a:sym typeface="Courier New"/>
              </a:rPr>
              <a:t>type</a:t>
            </a:r>
            <a:r>
              <a:rPr lang="en-US" sz="2600" b="0" i="0" u="none" strike="noStrike" cap="none" baseline="0">
                <a:solidFill>
                  <a:schemeClr val="lt1"/>
                </a:solidFill>
                <a:latin typeface="Courier New"/>
                <a:ea typeface="Courier New"/>
                <a:cs typeface="Courier New"/>
                <a:sym typeface="Courier New"/>
              </a:rPr>
              <a:t>(i)</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&lt;type 'int'&gt;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f = </a:t>
            </a:r>
            <a:r>
              <a:rPr lang="en-US" sz="2600" b="0" i="0" u="none" strike="noStrike" cap="none" baseline="0">
                <a:solidFill>
                  <a:srgbClr val="FF00FF"/>
                </a:solidFill>
                <a:latin typeface="Courier New"/>
                <a:ea typeface="Courier New"/>
                <a:cs typeface="Courier New"/>
                <a:sym typeface="Courier New"/>
              </a:rPr>
              <a:t>float</a:t>
            </a:r>
            <a:r>
              <a:rPr lang="en-US" sz="2600" b="0" i="0" u="none" strike="noStrike" cap="none" baseline="0">
                <a:solidFill>
                  <a:schemeClr val="lt1"/>
                </a:solidFill>
                <a:latin typeface="Courier New"/>
                <a:ea typeface="Courier New"/>
                <a:cs typeface="Courier New"/>
                <a:sym typeface="Courier New"/>
              </a:rPr>
              <a:t>(i)</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FF00"/>
                </a:solidFill>
                <a:latin typeface="Courier New"/>
                <a:ea typeface="Courier New"/>
                <a:cs typeface="Courier New"/>
                <a:sym typeface="Courier New"/>
              </a:rPr>
              <a:t>print</a:t>
            </a:r>
            <a:r>
              <a:rPr lang="en-US" sz="2600" b="0" i="0" u="none" strike="noStrike" cap="none" baseline="0">
                <a:solidFill>
                  <a:schemeClr val="lt1"/>
                </a:solidFill>
                <a:latin typeface="Courier New"/>
                <a:ea typeface="Courier New"/>
                <a:cs typeface="Courier New"/>
                <a:sym typeface="Courier New"/>
              </a:rPr>
              <a:t> f</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42.0</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00FF"/>
                </a:solidFill>
                <a:latin typeface="Courier New"/>
                <a:ea typeface="Courier New"/>
                <a:cs typeface="Courier New"/>
                <a:sym typeface="Courier New"/>
              </a:rPr>
              <a:t>type</a:t>
            </a:r>
            <a:r>
              <a:rPr lang="en-US" sz="2600" b="0" i="0" u="none" strike="noStrike" cap="none" baseline="0">
                <a:solidFill>
                  <a:schemeClr val="lt1"/>
                </a:solidFill>
                <a:latin typeface="Courier New"/>
                <a:ea typeface="Courier New"/>
                <a:cs typeface="Courier New"/>
                <a:sym typeface="Courier New"/>
              </a:rPr>
              <a:t>(f)</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&lt;type 'float'&gt;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FF00"/>
                </a:solidFill>
                <a:latin typeface="Courier New"/>
                <a:ea typeface="Courier New"/>
                <a:cs typeface="Courier New"/>
                <a:sym typeface="Courier New"/>
              </a:rPr>
              <a:t>print</a:t>
            </a:r>
            <a:r>
              <a:rPr lang="en-US" sz="2600" b="0" i="0" u="none" strike="noStrike" cap="none" baseline="0">
                <a:solidFill>
                  <a:schemeClr val="lt1"/>
                </a:solidFill>
                <a:latin typeface="Courier New"/>
                <a:ea typeface="Courier New"/>
                <a:cs typeface="Courier New"/>
                <a:sym typeface="Courier New"/>
              </a:rPr>
              <a:t> 1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2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a:t>
            </a:r>
            <a:r>
              <a:rPr lang="en-US" sz="2600" b="0" i="0" u="none" strike="noStrike" cap="none" baseline="0">
                <a:solidFill>
                  <a:srgbClr val="FF00FF"/>
                </a:solidFill>
                <a:latin typeface="Courier New"/>
                <a:ea typeface="Courier New"/>
                <a:cs typeface="Courier New"/>
                <a:sym typeface="Courier New"/>
              </a:rPr>
              <a:t>float</a:t>
            </a:r>
            <a:r>
              <a:rPr lang="en-US" sz="2600" b="0" i="0" u="none" strike="noStrike" cap="none" baseline="0">
                <a:solidFill>
                  <a:schemeClr val="lt1"/>
                </a:solidFill>
                <a:latin typeface="Courier New"/>
                <a:ea typeface="Courier New"/>
                <a:cs typeface="Courier New"/>
                <a:sym typeface="Courier New"/>
              </a:rPr>
              <a:t>(3)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4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5</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-2.5</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p>
        </p:txBody>
      </p:sp>
    </p:spTree>
  </p:cSld>
  <p:clrMapOvr>
    <a:masterClrMapping/>
  </p:clrMapOvr>
  <p:transition spd="slow">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700" y="-318987"/>
            <a:ext cx="13931900" cy="2298699"/>
          </a:xfrm>
        </p:spPr>
        <p:txBody>
          <a:bodyPr/>
          <a:lstStyle/>
          <a:p>
            <a:r>
              <a:rPr lang="en-US" sz="7200" dirty="0" smtClean="0">
                <a:solidFill>
                  <a:srgbClr val="FF0066"/>
                </a:solidFill>
              </a:rPr>
              <a:t>Modulus operations (%)</a:t>
            </a:r>
            <a:endParaRPr lang="en-US" sz="7200" dirty="0">
              <a:solidFill>
                <a:srgbClr val="FF0066"/>
              </a:solidFill>
            </a:endParaRPr>
          </a:p>
        </p:txBody>
      </p:sp>
      <p:sp>
        <p:nvSpPr>
          <p:cNvPr id="3" name="TextBox 2"/>
          <p:cNvSpPr txBox="1"/>
          <p:nvPr/>
        </p:nvSpPr>
        <p:spPr>
          <a:xfrm>
            <a:off x="1143224" y="1979712"/>
            <a:ext cx="15193688" cy="5632311"/>
          </a:xfrm>
          <a:prstGeom prst="rect">
            <a:avLst/>
          </a:prstGeom>
          <a:noFill/>
        </p:spPr>
        <p:txBody>
          <a:bodyPr wrap="square" rtlCol="0">
            <a:spAutoFit/>
          </a:bodyPr>
          <a:lstStyle/>
          <a:p>
            <a:r>
              <a:rPr lang="en-US" sz="6000" dirty="0" smtClean="0">
                <a:solidFill>
                  <a:srgbClr val="FFFF00"/>
                </a:solidFill>
              </a:rPr>
              <a:t>Use to extract remainder of division</a:t>
            </a:r>
          </a:p>
          <a:p>
            <a:endParaRPr lang="en-US" sz="6000" dirty="0" smtClean="0">
              <a:solidFill>
                <a:srgbClr val="FFFF00"/>
              </a:solidFill>
            </a:endParaRPr>
          </a:p>
          <a:p>
            <a:r>
              <a:rPr lang="en-US" sz="6000" dirty="0" smtClean="0">
                <a:solidFill>
                  <a:srgbClr val="FFFF00"/>
                </a:solidFill>
              </a:rPr>
              <a:t>Use to find out divisibility</a:t>
            </a:r>
          </a:p>
          <a:p>
            <a:endParaRPr lang="en-US" sz="6000" dirty="0" smtClean="0">
              <a:solidFill>
                <a:srgbClr val="FFFF00"/>
              </a:solidFill>
            </a:endParaRPr>
          </a:p>
          <a:p>
            <a:r>
              <a:rPr lang="en-US" sz="6000" dirty="0" smtClean="0">
                <a:solidFill>
                  <a:srgbClr val="FFFF00"/>
                </a:solidFill>
              </a:rPr>
              <a:t>Use to extract  last digits by doing mod by 10,100,10000…..</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Shape 382"/>
          <p:cNvSpPr txBox="1">
            <a:spLocks noGrp="1"/>
          </p:cNvSpPr>
          <p:nvPr>
            <p:ph type="title"/>
          </p:nvPr>
        </p:nvSpPr>
        <p:spPr>
          <a:xfrm>
            <a:off x="1155700" y="393700"/>
            <a:ext cx="6032399"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String Conversions</a:t>
            </a:r>
          </a:p>
        </p:txBody>
      </p:sp>
      <p:sp>
        <p:nvSpPr>
          <p:cNvPr id="383" name="Shape 383"/>
          <p:cNvSpPr txBox="1">
            <a:spLocks noGrp="1"/>
          </p:cNvSpPr>
          <p:nvPr>
            <p:ph type="body" idx="1"/>
          </p:nvPr>
        </p:nvSpPr>
        <p:spPr>
          <a:xfrm>
            <a:off x="1155700" y="2603500"/>
            <a:ext cx="6159499"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dirty="0">
                <a:solidFill>
                  <a:schemeClr val="lt1"/>
                </a:solidFill>
                <a:latin typeface="Cabin"/>
                <a:ea typeface="Cabin"/>
                <a:cs typeface="Cabin"/>
                <a:sym typeface="Cabin"/>
              </a:rPr>
              <a:t>You can also use </a:t>
            </a:r>
            <a:r>
              <a:rPr lang="en-US" sz="3600" b="0" i="0" u="none" strike="noStrike" cap="none" baseline="0" dirty="0" err="1">
                <a:solidFill>
                  <a:srgbClr val="FFFF00"/>
                </a:solidFill>
                <a:latin typeface="Cabin"/>
                <a:ea typeface="Cabin"/>
                <a:cs typeface="Cabin"/>
                <a:sym typeface="Cabin"/>
              </a:rPr>
              <a:t>int</a:t>
            </a:r>
            <a:r>
              <a:rPr lang="en-US" sz="3600" b="0" i="0" u="none" strike="noStrike" cap="none" baseline="0" dirty="0">
                <a:solidFill>
                  <a:srgbClr val="FFFF00"/>
                </a:solidFill>
                <a:latin typeface="Cabin"/>
                <a:ea typeface="Cabin"/>
                <a:cs typeface="Cabin"/>
                <a:sym typeface="Cabin"/>
              </a:rPr>
              <a:t>()</a:t>
            </a:r>
            <a:r>
              <a:rPr lang="en-US" sz="3600" b="0" i="0" u="none" strike="noStrike" cap="none" baseline="0" dirty="0">
                <a:solidFill>
                  <a:schemeClr val="lt1"/>
                </a:solidFill>
                <a:latin typeface="Cabin"/>
                <a:ea typeface="Cabin"/>
                <a:cs typeface="Cabin"/>
                <a:sym typeface="Cabin"/>
              </a:rPr>
              <a:t> and </a:t>
            </a:r>
            <a:r>
              <a:rPr lang="en-US" sz="3600" b="0" i="0" u="none" strike="noStrike" cap="none" baseline="0" dirty="0">
                <a:solidFill>
                  <a:srgbClr val="FFFF00"/>
                </a:solidFill>
                <a:latin typeface="Cabin"/>
                <a:ea typeface="Cabin"/>
                <a:cs typeface="Cabin"/>
                <a:sym typeface="Cabin"/>
              </a:rPr>
              <a:t>float()</a:t>
            </a:r>
            <a:r>
              <a:rPr lang="en-US" sz="3600" b="0" i="0" u="none" strike="noStrike" cap="none" baseline="0" dirty="0">
                <a:solidFill>
                  <a:schemeClr val="lt1"/>
                </a:solidFill>
                <a:latin typeface="Cabin"/>
                <a:ea typeface="Cabin"/>
                <a:cs typeface="Cabin"/>
                <a:sym typeface="Cabin"/>
              </a:rPr>
              <a:t> to convert between strings and integers</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dirty="0">
                <a:solidFill>
                  <a:schemeClr val="lt1"/>
                </a:solidFill>
                <a:latin typeface="Cabin"/>
                <a:ea typeface="Cabin"/>
                <a:cs typeface="Cabin"/>
                <a:sym typeface="Cabin"/>
              </a:rPr>
              <a:t>You will get an </a:t>
            </a:r>
            <a:r>
              <a:rPr lang="en-US" sz="3600" b="0" i="0" u="none" strike="noStrike" cap="none" baseline="0" dirty="0">
                <a:solidFill>
                  <a:srgbClr val="FF0000"/>
                </a:solidFill>
                <a:latin typeface="Cabin"/>
                <a:ea typeface="Cabin"/>
                <a:cs typeface="Cabin"/>
                <a:sym typeface="Cabin"/>
              </a:rPr>
              <a:t>error</a:t>
            </a:r>
            <a:r>
              <a:rPr lang="en-US" sz="3600" b="0" i="0" u="none" strike="noStrike" cap="none" baseline="0" dirty="0">
                <a:solidFill>
                  <a:schemeClr val="lt1"/>
                </a:solidFill>
                <a:latin typeface="Cabin"/>
                <a:ea typeface="Cabin"/>
                <a:cs typeface="Cabin"/>
                <a:sym typeface="Cabin"/>
              </a:rPr>
              <a:t> if the string does not contain numeric characters</a:t>
            </a:r>
          </a:p>
        </p:txBody>
      </p:sp>
      <p:sp>
        <p:nvSpPr>
          <p:cNvPr id="384" name="Shape 384"/>
          <p:cNvSpPr txBox="1"/>
          <p:nvPr/>
        </p:nvSpPr>
        <p:spPr>
          <a:xfrm>
            <a:off x="8470900" y="730250"/>
            <a:ext cx="7340600" cy="7658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b="0" i="0" u="none" strike="noStrike" cap="none" baseline="0">
                <a:solidFill>
                  <a:schemeClr val="lt1"/>
                </a:solidFill>
                <a:latin typeface="Courier New"/>
                <a:ea typeface="Courier New"/>
                <a:cs typeface="Courier New"/>
                <a:sym typeface="Courier New"/>
              </a:rPr>
              <a:t>&gt;</a:t>
            </a:r>
            <a:r>
              <a:rPr lang="en-US" sz="2600" b="0" i="0" u="none" strike="noStrike" cap="none" baseline="0">
                <a:solidFill>
                  <a:schemeClr val="lt1"/>
                </a:solidFill>
                <a:latin typeface="Courier New"/>
                <a:ea typeface="Courier New"/>
                <a:cs typeface="Courier New"/>
                <a:sym typeface="Courier New"/>
              </a:rPr>
              <a:t>&gt;&gt; </a:t>
            </a:r>
            <a:r>
              <a:rPr lang="en-US" sz="2600" b="0" i="0" u="none" strike="noStrike" cap="none" baseline="0">
                <a:solidFill>
                  <a:srgbClr val="00FF00"/>
                </a:solidFill>
                <a:latin typeface="Courier New"/>
                <a:ea typeface="Courier New"/>
                <a:cs typeface="Courier New"/>
                <a:sym typeface="Courier New"/>
              </a:rPr>
              <a:t>sval</a:t>
            </a:r>
            <a:r>
              <a:rPr lang="en-US" sz="2600" b="0" i="0" u="none" strike="noStrike" cap="none" baseline="0">
                <a:solidFill>
                  <a:schemeClr val="lt1"/>
                </a:solidFill>
                <a:latin typeface="Courier New"/>
                <a:ea typeface="Courier New"/>
                <a:cs typeface="Courier New"/>
                <a:sym typeface="Courier New"/>
              </a:rPr>
              <a:t> = '123'</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00FF"/>
                </a:solidFill>
                <a:latin typeface="Courier New"/>
                <a:ea typeface="Courier New"/>
                <a:cs typeface="Courier New"/>
                <a:sym typeface="Courier New"/>
              </a:rPr>
              <a:t>type</a:t>
            </a:r>
            <a:r>
              <a:rPr lang="en-US" sz="2600" b="0" i="0" u="none" strike="noStrike" cap="none" baseline="0">
                <a:solidFill>
                  <a:schemeClr val="lt1"/>
                </a:solidFill>
                <a:latin typeface="Courier New"/>
                <a:ea typeface="Courier New"/>
                <a:cs typeface="Courier New"/>
                <a:sym typeface="Courier New"/>
              </a:rPr>
              <a:t>(</a:t>
            </a:r>
            <a:r>
              <a:rPr lang="en-US" sz="2600" b="0" i="0" u="none" strike="noStrike" cap="none" baseline="0">
                <a:solidFill>
                  <a:srgbClr val="00FF00"/>
                </a:solidFill>
                <a:latin typeface="Courier New"/>
                <a:ea typeface="Courier New"/>
                <a:cs typeface="Courier New"/>
                <a:sym typeface="Courier New"/>
              </a:rPr>
              <a:t>sval</a:t>
            </a:r>
            <a:r>
              <a:rPr lang="en-US" sz="26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&lt;type 'str'&gt;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FF00"/>
                </a:solidFill>
                <a:latin typeface="Courier New"/>
                <a:ea typeface="Courier New"/>
                <a:cs typeface="Courier New"/>
                <a:sym typeface="Courier New"/>
              </a:rPr>
              <a:t>print</a:t>
            </a:r>
            <a:r>
              <a:rPr lang="en-US" sz="2600" b="0" i="0" u="none" strike="noStrike" cap="none" baseline="0">
                <a:solidFill>
                  <a:schemeClr val="lt1"/>
                </a:solidFill>
                <a:latin typeface="Courier New"/>
                <a:ea typeface="Courier New"/>
                <a:cs typeface="Courier New"/>
                <a:sym typeface="Courier New"/>
              </a:rPr>
              <a:t> </a:t>
            </a:r>
            <a:r>
              <a:rPr lang="en-US" sz="2600" b="0" i="0" u="none" strike="noStrike" cap="none" baseline="0">
                <a:solidFill>
                  <a:srgbClr val="00FF00"/>
                </a:solidFill>
                <a:latin typeface="Courier New"/>
                <a:ea typeface="Courier New"/>
                <a:cs typeface="Courier New"/>
                <a:sym typeface="Courier New"/>
              </a:rPr>
              <a:t>sval</a:t>
            </a:r>
            <a:r>
              <a:rPr lang="en-US" sz="2600" b="0" i="0" u="none" strike="noStrike" cap="none" baseline="0">
                <a:solidFill>
                  <a:schemeClr val="lt1"/>
                </a:solidFill>
                <a:latin typeface="Courier New"/>
                <a:ea typeface="Courier New"/>
                <a:cs typeface="Courier New"/>
                <a:sym typeface="Courier New"/>
              </a:rPr>
              <a:t> </a:t>
            </a:r>
            <a:r>
              <a:rPr lang="en-US" sz="2600" b="0" i="0" u="none" strike="noStrike" cap="none" baseline="0">
                <a:solidFill>
                  <a:srgbClr val="00FFFF"/>
                </a:solidFill>
                <a:latin typeface="Courier New"/>
                <a:ea typeface="Courier New"/>
                <a:cs typeface="Courier New"/>
                <a:sym typeface="Courier New"/>
              </a:rPr>
              <a:t>+</a:t>
            </a:r>
            <a:r>
              <a:rPr lang="en-US" sz="2600" b="0" i="0" u="none" strike="noStrike" cap="none" baseline="0">
                <a:solidFill>
                  <a:schemeClr val="lt1"/>
                </a:solidFill>
                <a:latin typeface="Courier New"/>
                <a:ea typeface="Courier New"/>
                <a:cs typeface="Courier New"/>
                <a:sym typeface="Courier New"/>
              </a:rPr>
              <a:t> 1</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Traceback (most recent call last):</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  File "&lt;stdin&gt;", line 1, in &lt;module&gt;</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TypeError: cannot concatenate 'str' and 'int'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00FF00"/>
                </a:solidFill>
                <a:latin typeface="Courier New"/>
                <a:ea typeface="Courier New"/>
                <a:cs typeface="Courier New"/>
                <a:sym typeface="Courier New"/>
              </a:rPr>
              <a:t>ival</a:t>
            </a:r>
            <a:r>
              <a:rPr lang="en-US" sz="2600" b="0" i="0" u="none" strike="noStrike" cap="none" baseline="0">
                <a:solidFill>
                  <a:schemeClr val="lt1"/>
                </a:solidFill>
                <a:latin typeface="Courier New"/>
                <a:ea typeface="Courier New"/>
                <a:cs typeface="Courier New"/>
                <a:sym typeface="Courier New"/>
              </a:rPr>
              <a:t> = </a:t>
            </a:r>
            <a:r>
              <a:rPr lang="en-US" sz="2600" b="0" i="0" u="none" strike="noStrike" cap="none" baseline="0">
                <a:solidFill>
                  <a:srgbClr val="FF00FF"/>
                </a:solidFill>
                <a:latin typeface="Courier New"/>
                <a:ea typeface="Courier New"/>
                <a:cs typeface="Courier New"/>
                <a:sym typeface="Courier New"/>
              </a:rPr>
              <a:t>int</a:t>
            </a:r>
            <a:r>
              <a:rPr lang="en-US" sz="2600" b="0" i="0" u="none" strike="noStrike" cap="none" baseline="0">
                <a:solidFill>
                  <a:schemeClr val="lt1"/>
                </a:solidFill>
                <a:latin typeface="Courier New"/>
                <a:ea typeface="Courier New"/>
                <a:cs typeface="Courier New"/>
                <a:sym typeface="Courier New"/>
              </a:rPr>
              <a:t>(</a:t>
            </a:r>
            <a:r>
              <a:rPr lang="en-US" sz="2600" b="0" i="0" u="none" strike="noStrike" cap="none" baseline="0">
                <a:solidFill>
                  <a:srgbClr val="00FF00"/>
                </a:solidFill>
                <a:latin typeface="Courier New"/>
                <a:ea typeface="Courier New"/>
                <a:cs typeface="Courier New"/>
                <a:sym typeface="Courier New"/>
              </a:rPr>
              <a:t>sval</a:t>
            </a:r>
            <a:r>
              <a:rPr lang="en-US" sz="26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00FF"/>
                </a:solidFill>
                <a:latin typeface="Courier New"/>
                <a:ea typeface="Courier New"/>
                <a:cs typeface="Courier New"/>
                <a:sym typeface="Courier New"/>
              </a:rPr>
              <a:t>type</a:t>
            </a:r>
            <a:r>
              <a:rPr lang="en-US" sz="2600" b="0" i="0" u="none" strike="noStrike" cap="none" baseline="0">
                <a:solidFill>
                  <a:schemeClr val="lt1"/>
                </a:solidFill>
                <a:latin typeface="Courier New"/>
                <a:ea typeface="Courier New"/>
                <a:cs typeface="Courier New"/>
                <a:sym typeface="Courier New"/>
              </a:rPr>
              <a:t>(</a:t>
            </a:r>
            <a:r>
              <a:rPr lang="en-US" sz="2600" b="0" i="0" u="none" strike="noStrike" cap="none" baseline="0">
                <a:solidFill>
                  <a:srgbClr val="00FF00"/>
                </a:solidFill>
                <a:latin typeface="Courier New"/>
                <a:ea typeface="Courier New"/>
                <a:cs typeface="Courier New"/>
                <a:sym typeface="Courier New"/>
              </a:rPr>
              <a:t>ival</a:t>
            </a:r>
            <a:r>
              <a:rPr lang="en-US" sz="26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&lt;type 'int'&gt;</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FFFF00"/>
                </a:solidFill>
                <a:latin typeface="Courier New"/>
                <a:ea typeface="Courier New"/>
                <a:cs typeface="Courier New"/>
                <a:sym typeface="Courier New"/>
              </a:rPr>
              <a:t>print</a:t>
            </a:r>
            <a:r>
              <a:rPr lang="en-US" sz="2600" b="0" i="0" u="none" strike="noStrike" cap="none" baseline="0">
                <a:solidFill>
                  <a:schemeClr val="lt1"/>
                </a:solidFill>
                <a:latin typeface="Courier New"/>
                <a:ea typeface="Courier New"/>
                <a:cs typeface="Courier New"/>
                <a:sym typeface="Courier New"/>
              </a:rPr>
              <a:t> </a:t>
            </a:r>
            <a:r>
              <a:rPr lang="en-US" sz="2600" b="0" i="0" u="none" strike="noStrike" cap="none" baseline="0">
                <a:solidFill>
                  <a:srgbClr val="00FF00"/>
                </a:solidFill>
                <a:latin typeface="Courier New"/>
                <a:ea typeface="Courier New"/>
                <a:cs typeface="Courier New"/>
                <a:sym typeface="Courier New"/>
              </a:rPr>
              <a:t>ival</a:t>
            </a:r>
            <a:r>
              <a:rPr lang="en-US" sz="2600" b="0"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124</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00FF00"/>
                </a:solidFill>
                <a:latin typeface="Courier New"/>
                <a:ea typeface="Courier New"/>
                <a:cs typeface="Courier New"/>
                <a:sym typeface="Courier New"/>
              </a:rPr>
              <a:t>nsv</a:t>
            </a:r>
            <a:r>
              <a:rPr lang="en-US" sz="2600" b="0" i="0" u="none" strike="noStrike" cap="none" baseline="0">
                <a:solidFill>
                  <a:schemeClr val="lt1"/>
                </a:solidFill>
                <a:latin typeface="Courier New"/>
                <a:ea typeface="Courier New"/>
                <a:cs typeface="Courier New"/>
                <a:sym typeface="Courier New"/>
              </a:rPr>
              <a:t> = 'hello bob'</a:t>
            </a:r>
          </a:p>
          <a:p>
            <a:pPr marL="0" marR="0" lvl="0" indent="0" algn="l"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ourier New"/>
                <a:ea typeface="Courier New"/>
                <a:cs typeface="Courier New"/>
                <a:sym typeface="Courier New"/>
              </a:rPr>
              <a:t>&gt;&gt;&gt; </a:t>
            </a:r>
            <a:r>
              <a:rPr lang="en-US" sz="2600" b="0" i="0" u="none" strike="noStrike" cap="none" baseline="0">
                <a:solidFill>
                  <a:srgbClr val="00FF00"/>
                </a:solidFill>
                <a:latin typeface="Courier New"/>
                <a:ea typeface="Courier New"/>
                <a:cs typeface="Courier New"/>
                <a:sym typeface="Courier New"/>
              </a:rPr>
              <a:t>niv</a:t>
            </a:r>
            <a:r>
              <a:rPr lang="en-US" sz="2600" b="0" i="0" u="none" strike="noStrike" cap="none" baseline="0">
                <a:solidFill>
                  <a:schemeClr val="lt1"/>
                </a:solidFill>
                <a:latin typeface="Courier New"/>
                <a:ea typeface="Courier New"/>
                <a:cs typeface="Courier New"/>
                <a:sym typeface="Courier New"/>
              </a:rPr>
              <a:t> = </a:t>
            </a:r>
            <a:r>
              <a:rPr lang="en-US" sz="2600" b="0" i="0" u="none" strike="noStrike" cap="none" baseline="0">
                <a:solidFill>
                  <a:srgbClr val="FF00FF"/>
                </a:solidFill>
                <a:latin typeface="Courier New"/>
                <a:ea typeface="Courier New"/>
                <a:cs typeface="Courier New"/>
                <a:sym typeface="Courier New"/>
              </a:rPr>
              <a:t>int</a:t>
            </a:r>
            <a:r>
              <a:rPr lang="en-US" sz="2600" b="0" i="0" u="none" strike="noStrike" cap="none" baseline="0">
                <a:solidFill>
                  <a:schemeClr val="lt1"/>
                </a:solidFill>
                <a:latin typeface="Courier New"/>
                <a:ea typeface="Courier New"/>
                <a:cs typeface="Courier New"/>
                <a:sym typeface="Courier New"/>
              </a:rPr>
              <a:t>(</a:t>
            </a:r>
            <a:r>
              <a:rPr lang="en-US" sz="2600" b="0" i="0" u="none" strike="noStrike" cap="none" baseline="0">
                <a:solidFill>
                  <a:srgbClr val="00FF00"/>
                </a:solidFill>
                <a:latin typeface="Courier New"/>
                <a:ea typeface="Courier New"/>
                <a:cs typeface="Courier New"/>
                <a:sym typeface="Courier New"/>
              </a:rPr>
              <a:t>nsv</a:t>
            </a:r>
            <a:r>
              <a:rPr lang="en-US" sz="26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Traceback (most recent call last):</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  File "&lt;stdin&gt;", line 1, in &lt;module&gt;</a:t>
            </a:r>
          </a:p>
          <a:p>
            <a:pPr marL="0" marR="0" lvl="0" indent="0" algn="l" rtl="0">
              <a:lnSpc>
                <a:spcPct val="100000"/>
              </a:lnSpc>
              <a:spcBef>
                <a:spcPts val="0"/>
              </a:spcBef>
              <a:spcAft>
                <a:spcPts val="0"/>
              </a:spcAft>
              <a:buClr>
                <a:srgbClr val="FF0000"/>
              </a:buClr>
              <a:buSzPct val="25000"/>
              <a:buFont typeface="Cabin"/>
              <a:buNone/>
            </a:pPr>
            <a:r>
              <a:rPr lang="en-US" sz="2600" b="0" i="0" u="none" strike="noStrike" cap="none" baseline="0">
                <a:solidFill>
                  <a:srgbClr val="FF0000"/>
                </a:solidFill>
                <a:latin typeface="Courier New"/>
                <a:ea typeface="Courier New"/>
                <a:cs typeface="Courier New"/>
                <a:sym typeface="Courier New"/>
              </a:rPr>
              <a:t>ValueError: invalid literal for int() </a:t>
            </a:r>
          </a:p>
        </p:txBody>
      </p:sp>
    </p:spTree>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Shape 389"/>
          <p:cNvSpPr txBox="1">
            <a:spLocks noGrp="1"/>
          </p:cNvSpPr>
          <p:nvPr>
            <p:ph type="title"/>
          </p:nvPr>
        </p:nvSpPr>
        <p:spPr>
          <a:xfrm>
            <a:off x="1511300" y="241300"/>
            <a:ext cx="13233399"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800" b="0" i="0" u="none" strike="noStrike" cap="none" baseline="0">
                <a:solidFill>
                  <a:srgbClr val="FF00FF"/>
                </a:solidFill>
                <a:latin typeface="Cabin"/>
                <a:ea typeface="Cabin"/>
                <a:cs typeface="Cabin"/>
                <a:sym typeface="Cabin"/>
              </a:rPr>
              <a:t>User Input</a:t>
            </a:r>
          </a:p>
        </p:txBody>
      </p:sp>
      <p:sp>
        <p:nvSpPr>
          <p:cNvPr id="390" name="Shape 390"/>
          <p:cNvSpPr txBox="1">
            <a:spLocks noGrp="1"/>
          </p:cNvSpPr>
          <p:nvPr>
            <p:ph type="body" idx="1"/>
          </p:nvPr>
        </p:nvSpPr>
        <p:spPr>
          <a:xfrm>
            <a:off x="1130300" y="2590800"/>
            <a:ext cx="6400799" cy="5359499"/>
          </a:xfrm>
          <a:prstGeom prst="rect">
            <a:avLst/>
          </a:prstGeom>
          <a:noFill/>
          <a:ln>
            <a:noFill/>
          </a:ln>
        </p:spPr>
        <p:txBody>
          <a:bodyPr lIns="50800" tIns="50800" rIns="50800" bIns="50800" anchor="ctr" anchorCtr="0">
            <a:noAutofit/>
          </a:bodyPr>
          <a:lstStyle/>
          <a:p>
            <a:pPr marL="1104900" marR="0" lvl="0" indent="-787400" algn="l" rtl="0">
              <a:lnSpc>
                <a:spcPct val="100000"/>
              </a:lnSpc>
              <a:spcBef>
                <a:spcPts val="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We can instruct Python to pause and read data from the user using the </a:t>
            </a:r>
            <a:r>
              <a:rPr lang="en-US" sz="3800" b="0" i="0" u="none" strike="noStrike" cap="none" baseline="0">
                <a:solidFill>
                  <a:srgbClr val="FF00FF"/>
                </a:solidFill>
                <a:latin typeface="Cabin"/>
                <a:ea typeface="Cabin"/>
                <a:cs typeface="Cabin"/>
                <a:sym typeface="Cabin"/>
              </a:rPr>
              <a:t>raw_input() </a:t>
            </a:r>
            <a:r>
              <a:rPr lang="en-US" sz="3800" b="0" i="0" u="none" strike="noStrike" cap="none" baseline="0">
                <a:solidFill>
                  <a:schemeClr val="lt1"/>
                </a:solidFill>
                <a:latin typeface="Cabin"/>
                <a:ea typeface="Cabin"/>
                <a:cs typeface="Cabin"/>
                <a:sym typeface="Cabin"/>
              </a:rPr>
              <a:t> function</a:t>
            </a:r>
          </a:p>
          <a:p>
            <a:pPr marL="1104900" marR="0" lvl="0" indent="-787400" algn="l" rtl="0">
              <a:lnSpc>
                <a:spcPct val="100000"/>
              </a:lnSpc>
              <a:spcBef>
                <a:spcPts val="230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The </a:t>
            </a:r>
            <a:r>
              <a:rPr lang="en-US" sz="3800" b="0" i="0" u="none" strike="noStrike" cap="none" baseline="0">
                <a:solidFill>
                  <a:srgbClr val="FF00FF"/>
                </a:solidFill>
                <a:latin typeface="Cabin"/>
                <a:ea typeface="Cabin"/>
                <a:cs typeface="Cabin"/>
                <a:sym typeface="Cabin"/>
              </a:rPr>
              <a:t>raw_input() </a:t>
            </a:r>
            <a:r>
              <a:rPr lang="en-US" sz="3800" b="0" i="0" u="none" strike="noStrike" cap="none" baseline="0">
                <a:solidFill>
                  <a:schemeClr val="lt1"/>
                </a:solidFill>
                <a:latin typeface="Cabin"/>
                <a:ea typeface="Cabin"/>
                <a:cs typeface="Cabin"/>
                <a:sym typeface="Cabin"/>
              </a:rPr>
              <a:t> function returns a string</a:t>
            </a:r>
          </a:p>
        </p:txBody>
      </p:sp>
      <p:sp>
        <p:nvSpPr>
          <p:cNvPr id="391" name="Shape 391"/>
          <p:cNvSpPr txBox="1"/>
          <p:nvPr/>
        </p:nvSpPr>
        <p:spPr>
          <a:xfrm>
            <a:off x="8365473" y="4330700"/>
            <a:ext cx="7460399" cy="1219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dirty="0" err="1">
                <a:solidFill>
                  <a:srgbClr val="00FF00"/>
                </a:solidFill>
                <a:latin typeface="Courier New"/>
                <a:ea typeface="Courier New"/>
                <a:cs typeface="Courier New"/>
                <a:sym typeface="Courier New"/>
              </a:rPr>
              <a:t>nam</a:t>
            </a:r>
            <a:r>
              <a:rPr lang="en-US" sz="3000" b="0" i="0" u="none" strike="noStrike" cap="none" baseline="0" dirty="0">
                <a:solidFill>
                  <a:schemeClr val="lt1"/>
                </a:solidFill>
                <a:latin typeface="Courier New"/>
                <a:ea typeface="Courier New"/>
                <a:cs typeface="Courier New"/>
                <a:sym typeface="Courier New"/>
              </a:rPr>
              <a:t> = </a:t>
            </a:r>
            <a:r>
              <a:rPr lang="en-US" sz="3000" b="0" i="0" u="none" strike="noStrike" cap="none" baseline="0" dirty="0" err="1">
                <a:solidFill>
                  <a:schemeClr val="bg1"/>
                </a:solidFill>
                <a:latin typeface="Courier New"/>
                <a:ea typeface="Courier New"/>
                <a:cs typeface="Courier New"/>
                <a:sym typeface="Courier New"/>
              </a:rPr>
              <a:t>raw_input</a:t>
            </a:r>
            <a:r>
              <a:rPr lang="en-US" sz="3000" b="0" i="0" u="none" strike="noStrike" cap="none" baseline="0" dirty="0">
                <a:solidFill>
                  <a:schemeClr val="lt1"/>
                </a:solidFill>
                <a:latin typeface="Courier New"/>
                <a:ea typeface="Courier New"/>
                <a:cs typeface="Courier New"/>
                <a:sym typeface="Courier New"/>
              </a:rPr>
              <a:t>(</a:t>
            </a:r>
            <a:r>
              <a:rPr lang="en-US" sz="3000" dirty="0">
                <a:solidFill>
                  <a:schemeClr val="lt1"/>
                </a:solidFill>
                <a:latin typeface="Courier New"/>
                <a:ea typeface="Courier New"/>
                <a:cs typeface="Courier New"/>
                <a:sym typeface="Courier New"/>
              </a:rPr>
              <a:t>'</a:t>
            </a:r>
            <a:r>
              <a:rPr lang="en-US" sz="3000" b="0" i="0" u="none" strike="noStrike" cap="none" baseline="0" dirty="0">
                <a:solidFill>
                  <a:schemeClr val="lt1"/>
                </a:solidFill>
                <a:latin typeface="Courier New"/>
                <a:ea typeface="Courier New"/>
                <a:cs typeface="Courier New"/>
                <a:sym typeface="Courier New"/>
              </a:rPr>
              <a:t>Who are you?</a:t>
            </a:r>
            <a:r>
              <a:rPr lang="en-US" sz="3000" dirty="0">
                <a:solidFill>
                  <a:schemeClr val="lt1"/>
                </a:solidFill>
                <a:latin typeface="Courier New"/>
                <a:ea typeface="Courier New"/>
                <a:cs typeface="Courier New"/>
                <a:sym typeface="Courier New"/>
              </a:rPr>
              <a:t>'</a:t>
            </a:r>
            <a:r>
              <a:rPr lang="en-US" sz="3000" b="0" i="0" u="none" strike="noStrike" cap="none" baseline="0" dirty="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dirty="0">
                <a:solidFill>
                  <a:srgbClr val="FFFF00"/>
                </a:solidFill>
                <a:latin typeface="Courier New"/>
                <a:ea typeface="Courier New"/>
                <a:cs typeface="Courier New"/>
                <a:sym typeface="Courier New"/>
              </a:rPr>
              <a:t>print</a:t>
            </a:r>
            <a:r>
              <a:rPr lang="en-US" sz="3000" b="0" i="0" u="none" strike="noStrike" cap="none" baseline="0" dirty="0">
                <a:solidFill>
                  <a:schemeClr val="lt1"/>
                </a:solidFill>
                <a:latin typeface="Courier New"/>
                <a:ea typeface="Courier New"/>
                <a:cs typeface="Courier New"/>
                <a:sym typeface="Courier New"/>
              </a:rPr>
              <a:t> 'Welcome', </a:t>
            </a:r>
            <a:r>
              <a:rPr lang="en-US" sz="3000" b="0" i="0" u="none" strike="noStrike" cap="none" baseline="0" dirty="0" err="1">
                <a:solidFill>
                  <a:srgbClr val="00FF00"/>
                </a:solidFill>
                <a:latin typeface="Courier New"/>
                <a:ea typeface="Courier New"/>
                <a:cs typeface="Courier New"/>
                <a:sym typeface="Courier New"/>
              </a:rPr>
              <a:t>nam</a:t>
            </a:r>
            <a:endParaRPr lang="en-US" sz="3000" b="0" i="0" u="none" strike="noStrike" cap="none" baseline="0" dirty="0">
              <a:solidFill>
                <a:srgbClr val="00FF00"/>
              </a:solidFill>
              <a:latin typeface="Courier New"/>
              <a:ea typeface="Courier New"/>
              <a:cs typeface="Courier New"/>
              <a:sym typeface="Courier New"/>
            </a:endParaRPr>
          </a:p>
        </p:txBody>
      </p:sp>
      <p:sp>
        <p:nvSpPr>
          <p:cNvPr id="392" name="Shape 392"/>
          <p:cNvSpPr txBox="1"/>
          <p:nvPr/>
        </p:nvSpPr>
        <p:spPr>
          <a:xfrm>
            <a:off x="9726900" y="6474225"/>
            <a:ext cx="4281599" cy="1219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Who are you? </a:t>
            </a:r>
            <a:r>
              <a:rPr lang="en-US" sz="3800" b="0" i="0" u="none" strike="noStrike" cap="none" baseline="0">
                <a:solidFill>
                  <a:srgbClr val="FFFF00"/>
                </a:solidFill>
                <a:latin typeface="Cabin"/>
                <a:ea typeface="Cabin"/>
                <a:cs typeface="Cabin"/>
                <a:sym typeface="Cabin"/>
              </a:rPr>
              <a:t>Chuck</a:t>
            </a:r>
          </a:p>
          <a:p>
            <a:pPr marL="0" marR="0" lvl="0" indent="0" algn="l"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Welcome Chuck</a:t>
            </a:r>
          </a:p>
        </p:txBody>
      </p:sp>
    </p:spTree>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Shape 397"/>
          <p:cNvSpPr txBox="1">
            <a:spLocks noGrp="1"/>
          </p:cNvSpPr>
          <p:nvPr>
            <p:ph type="title"/>
          </p:nvPr>
        </p:nvSpPr>
        <p:spPr>
          <a:xfrm>
            <a:off x="1511300" y="241300"/>
            <a:ext cx="9791700"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800" b="0" i="0" u="none" strike="noStrike" cap="none" baseline="0">
                <a:solidFill>
                  <a:srgbClr val="FF00FF"/>
                </a:solidFill>
                <a:latin typeface="Cabin"/>
                <a:ea typeface="Cabin"/>
                <a:cs typeface="Cabin"/>
                <a:sym typeface="Cabin"/>
              </a:rPr>
              <a:t>Converting User Input</a:t>
            </a:r>
          </a:p>
        </p:txBody>
      </p:sp>
      <p:sp>
        <p:nvSpPr>
          <p:cNvPr id="398" name="Shape 398"/>
          <p:cNvSpPr txBox="1">
            <a:spLocks noGrp="1"/>
          </p:cNvSpPr>
          <p:nvPr>
            <p:ph type="body" idx="1"/>
          </p:nvPr>
        </p:nvSpPr>
        <p:spPr>
          <a:xfrm>
            <a:off x="1257300" y="2489200"/>
            <a:ext cx="6400799" cy="5359499"/>
          </a:xfrm>
          <a:prstGeom prst="rect">
            <a:avLst/>
          </a:prstGeom>
          <a:noFill/>
          <a:ln>
            <a:noFill/>
          </a:ln>
        </p:spPr>
        <p:txBody>
          <a:bodyPr lIns="50800" tIns="50800" rIns="50800" bIns="50800" anchor="ctr" anchorCtr="0">
            <a:noAutofit/>
          </a:bodyPr>
          <a:lstStyle/>
          <a:p>
            <a:pPr marL="1104900" marR="0" lvl="0" indent="-787400" algn="l" rtl="0">
              <a:lnSpc>
                <a:spcPct val="100000"/>
              </a:lnSpc>
              <a:spcBef>
                <a:spcPts val="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If we want to read a number from the user, we must convert it from a string to a number using a type conversion function</a:t>
            </a:r>
          </a:p>
          <a:p>
            <a:pPr marL="1104900" marR="0" lvl="0" indent="-787400" algn="l" rtl="0">
              <a:lnSpc>
                <a:spcPct val="100000"/>
              </a:lnSpc>
              <a:spcBef>
                <a:spcPts val="230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Later we will deal with bad input data</a:t>
            </a:r>
          </a:p>
        </p:txBody>
      </p:sp>
      <p:sp>
        <p:nvSpPr>
          <p:cNvPr id="399" name="Shape 399"/>
          <p:cNvSpPr txBox="1"/>
          <p:nvPr/>
        </p:nvSpPr>
        <p:spPr>
          <a:xfrm>
            <a:off x="8862999" y="3683000"/>
            <a:ext cx="6831899" cy="1778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inp</a:t>
            </a:r>
            <a:r>
              <a:rPr lang="en-US" sz="2800" b="0" i="0" u="none" strike="noStrike" cap="none" baseline="0">
                <a:solidFill>
                  <a:schemeClr val="lt1"/>
                </a:solidFill>
                <a:latin typeface="Courier New"/>
                <a:ea typeface="Courier New"/>
                <a:cs typeface="Courier New"/>
                <a:sym typeface="Courier New"/>
              </a:rPr>
              <a:t> = </a:t>
            </a:r>
            <a:r>
              <a:rPr lang="en-US" sz="2800" b="0" i="0" u="none" strike="noStrike" cap="none" baseline="0">
                <a:solidFill>
                  <a:srgbClr val="FF00FF"/>
                </a:solidFill>
                <a:latin typeface="Courier New"/>
                <a:ea typeface="Courier New"/>
                <a:cs typeface="Courier New"/>
                <a:sym typeface="Courier New"/>
              </a:rPr>
              <a:t>raw_input</a:t>
            </a:r>
            <a:r>
              <a:rPr lang="en-US" sz="2800" b="0" i="0" u="none" strike="noStrike" cap="none" baseline="0">
                <a:solidFill>
                  <a:schemeClr val="lt1"/>
                </a:solidFill>
                <a:latin typeface="Courier New"/>
                <a:ea typeface="Courier New"/>
                <a:cs typeface="Courier New"/>
                <a:sym typeface="Courier New"/>
              </a:rPr>
              <a:t>(</a:t>
            </a:r>
            <a:r>
              <a:rPr lang="en-US" sz="2800">
                <a:solidFill>
                  <a:schemeClr val="lt1"/>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Europe floor?</a:t>
            </a:r>
            <a:r>
              <a:rPr lang="en-US" sz="2800">
                <a:solidFill>
                  <a:schemeClr val="lt1"/>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b="0" i="0" u="none" strike="noStrike" cap="none" baseline="0">
                <a:solidFill>
                  <a:srgbClr val="00FF00"/>
                </a:solidFill>
                <a:latin typeface="Courier New"/>
                <a:ea typeface="Courier New"/>
                <a:cs typeface="Courier New"/>
                <a:sym typeface="Courier New"/>
              </a:rPr>
              <a:t>usf</a:t>
            </a:r>
            <a:r>
              <a:rPr lang="en-US" sz="2800" b="0" i="0" u="none" strike="noStrike" cap="none" baseline="0">
                <a:solidFill>
                  <a:schemeClr val="lt1"/>
                </a:solidFill>
                <a:latin typeface="Courier New"/>
                <a:ea typeface="Courier New"/>
                <a:cs typeface="Courier New"/>
                <a:sym typeface="Courier New"/>
              </a:rPr>
              <a:t> = </a:t>
            </a:r>
            <a:r>
              <a:rPr lang="en-US" sz="2800" b="0" i="0" u="none" strike="noStrike" cap="none" baseline="0">
                <a:solidFill>
                  <a:srgbClr val="FF00FF"/>
                </a:solidFill>
                <a:latin typeface="Courier New"/>
                <a:ea typeface="Courier New"/>
                <a:cs typeface="Courier New"/>
                <a:sym typeface="Courier New"/>
              </a:rPr>
              <a:t>int</a:t>
            </a:r>
            <a:r>
              <a:rPr lang="en-US" sz="2800" b="0" i="0" u="none" strike="noStrike" cap="none" baseline="0">
                <a:solidFill>
                  <a:schemeClr val="lt1"/>
                </a:solidFill>
                <a:latin typeface="Courier New"/>
                <a:ea typeface="Courier New"/>
                <a:cs typeface="Courier New"/>
                <a:sym typeface="Courier New"/>
              </a:rPr>
              <a:t>(</a:t>
            </a:r>
            <a:r>
              <a:rPr lang="en-US" sz="2800" b="0" i="0" u="none" strike="noStrike" cap="none" baseline="0">
                <a:solidFill>
                  <a:srgbClr val="00FF00"/>
                </a:solidFill>
                <a:latin typeface="Courier New"/>
                <a:ea typeface="Courier New"/>
                <a:cs typeface="Courier New"/>
                <a:sym typeface="Courier New"/>
              </a:rPr>
              <a:t>inp</a:t>
            </a:r>
            <a:r>
              <a:rPr lang="en-US" sz="2800" b="0" i="0" u="none" strike="noStrike" cap="none" baseline="0">
                <a:solidFill>
                  <a:schemeClr val="lt1"/>
                </a:solidFill>
                <a:latin typeface="Courier New"/>
                <a:ea typeface="Courier New"/>
                <a:cs typeface="Courier New"/>
                <a:sym typeface="Courier New"/>
              </a:rPr>
              <a:t>) </a:t>
            </a:r>
            <a:r>
              <a:rPr lang="en-US" sz="2800" b="0" i="0" u="none" strike="noStrike" cap="none" baseline="0">
                <a:solidFill>
                  <a:srgbClr val="00FFFF"/>
                </a:solidFill>
                <a:latin typeface="Courier New"/>
                <a:ea typeface="Courier New"/>
                <a:cs typeface="Courier New"/>
                <a:sym typeface="Courier New"/>
              </a:rPr>
              <a:t>+</a:t>
            </a:r>
            <a:r>
              <a:rPr lang="en-US" sz="2800" b="0" i="0" u="none" strike="noStrike" cap="none" baseline="0">
                <a:solidFill>
                  <a:schemeClr val="lt1"/>
                </a:solidFill>
                <a:latin typeface="Courier New"/>
                <a:ea typeface="Courier New"/>
                <a:cs typeface="Courier New"/>
                <a:sym typeface="Courier New"/>
              </a:rPr>
              <a:t> 1</a:t>
            </a:r>
          </a:p>
          <a:p>
            <a:pPr marL="0" marR="0" lvl="0" indent="0" algn="l" rtl="0">
              <a:lnSpc>
                <a:spcPct val="100000"/>
              </a:lnSpc>
              <a:spcBef>
                <a:spcPts val="0"/>
              </a:spcBef>
              <a:spcAft>
                <a:spcPts val="0"/>
              </a:spcAft>
              <a:buClr>
                <a:srgbClr val="FFFF00"/>
              </a:buClr>
              <a:buSzPct val="25000"/>
              <a:buFont typeface="Cabin"/>
              <a:buNone/>
            </a:pPr>
            <a:r>
              <a:rPr lang="en-US" sz="2800" b="0" i="0" u="none" strike="noStrike" cap="none" baseline="0">
                <a:solidFill>
                  <a:srgbClr val="FFFF00"/>
                </a:solidFill>
                <a:latin typeface="Courier New"/>
                <a:ea typeface="Courier New"/>
                <a:cs typeface="Courier New"/>
                <a:sym typeface="Courier New"/>
              </a:rPr>
              <a:t>print</a:t>
            </a:r>
            <a:r>
              <a:rPr lang="en-US" sz="2800" b="0" i="0" u="none" strike="noStrike" cap="none" baseline="0">
                <a:solidFill>
                  <a:schemeClr val="lt1"/>
                </a:solidFill>
                <a:latin typeface="Courier New"/>
                <a:ea typeface="Courier New"/>
                <a:cs typeface="Courier New"/>
                <a:sym typeface="Courier New"/>
              </a:rPr>
              <a:t> 'US floor', </a:t>
            </a:r>
            <a:r>
              <a:rPr lang="en-US" sz="2800" b="0" i="0" u="none" strike="noStrike" cap="none" baseline="0">
                <a:solidFill>
                  <a:srgbClr val="00FF00"/>
                </a:solidFill>
                <a:latin typeface="Courier New"/>
                <a:ea typeface="Courier New"/>
                <a:cs typeface="Courier New"/>
                <a:sym typeface="Courier New"/>
              </a:rPr>
              <a:t>usf</a:t>
            </a:r>
          </a:p>
        </p:txBody>
      </p:sp>
      <p:sp>
        <p:nvSpPr>
          <p:cNvPr id="400" name="Shape 400"/>
          <p:cNvSpPr txBox="1"/>
          <p:nvPr/>
        </p:nvSpPr>
        <p:spPr>
          <a:xfrm>
            <a:off x="10198100" y="6515100"/>
            <a:ext cx="4569900" cy="1219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Europe floor? </a:t>
            </a:r>
            <a:r>
              <a:rPr lang="en-US" sz="3800" b="0" i="0" u="none" strike="noStrike" cap="none" baseline="0">
                <a:solidFill>
                  <a:srgbClr val="FFFF00"/>
                </a:solidFill>
                <a:latin typeface="Cabin"/>
                <a:ea typeface="Cabin"/>
                <a:cs typeface="Cabin"/>
                <a:sym typeface="Cabin"/>
              </a:rPr>
              <a:t>0</a:t>
            </a:r>
          </a:p>
          <a:p>
            <a:pPr marL="0" marR="0" lvl="0" indent="0" algn="l"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US floor 1</a:t>
            </a:r>
          </a:p>
        </p:txBody>
      </p:sp>
      <p:pic>
        <p:nvPicPr>
          <p:cNvPr id="401" name="Shape 401"/>
          <p:cNvPicPr preferRelativeResize="0"/>
          <p:nvPr/>
        </p:nvPicPr>
        <p:blipFill rotWithShape="1">
          <a:blip r:embed="rId3">
            <a:alphaModFix/>
          </a:blip>
          <a:srcRect/>
          <a:stretch/>
        </p:blipFill>
        <p:spPr>
          <a:xfrm>
            <a:off x="12153875" y="660400"/>
            <a:ext cx="3174900" cy="2121000"/>
          </a:xfrm>
          <a:prstGeom prst="rect">
            <a:avLst/>
          </a:prstGeom>
          <a:noFill/>
          <a:ln>
            <a:noFill/>
          </a:ln>
        </p:spPr>
      </p:pic>
    </p:spTree>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Shape 406"/>
          <p:cNvSpPr txBox="1">
            <a:spLocks noGrp="1"/>
          </p:cNvSpPr>
          <p:nvPr>
            <p:ph type="title"/>
          </p:nvPr>
        </p:nvSpPr>
        <p:spPr>
          <a:xfrm>
            <a:off x="1155700" y="683568"/>
            <a:ext cx="13931900" cy="30860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dirty="0">
                <a:solidFill>
                  <a:srgbClr val="FFFF00"/>
                </a:solidFill>
                <a:latin typeface="Cabin"/>
                <a:ea typeface="Cabin"/>
                <a:cs typeface="Cabin"/>
                <a:sym typeface="Cabin"/>
              </a:rPr>
              <a:t>Comments in Python</a:t>
            </a:r>
          </a:p>
        </p:txBody>
      </p:sp>
      <p:sp>
        <p:nvSpPr>
          <p:cNvPr id="407" name="Shape 407"/>
          <p:cNvSpPr txBox="1">
            <a:spLocks noGrp="1"/>
          </p:cNvSpPr>
          <p:nvPr>
            <p:ph type="body" idx="1"/>
          </p:nvPr>
        </p:nvSpPr>
        <p:spPr>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Anything after a </a:t>
            </a:r>
            <a:r>
              <a:rPr lang="en-US" sz="3600" b="0" i="0" u="none" strike="noStrike" cap="none" baseline="0" dirty="0">
                <a:solidFill>
                  <a:srgbClr val="FFFF00"/>
                </a:solidFill>
                <a:latin typeface="Cabin"/>
                <a:ea typeface="Cabin"/>
                <a:cs typeface="Cabin"/>
                <a:sym typeface="Cabin"/>
              </a:rPr>
              <a:t># </a:t>
            </a:r>
            <a:r>
              <a:rPr lang="en-US" sz="3600" b="0" i="0" u="none" strike="noStrike" cap="none" baseline="0" dirty="0">
                <a:solidFill>
                  <a:schemeClr val="lt1"/>
                </a:solidFill>
                <a:latin typeface="Cabin"/>
                <a:ea typeface="Cabin"/>
                <a:cs typeface="Cabin"/>
                <a:sym typeface="Cabin"/>
              </a:rPr>
              <a:t>is ignored by Python</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Why comment?</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dirty="0">
                <a:solidFill>
                  <a:schemeClr val="lt1"/>
                </a:solidFill>
                <a:latin typeface="Cabin"/>
                <a:ea typeface="Cabin"/>
                <a:cs typeface="Cabin"/>
                <a:sym typeface="Cabin"/>
              </a:rPr>
              <a:t>Describe what is going to happen in a sequence of code</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dirty="0">
                <a:solidFill>
                  <a:schemeClr val="lt1"/>
                </a:solidFill>
                <a:latin typeface="Cabin"/>
                <a:ea typeface="Cabin"/>
                <a:cs typeface="Cabin"/>
                <a:sym typeface="Cabin"/>
              </a:rPr>
              <a:t>Document who wrote the code or other ancillary information</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dirty="0">
                <a:solidFill>
                  <a:schemeClr val="lt1"/>
                </a:solidFill>
                <a:latin typeface="Cabin"/>
                <a:ea typeface="Cabin"/>
                <a:cs typeface="Cabin"/>
                <a:sym typeface="Cabin"/>
              </a:rPr>
              <a:t>Turn off a line of code - perhaps temporarily</a:t>
            </a:r>
          </a:p>
        </p:txBody>
      </p:sp>
    </p:spTree>
  </p:cSld>
  <p:clrMapOvr>
    <a:masterClrMapping/>
  </p:clrMapOvr>
  <p:transition spd="slow">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Shape 412"/>
          <p:cNvSpPr txBox="1"/>
          <p:nvPr/>
        </p:nvSpPr>
        <p:spPr>
          <a:xfrm>
            <a:off x="4241800" y="203200"/>
            <a:ext cx="8234400" cy="87248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400" b="0" i="0" u="none" strike="noStrike" cap="none" baseline="0">
                <a:solidFill>
                  <a:srgbClr val="FFFF00"/>
                </a:solidFill>
                <a:latin typeface="Courier New"/>
                <a:ea typeface="Courier New"/>
                <a:cs typeface="Courier New"/>
                <a:sym typeface="Courier New"/>
              </a:rPr>
              <a:t># Get the name of the file and open it</a:t>
            </a:r>
          </a:p>
          <a:p>
            <a:pPr marL="0" marR="0" lvl="0" indent="0" algn="l" rtl="0">
              <a:lnSpc>
                <a:spcPct val="100000"/>
              </a:lnSpc>
              <a:spcBef>
                <a:spcPts val="0"/>
              </a:spcBef>
              <a:spcAft>
                <a:spcPts val="0"/>
              </a:spcAft>
              <a:buClr>
                <a:schemeClr val="lt1"/>
              </a:buClr>
              <a:buSzPct val="25000"/>
              <a:buFont typeface="Cabin"/>
              <a:buNone/>
            </a:pPr>
            <a:r>
              <a:rPr lang="en-US" sz="2400" b="0" i="0" u="none" strike="noStrike" cap="none" baseline="0">
                <a:solidFill>
                  <a:schemeClr val="lt1"/>
                </a:solidFill>
                <a:latin typeface="Courier New"/>
                <a:ea typeface="Courier New"/>
                <a:cs typeface="Courier New"/>
                <a:sym typeface="Courier New"/>
              </a:rPr>
              <a:t>name = raw_input('Enter file:')</a:t>
            </a:r>
          </a:p>
          <a:p>
            <a:pPr marL="0" marR="0" lvl="0" indent="0" algn="l" rtl="0">
              <a:lnSpc>
                <a:spcPct val="100000"/>
              </a:lnSpc>
              <a:spcBef>
                <a:spcPts val="0"/>
              </a:spcBef>
              <a:spcAft>
                <a:spcPts val="0"/>
              </a:spcAft>
              <a:buClr>
                <a:schemeClr val="lt1"/>
              </a:buClr>
              <a:buSzPct val="25000"/>
              <a:buFont typeface="Cabin"/>
              <a:buNone/>
            </a:pPr>
            <a:r>
              <a:rPr lang="en-US" sz="2400" b="0" i="0" u="none" strike="noStrike" cap="none" baseline="0">
                <a:solidFill>
                  <a:schemeClr val="lt1"/>
                </a:solidFill>
                <a:latin typeface="Courier New"/>
                <a:ea typeface="Courier New"/>
                <a:cs typeface="Courier New"/>
                <a:sym typeface="Courier New"/>
              </a:rPr>
              <a:t>handle = open(name, 'r')</a:t>
            </a:r>
          </a:p>
          <a:p>
            <a:pPr marL="0" marR="0" lvl="0" indent="0" algn="l" rtl="0">
              <a:lnSpc>
                <a:spcPct val="100000"/>
              </a:lnSpc>
              <a:spcBef>
                <a:spcPts val="0"/>
              </a:spcBef>
              <a:spcAft>
                <a:spcPts val="0"/>
              </a:spcAft>
              <a:buClr>
                <a:schemeClr val="lt1"/>
              </a:buClr>
              <a:buSzPct val="25000"/>
              <a:buFont typeface="Cabin"/>
              <a:buNone/>
            </a:pPr>
            <a:r>
              <a:rPr lang="en-US" sz="2400" b="0" i="0" u="none" strike="noStrike" cap="none" baseline="0">
                <a:solidFill>
                  <a:schemeClr val="lt1"/>
                </a:solidFill>
                <a:latin typeface="Courier New"/>
                <a:ea typeface="Courier New"/>
                <a:cs typeface="Courier New"/>
                <a:sym typeface="Courier New"/>
              </a:rPr>
              <a:t>text = handle.read()</a:t>
            </a:r>
          </a:p>
          <a:p>
            <a:pPr marL="0" marR="0" lvl="0" indent="0" algn="l" rtl="0">
              <a:lnSpc>
                <a:spcPct val="100000"/>
              </a:lnSpc>
              <a:spcBef>
                <a:spcPts val="0"/>
              </a:spcBef>
              <a:spcAft>
                <a:spcPts val="0"/>
              </a:spcAft>
              <a:buClr>
                <a:schemeClr val="lt1"/>
              </a:buClr>
              <a:buSzPct val="25000"/>
              <a:buFont typeface="Cabin"/>
              <a:buNone/>
            </a:pPr>
            <a:r>
              <a:rPr lang="en-US" sz="2400" b="0" i="0" u="none" strike="noStrike" cap="none" baseline="0">
                <a:solidFill>
                  <a:schemeClr val="lt1"/>
                </a:solidFill>
                <a:latin typeface="Courier New"/>
                <a:ea typeface="Courier New"/>
                <a:cs typeface="Courier New"/>
                <a:sym typeface="Courier New"/>
              </a:rPr>
              <a:t>words = text.split()</a:t>
            </a:r>
          </a:p>
          <a:p>
            <a:pPr marL="0" marR="0" lvl="0" indent="0" algn="ctr" rtl="0">
              <a:lnSpc>
                <a:spcPct val="100000"/>
              </a:lnSpc>
              <a:spcBef>
                <a:spcPts val="0"/>
              </a:spcBef>
              <a:spcAft>
                <a:spcPts val="0"/>
              </a:spcAft>
              <a:buNone/>
            </a:pPr>
            <a:endParaRPr sz="2400" b="0" i="0" u="none" strike="noStrike" cap="none" baseline="0">
              <a:solidFill>
                <a:srgbClr val="FF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abin"/>
              <a:buNone/>
            </a:pPr>
            <a:r>
              <a:rPr lang="en-US" sz="2400" b="0" i="0" u="none" strike="noStrike" cap="none" baseline="0">
                <a:solidFill>
                  <a:srgbClr val="FFFF00"/>
                </a:solidFill>
                <a:latin typeface="Courier New"/>
                <a:ea typeface="Courier New"/>
                <a:cs typeface="Courier New"/>
                <a:sym typeface="Courier New"/>
              </a:rPr>
              <a:t># Count word frequency</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counts = dict()</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for word in words:</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   counts[word] = counts.get(word,0) + 1</a:t>
            </a:r>
          </a:p>
          <a:p>
            <a:pPr marL="0" marR="0" lvl="0" indent="0" algn="ctr" rtl="0">
              <a:lnSpc>
                <a:spcPct val="100000"/>
              </a:lnSpc>
              <a:spcBef>
                <a:spcPts val="0"/>
              </a:spcBef>
              <a:spcAft>
                <a:spcPts val="0"/>
              </a:spcAft>
              <a:buNone/>
            </a:pPr>
            <a:endParaRPr sz="2400" b="0" i="0" u="none" strike="noStrike" cap="none" baseline="0">
              <a:solidFill>
                <a:srgbClr val="FF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abin"/>
              <a:buNone/>
            </a:pPr>
            <a:r>
              <a:rPr lang="en-US" sz="2400" b="0" i="0" u="none" strike="noStrike" cap="none" baseline="0">
                <a:solidFill>
                  <a:srgbClr val="FFFF00"/>
                </a:solidFill>
                <a:latin typeface="Courier New"/>
                <a:ea typeface="Courier New"/>
                <a:cs typeface="Courier New"/>
                <a:sym typeface="Courier New"/>
              </a:rPr>
              <a:t># Find the most common word</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bigcount = None</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bigword = None</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for word,count in counts.items():</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    if bigcount is None or count &gt; bigcount:</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        bigword = word</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        bigcount = count</a:t>
            </a:r>
          </a:p>
          <a:p>
            <a:pPr marL="0" marR="0" lvl="0" indent="0" algn="ctr" rtl="0">
              <a:lnSpc>
                <a:spcPct val="100000"/>
              </a:lnSpc>
              <a:spcBef>
                <a:spcPts val="0"/>
              </a:spcBef>
              <a:spcAft>
                <a:spcPts val="0"/>
              </a:spcAft>
              <a:buNone/>
            </a:pPr>
            <a:endParaRPr sz="2400" b="0" i="0" u="none" strike="noStrike" cap="none" baseline="0">
              <a:solidFill>
                <a:srgbClr val="FF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abin"/>
              <a:buNone/>
            </a:pPr>
            <a:r>
              <a:rPr lang="en-US" sz="2400" b="0" i="0" u="none" strike="noStrike" cap="none" baseline="0">
                <a:solidFill>
                  <a:srgbClr val="FFFF00"/>
                </a:solidFill>
                <a:latin typeface="Courier New"/>
                <a:ea typeface="Courier New"/>
                <a:cs typeface="Courier New"/>
                <a:sym typeface="Courier New"/>
              </a:rPr>
              <a:t># All done</a:t>
            </a:r>
          </a:p>
          <a:p>
            <a:pPr marL="0" marR="0" lvl="0" indent="0" algn="l" rtl="0">
              <a:lnSpc>
                <a:spcPct val="100000"/>
              </a:lnSpc>
              <a:spcBef>
                <a:spcPts val="0"/>
              </a:spcBef>
              <a:spcAft>
                <a:spcPts val="0"/>
              </a:spcAft>
              <a:buClr>
                <a:srgbClr val="FFFFFF"/>
              </a:buClr>
              <a:buSzPct val="25000"/>
              <a:buFont typeface="Cabin"/>
              <a:buNone/>
            </a:pPr>
            <a:r>
              <a:rPr lang="en-US" sz="2400" b="0" i="0" u="none" strike="noStrike" cap="none" baseline="0">
                <a:solidFill>
                  <a:srgbClr val="FFFFFF"/>
                </a:solidFill>
                <a:latin typeface="Courier New"/>
                <a:ea typeface="Courier New"/>
                <a:cs typeface="Courier New"/>
                <a:sym typeface="Courier New"/>
              </a:rPr>
              <a:t>print bigword, bigcount</a:t>
            </a:r>
          </a:p>
        </p:txBody>
      </p:sp>
    </p:spTree>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Shape 417"/>
          <p:cNvSpPr txBox="1">
            <a:spLocks noGrp="1"/>
          </p:cNvSpPr>
          <p:nvPr>
            <p:ph type="title"/>
          </p:nvPr>
        </p:nvSpPr>
        <p:spPr>
          <a:xfrm>
            <a:off x="1511300" y="241300"/>
            <a:ext cx="13233399"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800" b="0" i="0" u="none" strike="noStrike" cap="none" baseline="0">
                <a:solidFill>
                  <a:srgbClr val="FFFF00"/>
                </a:solidFill>
                <a:latin typeface="Cabin"/>
                <a:ea typeface="Cabin"/>
                <a:cs typeface="Cabin"/>
                <a:sym typeface="Cabin"/>
              </a:rPr>
              <a:t>String </a:t>
            </a:r>
            <a:r>
              <a:rPr lang="en-US" sz="7800" b="0" i="0" u="none" strike="noStrike" cap="none" baseline="0">
                <a:solidFill>
                  <a:srgbClr val="00FFFF"/>
                </a:solidFill>
                <a:latin typeface="Cabin"/>
                <a:ea typeface="Cabin"/>
                <a:cs typeface="Cabin"/>
                <a:sym typeface="Cabin"/>
              </a:rPr>
              <a:t>Operations</a:t>
            </a:r>
          </a:p>
        </p:txBody>
      </p:sp>
      <p:sp>
        <p:nvSpPr>
          <p:cNvPr id="418" name="Shape 418"/>
          <p:cNvSpPr txBox="1">
            <a:spLocks noGrp="1"/>
          </p:cNvSpPr>
          <p:nvPr>
            <p:ph type="body" idx="1"/>
          </p:nvPr>
        </p:nvSpPr>
        <p:spPr>
          <a:xfrm>
            <a:off x="1511300" y="2590800"/>
            <a:ext cx="8369299" cy="5041899"/>
          </a:xfrm>
          <a:prstGeom prst="rect">
            <a:avLst/>
          </a:prstGeom>
          <a:noFill/>
          <a:ln>
            <a:noFill/>
          </a:ln>
        </p:spPr>
        <p:txBody>
          <a:bodyPr lIns="50800" tIns="50800" rIns="50800" bIns="50800" anchor="ctr" anchorCtr="0">
            <a:noAutofit/>
          </a:bodyPr>
          <a:lstStyle/>
          <a:p>
            <a:pPr marL="1104900" marR="0" lvl="0" indent="-603377"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Some </a:t>
            </a:r>
            <a:r>
              <a:rPr lang="en-US" sz="3600" b="0" i="0" u="none" strike="noStrike" cap="none" baseline="0">
                <a:solidFill>
                  <a:srgbClr val="00FFFF"/>
                </a:solidFill>
                <a:latin typeface="Cabin"/>
                <a:ea typeface="Cabin"/>
                <a:cs typeface="Cabin"/>
                <a:sym typeface="Cabin"/>
              </a:rPr>
              <a:t>operators</a:t>
            </a:r>
            <a:r>
              <a:rPr lang="en-US" sz="3600" b="0" i="0" u="none" strike="noStrike" cap="none" baseline="0">
                <a:solidFill>
                  <a:schemeClr val="lt1"/>
                </a:solidFill>
                <a:latin typeface="Cabin"/>
                <a:ea typeface="Cabin"/>
                <a:cs typeface="Cabin"/>
                <a:sym typeface="Cabin"/>
              </a:rPr>
              <a:t> apply to strings</a:t>
            </a:r>
          </a:p>
          <a:p>
            <a:pPr marL="1549400" marR="0" lvl="1" indent="-374776" algn="l" rtl="0">
              <a:lnSpc>
                <a:spcPct val="100000"/>
              </a:lnSpc>
              <a:spcBef>
                <a:spcPts val="2300"/>
              </a:spcBef>
              <a:spcAft>
                <a:spcPts val="0"/>
              </a:spcAft>
              <a:buClr>
                <a:schemeClr val="accent5"/>
              </a:buClr>
              <a:buSzPct val="100000"/>
              <a:buFont typeface="Cabin"/>
            </a:pPr>
            <a:r>
              <a:rPr lang="en-US" sz="3600" b="0" i="0" u="none" strike="noStrike" cap="none" baseline="0">
                <a:solidFill>
                  <a:srgbClr val="00FFFF"/>
                </a:solidFill>
                <a:latin typeface="Cabin"/>
                <a:ea typeface="Cabin"/>
                <a:cs typeface="Cabin"/>
                <a:sym typeface="Cabin"/>
              </a:rPr>
              <a:t>+</a:t>
            </a:r>
            <a:r>
              <a:rPr lang="en-US" sz="3600" b="0" i="0" u="none" strike="noStrike" cap="none" baseline="0">
                <a:solidFill>
                  <a:schemeClr val="accent5"/>
                </a:solidFill>
                <a:latin typeface="Cabin"/>
                <a:ea typeface="Cabin"/>
                <a:cs typeface="Cabin"/>
                <a:sym typeface="Cabin"/>
              </a:rPr>
              <a:t> implies </a:t>
            </a:r>
            <a:r>
              <a:rPr lang="en-US" sz="3600" b="0" i="0" u="none" strike="noStrike" cap="none" baseline="0">
                <a:solidFill>
                  <a:schemeClr val="accent5"/>
                </a:solidFill>
                <a:latin typeface="Arial"/>
                <a:ea typeface="Arial"/>
                <a:cs typeface="Arial"/>
                <a:sym typeface="Arial"/>
              </a:rPr>
              <a:t>“</a:t>
            </a:r>
            <a:r>
              <a:rPr lang="en-US" sz="3600" b="0" i="0" u="none" strike="noStrike" cap="none" baseline="0">
                <a:solidFill>
                  <a:schemeClr val="accent5"/>
                </a:solidFill>
                <a:latin typeface="Cabin"/>
                <a:ea typeface="Cabin"/>
                <a:cs typeface="Cabin"/>
                <a:sym typeface="Cabin"/>
              </a:rPr>
              <a:t>concatenation</a:t>
            </a:r>
            <a:r>
              <a:rPr lang="en-US" sz="3600" b="0" i="0" u="none" strike="noStrike" cap="none" baseline="0">
                <a:solidFill>
                  <a:schemeClr val="accent5"/>
                </a:solidFill>
                <a:latin typeface="Arial"/>
                <a:ea typeface="Arial"/>
                <a:cs typeface="Arial"/>
                <a:sym typeface="Arial"/>
              </a:rPr>
              <a:t>”</a:t>
            </a:r>
          </a:p>
          <a:p>
            <a:pPr marL="1549400" marR="0" lvl="1" indent="-374776" algn="l" rtl="0">
              <a:lnSpc>
                <a:spcPct val="100000"/>
              </a:lnSpc>
              <a:spcBef>
                <a:spcPts val="2300"/>
              </a:spcBef>
              <a:spcAft>
                <a:spcPts val="0"/>
              </a:spcAft>
              <a:buClr>
                <a:schemeClr val="accent5"/>
              </a:buClr>
              <a:buSzPct val="100000"/>
              <a:buFont typeface="Cabin"/>
            </a:pPr>
            <a:r>
              <a:rPr lang="en-US" sz="3600" b="0" i="0" u="none" strike="noStrike" cap="none" baseline="0">
                <a:solidFill>
                  <a:srgbClr val="00FFFF"/>
                </a:solidFill>
                <a:latin typeface="Cabin"/>
                <a:ea typeface="Cabin"/>
                <a:cs typeface="Cabin"/>
                <a:sym typeface="Cabin"/>
              </a:rPr>
              <a:t>*</a:t>
            </a:r>
            <a:r>
              <a:rPr lang="en-US" sz="3600" b="0" i="0" u="none" strike="noStrike" cap="none" baseline="0">
                <a:solidFill>
                  <a:schemeClr val="accent5"/>
                </a:solidFill>
                <a:latin typeface="Cabin"/>
                <a:ea typeface="Cabin"/>
                <a:cs typeface="Cabin"/>
                <a:sym typeface="Cabin"/>
              </a:rPr>
              <a:t> implies </a:t>
            </a:r>
            <a:r>
              <a:rPr lang="en-US" sz="3600" b="0" i="0" u="none" strike="noStrike" cap="none" baseline="0">
                <a:solidFill>
                  <a:schemeClr val="accent5"/>
                </a:solidFill>
                <a:latin typeface="Arial"/>
                <a:ea typeface="Arial"/>
                <a:cs typeface="Arial"/>
                <a:sym typeface="Arial"/>
              </a:rPr>
              <a:t>“</a:t>
            </a:r>
            <a:r>
              <a:rPr lang="en-US" sz="3600" b="0" i="0" u="none" strike="noStrike" cap="none" baseline="0">
                <a:solidFill>
                  <a:schemeClr val="accent5"/>
                </a:solidFill>
                <a:latin typeface="Cabin"/>
                <a:ea typeface="Cabin"/>
                <a:cs typeface="Cabin"/>
                <a:sym typeface="Cabin"/>
              </a:rPr>
              <a:t>multiple concatenation</a:t>
            </a:r>
            <a:r>
              <a:rPr lang="en-US" sz="3600" b="0" i="0" u="none" strike="noStrike" cap="none" baseline="0">
                <a:solidFill>
                  <a:schemeClr val="accent5"/>
                </a:solidFill>
                <a:latin typeface="Arial"/>
                <a:ea typeface="Arial"/>
                <a:cs typeface="Arial"/>
                <a:sym typeface="Arial"/>
              </a:rPr>
              <a:t>”</a:t>
            </a:r>
          </a:p>
          <a:p>
            <a:pPr marL="1104900" marR="0" lvl="0" indent="-603377" algn="l" rtl="0">
              <a:lnSpc>
                <a:spcPct val="100000"/>
              </a:lnSpc>
              <a:spcBef>
                <a:spcPts val="23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Python knows when it is dealing with a string or a number and behaves appropriately</a:t>
            </a:r>
          </a:p>
        </p:txBody>
      </p:sp>
      <p:sp>
        <p:nvSpPr>
          <p:cNvPr id="419" name="Shape 419"/>
          <p:cNvSpPr txBox="1"/>
          <p:nvPr/>
        </p:nvSpPr>
        <p:spPr>
          <a:xfrm>
            <a:off x="11077575" y="3503612"/>
            <a:ext cx="4406900" cy="2924175"/>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800">
                <a:solidFill>
                  <a:schemeClr val="lt1"/>
                </a:solidFill>
                <a:latin typeface="Cabin"/>
                <a:ea typeface="Cabin"/>
                <a:cs typeface="Cabin"/>
                <a:sym typeface="Cabin"/>
              </a:rPr>
              <a:t> </a:t>
            </a:r>
            <a:r>
              <a:rPr lang="en-US" sz="3800" b="0" i="0" u="none" strike="noStrike" cap="none" baseline="0">
                <a:solidFill>
                  <a:schemeClr val="lt1"/>
                </a:solidFill>
                <a:latin typeface="Cabin"/>
                <a:ea typeface="Cabin"/>
                <a:cs typeface="Cabin"/>
                <a:sym typeface="Cabin"/>
              </a:rPr>
              <a:t>&gt;&gt;&gt; </a:t>
            </a:r>
            <a:r>
              <a:rPr lang="en-US" sz="3800" b="0" i="0" u="none" strike="noStrike" cap="none" baseline="0">
                <a:solidFill>
                  <a:srgbClr val="FFFF00"/>
                </a:solidFill>
                <a:latin typeface="Cabin"/>
                <a:ea typeface="Cabin"/>
                <a:cs typeface="Cabin"/>
                <a:sym typeface="Cabin"/>
              </a:rPr>
              <a:t>print</a:t>
            </a:r>
            <a:r>
              <a:rPr lang="en-US" sz="3800" b="0" i="0" u="none" strike="noStrike" cap="none" baseline="0">
                <a:solidFill>
                  <a:schemeClr val="lt1"/>
                </a:solidFill>
                <a:latin typeface="Cabin"/>
                <a:ea typeface="Cabin"/>
                <a:cs typeface="Cabin"/>
                <a:sym typeface="Cabin"/>
              </a:rPr>
              <a:t> 'abc' </a:t>
            </a:r>
            <a:r>
              <a:rPr lang="en-US" sz="3800" b="0" i="0" u="none" strike="noStrike" cap="none" baseline="0">
                <a:solidFill>
                  <a:srgbClr val="00FFFF"/>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 '123’</a:t>
            </a:r>
          </a:p>
          <a:p>
            <a:pPr marL="0" marR="0" lvl="0" indent="0" algn="l" rtl="0">
              <a:lnSpc>
                <a:spcPct val="100000"/>
              </a:lnSpc>
              <a:spcBef>
                <a:spcPts val="0"/>
              </a:spcBef>
              <a:spcAft>
                <a:spcPts val="0"/>
              </a:spcAft>
              <a:buClr>
                <a:schemeClr val="lt1"/>
              </a:buClr>
              <a:buSzPct val="25000"/>
              <a:buFont typeface="Cabin"/>
              <a:buNone/>
            </a:pPr>
            <a:r>
              <a:rPr lang="en-US" sz="3800">
                <a:solidFill>
                  <a:schemeClr val="lt1"/>
                </a:solidFill>
                <a:latin typeface="Cabin"/>
                <a:ea typeface="Cabin"/>
                <a:cs typeface="Cabin"/>
                <a:sym typeface="Cabin"/>
              </a:rPr>
              <a:t> a</a:t>
            </a:r>
            <a:r>
              <a:rPr lang="en-US" sz="3800" b="0" i="0" u="none" strike="noStrike" cap="none" baseline="0">
                <a:solidFill>
                  <a:schemeClr val="lt1"/>
                </a:solidFill>
                <a:latin typeface="Cabin"/>
                <a:ea typeface="Cabin"/>
                <a:cs typeface="Cabin"/>
                <a:sym typeface="Cabin"/>
              </a:rPr>
              <a:t>bc123 </a:t>
            </a:r>
          </a:p>
          <a:p>
            <a:pPr marL="0" marR="0" lvl="0" indent="0" algn="l" rtl="0">
              <a:lnSpc>
                <a:spcPct val="100000"/>
              </a:lnSpc>
              <a:spcBef>
                <a:spcPts val="0"/>
              </a:spcBef>
              <a:spcAft>
                <a:spcPts val="0"/>
              </a:spcAft>
              <a:buClr>
                <a:schemeClr val="lt1"/>
              </a:buClr>
              <a:buSzPct val="25000"/>
              <a:buFont typeface="Cabin"/>
              <a:buNone/>
            </a:pPr>
            <a:r>
              <a:rPr lang="en-US" sz="3800">
                <a:solidFill>
                  <a:schemeClr val="lt1"/>
                </a:solidFill>
                <a:latin typeface="Cabin"/>
                <a:ea typeface="Cabin"/>
                <a:cs typeface="Cabin"/>
                <a:sym typeface="Cabin"/>
              </a:rPr>
              <a:t> &gt;</a:t>
            </a:r>
            <a:r>
              <a:rPr lang="en-US" sz="3800" b="0" i="0" u="none" strike="noStrike" cap="none" baseline="0">
                <a:solidFill>
                  <a:schemeClr val="lt1"/>
                </a:solidFill>
                <a:latin typeface="Cabin"/>
                <a:ea typeface="Cabin"/>
                <a:cs typeface="Cabin"/>
                <a:sym typeface="Cabin"/>
              </a:rPr>
              <a:t>&gt;&gt; </a:t>
            </a:r>
            <a:r>
              <a:rPr lang="en-US" sz="3800" b="0" i="0" u="none" strike="noStrike" cap="none" baseline="0">
                <a:solidFill>
                  <a:srgbClr val="FFFF00"/>
                </a:solidFill>
                <a:latin typeface="Cabin"/>
                <a:ea typeface="Cabin"/>
                <a:cs typeface="Cabin"/>
                <a:sym typeface="Cabin"/>
              </a:rPr>
              <a:t>print</a:t>
            </a:r>
            <a:r>
              <a:rPr lang="en-US" sz="3800" b="0" i="0" u="none" strike="noStrike" cap="none" baseline="0">
                <a:solidFill>
                  <a:schemeClr val="lt1"/>
                </a:solidFill>
                <a:latin typeface="Cabin"/>
                <a:ea typeface="Cabin"/>
                <a:cs typeface="Cabin"/>
                <a:sym typeface="Cabin"/>
              </a:rPr>
              <a:t> 'Hi' </a:t>
            </a:r>
            <a:r>
              <a:rPr lang="en-US" sz="3800" b="0" i="0" u="none" strike="noStrike" cap="none" baseline="0">
                <a:solidFill>
                  <a:srgbClr val="00FFFF"/>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 5</a:t>
            </a:r>
          </a:p>
          <a:p>
            <a:pPr marL="0" marR="0" lvl="0" indent="0" algn="l" rtl="0">
              <a:lnSpc>
                <a:spcPct val="100000"/>
              </a:lnSpc>
              <a:spcBef>
                <a:spcPts val="0"/>
              </a:spcBef>
              <a:spcAft>
                <a:spcPts val="0"/>
              </a:spcAft>
              <a:buClr>
                <a:schemeClr val="lt1"/>
              </a:buClr>
              <a:buSzPct val="25000"/>
              <a:buFont typeface="Cabin"/>
              <a:buNone/>
            </a:pPr>
            <a:r>
              <a:rPr lang="en-US" sz="3800">
                <a:solidFill>
                  <a:schemeClr val="lt1"/>
                </a:solidFill>
                <a:latin typeface="Cabin"/>
                <a:ea typeface="Cabin"/>
                <a:cs typeface="Cabin"/>
                <a:sym typeface="Cabin"/>
              </a:rPr>
              <a:t> </a:t>
            </a:r>
            <a:r>
              <a:rPr lang="en-US" sz="3800" b="0" i="0" u="none" strike="noStrike" cap="none" baseline="0">
                <a:solidFill>
                  <a:schemeClr val="lt1"/>
                </a:solidFill>
                <a:latin typeface="Cabin"/>
                <a:ea typeface="Cabin"/>
                <a:cs typeface="Cabin"/>
                <a:sym typeface="Cabin"/>
              </a:rPr>
              <a:t>HiHiHiHiHi</a:t>
            </a:r>
          </a:p>
          <a:p>
            <a:pPr marL="0" marR="0" lvl="0" indent="0" algn="l" rtl="0">
              <a:lnSpc>
                <a:spcPct val="100000"/>
              </a:lnSpc>
              <a:spcBef>
                <a:spcPts val="0"/>
              </a:spcBef>
              <a:spcAft>
                <a:spcPts val="0"/>
              </a:spcAft>
              <a:buClr>
                <a:schemeClr val="lt1"/>
              </a:buClr>
              <a:buSzPct val="25000"/>
              <a:buFont typeface="Cabin"/>
              <a:buNone/>
            </a:pPr>
            <a:r>
              <a:rPr lang="en-US" sz="3800">
                <a:solidFill>
                  <a:schemeClr val="lt1"/>
                </a:solidFill>
                <a:latin typeface="Cabin"/>
                <a:ea typeface="Cabin"/>
                <a:cs typeface="Cabin"/>
                <a:sym typeface="Cabin"/>
              </a:rPr>
              <a:t> </a:t>
            </a:r>
            <a:r>
              <a:rPr lang="en-US" sz="3800" b="0" i="0" u="none" strike="noStrike" cap="none" baseline="0">
                <a:solidFill>
                  <a:schemeClr val="lt1"/>
                </a:solidFill>
                <a:latin typeface="Cabin"/>
                <a:ea typeface="Cabin"/>
                <a:cs typeface="Cabin"/>
                <a:sym typeface="Cabin"/>
              </a:rPr>
              <a:t>&gt;&gt;&gt; </a:t>
            </a:r>
          </a:p>
        </p:txBody>
      </p:sp>
    </p:spTree>
  </p:cSld>
  <p:clrMapOvr>
    <a:masterClrMapping/>
  </p:clrMapOvr>
  <p:transition spd="slow">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Shape 424"/>
          <p:cNvSpPr txBox="1">
            <a:spLocks noGrp="1"/>
          </p:cNvSpPr>
          <p:nvPr>
            <p:ph type="title"/>
          </p:nvPr>
        </p:nvSpPr>
        <p:spPr>
          <a:xfrm>
            <a:off x="1511300" y="241300"/>
            <a:ext cx="13233399"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800" b="0" i="0" u="none" strike="noStrike" cap="none" baseline="0">
                <a:solidFill>
                  <a:srgbClr val="00FF00"/>
                </a:solidFill>
                <a:latin typeface="Cabin"/>
                <a:ea typeface="Cabin"/>
                <a:cs typeface="Cabin"/>
                <a:sym typeface="Cabin"/>
              </a:rPr>
              <a:t>Mnemonic Variable Names</a:t>
            </a:r>
          </a:p>
        </p:txBody>
      </p:sp>
      <p:sp>
        <p:nvSpPr>
          <p:cNvPr id="425" name="Shape 425"/>
          <p:cNvSpPr txBox="1">
            <a:spLocks noGrp="1"/>
          </p:cNvSpPr>
          <p:nvPr>
            <p:ph type="body" idx="1"/>
          </p:nvPr>
        </p:nvSpPr>
        <p:spPr>
          <a:xfrm>
            <a:off x="1204875" y="2514600"/>
            <a:ext cx="13539899" cy="5359499"/>
          </a:xfrm>
          <a:prstGeom prst="rect">
            <a:avLst/>
          </a:prstGeom>
          <a:noFill/>
          <a:ln>
            <a:noFill/>
          </a:ln>
        </p:spPr>
        <p:txBody>
          <a:bodyPr lIns="50800" tIns="50800" rIns="50800" bIns="50800" anchor="ctr" anchorCtr="0">
            <a:noAutofit/>
          </a:bodyPr>
          <a:lstStyle/>
          <a:p>
            <a:pPr marL="1104900" marR="0" lvl="0" indent="-603377" algn="l" rtl="0">
              <a:lnSpc>
                <a:spcPct val="100000"/>
              </a:lnSpc>
              <a:spcBef>
                <a:spcPts val="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Since we programmers are given a choice in how we choose our variable names, there is a bit of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best practice</a:t>
            </a:r>
            <a:r>
              <a:rPr lang="en-US" sz="3600" b="0" i="0" u="none" strike="noStrike" cap="none" baseline="0" dirty="0">
                <a:solidFill>
                  <a:schemeClr val="lt1"/>
                </a:solidFill>
                <a:latin typeface="Arial"/>
                <a:ea typeface="Arial"/>
                <a:cs typeface="Arial"/>
                <a:sym typeface="Arial"/>
              </a:rPr>
              <a:t>”</a:t>
            </a:r>
          </a:p>
          <a:p>
            <a:pPr marL="1104900" marR="0" lvl="0" indent="-603377" algn="l" rtl="0">
              <a:lnSpc>
                <a:spcPct val="100000"/>
              </a:lnSpc>
              <a:spcBef>
                <a:spcPts val="23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We name variables to help us remember what we intend to store in them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rgbClr val="00FF00"/>
                </a:solidFill>
                <a:latin typeface="Cabin"/>
                <a:ea typeface="Cabin"/>
                <a:cs typeface="Cabin"/>
                <a:sym typeface="Cabin"/>
              </a:rPr>
              <a:t>mnemonic</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 =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memory aid</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a:t>
            </a:r>
          </a:p>
          <a:p>
            <a:pPr marL="1104900" marR="0" lvl="0" indent="-603377" algn="l" rtl="0">
              <a:lnSpc>
                <a:spcPct val="100000"/>
              </a:lnSpc>
              <a:spcBef>
                <a:spcPts val="23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This can confuse beginning students because well</a:t>
            </a:r>
            <a:r>
              <a:rPr lang="en-US" sz="3600" dirty="0">
                <a:solidFill>
                  <a:schemeClr val="lt1"/>
                </a:solidFill>
                <a:latin typeface="Cabin"/>
                <a:ea typeface="Cabin"/>
                <a:cs typeface="Cabin"/>
                <a:sym typeface="Cabin"/>
              </a:rPr>
              <a:t>-</a:t>
            </a:r>
            <a:r>
              <a:rPr lang="en-US" sz="3600" b="0" i="0" u="none" strike="noStrike" cap="none" baseline="0" dirty="0">
                <a:solidFill>
                  <a:schemeClr val="lt1"/>
                </a:solidFill>
                <a:latin typeface="Cabin"/>
                <a:ea typeface="Cabin"/>
                <a:cs typeface="Cabin"/>
                <a:sym typeface="Cabin"/>
              </a:rPr>
              <a:t>named variables often </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sound</a:t>
            </a:r>
            <a:r>
              <a:rPr lang="en-US" sz="3600" b="0" i="0" u="none" strike="noStrike" cap="none" baseline="0" dirty="0">
                <a:solidFill>
                  <a:schemeClr val="lt1"/>
                </a:solidFill>
                <a:latin typeface="Arial"/>
                <a:ea typeface="Arial"/>
                <a:cs typeface="Arial"/>
                <a:sym typeface="Arial"/>
              </a:rPr>
              <a:t>”</a:t>
            </a:r>
            <a:r>
              <a:rPr lang="en-US" sz="3600" b="0" i="0" u="none" strike="noStrike" cap="none" baseline="0" dirty="0">
                <a:solidFill>
                  <a:schemeClr val="lt1"/>
                </a:solidFill>
                <a:latin typeface="Cabin"/>
                <a:ea typeface="Cabin"/>
                <a:cs typeface="Cabin"/>
                <a:sym typeface="Cabin"/>
              </a:rPr>
              <a:t> so good that they must be keywords</a:t>
            </a:r>
          </a:p>
        </p:txBody>
      </p:sp>
    </p:spTree>
  </p:cSld>
  <p:clrMapOvr>
    <a:masterClrMapping/>
  </p:clrMapOvr>
  <p:transition spd="slow">
    <p:cu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Shape 431"/>
          <p:cNvSpPr txBox="1"/>
          <p:nvPr/>
        </p:nvSpPr>
        <p:spPr>
          <a:xfrm>
            <a:off x="1208073" y="1676400"/>
            <a:ext cx="8341499" cy="2336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x1q3z9ocd = 35.0 </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x1q3z9afd = 12.50</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x1q3p9afd = x1q3z9ocd * x1q3z9afd</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ourier New"/>
                <a:ea typeface="Courier New"/>
                <a:cs typeface="Courier New"/>
                <a:sym typeface="Courier New"/>
              </a:rPr>
              <a:t>print x1q3p9afd</a:t>
            </a:r>
          </a:p>
        </p:txBody>
      </p:sp>
      <p:sp>
        <p:nvSpPr>
          <p:cNvPr id="432" name="Shape 432"/>
          <p:cNvSpPr txBox="1"/>
          <p:nvPr/>
        </p:nvSpPr>
        <p:spPr>
          <a:xfrm>
            <a:off x="7137400" y="5499100"/>
            <a:ext cx="5208599" cy="2336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ourier New"/>
                <a:ea typeface="Courier New"/>
                <a:cs typeface="Courier New"/>
                <a:sym typeface="Courier New"/>
              </a:rPr>
              <a:t>hours = 35.0 </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ourier New"/>
                <a:ea typeface="Courier New"/>
                <a:cs typeface="Courier New"/>
                <a:sym typeface="Courier New"/>
              </a:rPr>
              <a:t>rate = 12.50 </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ourier New"/>
                <a:ea typeface="Courier New"/>
                <a:cs typeface="Courier New"/>
                <a:sym typeface="Courier New"/>
              </a:rPr>
              <a:t>pay = hours * rate </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ourier New"/>
                <a:ea typeface="Courier New"/>
                <a:cs typeface="Courier New"/>
                <a:sym typeface="Courier New"/>
              </a:rPr>
              <a:t>print pay</a:t>
            </a:r>
          </a:p>
        </p:txBody>
      </p:sp>
      <p:sp>
        <p:nvSpPr>
          <p:cNvPr id="433" name="Shape 433"/>
          <p:cNvSpPr txBox="1"/>
          <p:nvPr/>
        </p:nvSpPr>
        <p:spPr>
          <a:xfrm>
            <a:off x="11531600" y="1676400"/>
            <a:ext cx="2109786" cy="23368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b="0" i="0" u="none" strike="noStrike" cap="none" baseline="0">
                <a:solidFill>
                  <a:srgbClr val="FF00FF"/>
                </a:solidFill>
                <a:latin typeface="Courier New"/>
                <a:ea typeface="Courier New"/>
                <a:cs typeface="Courier New"/>
                <a:sym typeface="Courier New"/>
              </a:rPr>
              <a:t>a = 35.0 </a:t>
            </a:r>
          </a:p>
          <a:p>
            <a:pPr marL="0" marR="0" lvl="0" indent="0" algn="l" rtl="0">
              <a:lnSpc>
                <a:spcPct val="100000"/>
              </a:lnSpc>
              <a:spcBef>
                <a:spcPts val="0"/>
              </a:spcBef>
              <a:spcAft>
                <a:spcPts val="0"/>
              </a:spcAft>
              <a:buClr>
                <a:srgbClr val="FF00FF"/>
              </a:buClr>
              <a:buSzPct val="25000"/>
              <a:buFont typeface="Cabin"/>
              <a:buNone/>
            </a:pPr>
            <a:r>
              <a:rPr lang="en-US" sz="3000" b="0" i="0" u="none" strike="noStrike" cap="none" baseline="0">
                <a:solidFill>
                  <a:srgbClr val="FF00FF"/>
                </a:solidFill>
                <a:latin typeface="Courier New"/>
                <a:ea typeface="Courier New"/>
                <a:cs typeface="Courier New"/>
                <a:sym typeface="Courier New"/>
              </a:rPr>
              <a:t>b = 12.50 </a:t>
            </a:r>
          </a:p>
          <a:p>
            <a:pPr marL="0" marR="0" lvl="0" indent="0" algn="l" rtl="0">
              <a:lnSpc>
                <a:spcPct val="100000"/>
              </a:lnSpc>
              <a:spcBef>
                <a:spcPts val="0"/>
              </a:spcBef>
              <a:spcAft>
                <a:spcPts val="0"/>
              </a:spcAft>
              <a:buClr>
                <a:srgbClr val="FF00FF"/>
              </a:buClr>
              <a:buSzPct val="25000"/>
              <a:buFont typeface="Cabin"/>
              <a:buNone/>
            </a:pPr>
            <a:r>
              <a:rPr lang="en-US" sz="3000" b="0" i="0" u="none" strike="noStrike" cap="none" baseline="0">
                <a:solidFill>
                  <a:srgbClr val="FF00FF"/>
                </a:solidFill>
                <a:latin typeface="Courier New"/>
                <a:ea typeface="Courier New"/>
                <a:cs typeface="Courier New"/>
                <a:sym typeface="Courier New"/>
              </a:rPr>
              <a:t>c = a * b </a:t>
            </a:r>
          </a:p>
          <a:p>
            <a:pPr marL="0" marR="0" lvl="0" indent="0" algn="l" rtl="0">
              <a:lnSpc>
                <a:spcPct val="100000"/>
              </a:lnSpc>
              <a:spcBef>
                <a:spcPts val="0"/>
              </a:spcBef>
              <a:spcAft>
                <a:spcPts val="0"/>
              </a:spcAft>
              <a:buClr>
                <a:srgbClr val="FF00FF"/>
              </a:buClr>
              <a:buSzPct val="25000"/>
              <a:buFont typeface="Cabin"/>
              <a:buNone/>
            </a:pPr>
            <a:r>
              <a:rPr lang="en-US" sz="3000" b="0" i="0" u="none" strike="noStrike" cap="none" baseline="0">
                <a:solidFill>
                  <a:srgbClr val="FF00FF"/>
                </a:solidFill>
                <a:latin typeface="Courier New"/>
                <a:ea typeface="Courier New"/>
                <a:cs typeface="Courier New"/>
                <a:sym typeface="Courier New"/>
              </a:rPr>
              <a:t>print c</a:t>
            </a:r>
          </a:p>
        </p:txBody>
      </p:sp>
      <p:sp>
        <p:nvSpPr>
          <p:cNvPr id="434" name="Shape 434"/>
          <p:cNvSpPr txBox="1"/>
          <p:nvPr/>
        </p:nvSpPr>
        <p:spPr>
          <a:xfrm>
            <a:off x="1536700" y="6057900"/>
            <a:ext cx="3860400" cy="1219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800" b="0" i="0" u="none" strike="noStrike" cap="none" baseline="0">
                <a:solidFill>
                  <a:schemeClr val="lt1"/>
                </a:solidFill>
                <a:latin typeface="Cabin"/>
                <a:ea typeface="Cabin"/>
                <a:cs typeface="Cabin"/>
                <a:sym typeface="Cabin"/>
              </a:rPr>
              <a:t>What </a:t>
            </a:r>
            <a:r>
              <a:rPr lang="en-US" sz="3800">
                <a:solidFill>
                  <a:schemeClr val="lt1"/>
                </a:solidFill>
                <a:latin typeface="Cabin"/>
                <a:ea typeface="Cabin"/>
                <a:cs typeface="Cabin"/>
                <a:sym typeface="Cabin"/>
              </a:rPr>
              <a:t>are these bits of </a:t>
            </a:r>
            <a:r>
              <a:rPr lang="en-US" sz="3800" b="0" i="0" u="none" strike="noStrike" cap="none" baseline="0">
                <a:solidFill>
                  <a:schemeClr val="lt1"/>
                </a:solidFill>
                <a:latin typeface="Cabin"/>
                <a:ea typeface="Cabin"/>
                <a:cs typeface="Cabin"/>
                <a:sym typeface="Cabin"/>
              </a:rPr>
              <a:t>code doing?</a:t>
            </a:r>
          </a:p>
        </p:txBody>
      </p:sp>
    </p:spTree>
  </p:cSld>
  <p:clrMapOvr>
    <a:masterClrMapping/>
  </p:clrMapOvr>
  <p:transition spd="slow">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Shape 439"/>
          <p:cNvSpPr txBox="1"/>
          <p:nvPr/>
        </p:nvSpPr>
        <p:spPr>
          <a:xfrm>
            <a:off x="673100" y="571500"/>
            <a:ext cx="17270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Exercise</a:t>
            </a:r>
          </a:p>
        </p:txBody>
      </p:sp>
      <p:sp>
        <p:nvSpPr>
          <p:cNvPr id="440" name="Shape 440"/>
          <p:cNvSpPr txBox="1"/>
          <p:nvPr/>
        </p:nvSpPr>
        <p:spPr>
          <a:xfrm>
            <a:off x="2908300" y="2413000"/>
            <a:ext cx="10706100" cy="3454499"/>
          </a:xfrm>
          <a:prstGeom prst="rect">
            <a:avLst/>
          </a:prstGeom>
          <a:noFill/>
          <a:ln>
            <a:noFill/>
          </a:ln>
        </p:spPr>
        <p:txBody>
          <a:bodyPr lIns="0" tIns="0" rIns="0" bIns="0" anchor="ctr" anchorCtr="0">
            <a:noAutofit/>
          </a:bodyPr>
          <a:lstStyle/>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Write a program to prompt the user for hours and rate per hour to compute gross pay.</a:t>
            </a:r>
            <a:br>
              <a:rPr lang="en-US" sz="3800" b="0" i="0" u="none" strike="noStrike" cap="none" baseline="0" dirty="0">
                <a:solidFill>
                  <a:schemeClr val="lt1"/>
                </a:solidFill>
                <a:latin typeface="Cabin"/>
                <a:ea typeface="Cabin"/>
                <a:cs typeface="Cabin"/>
                <a:sym typeface="Cabin"/>
              </a:rPr>
            </a:br>
            <a:endParaRPr lang="en-US" sz="3800" b="0" i="0" u="none" strike="noStrike" cap="none" baseline="0" dirty="0">
              <a:solidFill>
                <a:schemeClr val="lt1"/>
              </a:solidFill>
              <a:latin typeface="Cabin"/>
              <a:ea typeface="Cabin"/>
              <a:cs typeface="Cabin"/>
              <a:sym typeface="Cabin"/>
            </a:endParaRP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Enter Hours: </a:t>
            </a:r>
            <a:r>
              <a:rPr lang="en-US" sz="3800" b="0" i="0" u="none" strike="noStrike" cap="none" baseline="0" dirty="0">
                <a:solidFill>
                  <a:srgbClr val="FFFF00"/>
                </a:solidFill>
                <a:latin typeface="Cabin"/>
                <a:ea typeface="Cabin"/>
                <a:cs typeface="Cabin"/>
                <a:sym typeface="Cabin"/>
              </a:rPr>
              <a:t>35</a:t>
            </a:r>
            <a:r>
              <a:rPr lang="en-US" sz="3800" b="0" i="0" u="none" strike="noStrike" cap="none" baseline="0" dirty="0">
                <a:solidFill>
                  <a:schemeClr val="lt1"/>
                </a:solidFill>
                <a:latin typeface="Cabin"/>
                <a:ea typeface="Cabin"/>
                <a:cs typeface="Cabin"/>
                <a:sym typeface="Cabin"/>
              </a:rPr>
              <a:t> </a:t>
            </a: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Enter Rate: </a:t>
            </a:r>
            <a:r>
              <a:rPr lang="en-US" sz="3800" b="0" i="0" u="none" strike="noStrike" cap="none" baseline="0" dirty="0">
                <a:solidFill>
                  <a:srgbClr val="FFFF00"/>
                </a:solidFill>
                <a:latin typeface="Cabin"/>
                <a:ea typeface="Cabin"/>
                <a:cs typeface="Cabin"/>
                <a:sym typeface="Cabin"/>
              </a:rPr>
              <a:t>2.75 </a:t>
            </a: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Pay: 96.25</a:t>
            </a:r>
          </a:p>
        </p:txBody>
      </p:sp>
    </p:spTree>
  </p:cSld>
  <p:clrMapOvr>
    <a:masterClrMapping/>
  </p:clrMapOvr>
  <p:transition spd="slow">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40"/>
          <p:cNvSpPr txBox="1"/>
          <p:nvPr/>
        </p:nvSpPr>
        <p:spPr>
          <a:xfrm>
            <a:off x="2908300" y="2413000"/>
            <a:ext cx="10706100" cy="3454499"/>
          </a:xfrm>
          <a:prstGeom prst="rect">
            <a:avLst/>
          </a:prstGeom>
          <a:noFill/>
          <a:ln>
            <a:noFill/>
          </a:ln>
        </p:spPr>
        <p:txBody>
          <a:bodyPr lIns="0" tIns="0" rIns="0" bIns="0" anchor="ctr" anchorCtr="0">
            <a:noAutofit/>
          </a:bodyPr>
          <a:lstStyle/>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Write a program to </a:t>
            </a:r>
            <a:r>
              <a:rPr lang="en-US" sz="3800" dirty="0" smtClean="0">
                <a:solidFill>
                  <a:schemeClr val="lt1"/>
                </a:solidFill>
                <a:latin typeface="Cabin"/>
                <a:ea typeface="Cabin"/>
                <a:cs typeface="Cabin"/>
                <a:sym typeface="Cabin"/>
              </a:rPr>
              <a:t>find out the Area of right angled triangle?</a:t>
            </a:r>
            <a:r>
              <a:rPr lang="en-US" sz="3800" b="0" i="0" u="none" strike="noStrike" cap="none" baseline="0" dirty="0" smtClean="0">
                <a:solidFill>
                  <a:schemeClr val="lt1"/>
                </a:solidFill>
                <a:latin typeface="Cabin"/>
                <a:ea typeface="Cabin"/>
                <a:cs typeface="Cabin"/>
                <a:sym typeface="Cabin"/>
              </a:rPr>
              <a:t>.</a:t>
            </a:r>
            <a:r>
              <a:rPr lang="en-US" sz="3800" b="0" i="0" u="none" strike="noStrike" cap="none" baseline="0" dirty="0">
                <a:solidFill>
                  <a:schemeClr val="lt1"/>
                </a:solidFill>
                <a:latin typeface="Cabin"/>
                <a:ea typeface="Cabin"/>
                <a:cs typeface="Cabin"/>
                <a:sym typeface="Cabin"/>
              </a:rPr>
              <a:t/>
            </a:r>
            <a:br>
              <a:rPr lang="en-US" sz="3800" b="0" i="0" u="none" strike="noStrike" cap="none" baseline="0" dirty="0">
                <a:solidFill>
                  <a:schemeClr val="lt1"/>
                </a:solidFill>
                <a:latin typeface="Cabin"/>
                <a:ea typeface="Cabin"/>
                <a:cs typeface="Cabin"/>
                <a:sym typeface="Cabin"/>
              </a:rPr>
            </a:br>
            <a:endParaRPr lang="en-US" sz="3800" b="0" i="0" u="none" strike="noStrike" cap="none" baseline="0" dirty="0">
              <a:solidFill>
                <a:schemeClr val="lt1"/>
              </a:solidFill>
              <a:latin typeface="Cabin"/>
              <a:ea typeface="Cabin"/>
              <a:cs typeface="Cabin"/>
              <a:sym typeface="Cabin"/>
            </a:endParaRPr>
          </a:p>
          <a:p>
            <a:pPr marL="457200" marR="0" lvl="0" indent="0" algn="l" rtl="0">
              <a:lnSpc>
                <a:spcPct val="100000"/>
              </a:lnSpc>
              <a:spcBef>
                <a:spcPts val="0"/>
              </a:spcBef>
              <a:spcAft>
                <a:spcPts val="0"/>
              </a:spcAft>
              <a:buClr>
                <a:schemeClr val="lt1"/>
              </a:buClr>
              <a:buSzPct val="25000"/>
              <a:buFont typeface="Cabin"/>
              <a:buNone/>
            </a:pPr>
            <a:r>
              <a:rPr lang="en-US" sz="3800" dirty="0" smtClean="0">
                <a:solidFill>
                  <a:schemeClr val="lt1"/>
                </a:solidFill>
                <a:latin typeface="Cabin"/>
                <a:ea typeface="Cabin"/>
                <a:cs typeface="Cabin"/>
                <a:sym typeface="Cabin"/>
              </a:rPr>
              <a:t>Enter base ?</a:t>
            </a: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smtClean="0">
                <a:solidFill>
                  <a:schemeClr val="lt1"/>
                </a:solidFill>
                <a:latin typeface="Cabin"/>
                <a:ea typeface="Cabin"/>
                <a:cs typeface="Cabin"/>
                <a:sym typeface="Cabin"/>
              </a:rPr>
              <a:t>10.5 </a:t>
            </a:r>
            <a:endParaRPr lang="en-US" sz="3800" b="0" i="0" u="none" strike="noStrike" cap="none" baseline="0" dirty="0">
              <a:solidFill>
                <a:schemeClr val="lt1"/>
              </a:solidFill>
              <a:latin typeface="Cabin"/>
              <a:ea typeface="Cabin"/>
              <a:cs typeface="Cabin"/>
              <a:sym typeface="Cabin"/>
            </a:endParaRP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Enter </a:t>
            </a:r>
            <a:r>
              <a:rPr lang="en-US" sz="3800" dirty="0" smtClean="0">
                <a:solidFill>
                  <a:schemeClr val="lt1"/>
                </a:solidFill>
                <a:latin typeface="Cabin"/>
                <a:ea typeface="Cabin"/>
                <a:cs typeface="Cabin"/>
                <a:sym typeface="Cabin"/>
              </a:rPr>
              <a:t>Height</a:t>
            </a:r>
            <a:r>
              <a:rPr lang="en-US" sz="3800" b="0" i="0" u="none" strike="noStrike" cap="none" baseline="0" dirty="0" smtClean="0">
                <a:solidFill>
                  <a:schemeClr val="lt1"/>
                </a:solidFill>
                <a:latin typeface="Cabin"/>
                <a:ea typeface="Cabin"/>
                <a:cs typeface="Cabin"/>
                <a:sym typeface="Cabin"/>
              </a:rPr>
              <a:t>: </a:t>
            </a:r>
            <a:r>
              <a:rPr lang="en-US" sz="3800" b="0" i="0" u="none" strike="noStrike" cap="none" baseline="0" dirty="0" smtClean="0">
                <a:solidFill>
                  <a:srgbClr val="FFFF00"/>
                </a:solidFill>
                <a:latin typeface="Cabin"/>
                <a:ea typeface="Cabin"/>
                <a:cs typeface="Cabin"/>
                <a:sym typeface="Cabin"/>
              </a:rPr>
              <a:t> </a:t>
            </a:r>
            <a:endParaRPr lang="en-US" sz="3800" b="0" i="0" u="none" strike="noStrike" cap="none" baseline="0" dirty="0">
              <a:solidFill>
                <a:srgbClr val="FFFF00"/>
              </a:solidFill>
              <a:latin typeface="Cabin"/>
              <a:ea typeface="Cabin"/>
              <a:cs typeface="Cabin"/>
              <a:sym typeface="Cabin"/>
            </a:endParaRPr>
          </a:p>
          <a:p>
            <a:pPr marL="457200" marR="0" lvl="0" indent="0" algn="l" rtl="0">
              <a:lnSpc>
                <a:spcPct val="100000"/>
              </a:lnSpc>
              <a:spcBef>
                <a:spcPts val="0"/>
              </a:spcBef>
              <a:spcAft>
                <a:spcPts val="0"/>
              </a:spcAft>
              <a:buClr>
                <a:schemeClr val="lt1"/>
              </a:buClr>
              <a:buSzPct val="25000"/>
              <a:buFont typeface="Cabin"/>
              <a:buNone/>
            </a:pPr>
            <a:r>
              <a:rPr lang="en-US" sz="3800" dirty="0" smtClean="0">
                <a:solidFill>
                  <a:schemeClr val="lt1"/>
                </a:solidFill>
                <a:latin typeface="Cabin"/>
                <a:ea typeface="Cabin"/>
                <a:cs typeface="Cabin"/>
                <a:sym typeface="Cabin"/>
              </a:rPr>
              <a:t>45</a:t>
            </a:r>
          </a:p>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smtClean="0">
                <a:solidFill>
                  <a:schemeClr val="lt1"/>
                </a:solidFill>
                <a:latin typeface="Cabin"/>
                <a:ea typeface="Cabin"/>
                <a:cs typeface="Cabin"/>
                <a:sym typeface="Cabin"/>
              </a:rPr>
              <a:t>Are</a:t>
            </a:r>
            <a:r>
              <a:rPr lang="en-US" sz="3800" dirty="0" smtClean="0">
                <a:solidFill>
                  <a:schemeClr val="lt1"/>
                </a:solidFill>
                <a:latin typeface="Cabin"/>
                <a:ea typeface="Cabin"/>
                <a:cs typeface="Cabin"/>
                <a:sym typeface="Cabin"/>
              </a:rPr>
              <a:t>a of Right angled triangle is _____</a:t>
            </a:r>
            <a:endParaRPr lang="en-US" sz="3800" b="0" i="0" u="none" strike="noStrike" cap="none" baseline="0" dirty="0">
              <a:solidFill>
                <a:schemeClr val="lt1"/>
              </a:solidFill>
              <a:latin typeface="Cabin"/>
              <a:ea typeface="Cabin"/>
              <a:cs typeface="Cabin"/>
              <a:sym typeface="Cabin"/>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40"/>
          <p:cNvSpPr txBox="1"/>
          <p:nvPr/>
        </p:nvSpPr>
        <p:spPr>
          <a:xfrm>
            <a:off x="2908300" y="2413000"/>
            <a:ext cx="10706100" cy="3454499"/>
          </a:xfrm>
          <a:prstGeom prst="rect">
            <a:avLst/>
          </a:prstGeom>
          <a:noFill/>
          <a:ln>
            <a:noFill/>
          </a:ln>
        </p:spPr>
        <p:txBody>
          <a:bodyPr lIns="0" tIns="0" rIns="0" bIns="0" anchor="ctr" anchorCtr="0">
            <a:noAutofit/>
          </a:bodyPr>
          <a:lstStyle/>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a:solidFill>
                  <a:schemeClr val="lt1"/>
                </a:solidFill>
                <a:latin typeface="Cabin"/>
                <a:ea typeface="Cabin"/>
                <a:cs typeface="Cabin"/>
                <a:sym typeface="Cabin"/>
              </a:rPr>
              <a:t>Write a program to </a:t>
            </a:r>
            <a:r>
              <a:rPr lang="en-US" sz="3800" dirty="0" smtClean="0">
                <a:solidFill>
                  <a:schemeClr val="lt1"/>
                </a:solidFill>
                <a:latin typeface="Cabin"/>
                <a:ea typeface="Cabin"/>
                <a:cs typeface="Cabin"/>
                <a:sym typeface="Cabin"/>
              </a:rPr>
              <a:t>find out the Circumference, Area and perimeter of Circle?</a:t>
            </a:r>
            <a:r>
              <a:rPr lang="en-US" sz="3800" b="0" i="0" u="none" strike="noStrike" cap="none" baseline="0" dirty="0">
                <a:solidFill>
                  <a:schemeClr val="lt1"/>
                </a:solidFill>
                <a:latin typeface="Cabin"/>
                <a:ea typeface="Cabin"/>
                <a:cs typeface="Cabin"/>
                <a:sym typeface="Cabin"/>
              </a:rPr>
              <a:t/>
            </a:r>
            <a:br>
              <a:rPr lang="en-US" sz="3800" b="0" i="0" u="none" strike="noStrike" cap="none" baseline="0" dirty="0">
                <a:solidFill>
                  <a:schemeClr val="lt1"/>
                </a:solidFill>
                <a:latin typeface="Cabin"/>
                <a:ea typeface="Cabin"/>
                <a:cs typeface="Cabin"/>
                <a:sym typeface="Cabin"/>
              </a:rPr>
            </a:br>
            <a:endParaRPr lang="en-US" sz="3800" b="0" i="0" u="none" strike="noStrike" cap="none" baseline="0" dirty="0">
              <a:solidFill>
                <a:schemeClr val="lt1"/>
              </a:solidFill>
              <a:latin typeface="Cabin"/>
              <a:ea typeface="Cabin"/>
              <a:cs typeface="Cabin"/>
              <a:sym typeface="Cabin"/>
            </a:endParaRPr>
          </a:p>
          <a:p>
            <a:pPr marL="457200" lvl="0">
              <a:buClr>
                <a:schemeClr val="lt1"/>
              </a:buClr>
              <a:buSzPct val="25000"/>
            </a:pPr>
            <a:r>
              <a:rPr lang="en-US" sz="3800" dirty="0" smtClean="0">
                <a:solidFill>
                  <a:schemeClr val="lt1"/>
                </a:solidFill>
                <a:latin typeface="Cabin"/>
                <a:ea typeface="Cabin"/>
                <a:cs typeface="Cabin"/>
                <a:sym typeface="Cabin"/>
              </a:rPr>
              <a:t>Enter Diameter of Circle: 10</a:t>
            </a:r>
          </a:p>
          <a:p>
            <a:pPr marL="457200" lvl="0">
              <a:buClr>
                <a:schemeClr val="lt1"/>
              </a:buClr>
              <a:buSzPct val="25000"/>
            </a:pPr>
            <a:r>
              <a:rPr lang="en-US" sz="3800" dirty="0" smtClean="0">
                <a:solidFill>
                  <a:schemeClr val="lt1"/>
                </a:solidFill>
                <a:latin typeface="Cabin"/>
                <a:ea typeface="Cabin"/>
                <a:cs typeface="Cabin"/>
                <a:sym typeface="Cabin"/>
              </a:rPr>
              <a:t>Area of Circle is  78.5714285714</a:t>
            </a:r>
          </a:p>
          <a:p>
            <a:pPr marL="457200" lvl="0">
              <a:buClr>
                <a:schemeClr val="lt1"/>
              </a:buClr>
              <a:buSzPct val="25000"/>
            </a:pPr>
            <a:r>
              <a:rPr lang="en-US" sz="3800" dirty="0" smtClean="0">
                <a:solidFill>
                  <a:schemeClr val="lt1"/>
                </a:solidFill>
                <a:latin typeface="Cabin"/>
                <a:ea typeface="Cabin"/>
                <a:cs typeface="Cabin"/>
                <a:sym typeface="Cabin"/>
              </a:rPr>
              <a:t>Circumference of Circle is  31.4285714286</a:t>
            </a:r>
          </a:p>
          <a:p>
            <a:pPr marL="457200" lvl="0">
              <a:buClr>
                <a:schemeClr val="lt1"/>
              </a:buClr>
              <a:buSzPct val="25000"/>
            </a:pPr>
            <a:r>
              <a:rPr lang="en-US" sz="3800" dirty="0" smtClean="0">
                <a:solidFill>
                  <a:schemeClr val="lt1"/>
                </a:solidFill>
                <a:latin typeface="Cabin"/>
                <a:ea typeface="Cabin"/>
                <a:cs typeface="Cabin"/>
                <a:sym typeface="Cabin"/>
              </a:rPr>
              <a:t>Perimeter of Circle is  31.4285714286</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40"/>
          <p:cNvSpPr txBox="1"/>
          <p:nvPr/>
        </p:nvSpPr>
        <p:spPr>
          <a:xfrm>
            <a:off x="2908300" y="2413000"/>
            <a:ext cx="10706100" cy="3454499"/>
          </a:xfrm>
          <a:prstGeom prst="rect">
            <a:avLst/>
          </a:prstGeom>
          <a:noFill/>
          <a:ln>
            <a:noFill/>
          </a:ln>
        </p:spPr>
        <p:txBody>
          <a:bodyPr lIns="0" tIns="0" rIns="0" bIns="0" anchor="ctr" anchorCtr="0">
            <a:noAutofit/>
          </a:bodyPr>
          <a:lstStyle/>
          <a:p>
            <a:pPr marL="457200" marR="0" lvl="0" indent="0" algn="l" rtl="0">
              <a:lnSpc>
                <a:spcPct val="100000"/>
              </a:lnSpc>
              <a:spcBef>
                <a:spcPts val="0"/>
              </a:spcBef>
              <a:spcAft>
                <a:spcPts val="0"/>
              </a:spcAft>
              <a:buClr>
                <a:schemeClr val="lt1"/>
              </a:buClr>
              <a:buSzPct val="25000"/>
              <a:buFont typeface="Cabin"/>
              <a:buNone/>
            </a:pPr>
            <a:r>
              <a:rPr lang="en-US" sz="3800" b="0" i="0" u="none" strike="noStrike" cap="none" baseline="0" dirty="0" smtClean="0">
                <a:solidFill>
                  <a:schemeClr val="lt1"/>
                </a:solidFill>
                <a:latin typeface="Cabin"/>
                <a:ea typeface="Cabin"/>
                <a:cs typeface="Cabin"/>
                <a:sym typeface="Cabin"/>
              </a:rPr>
              <a:t>Write a program to </a:t>
            </a:r>
            <a:r>
              <a:rPr lang="en-US" sz="3800" dirty="0" smtClean="0">
                <a:solidFill>
                  <a:schemeClr val="lt1"/>
                </a:solidFill>
                <a:latin typeface="Cabin"/>
                <a:ea typeface="Cabin"/>
                <a:cs typeface="Cabin"/>
                <a:sym typeface="Cabin"/>
              </a:rPr>
              <a:t>convert Celsius into Fahrenheit ?</a:t>
            </a:r>
          </a:p>
          <a:p>
            <a:pPr marL="457200" marR="0" lvl="0" indent="0" algn="l" rtl="0">
              <a:lnSpc>
                <a:spcPct val="100000"/>
              </a:lnSpc>
              <a:spcBef>
                <a:spcPts val="0"/>
              </a:spcBef>
              <a:spcAft>
                <a:spcPts val="0"/>
              </a:spcAft>
              <a:buClr>
                <a:schemeClr val="lt1"/>
              </a:buClr>
              <a:buSzPct val="25000"/>
              <a:buFont typeface="Cabin"/>
              <a:buNone/>
            </a:pPr>
            <a:endParaRPr lang="en-US" sz="3800" dirty="0" smtClean="0">
              <a:solidFill>
                <a:schemeClr val="lt1"/>
              </a:solidFill>
              <a:latin typeface="Cabin"/>
              <a:ea typeface="Cabin"/>
              <a:cs typeface="Cabin"/>
              <a:sym typeface="Cabin"/>
            </a:endParaRPr>
          </a:p>
          <a:p>
            <a:pPr marL="457200" marR="0" lvl="0" indent="0" algn="l" rtl="0">
              <a:lnSpc>
                <a:spcPct val="100000"/>
              </a:lnSpc>
              <a:spcBef>
                <a:spcPts val="0"/>
              </a:spcBef>
              <a:spcAft>
                <a:spcPts val="0"/>
              </a:spcAft>
              <a:buClr>
                <a:schemeClr val="lt1"/>
              </a:buClr>
              <a:buSzPct val="25000"/>
              <a:buFont typeface="Cabin"/>
              <a:buNone/>
            </a:pPr>
            <a:r>
              <a:rPr lang="en-US" sz="3800" dirty="0" smtClean="0">
                <a:solidFill>
                  <a:schemeClr val="lt1"/>
                </a:solidFill>
                <a:latin typeface="Cabin"/>
                <a:ea typeface="Cabin"/>
                <a:cs typeface="Cabin"/>
                <a:sym typeface="Cabin"/>
              </a:rPr>
              <a:t>Note: Fahrenheit = (Celsius x 2) + 30 (Approx)</a:t>
            </a:r>
          </a:p>
          <a:p>
            <a:pPr marL="457200" marR="0" lvl="0" indent="0" algn="l" rtl="0">
              <a:lnSpc>
                <a:spcPct val="100000"/>
              </a:lnSpc>
              <a:spcBef>
                <a:spcPts val="0"/>
              </a:spcBef>
              <a:spcAft>
                <a:spcPts val="0"/>
              </a:spcAft>
              <a:buClr>
                <a:schemeClr val="lt1"/>
              </a:buClr>
              <a:buSzPct val="25000"/>
              <a:buFont typeface="Cabin"/>
              <a:buNone/>
            </a:pPr>
            <a:endParaRPr lang="en-US" sz="3800" b="0" i="0" u="none" strike="noStrike" cap="none" baseline="0" dirty="0" smtClean="0">
              <a:solidFill>
                <a:schemeClr val="lt1"/>
              </a:solidFill>
              <a:latin typeface="Cabin"/>
              <a:ea typeface="Cabin"/>
              <a:cs typeface="Cabin"/>
              <a:sym typeface="Cabin"/>
            </a:endParaRPr>
          </a:p>
          <a:p>
            <a:pPr marL="457200" lvl="0">
              <a:buClr>
                <a:schemeClr val="lt1"/>
              </a:buClr>
              <a:buSzPct val="25000"/>
            </a:pPr>
            <a:r>
              <a:rPr lang="en-US" sz="3800" dirty="0" smtClean="0">
                <a:solidFill>
                  <a:schemeClr val="lt1"/>
                </a:solidFill>
                <a:latin typeface="Cabin"/>
                <a:ea typeface="Cabin"/>
                <a:cs typeface="Cabin"/>
                <a:sym typeface="Cabin"/>
              </a:rPr>
              <a:t>Enter Celsius = 10</a:t>
            </a:r>
          </a:p>
          <a:p>
            <a:pPr marL="457200" lvl="0">
              <a:buClr>
                <a:schemeClr val="lt1"/>
              </a:buClr>
              <a:buSzPct val="25000"/>
            </a:pPr>
            <a:r>
              <a:rPr lang="en-US" sz="3800" dirty="0" smtClean="0">
                <a:solidFill>
                  <a:schemeClr val="lt1"/>
                </a:solidFill>
                <a:latin typeface="Cabin"/>
                <a:ea typeface="Cabin"/>
                <a:cs typeface="Cabin"/>
                <a:sym typeface="Cabin"/>
              </a:rPr>
              <a:t>Fahrenheit = 50</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Shape 484"/>
          <p:cNvSpPr txBox="1">
            <a:spLocks noGrp="1"/>
          </p:cNvSpPr>
          <p:nvPr>
            <p:ph type="title"/>
          </p:nvPr>
        </p:nvSpPr>
        <p:spPr>
          <a:xfrm>
            <a:off x="622300" y="2413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Summary</a:t>
            </a:r>
          </a:p>
        </p:txBody>
      </p:sp>
      <p:sp>
        <p:nvSpPr>
          <p:cNvPr id="485" name="Shape 485"/>
          <p:cNvSpPr txBox="1">
            <a:spLocks noGrp="1"/>
          </p:cNvSpPr>
          <p:nvPr>
            <p:ph type="body" idx="1"/>
          </p:nvPr>
        </p:nvSpPr>
        <p:spPr>
          <a:xfrm>
            <a:off x="1155700" y="2603500"/>
            <a:ext cx="6889800" cy="5702399"/>
          </a:xfrm>
          <a:prstGeom prst="rect">
            <a:avLst/>
          </a:prstGeom>
          <a:noFill/>
          <a:ln>
            <a:noFill/>
          </a:ln>
        </p:spPr>
        <p:txBody>
          <a:bodyPr lIns="38100" tIns="38100" rIns="38100" bIns="38100" anchor="t" anchorCtr="0">
            <a:noAutofit/>
          </a:bodyPr>
          <a:lstStyle/>
          <a:p>
            <a:pPr marL="685800" marR="0" lvl="0" indent="-329311"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Type</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Reserved words</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Variables (mnemonic)</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Operators</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Operator precedence</a:t>
            </a:r>
          </a:p>
          <a:p>
            <a:pPr marL="0" marR="0" lvl="0" indent="0" algn="l" rtl="0">
              <a:lnSpc>
                <a:spcPct val="100000"/>
              </a:lnSpc>
              <a:spcBef>
                <a:spcPts val="3500"/>
              </a:spcBef>
              <a:spcAft>
                <a:spcPts val="0"/>
              </a:spcAft>
              <a:buNone/>
            </a:pPr>
            <a:endParaRPr sz="3600"/>
          </a:p>
        </p:txBody>
      </p:sp>
      <p:sp>
        <p:nvSpPr>
          <p:cNvPr id="486" name="Shape 486"/>
          <p:cNvSpPr txBox="1">
            <a:spLocks noGrp="1"/>
          </p:cNvSpPr>
          <p:nvPr>
            <p:ph type="body" idx="2"/>
          </p:nvPr>
        </p:nvSpPr>
        <p:spPr>
          <a:xfrm>
            <a:off x="8197850" y="2603500"/>
            <a:ext cx="6889800" cy="5702399"/>
          </a:xfrm>
          <a:prstGeom prst="rect">
            <a:avLst/>
          </a:prstGeom>
        </p:spPr>
        <p:txBody>
          <a:bodyPr lIns="91425" tIns="91425" rIns="91425" bIns="91425" anchor="t" anchorCtr="0">
            <a:noAutofit/>
          </a:bodyPr>
          <a:lstStyle/>
          <a:p>
            <a:pPr>
              <a:spcBef>
                <a:spcPts val="0"/>
              </a:spcBef>
              <a:buNone/>
            </a:pPr>
            <a:endParaRPr/>
          </a:p>
        </p:txBody>
      </p:sp>
      <p:sp>
        <p:nvSpPr>
          <p:cNvPr id="487" name="Shape 487"/>
          <p:cNvSpPr txBox="1">
            <a:spLocks noGrp="1"/>
          </p:cNvSpPr>
          <p:nvPr>
            <p:ph type="body" idx="3"/>
          </p:nvPr>
        </p:nvSpPr>
        <p:spPr>
          <a:xfrm>
            <a:off x="8511150" y="2222500"/>
            <a:ext cx="6889800" cy="5396099"/>
          </a:xfrm>
          <a:prstGeom prst="rect">
            <a:avLst/>
          </a:prstGeom>
          <a:noFill/>
          <a:ln>
            <a:noFill/>
          </a:ln>
        </p:spPr>
        <p:txBody>
          <a:bodyPr lIns="38100" tIns="38100" rIns="38100" bIns="38100" anchor="t" anchorCtr="0">
            <a:noAutofit/>
          </a:bodyPr>
          <a:lstStyle/>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Integer Division</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Conversion between types</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User input</a:t>
            </a:r>
          </a:p>
          <a:p>
            <a:pPr marL="685800" marR="0" lvl="0" indent="-329311" algn="l" rtl="0">
              <a:lnSpc>
                <a:spcPct val="100000"/>
              </a:lnSpc>
              <a:spcBef>
                <a:spcPts val="3500"/>
              </a:spcBef>
              <a:spcAft>
                <a:spcPts val="0"/>
              </a:spcAft>
              <a:buClr>
                <a:schemeClr val="lt1"/>
              </a:buClr>
              <a:buSzPct val="100000"/>
              <a:buFont typeface="Cabin"/>
              <a:buChar char="•"/>
            </a:pPr>
            <a:r>
              <a:rPr lang="en-US" sz="3600" b="0" i="0" u="none" strike="noStrike" cap="none" baseline="0" dirty="0">
                <a:solidFill>
                  <a:schemeClr val="lt1"/>
                </a:solidFill>
                <a:latin typeface="Cabin"/>
                <a:ea typeface="Cabin"/>
                <a:cs typeface="Cabin"/>
                <a:sym typeface="Cabin"/>
              </a:rPr>
              <a:t>Comments (#)</a:t>
            </a:r>
          </a:p>
        </p:txBody>
      </p:sp>
    </p:spTree>
  </p:cSld>
  <p:clrMapOvr>
    <a:masterClrMapping/>
  </p:clrMapOvr>
  <p:transition spd="slow">
    <p:cu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41"/>
        <p:cNvGrpSpPr/>
        <p:nvPr/>
      </p:nvGrpSpPr>
      <p:grpSpPr>
        <a:xfrm>
          <a:off x="0" y="0"/>
          <a:ext cx="0" cy="0"/>
          <a:chOff x="0" y="0"/>
          <a:chExt cx="0" cy="0"/>
        </a:xfrm>
      </p:grpSpPr>
      <p:pic>
        <p:nvPicPr>
          <p:cNvPr id="8" name="Picture 2" descr="http://vignette2.wikia.nocookie.net/animaljam/images/3/38/Dancing_gir.gif/revision/latest?cb=20141122094457"/>
          <p:cNvPicPr>
            <a:picLocks noChangeAspect="1" noChangeArrowheads="1" noCrop="1"/>
          </p:cNvPicPr>
          <p:nvPr/>
        </p:nvPicPr>
        <p:blipFill>
          <a:blip r:embed="rId3"/>
          <a:srcRect/>
          <a:stretch>
            <a:fillRect/>
          </a:stretch>
        </p:blipFill>
        <p:spPr bwMode="auto">
          <a:xfrm>
            <a:off x="1071216" y="323528"/>
            <a:ext cx="12889432" cy="8171901"/>
          </a:xfrm>
          <a:prstGeom prst="rect">
            <a:avLst/>
          </a:prstGeom>
          <a:noFill/>
        </p:spPr>
      </p:pic>
      <p:sp>
        <p:nvSpPr>
          <p:cNvPr id="9" name="TextBox 8"/>
          <p:cNvSpPr txBox="1"/>
          <p:nvPr/>
        </p:nvSpPr>
        <p:spPr>
          <a:xfrm>
            <a:off x="135112" y="251520"/>
            <a:ext cx="10873208" cy="2554545"/>
          </a:xfrm>
          <a:prstGeom prst="rect">
            <a:avLst/>
          </a:prstGeom>
          <a:noFill/>
        </p:spPr>
        <p:txBody>
          <a:bodyPr wrap="square" rtlCol="0">
            <a:spAutoFit/>
          </a:bodyPr>
          <a:lstStyle/>
          <a:p>
            <a:r>
              <a:rPr lang="en-US" sz="8000" b="1" smtClean="0"/>
              <a:t>Chapter 2 </a:t>
            </a:r>
            <a:r>
              <a:rPr lang="en-US" sz="8000" b="1" dirty="0" smtClean="0"/>
              <a:t>: Finished</a:t>
            </a:r>
          </a:p>
          <a:p>
            <a:endParaRPr lang="en-US" sz="8000" b="1" dirty="0"/>
          </a:p>
        </p:txBody>
      </p:sp>
      <p:sp>
        <p:nvSpPr>
          <p:cNvPr id="10" name="TextBox 9"/>
          <p:cNvSpPr txBox="1"/>
          <p:nvPr/>
        </p:nvSpPr>
        <p:spPr>
          <a:xfrm>
            <a:off x="10000208" y="7209001"/>
            <a:ext cx="6984776" cy="1323439"/>
          </a:xfrm>
          <a:prstGeom prst="rect">
            <a:avLst/>
          </a:prstGeom>
          <a:noFill/>
        </p:spPr>
        <p:txBody>
          <a:bodyPr wrap="square" rtlCol="0">
            <a:spAutoFit/>
          </a:bodyPr>
          <a:lstStyle/>
          <a:p>
            <a:r>
              <a:rPr lang="en-US" sz="8000" b="1" dirty="0" smtClean="0"/>
              <a:t>Any Doubt?</a:t>
            </a:r>
            <a:endParaRPr lang="en-US" sz="8000" b="1" dirty="0"/>
          </a:p>
        </p:txBody>
      </p:sp>
    </p:spTree>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amp; Bullets">
  <a:themeElements>
    <a:clrScheme name="">
      <a:dk1>
        <a:srgbClr val="808080"/>
      </a:dk1>
      <a:lt1>
        <a:srgbClr val="FFFFFF"/>
      </a:lt1>
      <a:dk2>
        <a:srgbClr val="000000"/>
      </a:dk2>
      <a:lt2>
        <a:srgbClr val="000000"/>
      </a:lt2>
      <a:accent1>
        <a:srgbClr val="FFFFFF"/>
      </a:accent1>
      <a:accent2>
        <a:srgbClr val="333399"/>
      </a:accent2>
      <a:accent3>
        <a:srgbClr val="AAAAAA"/>
      </a:accent3>
      <a:accent4>
        <a:srgbClr val="DADADA"/>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ank">
  <a:themeElements>
    <a:clrScheme name="">
      <a:dk1>
        <a:srgbClr val="808080"/>
      </a:dk1>
      <a:lt1>
        <a:srgbClr val="FFFFFF"/>
      </a:lt1>
      <a:dk2>
        <a:srgbClr val="000000"/>
      </a:dk2>
      <a:lt2>
        <a:srgbClr val="000000"/>
      </a:lt2>
      <a:accent1>
        <a:srgbClr val="00FF00"/>
      </a:accent1>
      <a:accent2>
        <a:srgbClr val="333399"/>
      </a:accent2>
      <a:accent3>
        <a:srgbClr val="AAAAAA"/>
      </a:accent3>
      <a:accent4>
        <a:srgbClr val="DADADA"/>
      </a:accent4>
      <a:accent5>
        <a:srgbClr val="AAFF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itle &amp; Bullets - 2 Column">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406</TotalTime>
  <Words>1923</Words>
  <Application>Microsoft Office PowerPoint</Application>
  <PresentationFormat>Custom</PresentationFormat>
  <Paragraphs>385</Paragraphs>
  <Slides>38</Slides>
  <Notes>33</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38</vt:i4>
      </vt:variant>
    </vt:vector>
  </HeadingPairs>
  <TitlesOfParts>
    <vt:vector size="46" baseType="lpstr">
      <vt:lpstr>Arial</vt:lpstr>
      <vt:lpstr>Courier New</vt:lpstr>
      <vt:lpstr>Merriweather Sans</vt:lpstr>
      <vt:lpstr>Cabin</vt:lpstr>
      <vt:lpstr>Title &amp; Subtitle</vt:lpstr>
      <vt:lpstr>Title &amp; Bullets</vt:lpstr>
      <vt:lpstr>Blank</vt:lpstr>
      <vt:lpstr>Title &amp; Bullets - 2 Column</vt:lpstr>
      <vt:lpstr>Variables, Expressions, and Statements</vt:lpstr>
      <vt:lpstr>Constants</vt:lpstr>
      <vt:lpstr>Variables</vt:lpstr>
      <vt:lpstr>Variables</vt:lpstr>
      <vt:lpstr>Python Variable Name Rules</vt:lpstr>
      <vt:lpstr>Reserved Words</vt:lpstr>
      <vt:lpstr>Sentences or Lines</vt:lpstr>
      <vt:lpstr>Beauty of Python</vt:lpstr>
      <vt:lpstr>Assignment Statements</vt:lpstr>
      <vt:lpstr>PowerPoint Presentation</vt:lpstr>
      <vt:lpstr>PowerPoint Presentation</vt:lpstr>
      <vt:lpstr>Numeric Expressions</vt:lpstr>
      <vt:lpstr>Numeric Expressions</vt:lpstr>
      <vt:lpstr>Order of Evaluation</vt:lpstr>
      <vt:lpstr>Operator Precedence Rules</vt:lpstr>
      <vt:lpstr>PowerPoint Presentation</vt:lpstr>
      <vt:lpstr>Operator Precedence</vt:lpstr>
      <vt:lpstr>Python Integer Division is Weird!</vt:lpstr>
      <vt:lpstr>Mixing Integer and Floating</vt:lpstr>
      <vt:lpstr>What does “Type” Mean?</vt:lpstr>
      <vt:lpstr>Type Matters</vt:lpstr>
      <vt:lpstr>Several Types of Numbers</vt:lpstr>
      <vt:lpstr>Type Conversions</vt:lpstr>
      <vt:lpstr>Modulus operations (%)</vt:lpstr>
      <vt:lpstr>String Conversions</vt:lpstr>
      <vt:lpstr>User Input</vt:lpstr>
      <vt:lpstr>Converting User Input</vt:lpstr>
      <vt:lpstr>Comments in Python</vt:lpstr>
      <vt:lpstr>PowerPoint Presentation</vt:lpstr>
      <vt:lpstr>String Operations</vt:lpstr>
      <vt:lpstr>Mnemonic Variable Names</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Variables, Expressions, and Statements</dc:title>
  <cp:lastModifiedBy>atul</cp:lastModifiedBy>
  <cp:revision>30</cp:revision>
  <dcterms:modified xsi:type="dcterms:W3CDTF">2016-12-11T03:43:45Z</dcterms:modified>
</cp:coreProperties>
</file>