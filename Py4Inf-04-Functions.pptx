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Default Extension="gif" ContentType="image/gif"/>
  <Override PartName="/ppt/notesSlides/notesSlide6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  <p:sldMasterId id="2147483704" r:id="rId2"/>
    <p:sldMasterId id="2147483705" r:id="rId3"/>
    <p:sldMasterId id="2147483706" r:id="rId4"/>
    <p:sldMasterId id="2147483707" r:id="rId5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80" r:id="rId29"/>
  </p:sldIdLst>
  <p:sldSz cx="16256000" cy="9144000"/>
  <p:notesSz cx="6858000" cy="9144000"/>
  <p:embeddedFontLst>
    <p:embeddedFont>
      <p:font typeface="Cabin" charset="0"/>
      <p:regular r:id="rId31"/>
      <p:bold r:id="rId32"/>
      <p:italic r:id="rId33"/>
      <p:boldItalic r:id="rId34"/>
    </p:embeddedFont>
  </p:embeddedFontLst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774" y="-90"/>
      </p:cViewPr>
      <p:guideLst>
        <p:guide orient="horz" pos="2880"/>
        <p:guide pos="5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font" Target="fonts/font4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9" name="Shape 11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25" name="Shape 12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39" name="Shape 13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52" name="Shape 15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65" name="Shape 16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00" name="Shape 20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16" name="Shape 21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23" name="Shape 22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31" name="Shape 23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38" name="Shape 23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55" name="Shape 25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63" name="Shape 26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69" name="Shape 26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75" name="Shape 27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21" name="Shape 32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9" name="Shape 6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title"/>
          </p:nvPr>
        </p:nvSpPr>
        <p:spPr>
          <a:xfrm rot="5400000">
            <a:off x="11231562" y="1909762"/>
            <a:ext cx="4229100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body" idx="1"/>
          </p:nvPr>
        </p:nvSpPr>
        <p:spPr>
          <a:xfrm rot="5400000">
            <a:off x="4189412" y="-1497012"/>
            <a:ext cx="4229100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 rot="5400000">
            <a:off x="7594599" y="-1727200"/>
            <a:ext cx="1054100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819785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 txBox="1">
            <a:spLocks noGrp="1"/>
          </p:cNvSpPr>
          <p:nvPr>
            <p:ph type="title"/>
          </p:nvPr>
        </p:nvSpPr>
        <p:spPr>
          <a:xfrm rot="5400000">
            <a:off x="9236075" y="2441574"/>
            <a:ext cx="7708899" cy="33083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81" name="Shape 281"/>
          <p:cNvSpPr txBox="1">
            <a:spLocks noGrp="1"/>
          </p:cNvSpPr>
          <p:nvPr>
            <p:ph type="body" idx="1"/>
          </p:nvPr>
        </p:nvSpPr>
        <p:spPr>
          <a:xfrm rot="5400000">
            <a:off x="2543175" y="-790575"/>
            <a:ext cx="7708899" cy="97726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84" name="Shape 284"/>
          <p:cNvSpPr txBox="1">
            <a:spLocks noGrp="1"/>
          </p:cNvSpPr>
          <p:nvPr>
            <p:ph type="body" idx="1"/>
          </p:nvPr>
        </p:nvSpPr>
        <p:spPr>
          <a:xfrm rot="5400000">
            <a:off x="5448299" y="-1346199"/>
            <a:ext cx="5359400" cy="132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87" name="Shape 287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Shape 288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1" name="Shape 291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2" name="Shape 292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8" name="Shape 298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99" name="Shape 299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0" name="Shape 300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01" name="Shape 301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04" name="Shape 304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6540500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5" name="Shape 305"/>
          <p:cNvSpPr txBox="1">
            <a:spLocks noGrp="1"/>
          </p:cNvSpPr>
          <p:nvPr>
            <p:ph type="body" idx="2"/>
          </p:nvPr>
        </p:nvSpPr>
        <p:spPr>
          <a:xfrm>
            <a:off x="8204200" y="2590800"/>
            <a:ext cx="6540500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8" name="Shape 308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11" name="Shape 311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14" name="Shape 314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30" name="Shape 330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3" name="Shape 333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Shape 334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7" name="Shape 337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8" name="Shape 338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44" name="Shape 344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45" name="Shape 345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46" name="Shape 346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47" name="Shape 347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51" name="Shape 351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54" name="Shape 354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57" name="Shape 35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59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60" name="Shape 360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 txBox="1">
            <a:spLocks noGrp="1"/>
          </p:cNvSpPr>
          <p:nvPr>
            <p:ph type="title"/>
          </p:nvPr>
        </p:nvSpPr>
        <p:spPr>
          <a:xfrm rot="5400000">
            <a:off x="9313799" y="2532099"/>
            <a:ext cx="8064599" cy="348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73" name="Shape 373"/>
          <p:cNvSpPr txBox="1">
            <a:spLocks noGrp="1"/>
          </p:cNvSpPr>
          <p:nvPr>
            <p:ph type="body" idx="1"/>
          </p:nvPr>
        </p:nvSpPr>
        <p:spPr>
          <a:xfrm rot="5400000">
            <a:off x="2271625" y="-874699"/>
            <a:ext cx="8064599" cy="10296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76" name="Shape 376"/>
          <p:cNvSpPr txBox="1">
            <a:spLocks noGrp="1"/>
          </p:cNvSpPr>
          <p:nvPr>
            <p:ph type="body" idx="1"/>
          </p:nvPr>
        </p:nvSpPr>
        <p:spPr>
          <a:xfrm rot="5400000">
            <a:off x="5270399" y="-1511300"/>
            <a:ext cx="5702399" cy="1393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79" name="Shape 379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Shape 380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382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399" cy="1549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83" name="Shape 383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699" cy="7804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84" name="Shape 384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399" cy="625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389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90" name="Shape 390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699" cy="8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91" name="Shape 391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699" cy="526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92" name="Shape 392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4999" cy="8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93" name="Shape 393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4999" cy="526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96" name="Shape 39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8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97" name="Shape 397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8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699" cy="181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0" name="Shape 400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699" cy="200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03" name="Shape 40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699" cy="1960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06" name="Shape 406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300" cy="2336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70" name="Shape 37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Functions</a:t>
            </a:r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549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Chapter 4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Stored (and reused) Steps</a:t>
            </a:r>
          </a:p>
        </p:txBody>
      </p:sp>
      <p:sp>
        <p:nvSpPr>
          <p:cNvPr id="93" name="Shape 93"/>
          <p:cNvSpPr txBox="1"/>
          <p:nvPr/>
        </p:nvSpPr>
        <p:spPr>
          <a:xfrm>
            <a:off x="12869861" y="3721100"/>
            <a:ext cx="3162300" cy="3746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 baseline="0">
              <a:solidFill>
                <a:srgbClr val="FF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Zip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Fun</a:t>
            </a:r>
          </a:p>
        </p:txBody>
      </p:sp>
      <p:sp>
        <p:nvSpPr>
          <p:cNvPr id="94" name="Shape 94"/>
          <p:cNvSpPr txBox="1"/>
          <p:nvPr/>
        </p:nvSpPr>
        <p:spPr>
          <a:xfrm>
            <a:off x="7899400" y="2971800"/>
            <a:ext cx="3270250" cy="38004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Program: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baseline="0">
              <a:solidFill>
                <a:srgbClr val="FF7F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25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thing():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ourier New"/>
              <a:buNone/>
            </a:pPr>
            <a:r>
              <a:rPr lang="en-US" sz="25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5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'Hello</a:t>
            </a:r>
            <a:r>
              <a:rPr lang="en-US" sz="2500" b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ourier New"/>
              <a:buNone/>
            </a:pPr>
            <a:r>
              <a:rPr lang="en-US" sz="25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5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'Fun</a:t>
            </a:r>
            <a:r>
              <a:rPr lang="en-US" sz="2500" b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ourier New"/>
              <a:buNone/>
            </a:pPr>
            <a:r>
              <a:rPr lang="en-US" sz="25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ourier New"/>
              <a:buNone/>
            </a:pPr>
            <a:r>
              <a:rPr lang="en-US" sz="25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thing()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5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'Zip</a:t>
            </a:r>
            <a:r>
              <a:rPr lang="en-US" sz="2500" b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ourier New"/>
              <a:buNone/>
            </a:pPr>
            <a:r>
              <a:rPr lang="en-US" sz="25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thing()</a:t>
            </a:r>
          </a:p>
        </p:txBody>
      </p:sp>
      <p:sp>
        <p:nvSpPr>
          <p:cNvPr id="95" name="Shape 95"/>
          <p:cNvSpPr txBox="1"/>
          <p:nvPr/>
        </p:nvSpPr>
        <p:spPr>
          <a:xfrm>
            <a:off x="762000" y="2730500"/>
            <a:ext cx="2743199" cy="5969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def</a:t>
            </a:r>
          </a:p>
        </p:txBody>
      </p:sp>
      <p:cxnSp>
        <p:nvCxnSpPr>
          <p:cNvPr id="96" name="Shape 96"/>
          <p:cNvCxnSpPr/>
          <p:nvPr/>
        </p:nvCxnSpPr>
        <p:spPr>
          <a:xfrm rot="10800000">
            <a:off x="2114550" y="3313111"/>
            <a:ext cx="6349" cy="1849436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97" name="Shape 97"/>
          <p:cNvCxnSpPr/>
          <p:nvPr/>
        </p:nvCxnSpPr>
        <p:spPr>
          <a:xfrm flipH="1">
            <a:off x="9366249" y="5416550"/>
            <a:ext cx="3421062" cy="342899"/>
          </a:xfrm>
          <a:prstGeom prst="straightConnector1">
            <a:avLst/>
          </a:prstGeom>
          <a:noFill/>
          <a:ln w="508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98" name="Shape 98"/>
          <p:cNvCxnSpPr/>
          <p:nvPr/>
        </p:nvCxnSpPr>
        <p:spPr>
          <a:xfrm rot="10800000">
            <a:off x="9423474" y="6615025"/>
            <a:ext cx="3334500" cy="270299"/>
          </a:xfrm>
          <a:prstGeom prst="straightConnector1">
            <a:avLst/>
          </a:prstGeom>
          <a:noFill/>
          <a:ln w="508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99" name="Shape 99"/>
          <p:cNvSpPr txBox="1"/>
          <p:nvPr/>
        </p:nvSpPr>
        <p:spPr>
          <a:xfrm>
            <a:off x="4381500" y="3644900"/>
            <a:ext cx="2743199" cy="5969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r>
              <a:rPr lang="en-US" sz="35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print</a:t>
            </a: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'Hello'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4381500" y="4216400"/>
            <a:ext cx="2743199" cy="5969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print</a:t>
            </a: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'Fun'</a:t>
            </a:r>
          </a:p>
        </p:txBody>
      </p:sp>
      <p:sp>
        <p:nvSpPr>
          <p:cNvPr id="101" name="Shape 101"/>
          <p:cNvSpPr txBox="1"/>
          <p:nvPr/>
        </p:nvSpPr>
        <p:spPr>
          <a:xfrm>
            <a:off x="762000" y="5092700"/>
            <a:ext cx="2743199" cy="5969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thing</a:t>
            </a: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</a:t>
            </a:r>
          </a:p>
        </p:txBody>
      </p:sp>
      <p:cxnSp>
        <p:nvCxnSpPr>
          <p:cNvPr id="102" name="Shape 102"/>
          <p:cNvCxnSpPr/>
          <p:nvPr/>
        </p:nvCxnSpPr>
        <p:spPr>
          <a:xfrm rot="10800000">
            <a:off x="2114549" y="5713411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03" name="Shape 103"/>
          <p:cNvCxnSpPr/>
          <p:nvPr/>
        </p:nvCxnSpPr>
        <p:spPr>
          <a:xfrm flipH="1">
            <a:off x="3527425" y="3790950"/>
            <a:ext cx="809624" cy="1322386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04" name="Shape 104"/>
          <p:cNvCxnSpPr/>
          <p:nvPr/>
        </p:nvCxnSpPr>
        <p:spPr>
          <a:xfrm rot="10800000" flipH="1">
            <a:off x="3559175" y="4832350"/>
            <a:ext cx="2100261" cy="893762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05" name="Shape 105"/>
          <p:cNvCxnSpPr/>
          <p:nvPr/>
        </p:nvCxnSpPr>
        <p:spPr>
          <a:xfrm rot="10800000">
            <a:off x="3598998" y="3030587"/>
            <a:ext cx="1074600" cy="5777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06" name="Shape 106"/>
          <p:cNvSpPr txBox="1"/>
          <p:nvPr/>
        </p:nvSpPr>
        <p:spPr>
          <a:xfrm>
            <a:off x="3869200" y="8109650"/>
            <a:ext cx="106484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call these reusable pieces of code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functions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5038725" y="2997200"/>
            <a:ext cx="14097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thing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():</a:t>
            </a:r>
          </a:p>
        </p:txBody>
      </p:sp>
      <p:sp>
        <p:nvSpPr>
          <p:cNvPr id="108" name="Shape 108"/>
          <p:cNvSpPr txBox="1"/>
          <p:nvPr/>
        </p:nvSpPr>
        <p:spPr>
          <a:xfrm>
            <a:off x="762000" y="7302500"/>
            <a:ext cx="2743199" cy="5969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thing</a:t>
            </a: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</a:t>
            </a:r>
          </a:p>
        </p:txBody>
      </p:sp>
      <p:cxnSp>
        <p:nvCxnSpPr>
          <p:cNvPr id="109" name="Shape 109"/>
          <p:cNvCxnSpPr/>
          <p:nvPr/>
        </p:nvCxnSpPr>
        <p:spPr>
          <a:xfrm rot="10800000">
            <a:off x="2114549" y="6729412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10" name="Shape 110"/>
          <p:cNvSpPr txBox="1"/>
          <p:nvPr/>
        </p:nvSpPr>
        <p:spPr>
          <a:xfrm>
            <a:off x="762000" y="6223000"/>
            <a:ext cx="2743199" cy="5969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print</a:t>
            </a: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'</a:t>
            </a: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Zip</a:t>
            </a:r>
            <a:r>
              <a:rPr lang="en-US" sz="35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'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Python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Functions</a:t>
            </a:r>
          </a:p>
        </p:txBody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There are two kinds of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functions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in Python.</a:t>
            </a:r>
          </a:p>
          <a:p>
            <a:pPr marL="1041400" marR="0" lvl="1" indent="-1424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Built-in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functions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are provided as part of Python - raw_input(), type(), float(), int() ...</a:t>
            </a:r>
          </a:p>
          <a:p>
            <a:pPr marL="1041400" marR="0" lvl="1" indent="-1424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00"/>
              </a:buClr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Functions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we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define ourselves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then use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treat the built-in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names as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new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reserved words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b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(i.e., we avoid them as variable names)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 Definition</a:t>
            </a:r>
          </a:p>
        </p:txBody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1027100" y="2603500"/>
            <a:ext cx="140604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 Python a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some reusable code that takes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arguments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(s) as input, does some computation, and then returns a result or results</a:t>
            </a:r>
          </a:p>
          <a:p>
            <a:pPr marL="749300" marR="0" lvl="0" indent="-371094" algn="l" rtl="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define a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using 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def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reserved word</a:t>
            </a:r>
          </a:p>
          <a:p>
            <a:pPr marL="749300" marR="0" lvl="0" indent="-371094" algn="l" rtl="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call/invoke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by using the function name, parenthes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s, and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arguments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in an expression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/>
          <p:nvPr/>
        </p:nvSpPr>
        <p:spPr>
          <a:xfrm>
            <a:off x="8564550" y="4876800"/>
            <a:ext cx="6984899" cy="3302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big</a:t>
            </a:r>
            <a:r>
              <a:rPr lang="en-US" sz="300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-US" sz="300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('Hello world')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big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tiny</a:t>
            </a:r>
            <a:r>
              <a:rPr lang="en-US" sz="300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en-US" sz="300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('Hello world')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tiny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ourier New"/>
              <a:buNone/>
            </a:pPr>
            <a:endParaRPr sz="3000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</a:p>
        </p:txBody>
      </p:sp>
      <p:sp>
        <p:nvSpPr>
          <p:cNvPr id="128" name="Shape 128"/>
          <p:cNvSpPr txBox="1"/>
          <p:nvPr/>
        </p:nvSpPr>
        <p:spPr>
          <a:xfrm>
            <a:off x="2032000" y="1714500"/>
            <a:ext cx="6782399" cy="812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9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big</a:t>
            </a:r>
            <a:r>
              <a:rPr lang="en-US" sz="49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=  </a:t>
            </a:r>
            <a:r>
              <a:rPr lang="en-US" sz="49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max</a:t>
            </a:r>
            <a:r>
              <a:rPr lang="en-US" sz="49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('Hello world')</a:t>
            </a:r>
          </a:p>
        </p:txBody>
      </p:sp>
      <p:sp>
        <p:nvSpPr>
          <p:cNvPr id="129" name="Shape 129"/>
          <p:cNvSpPr txBox="1"/>
          <p:nvPr/>
        </p:nvSpPr>
        <p:spPr>
          <a:xfrm>
            <a:off x="8564561" y="571500"/>
            <a:ext cx="1976437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Argument</a:t>
            </a:r>
          </a:p>
        </p:txBody>
      </p:sp>
      <p:cxnSp>
        <p:nvCxnSpPr>
          <p:cNvPr id="130" name="Shape 130"/>
          <p:cNvCxnSpPr/>
          <p:nvPr/>
        </p:nvCxnSpPr>
        <p:spPr>
          <a:xfrm rot="10800000" flipH="1">
            <a:off x="7005636" y="971550"/>
            <a:ext cx="1439862" cy="522286"/>
          </a:xfrm>
          <a:prstGeom prst="straightConnector1">
            <a:avLst/>
          </a:prstGeom>
          <a:noFill/>
          <a:ln w="762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31" name="Shape 131"/>
          <p:cNvSpPr txBox="1"/>
          <p:nvPr/>
        </p:nvSpPr>
        <p:spPr>
          <a:xfrm>
            <a:off x="3771900" y="3460750"/>
            <a:ext cx="614361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'w'</a:t>
            </a:r>
          </a:p>
        </p:txBody>
      </p:sp>
      <p:cxnSp>
        <p:nvCxnSpPr>
          <p:cNvPr id="132" name="Shape 132"/>
          <p:cNvCxnSpPr/>
          <p:nvPr/>
        </p:nvCxnSpPr>
        <p:spPr>
          <a:xfrm>
            <a:off x="4387850" y="3927475"/>
            <a:ext cx="1214437" cy="709612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33" name="Shape 133"/>
          <p:cNvSpPr txBox="1"/>
          <p:nvPr/>
        </p:nvSpPr>
        <p:spPr>
          <a:xfrm>
            <a:off x="5751512" y="4406900"/>
            <a:ext cx="1266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Result</a:t>
            </a:r>
          </a:p>
        </p:txBody>
      </p:sp>
      <p:cxnSp>
        <p:nvCxnSpPr>
          <p:cNvPr id="134" name="Shape 134"/>
          <p:cNvCxnSpPr/>
          <p:nvPr/>
        </p:nvCxnSpPr>
        <p:spPr>
          <a:xfrm>
            <a:off x="2614611" y="2671761"/>
            <a:ext cx="711200" cy="5969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35" name="Shape 135"/>
          <p:cNvSpPr txBox="1"/>
          <p:nvPr/>
        </p:nvSpPr>
        <p:spPr>
          <a:xfrm>
            <a:off x="334947" y="2857500"/>
            <a:ext cx="2622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Assignment</a:t>
            </a:r>
          </a:p>
        </p:txBody>
      </p:sp>
      <p:cxnSp>
        <p:nvCxnSpPr>
          <p:cNvPr id="136" name="Shape 136"/>
          <p:cNvCxnSpPr/>
          <p:nvPr/>
        </p:nvCxnSpPr>
        <p:spPr>
          <a:xfrm rot="10800000" flipH="1">
            <a:off x="4054475" y="2633662"/>
            <a:ext cx="204786" cy="841374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Max Function</a:t>
            </a:r>
          </a:p>
        </p:txBody>
      </p:sp>
      <p:sp>
        <p:nvSpPr>
          <p:cNvPr id="142" name="Shape 142"/>
          <p:cNvSpPr txBox="1"/>
          <p:nvPr/>
        </p:nvSpPr>
        <p:spPr>
          <a:xfrm>
            <a:off x="1200150" y="2616200"/>
            <a:ext cx="71321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big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('Hello world')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big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</a:p>
        </p:txBody>
      </p:sp>
      <p:sp>
        <p:nvSpPr>
          <p:cNvPr id="143" name="Shape 143"/>
          <p:cNvSpPr txBox="1"/>
          <p:nvPr/>
        </p:nvSpPr>
        <p:spPr>
          <a:xfrm>
            <a:off x="6845300" y="5168900"/>
            <a:ext cx="2819400" cy="2819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max()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</a:p>
        </p:txBody>
      </p:sp>
      <p:cxnSp>
        <p:nvCxnSpPr>
          <p:cNvPr id="144" name="Shape 144"/>
          <p:cNvCxnSpPr/>
          <p:nvPr/>
        </p:nvCxnSpPr>
        <p:spPr>
          <a:xfrm flipH="1">
            <a:off x="5299074" y="66230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45" name="Shape 145"/>
          <p:cNvSpPr txBox="1"/>
          <p:nvPr/>
        </p:nvSpPr>
        <p:spPr>
          <a:xfrm>
            <a:off x="2616200" y="6051550"/>
            <a:ext cx="2849562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Hello world</a:t>
            </a: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(a string)</a:t>
            </a:r>
          </a:p>
        </p:txBody>
      </p:sp>
      <p:sp>
        <p:nvSpPr>
          <p:cNvPr id="146" name="Shape 146"/>
          <p:cNvSpPr txBox="1"/>
          <p:nvPr/>
        </p:nvSpPr>
        <p:spPr>
          <a:xfrm>
            <a:off x="11642725" y="6000750"/>
            <a:ext cx="17652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00FF00"/>
                </a:solidFill>
              </a:rPr>
              <a:t>'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w</a:t>
            </a:r>
            <a:r>
              <a:rPr lang="en-US" sz="3600">
                <a:solidFill>
                  <a:srgbClr val="00FF00"/>
                </a:solidFill>
              </a:rPr>
              <a:t>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(a string)</a:t>
            </a:r>
          </a:p>
        </p:txBody>
      </p:sp>
      <p:cxnSp>
        <p:nvCxnSpPr>
          <p:cNvPr id="147" name="Shape 147"/>
          <p:cNvCxnSpPr/>
          <p:nvPr/>
        </p:nvCxnSpPr>
        <p:spPr>
          <a:xfrm flipH="1">
            <a:off x="9680574" y="65722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48" name="Shape 148"/>
          <p:cNvSpPr txBox="1"/>
          <p:nvPr/>
        </p:nvSpPr>
        <p:spPr>
          <a:xfrm>
            <a:off x="10474325" y="2508250"/>
            <a:ext cx="4940400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some stored code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we use. A function takes some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input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produces an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output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</a:p>
        </p:txBody>
      </p:sp>
      <p:sp>
        <p:nvSpPr>
          <p:cNvPr id="149" name="Shape 149"/>
          <p:cNvSpPr txBox="1"/>
          <p:nvPr/>
        </p:nvSpPr>
        <p:spPr>
          <a:xfrm>
            <a:off x="5953125" y="8318500"/>
            <a:ext cx="43307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Guido wrote this code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Max Function</a:t>
            </a:r>
          </a:p>
        </p:txBody>
      </p:sp>
      <p:sp>
        <p:nvSpPr>
          <p:cNvPr id="155" name="Shape 155"/>
          <p:cNvSpPr txBox="1"/>
          <p:nvPr/>
        </p:nvSpPr>
        <p:spPr>
          <a:xfrm>
            <a:off x="6845300" y="5168900"/>
            <a:ext cx="2819400" cy="2819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max(inp):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24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blah</a:t>
            </a:r>
          </a:p>
        </p:txBody>
      </p:sp>
      <p:cxnSp>
        <p:nvCxnSpPr>
          <p:cNvPr id="156" name="Shape 156"/>
          <p:cNvCxnSpPr/>
          <p:nvPr/>
        </p:nvCxnSpPr>
        <p:spPr>
          <a:xfrm flipH="1">
            <a:off x="5299074" y="66230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57" name="Shape 157"/>
          <p:cNvSpPr txBox="1"/>
          <p:nvPr/>
        </p:nvSpPr>
        <p:spPr>
          <a:xfrm>
            <a:off x="2616200" y="6051550"/>
            <a:ext cx="2849562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Hello world</a:t>
            </a: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(a string)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11642725" y="6000750"/>
            <a:ext cx="17652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00FF00"/>
                </a:solidFill>
              </a:rPr>
              <a:t>'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w</a:t>
            </a:r>
            <a:r>
              <a:rPr lang="en-US" sz="3600">
                <a:solidFill>
                  <a:srgbClr val="00FF00"/>
                </a:solidFill>
              </a:rPr>
              <a:t>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(a string)</a:t>
            </a:r>
          </a:p>
        </p:txBody>
      </p:sp>
      <p:cxnSp>
        <p:nvCxnSpPr>
          <p:cNvPr id="159" name="Shape 159"/>
          <p:cNvCxnSpPr/>
          <p:nvPr/>
        </p:nvCxnSpPr>
        <p:spPr>
          <a:xfrm flipH="1">
            <a:off x="9680574" y="65722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60" name="Shape 160"/>
          <p:cNvSpPr txBox="1"/>
          <p:nvPr/>
        </p:nvSpPr>
        <p:spPr>
          <a:xfrm>
            <a:off x="5953125" y="8318500"/>
            <a:ext cx="43307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Guido wrote this code</a:t>
            </a:r>
          </a:p>
        </p:txBody>
      </p:sp>
      <p:sp>
        <p:nvSpPr>
          <p:cNvPr id="161" name="Shape 161"/>
          <p:cNvSpPr txBox="1"/>
          <p:nvPr/>
        </p:nvSpPr>
        <p:spPr>
          <a:xfrm>
            <a:off x="1200150" y="2616200"/>
            <a:ext cx="71321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big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('Hello world')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big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</a:p>
        </p:txBody>
      </p:sp>
      <p:sp>
        <p:nvSpPr>
          <p:cNvPr id="162" name="Shape 162"/>
          <p:cNvSpPr txBox="1"/>
          <p:nvPr/>
        </p:nvSpPr>
        <p:spPr>
          <a:xfrm>
            <a:off x="10474325" y="2508250"/>
            <a:ext cx="4940400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some stored code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we use. A function takes some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input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produces an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output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>
            <a:spLocks noGrp="1"/>
          </p:cNvSpPr>
          <p:nvPr>
            <p:ph type="title"/>
          </p:nvPr>
        </p:nvSpPr>
        <p:spPr>
          <a:xfrm>
            <a:off x="1155700" y="469900"/>
            <a:ext cx="64251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Type Conversions</a:t>
            </a:r>
          </a:p>
        </p:txBody>
      </p:sp>
      <p:sp>
        <p:nvSpPr>
          <p:cNvPr id="168" name="Shape 168"/>
          <p:cNvSpPr txBox="1">
            <a:spLocks noGrp="1"/>
          </p:cNvSpPr>
          <p:nvPr>
            <p:ph type="body" idx="1"/>
          </p:nvPr>
        </p:nvSpPr>
        <p:spPr>
          <a:xfrm>
            <a:off x="731900" y="3106625"/>
            <a:ext cx="64251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When you put an integer and floating point in an expression, the integer is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implicitly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converted to a float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You can control this with the built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 functions int() and float()</a:t>
            </a:r>
          </a:p>
        </p:txBody>
      </p:sp>
      <p:sp>
        <p:nvSpPr>
          <p:cNvPr id="169" name="Shape 169"/>
          <p:cNvSpPr txBox="1"/>
          <p:nvPr/>
        </p:nvSpPr>
        <p:spPr>
          <a:xfrm>
            <a:off x="7940325" y="1708850"/>
            <a:ext cx="7874399" cy="659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(99) </a:t>
            </a:r>
            <a:r>
              <a:rPr lang="en-US" sz="28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100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0.99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i = 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(i)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&lt;type 'int'&gt;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f = </a:t>
            </a:r>
            <a:r>
              <a:rPr lang="en-US" sz="28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(i)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42.0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(f)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&lt;type 'float'&gt;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1 </a:t>
            </a:r>
            <a:r>
              <a:rPr lang="en-US" sz="28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2 </a:t>
            </a:r>
            <a:r>
              <a:rPr lang="en-US" sz="28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(3) </a:t>
            </a:r>
            <a:r>
              <a:rPr lang="en-US" sz="28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28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 </a:t>
            </a:r>
            <a:r>
              <a:rPr lang="en-US" sz="28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-2.5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155700" y="546100"/>
            <a:ext cx="6032399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String Conversions</a:t>
            </a:r>
          </a:p>
        </p:txBody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850900" y="2603500"/>
            <a:ext cx="61596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You can also use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int()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float()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convert between strings and integers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You will get an </a:t>
            </a: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error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if the string does not contain numeric characters</a:t>
            </a:r>
          </a:p>
        </p:txBody>
      </p:sp>
      <p:sp>
        <p:nvSpPr>
          <p:cNvPr id="176" name="Shape 176"/>
          <p:cNvSpPr txBox="1"/>
          <p:nvPr/>
        </p:nvSpPr>
        <p:spPr>
          <a:xfrm>
            <a:off x="7946600" y="742950"/>
            <a:ext cx="7369199" cy="7658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sval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'123'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5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sval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&lt;type 'str'&gt;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sval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Traceback (most recent call last):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File "&lt;stdin&gt;", line 1, in &lt;module&gt;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TypeError: cannot concatenate 'str' and 'int'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ival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5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sval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5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ival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&lt;type 'int'&gt;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ival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124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nsv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niv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5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nsv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Traceback (most recent call last):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File "&lt;stdin&gt;", line 1, in &lt;module&gt;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ValueError: invalid literal for int()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Building our Own Functions</a:t>
            </a:r>
          </a:p>
        </p:txBody>
      </p:sp>
      <p:sp>
        <p:nvSpPr>
          <p:cNvPr id="182" name="Shape 182"/>
          <p:cNvSpPr txBox="1">
            <a:spLocks noGrp="1"/>
          </p:cNvSpPr>
          <p:nvPr>
            <p:ph type="body" idx="1"/>
          </p:nvPr>
        </p:nvSpPr>
        <p:spPr>
          <a:xfrm>
            <a:off x="774700" y="2603500"/>
            <a:ext cx="14629500" cy="34925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create a new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using 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def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keyword followed by optional parameters in parenthes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indent the body of the function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This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defines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function but </a:t>
            </a:r>
            <a:r>
              <a:rPr lang="en-US" sz="3600" b="0" i="1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does not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execute the body of the function</a:t>
            </a:r>
          </a:p>
        </p:txBody>
      </p:sp>
      <p:sp>
        <p:nvSpPr>
          <p:cNvPr id="183" name="Shape 183"/>
          <p:cNvSpPr txBox="1"/>
          <p:nvPr/>
        </p:nvSpPr>
        <p:spPr>
          <a:xfrm>
            <a:off x="3817000" y="6633900"/>
            <a:ext cx="9938399" cy="16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print_lyrics</a:t>
            </a: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"I'm a lumberjack, and I'm okay.</a:t>
            </a:r>
            <a:r>
              <a:rPr lang="en-US" sz="2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'I sleep all night and I work all day.'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/>
          <p:nvPr/>
        </p:nvSpPr>
        <p:spPr>
          <a:xfrm>
            <a:off x="1061600" y="1935150"/>
            <a:ext cx="8988899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'Hello'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print_lyrics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"I'm a lumberjack, and I'm okay.</a:t>
            </a:r>
            <a:r>
              <a:rPr lang="en-US" sz="24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'I sleep all night and I work all day.'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baseline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'Yo'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4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4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</a:p>
        </p:txBody>
      </p:sp>
      <p:sp>
        <p:nvSpPr>
          <p:cNvPr id="189" name="Shape 189"/>
          <p:cNvSpPr txBox="1"/>
          <p:nvPr/>
        </p:nvSpPr>
        <p:spPr>
          <a:xfrm>
            <a:off x="12166600" y="3968750"/>
            <a:ext cx="1119187" cy="166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Yo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7</a:t>
            </a:r>
          </a:p>
        </p:txBody>
      </p:sp>
      <p:sp>
        <p:nvSpPr>
          <p:cNvPr id="190" name="Shape 190"/>
          <p:cNvSpPr txBox="1"/>
          <p:nvPr/>
        </p:nvSpPr>
        <p:spPr>
          <a:xfrm>
            <a:off x="9626600" y="660400"/>
            <a:ext cx="5854700" cy="14731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   </a:t>
            </a:r>
            <a:r>
              <a:rPr lang="en-US" sz="25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print</a:t>
            </a:r>
            <a:r>
              <a:rPr lang="en-US" sz="2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"I'm a lumberjack, and I'm okay." 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   </a:t>
            </a:r>
            <a:r>
              <a:rPr lang="en-US" sz="25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print</a:t>
            </a:r>
            <a:r>
              <a:rPr lang="en-US" sz="2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'I sleep all night and I work all day.'</a:t>
            </a:r>
          </a:p>
        </p:txBody>
      </p:sp>
      <p:sp>
        <p:nvSpPr>
          <p:cNvPr id="191" name="Shape 191"/>
          <p:cNvSpPr txBox="1"/>
          <p:nvPr/>
        </p:nvSpPr>
        <p:spPr>
          <a:xfrm>
            <a:off x="7416800" y="1143000"/>
            <a:ext cx="2052636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print_lyrics</a:t>
            </a:r>
            <a:r>
              <a:rPr lang="en-US" sz="2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():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1155700" y="404075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Definitions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Uses</a:t>
            </a:r>
          </a:p>
        </p:txBody>
      </p:sp>
      <p:sp>
        <p:nvSpPr>
          <p:cNvPr id="197" name="Shape 197"/>
          <p:cNvSpPr txBox="1">
            <a:spLocks noGrp="1"/>
          </p:cNvSpPr>
          <p:nvPr>
            <p:ph type="body" idx="1"/>
          </p:nvPr>
        </p:nvSpPr>
        <p:spPr>
          <a:xfrm>
            <a:off x="1587650" y="2603500"/>
            <a:ext cx="13500000" cy="52050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Once we have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defined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 function, we can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call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(or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invoke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) it </a:t>
            </a:r>
            <a:b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as many times as we like</a:t>
            </a:r>
          </a:p>
          <a:p>
            <a:pPr marL="749300" marR="0" lvl="0" indent="-371094" algn="l" rtl="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This is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store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reuse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pattern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/>
          <p:nvPr/>
        </p:nvSpPr>
        <p:spPr>
          <a:xfrm>
            <a:off x="1078375" y="985825"/>
            <a:ext cx="11715899" cy="6092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'Hello'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print_lyrics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"I'm a lumberjack, and I'm okay.</a:t>
            </a:r>
            <a:r>
              <a:rPr lang="en-US" sz="3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'I sleep all night and I work all day.'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baseline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'Yo'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print_lyrics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8877300" y="5327650"/>
            <a:ext cx="6591299" cy="270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Yo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I'm a lumberjack, and I'm okay.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 sleep all night and I work all day.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7</a:t>
            </a:r>
          </a:p>
        </p:txBody>
      </p:sp>
      <p:cxnSp>
        <p:nvCxnSpPr>
          <p:cNvPr id="204" name="Shape 204"/>
          <p:cNvCxnSpPr/>
          <p:nvPr/>
        </p:nvCxnSpPr>
        <p:spPr>
          <a:xfrm rot="10800000">
            <a:off x="4334486" y="5532361"/>
            <a:ext cx="4353900" cy="1343099"/>
          </a:xfrm>
          <a:prstGeom prst="straightConnector1">
            <a:avLst/>
          </a:prstGeom>
          <a:noFill/>
          <a:ln w="889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title"/>
          </p:nvPr>
        </p:nvSpPr>
        <p:spPr>
          <a:xfrm>
            <a:off x="1155700" y="889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Arguments</a:t>
            </a:r>
          </a:p>
        </p:txBody>
      </p:sp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927100" y="2603500"/>
            <a:ext cx="14270699" cy="3886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An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argument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a value we pass into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as its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input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when we call the function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use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arguments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so we can direct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do different kinds of work when we call it at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different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times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put the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arguments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in parenthes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 after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name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the function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4635500" y="7061200"/>
            <a:ext cx="6248399" cy="812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9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big</a:t>
            </a:r>
            <a:r>
              <a:rPr lang="en-US" sz="49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US" sz="49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max</a:t>
            </a:r>
            <a:r>
              <a:rPr lang="en-US" sz="49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</a:t>
            </a:r>
            <a:r>
              <a:rPr lang="en-US" sz="49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'Hello world'</a:t>
            </a:r>
            <a:r>
              <a:rPr lang="en-US" sz="49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11498261" y="8166100"/>
            <a:ext cx="1976437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Argument</a:t>
            </a:r>
          </a:p>
        </p:txBody>
      </p:sp>
      <p:cxnSp>
        <p:nvCxnSpPr>
          <p:cNvPr id="213" name="Shape 213"/>
          <p:cNvCxnSpPr/>
          <p:nvPr/>
        </p:nvCxnSpPr>
        <p:spPr>
          <a:xfrm>
            <a:off x="10014325" y="7881100"/>
            <a:ext cx="1288800" cy="638999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 txBox="1">
            <a:spLocks noGrp="1"/>
          </p:cNvSpPr>
          <p:nvPr>
            <p:ph type="title"/>
          </p:nvPr>
        </p:nvSpPr>
        <p:spPr>
          <a:xfrm>
            <a:off x="4316050" y="76200"/>
            <a:ext cx="6984899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Parameters</a:t>
            </a:r>
          </a:p>
        </p:txBody>
      </p:sp>
      <p:sp>
        <p:nvSpPr>
          <p:cNvPr id="219" name="Shape 219"/>
          <p:cNvSpPr txBox="1">
            <a:spLocks noGrp="1"/>
          </p:cNvSpPr>
          <p:nvPr>
            <p:ph type="body" idx="1"/>
          </p:nvPr>
        </p:nvSpPr>
        <p:spPr>
          <a:xfrm>
            <a:off x="1155700" y="2110500"/>
            <a:ext cx="6843900" cy="4396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749300" lvl="0" indent="-142494" rtl="0">
              <a:lnSpc>
                <a:spcPct val="115000"/>
              </a:lnSpc>
              <a:spcBef>
                <a:spcPts val="0"/>
              </a:spcBef>
              <a:buClr>
                <a:schemeClr val="lt1"/>
              </a:buClr>
              <a:buSzPct val="171000"/>
              <a:buFont typeface="Cabin"/>
              <a:buNone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60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parameter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a variable which we use </a:t>
            </a:r>
            <a:r>
              <a:rPr lang="en-US" sz="36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function </a:t>
            </a:r>
            <a:r>
              <a:rPr lang="en-US" sz="360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definition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  It is a </a:t>
            </a:r>
            <a:r>
              <a:rPr lang="en-US" sz="3600">
                <a:solidFill>
                  <a:schemeClr val="lt1"/>
                </a:solidFill>
              </a:rPr>
              <a:t>“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handle</a:t>
            </a:r>
            <a:r>
              <a:rPr lang="en-US" sz="3600">
                <a:solidFill>
                  <a:schemeClr val="lt1"/>
                </a:solidFill>
              </a:rPr>
              <a:t>”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allows the code in the </a:t>
            </a:r>
            <a:r>
              <a:rPr lang="en-US" sz="3600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access the </a:t>
            </a:r>
            <a:r>
              <a:rPr lang="en-US" sz="360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arguments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for a particular </a:t>
            </a:r>
            <a:r>
              <a:rPr lang="en-US" sz="3600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invocation.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20" name="Shape 220"/>
          <p:cNvSpPr txBox="1"/>
          <p:nvPr/>
        </p:nvSpPr>
        <p:spPr>
          <a:xfrm>
            <a:off x="10052050" y="1241425"/>
            <a:ext cx="5713800" cy="6648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</a:t>
            </a:r>
            <a:r>
              <a:rPr lang="en-US" sz="2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== 'es':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'Hola</a:t>
            </a:r>
            <a:r>
              <a:rPr lang="en-US" sz="2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== 'fr':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'Bonjour</a:t>
            </a:r>
            <a:r>
              <a:rPr lang="en-US" sz="2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</a:t>
            </a:r>
            <a:r>
              <a:rPr lang="en-US" sz="2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print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'Hello</a:t>
            </a:r>
            <a:r>
              <a:rPr lang="en-US" sz="2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'en'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'es'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Hola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'fr'</a:t>
            </a: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Bonjour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>
            <a:spLocks noGrp="1"/>
          </p:cNvSpPr>
          <p:nvPr>
            <p:ph type="title"/>
          </p:nvPr>
        </p:nvSpPr>
        <p:spPr>
          <a:xfrm>
            <a:off x="927100" y="889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Return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Values</a:t>
            </a:r>
          </a:p>
        </p:txBody>
      </p:sp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1435000" y="2387500"/>
            <a:ext cx="13932000" cy="25781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Often a function will take its arguments, do some computation, and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return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 value to be used as the value of the function call in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calling expression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  The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return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keyword is used for this.</a:t>
            </a:r>
          </a:p>
        </p:txBody>
      </p:sp>
      <p:sp>
        <p:nvSpPr>
          <p:cNvPr id="227" name="Shape 227"/>
          <p:cNvSpPr txBox="1"/>
          <p:nvPr/>
        </p:nvSpPr>
        <p:spPr>
          <a:xfrm>
            <a:off x="2011875" y="5441950"/>
            <a:ext cx="8546999" cy="28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():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"Hello</a:t>
            </a:r>
            <a:r>
              <a:rPr lang="en-US" sz="36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 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greet()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, "Glenn</a:t>
            </a:r>
            <a:r>
              <a:rPr lang="en-US" sz="36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 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greet()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, "Sally"</a:t>
            </a:r>
          </a:p>
        </p:txBody>
      </p:sp>
      <p:sp>
        <p:nvSpPr>
          <p:cNvPr id="228" name="Shape 228"/>
          <p:cNvSpPr txBox="1"/>
          <p:nvPr/>
        </p:nvSpPr>
        <p:spPr>
          <a:xfrm>
            <a:off x="11137500" y="7104450"/>
            <a:ext cx="4000500" cy="1193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60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Hello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60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Hello Sally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>
            <a:spLocks noGrp="1"/>
          </p:cNvSpPr>
          <p:nvPr>
            <p:ph type="title"/>
          </p:nvPr>
        </p:nvSpPr>
        <p:spPr>
          <a:xfrm>
            <a:off x="3486475" y="311225"/>
            <a:ext cx="8463599" cy="1844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Return Value</a:t>
            </a:r>
          </a:p>
        </p:txBody>
      </p:sp>
      <p:sp>
        <p:nvSpPr>
          <p:cNvPr id="234" name="Shape 234"/>
          <p:cNvSpPr txBox="1">
            <a:spLocks noGrp="1"/>
          </p:cNvSpPr>
          <p:nvPr>
            <p:ph type="body" idx="1"/>
          </p:nvPr>
        </p:nvSpPr>
        <p:spPr>
          <a:xfrm>
            <a:off x="1155700" y="2358425"/>
            <a:ext cx="60197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fruitful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one that produces a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result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(or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return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value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return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ends 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execution and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sends back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result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</a:p>
        </p:txBody>
      </p:sp>
      <p:sp>
        <p:nvSpPr>
          <p:cNvPr id="235" name="Shape 235"/>
          <p:cNvSpPr txBox="1"/>
          <p:nvPr/>
        </p:nvSpPr>
        <p:spPr>
          <a:xfrm>
            <a:off x="9002225" y="2055525"/>
            <a:ext cx="6722399" cy="6429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5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</a:t>
            </a:r>
            <a:r>
              <a:rPr lang="en-US" sz="25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== 'es':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</a:t>
            </a:r>
            <a:r>
              <a:rPr lang="en-US" sz="25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'Hola</a:t>
            </a:r>
            <a:r>
              <a:rPr lang="en-US" sz="25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== 'fr':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   </a:t>
            </a:r>
            <a:r>
              <a:rPr lang="en-US" sz="25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'Bonjour</a:t>
            </a:r>
            <a:r>
              <a:rPr lang="en-US" sz="25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   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'Hello</a:t>
            </a:r>
            <a:r>
              <a:rPr lang="en-US" sz="25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5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'en'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),'Glenn</a:t>
            </a:r>
            <a:r>
              <a:rPr lang="en-US" sz="25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Hello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5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'es'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),'Sally</a:t>
            </a:r>
            <a:r>
              <a:rPr lang="en-US" sz="25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Hola Sally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5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5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5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'fr'</a:t>
            </a: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),'Michael</a:t>
            </a:r>
            <a:r>
              <a:rPr lang="en-US" sz="25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Bonjour Michael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1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Arguments</a:t>
            </a:r>
            <a:r>
              <a:rPr lang="en-US" sz="71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-US" sz="71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71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Parameters</a:t>
            </a:r>
            <a:r>
              <a:rPr lang="en-US" sz="71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 and</a:t>
            </a:r>
            <a:r>
              <a:rPr lang="en-US" sz="71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71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Results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1200150" y="2616200"/>
            <a:ext cx="7557000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big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'Hello world'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big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7805637" y="4011400"/>
            <a:ext cx="3127800" cy="34833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max(</a:t>
            </a:r>
            <a:r>
              <a:rPr lang="en-US" sz="24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inp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sz="24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2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n-US" sz="24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</p:txBody>
      </p:sp>
      <p:cxnSp>
        <p:nvCxnSpPr>
          <p:cNvPr id="243" name="Shape 243"/>
          <p:cNvCxnSpPr/>
          <p:nvPr/>
        </p:nvCxnSpPr>
        <p:spPr>
          <a:xfrm flipH="1">
            <a:off x="6569200" y="5608275"/>
            <a:ext cx="1016099" cy="3600"/>
          </a:xfrm>
          <a:prstGeom prst="straightConnector1">
            <a:avLst/>
          </a:prstGeom>
          <a:noFill/>
          <a:ln w="889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44" name="Shape 244"/>
          <p:cNvSpPr txBox="1"/>
          <p:nvPr/>
        </p:nvSpPr>
        <p:spPr>
          <a:xfrm>
            <a:off x="3530600" y="5283200"/>
            <a:ext cx="2849562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Hello world</a:t>
            </a: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</p:txBody>
      </p:sp>
      <p:sp>
        <p:nvSpPr>
          <p:cNvPr id="245" name="Shape 245"/>
          <p:cNvSpPr txBox="1"/>
          <p:nvPr/>
        </p:nvSpPr>
        <p:spPr>
          <a:xfrm>
            <a:off x="13066711" y="5232400"/>
            <a:ext cx="644524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00FF00"/>
                </a:solidFill>
              </a:rPr>
              <a:t>'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w</a:t>
            </a:r>
            <a:r>
              <a:rPr lang="en-US" sz="3600">
                <a:solidFill>
                  <a:srgbClr val="00FF00"/>
                </a:solidFill>
              </a:rPr>
              <a:t>'</a:t>
            </a:r>
          </a:p>
        </p:txBody>
      </p:sp>
      <p:cxnSp>
        <p:nvCxnSpPr>
          <p:cNvPr id="246" name="Shape 246"/>
          <p:cNvCxnSpPr/>
          <p:nvPr/>
        </p:nvCxnSpPr>
        <p:spPr>
          <a:xfrm flipH="1">
            <a:off x="11153774" y="55943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47" name="Shape 247"/>
          <p:cNvSpPr txBox="1"/>
          <p:nvPr/>
        </p:nvSpPr>
        <p:spPr>
          <a:xfrm>
            <a:off x="2049461" y="6502400"/>
            <a:ext cx="1976437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Argument</a:t>
            </a:r>
          </a:p>
        </p:txBody>
      </p:sp>
      <p:cxnSp>
        <p:nvCxnSpPr>
          <p:cNvPr id="248" name="Shape 248"/>
          <p:cNvCxnSpPr/>
          <p:nvPr/>
        </p:nvCxnSpPr>
        <p:spPr>
          <a:xfrm flipH="1">
            <a:off x="3027375" y="5965150"/>
            <a:ext cx="903299" cy="532499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49" name="Shape 249"/>
          <p:cNvSpPr txBox="1"/>
          <p:nvPr/>
        </p:nvSpPr>
        <p:spPr>
          <a:xfrm>
            <a:off x="11231561" y="2908300"/>
            <a:ext cx="2041524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Parameter</a:t>
            </a:r>
          </a:p>
        </p:txBody>
      </p:sp>
      <p:cxnSp>
        <p:nvCxnSpPr>
          <p:cNvPr id="250" name="Shape 250"/>
          <p:cNvCxnSpPr/>
          <p:nvPr/>
        </p:nvCxnSpPr>
        <p:spPr>
          <a:xfrm rot="10800000" flipH="1">
            <a:off x="9904575" y="3297099"/>
            <a:ext cx="1049100" cy="1075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51" name="Shape 251"/>
          <p:cNvSpPr txBox="1"/>
          <p:nvPr/>
        </p:nvSpPr>
        <p:spPr>
          <a:xfrm>
            <a:off x="13023850" y="6743700"/>
            <a:ext cx="1266825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Result</a:t>
            </a:r>
          </a:p>
        </p:txBody>
      </p:sp>
      <p:cxnSp>
        <p:nvCxnSpPr>
          <p:cNvPr id="252" name="Shape 252"/>
          <p:cNvCxnSpPr/>
          <p:nvPr/>
        </p:nvCxnSpPr>
        <p:spPr>
          <a:xfrm>
            <a:off x="13377862" y="5940425"/>
            <a:ext cx="19049" cy="7112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Multiple </a:t>
            </a:r>
            <a:r>
              <a:rPr lang="en-US" sz="72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Parameters</a:t>
            </a:r>
            <a:r>
              <a:rPr lang="en-US" sz="7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/ </a:t>
            </a:r>
            <a:r>
              <a:rPr lang="en-US" sz="72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Arguments</a:t>
            </a:r>
          </a:p>
        </p:txBody>
      </p:sp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1526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define more than one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parameter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in 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definition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simply add more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arguments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when we call 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match the number and order of arguments and parameters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9966100" y="3923300"/>
            <a:ext cx="54810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addtwo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a, b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added =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added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30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addtwo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3, 5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13322500" y="7118225"/>
            <a:ext cx="1178400" cy="937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4800">
                <a:solidFill>
                  <a:srgbClr val="FF0000"/>
                </a:solidFill>
              </a:rPr>
              <a:t>8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rPr>
              <a:t>Void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(non-fruitful) Functions</a:t>
            </a:r>
          </a:p>
        </p:txBody>
      </p:sp>
      <p:sp>
        <p:nvSpPr>
          <p:cNvPr id="266" name="Shape 26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When a function does not return a value, we call it a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rPr>
              <a:t>void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function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Functions that return values are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fruitful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functions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9A9A9A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rPr>
              <a:t>Void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functions are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not fruitful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To function or not to function...</a:t>
            </a:r>
          </a:p>
        </p:txBody>
      </p:sp>
      <p:sp>
        <p:nvSpPr>
          <p:cNvPr id="272" name="Shape 27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Organize your code into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paragraphs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- capture a complete thought and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name it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 repeat yourself - make it work once and then reuse it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 something gets too long or complex, break it up into logical chunks and put those chunks in functions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Make a library of common stuff that you do over and over - perhaps share this with your friends...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/>
          <p:nvPr/>
        </p:nvSpPr>
        <p:spPr>
          <a:xfrm>
            <a:off x="749300" y="342900"/>
            <a:ext cx="1727199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Exercise</a:t>
            </a:r>
          </a:p>
        </p:txBody>
      </p:sp>
      <p:sp>
        <p:nvSpPr>
          <p:cNvPr id="317" name="Shape 317"/>
          <p:cNvSpPr txBox="1"/>
          <p:nvPr/>
        </p:nvSpPr>
        <p:spPr>
          <a:xfrm>
            <a:off x="3136900" y="2133600"/>
            <a:ext cx="10706100" cy="401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Rewrite your pay computation with time-and-a-half for overtime and create a function called </a:t>
            </a:r>
            <a:r>
              <a:rPr lang="en-US" sz="3800" b="0" i="0" u="none" strike="noStrike" cap="none" baseline="0" dirty="0" err="1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computepay</a:t>
            </a:r>
            <a:r>
              <a:rPr lang="en-US" sz="38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which takes two parameters ( hours and  rate).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380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Enter Hours: </a:t>
            </a:r>
            <a:r>
              <a:rPr lang="en-US" sz="3800" b="0" i="0" u="none" strike="noStrike" cap="none" baseline="0" dirty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45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Enter Rate: </a:t>
            </a:r>
            <a:r>
              <a:rPr lang="en-US" sz="3800" b="0" i="0" u="none" strike="noStrike" cap="none" baseline="0" dirty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10</a:t>
            </a:r>
            <a:r>
              <a:rPr lang="en-US" sz="38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Pay: 475.0</a:t>
            </a:r>
          </a:p>
        </p:txBody>
      </p:sp>
      <p:sp>
        <p:nvSpPr>
          <p:cNvPr id="318" name="Shape 318"/>
          <p:cNvSpPr txBox="1"/>
          <p:nvPr/>
        </p:nvSpPr>
        <p:spPr>
          <a:xfrm>
            <a:off x="9896475" y="6731000"/>
            <a:ext cx="4565650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475 = 40 * 10 + 5 * 15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Summary</a:t>
            </a:r>
          </a:p>
        </p:txBody>
      </p:sp>
      <p:sp>
        <p:nvSpPr>
          <p:cNvPr id="363" name="Shape 363"/>
          <p:cNvSpPr txBox="1">
            <a:spLocks noGrp="1"/>
          </p:cNvSpPr>
          <p:nvPr>
            <p:ph type="body" idx="1"/>
          </p:nvPr>
        </p:nvSpPr>
        <p:spPr>
          <a:xfrm>
            <a:off x="7872650" y="3038500"/>
            <a:ext cx="6370800" cy="4968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6188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Arguments</a:t>
            </a:r>
          </a:p>
          <a:p>
            <a:pPr marL="685800" marR="0" lvl="0" indent="-36188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Results (fruitful functions)</a:t>
            </a:r>
          </a:p>
          <a:p>
            <a:pPr marL="685800" marR="0" lvl="0" indent="-36188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Void (non-fruitful) functions</a:t>
            </a:r>
          </a:p>
          <a:p>
            <a:pPr marL="685800" marR="0" lvl="0" indent="-36188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Why use functions?</a:t>
            </a:r>
          </a:p>
        </p:txBody>
      </p:sp>
      <p:sp>
        <p:nvSpPr>
          <p:cNvPr id="364" name="Shape 364"/>
          <p:cNvSpPr txBox="1">
            <a:spLocks noGrp="1"/>
          </p:cNvSpPr>
          <p:nvPr>
            <p:ph type="body" idx="2"/>
          </p:nvPr>
        </p:nvSpPr>
        <p:spPr>
          <a:xfrm>
            <a:off x="1060450" y="3053625"/>
            <a:ext cx="6370800" cy="4968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6188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Functions</a:t>
            </a:r>
          </a:p>
          <a:p>
            <a:pPr marL="685800" marR="0" lvl="0" indent="-36188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Built-In Functions</a:t>
            </a:r>
          </a:p>
          <a:p>
            <a:pPr marL="977900" marR="0" lvl="1" indent="-13328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Type conversion (int, float)</a:t>
            </a:r>
          </a:p>
          <a:p>
            <a:pPr marL="977900" marR="0" lvl="1" indent="-13328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String conversions</a:t>
            </a:r>
          </a:p>
          <a:p>
            <a:pPr marL="685800" marR="0" lvl="0" indent="-36188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Parameters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vignette2.wikia.nocookie.net/animaljam/images/3/38/Dancing_gir.gif/revision/latest?cb=20141122094457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216" y="323528"/>
            <a:ext cx="12889432" cy="8171901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35112" y="251520"/>
            <a:ext cx="108732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Chapter 4 : Finished</a:t>
            </a:r>
          </a:p>
          <a:p>
            <a:endParaRPr lang="en-US" sz="8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000208" y="7209001"/>
            <a:ext cx="6984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Any Doubt?</a:t>
            </a:r>
            <a:endParaRPr lang="en-US" sz="8000" b="1" dirty="0"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00FF00"/>
      </a:accent1>
      <a:accent2>
        <a:srgbClr val="333399"/>
      </a:accent2>
      <a:accent3>
        <a:srgbClr val="AAAAAA"/>
      </a:accent3>
      <a:accent4>
        <a:srgbClr val="DADADA"/>
      </a:accent4>
      <a:accent5>
        <a:srgbClr val="AAFF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333399"/>
      </a:accent2>
      <a:accent3>
        <a:srgbClr val="AAAAAA"/>
      </a:accent3>
      <a:accent4>
        <a:srgbClr val="DADADA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itle &amp; Bullets - 2 Column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FFFF00"/>
      </a:accent1>
      <a:accent2>
        <a:srgbClr val="333399"/>
      </a:accent2>
      <a:accent3>
        <a:srgbClr val="AAAAAA"/>
      </a:accent3>
      <a:accent4>
        <a:srgbClr val="DADADA"/>
      </a:accent4>
      <a:accent5>
        <a:srgbClr val="FFFF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1371</Words>
  <Application>Microsoft Office PowerPoint</Application>
  <PresentationFormat>Custom</PresentationFormat>
  <Paragraphs>260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Cabin</vt:lpstr>
      <vt:lpstr>Courier New</vt:lpstr>
      <vt:lpstr>Title &amp; Subtitle</vt:lpstr>
      <vt:lpstr>1_Title &amp; Bullets</vt:lpstr>
      <vt:lpstr>Title &amp; Bullets</vt:lpstr>
      <vt:lpstr>Title &amp; Bullets - 2 Column</vt:lpstr>
      <vt:lpstr>Title &amp; Bullets</vt:lpstr>
      <vt:lpstr>Functions</vt:lpstr>
      <vt:lpstr>Stored (and reused) Steps</vt:lpstr>
      <vt:lpstr>Python Functions</vt:lpstr>
      <vt:lpstr>Function Definition</vt:lpstr>
      <vt:lpstr>Slide 5</vt:lpstr>
      <vt:lpstr>Max Function</vt:lpstr>
      <vt:lpstr>Max Function</vt:lpstr>
      <vt:lpstr>Type Conversions</vt:lpstr>
      <vt:lpstr>String Conversions</vt:lpstr>
      <vt:lpstr>Building our Own Functions</vt:lpstr>
      <vt:lpstr>Slide 11</vt:lpstr>
      <vt:lpstr>Definitions and Uses</vt:lpstr>
      <vt:lpstr>Slide 13</vt:lpstr>
      <vt:lpstr>Arguments</vt:lpstr>
      <vt:lpstr>Parameters</vt:lpstr>
      <vt:lpstr>Return Values</vt:lpstr>
      <vt:lpstr>Return Value</vt:lpstr>
      <vt:lpstr>Arguments, Parameters, and Results</vt:lpstr>
      <vt:lpstr>Multiple Parameters / Arguments</vt:lpstr>
      <vt:lpstr>Void (non-fruitful) Functions</vt:lpstr>
      <vt:lpstr>To function or not to function...</vt:lpstr>
      <vt:lpstr>Slide 22</vt:lpstr>
      <vt:lpstr>Summary</vt:lpstr>
      <vt:lpstr>Slide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cp:lastModifiedBy>Atul Ghumade</cp:lastModifiedBy>
  <cp:revision>3</cp:revision>
  <dcterms:modified xsi:type="dcterms:W3CDTF">2015-09-11T18:09:36Z</dcterms:modified>
</cp:coreProperties>
</file>