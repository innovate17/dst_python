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  <p:sldMasterId id="2147483704" r:id="rId2"/>
    <p:sldMasterId id="2147483705" r:id="rId3"/>
    <p:sldMasterId id="2147483706" r:id="rId4"/>
    <p:sldMasterId id="2147483707" r:id="rId5"/>
  </p:sldMasterIdLst>
  <p:notesMasterIdLst>
    <p:notesMasterId r:id="rId40"/>
  </p:notesMasterIdLst>
  <p:sldIdLst>
    <p:sldId id="256" r:id="rId6"/>
    <p:sldId id="257" r:id="rId7"/>
    <p:sldId id="25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x="16256000" cy="9144000"/>
  <p:notesSz cx="6858000" cy="9144000"/>
  <p:embeddedFontLst>
    <p:embeddedFont>
      <p:font typeface="Cabin" charset="0"/>
      <p:regular r:id="rId41"/>
      <p:bold r:id="rId42"/>
      <p:italic r:id="rId43"/>
      <p:boldItalic r:id="rId44"/>
    </p:embeddedFont>
  </p:embeddedFontLst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786" y="-108"/>
      </p:cViewPr>
      <p:guideLst>
        <p:guide orient="horz" pos="2880"/>
        <p:guide pos="5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2.fntdata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4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3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1524991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23" name="Shape 12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29" name="Shape 12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81" name="Shape 18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89" name="Shape 18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97" name="Shape 19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11" name="Shape 21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25" name="Shape 22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39" name="Shape 23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49" name="Shape 24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56" name="Shape 25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71" name="Shape 27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85" name="Shape 28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97" name="Shape 29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08" name="Shape 30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20" name="Shape 32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70" name="Shape 37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3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80" name="Shape 38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3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93" name="Shape 39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4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04" name="Shape 40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hape 4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15" name="Shape 41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42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26" name="Shape 42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36" name="Shape 43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4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49" name="Shape 44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4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59" name="Shape 45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66" name="Shape 46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4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72" name="Shape 47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87" name="Shape 48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4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93" name="Shape 49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42" name="Shape 5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title"/>
          </p:nvPr>
        </p:nvSpPr>
        <p:spPr>
          <a:xfrm rot="5400000">
            <a:off x="11231562" y="1909762"/>
            <a:ext cx="4229100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body" idx="1"/>
          </p:nvPr>
        </p:nvSpPr>
        <p:spPr>
          <a:xfrm rot="5400000">
            <a:off x="4189412" y="-1497012"/>
            <a:ext cx="4229100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 rot="5400000">
            <a:off x="7594599" y="-1727200"/>
            <a:ext cx="1054100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819785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 rot="5400000">
            <a:off x="9236075" y="2441574"/>
            <a:ext cx="7708899" cy="33083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 rot="5400000">
            <a:off x="2543175" y="-790575"/>
            <a:ext cx="7708899" cy="97726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 rot="5400000">
            <a:off x="5448299" y="-1346199"/>
            <a:ext cx="5359400" cy="13233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6540500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body" idx="2"/>
          </p:nvPr>
        </p:nvSpPr>
        <p:spPr>
          <a:xfrm>
            <a:off x="8204200" y="2590800"/>
            <a:ext cx="6540500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1" name="Shape 141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6" name="Shape 146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153" name="Shape 153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4" name="Shape 154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155" name="Shape 155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58" name="Shape 15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9" name="Shape 159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65" name="Shape 16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68" name="Shape 168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 txBox="1">
            <a:spLocks noGrp="1"/>
          </p:cNvSpPr>
          <p:nvPr>
            <p:ph type="title"/>
          </p:nvPr>
        </p:nvSpPr>
        <p:spPr>
          <a:xfrm rot="5400000">
            <a:off x="9313799" y="2532099"/>
            <a:ext cx="8064599" cy="348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26" name="Shape 326"/>
          <p:cNvSpPr txBox="1">
            <a:spLocks noGrp="1"/>
          </p:cNvSpPr>
          <p:nvPr>
            <p:ph type="body" idx="1"/>
          </p:nvPr>
        </p:nvSpPr>
        <p:spPr>
          <a:xfrm rot="5400000">
            <a:off x="2271625" y="-874699"/>
            <a:ext cx="8064599" cy="10296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32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29" name="Shape 329"/>
          <p:cNvSpPr txBox="1">
            <a:spLocks noGrp="1"/>
          </p:cNvSpPr>
          <p:nvPr>
            <p:ph type="body" idx="1"/>
          </p:nvPr>
        </p:nvSpPr>
        <p:spPr>
          <a:xfrm rot="5400000">
            <a:off x="5270399" y="-1511300"/>
            <a:ext cx="5702399" cy="13932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2" name="Shape 332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Shape 333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335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399" cy="1549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6" name="Shape 336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699" cy="7804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7" name="Shape 337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399" cy="625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43" name="Shape 343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699" cy="8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344" name="Shape 344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699" cy="526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45" name="Shape 345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4999" cy="8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346" name="Shape 346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4999" cy="526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49" name="Shape 34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8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50" name="Shape 350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8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699" cy="181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53" name="Shape 353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699" cy="200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56" name="Shape 35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699" cy="1960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59" name="Shape 359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300" cy="2336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Shape 498"/>
          <p:cNvSpPr txBox="1">
            <a:spLocks noGrp="1"/>
          </p:cNvSpPr>
          <p:nvPr>
            <p:ph type="title"/>
          </p:nvPr>
        </p:nvSpPr>
        <p:spPr>
          <a:xfrm rot="5400000">
            <a:off x="9313799" y="2532099"/>
            <a:ext cx="8064599" cy="348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99" name="Shape 499"/>
          <p:cNvSpPr txBox="1">
            <a:spLocks noGrp="1"/>
          </p:cNvSpPr>
          <p:nvPr>
            <p:ph type="body" idx="1"/>
          </p:nvPr>
        </p:nvSpPr>
        <p:spPr>
          <a:xfrm rot="5400000">
            <a:off x="2271625" y="-874699"/>
            <a:ext cx="8064599" cy="10296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02" name="Shape 502"/>
          <p:cNvSpPr txBox="1">
            <a:spLocks noGrp="1"/>
          </p:cNvSpPr>
          <p:nvPr>
            <p:ph type="body" idx="1"/>
          </p:nvPr>
        </p:nvSpPr>
        <p:spPr>
          <a:xfrm rot="5400000">
            <a:off x="5270399" y="-1511300"/>
            <a:ext cx="5702399" cy="13932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504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05" name="Shape 505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506" name="Shape 506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Shape 508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399" cy="1549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09" name="Shape 509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699" cy="7804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10" name="Shape 510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399" cy="625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Shape 51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515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16" name="Shape 516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699" cy="8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517" name="Shape 517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699" cy="526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18" name="Shape 518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4999" cy="8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519" name="Shape 519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4999" cy="526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Shape 52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22" name="Shape 52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8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23" name="Shape 523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8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Shape 525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699" cy="181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26" name="Shape 526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699" cy="200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Shape 52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29" name="Shape 52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531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699" cy="1960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32" name="Shape 532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300" cy="2336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23" name="Shape 32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hape 49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96" name="Shape 49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Regular_expressi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4" Type="http://schemas.openxmlformats.org/officeDocument/2006/relationships/hyperlink" Target="http://xkcd.com/208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Regular Expressions</a:t>
            </a:r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5494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Chapter 11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Regular Expressions</a:t>
            </a:r>
          </a:p>
        </p:txBody>
      </p:sp>
      <p:sp>
        <p:nvSpPr>
          <p:cNvPr id="93" name="Shape 93"/>
          <p:cNvSpPr txBox="1"/>
          <p:nvPr/>
        </p:nvSpPr>
        <p:spPr>
          <a:xfrm>
            <a:off x="2540075" y="8115300"/>
            <a:ext cx="11408100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8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http://en.wikipedia.org/wiki/Regular_expression</a:t>
            </a:r>
          </a:p>
        </p:txBody>
      </p:sp>
      <p:sp>
        <p:nvSpPr>
          <p:cNvPr id="94" name="Shape 94"/>
          <p:cNvSpPr txBox="1"/>
          <p:nvPr/>
        </p:nvSpPr>
        <p:spPr>
          <a:xfrm>
            <a:off x="2806700" y="2946400"/>
            <a:ext cx="10642499" cy="4281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 computing, a regular expression, also referred to as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regex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or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regexp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, provides a concise and flexible means for matching strings of text, such as particular characters, words, or patterns of characters. A regular expression is written in a formal language </a:t>
            </a:r>
            <a:r>
              <a:rPr lang="en-US" sz="3600" b="0" i="0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that can be int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erpreted by a regular expression processor.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Regular Expressions</a:t>
            </a:r>
          </a:p>
        </p:txBody>
      </p:sp>
      <p:sp>
        <p:nvSpPr>
          <p:cNvPr id="100" name="Shape 100"/>
          <p:cNvSpPr txBox="1"/>
          <p:nvPr/>
        </p:nvSpPr>
        <p:spPr>
          <a:xfrm>
            <a:off x="2641600" y="2844800"/>
            <a:ext cx="10642599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Really clever </a:t>
            </a:r>
            <a:r>
              <a:rPr lang="en-US" sz="38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wild card</a:t>
            </a:r>
            <a:r>
              <a:rPr lang="en-US" sz="38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expressions for matching and parsing strings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1511300" y="469900"/>
            <a:ext cx="132332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Understanding Regular Expressions</a:t>
            </a:r>
          </a:p>
        </p:txBody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1511300" y="3124200"/>
            <a:ext cx="13233299" cy="53594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Very powerful and quite cryptic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Fun once you understand them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Regular expressions are a language unto themselves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language of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marker characters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- programming with characters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It is kind of an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old school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language - compact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Shape 1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900" y="112711"/>
            <a:ext cx="8801100" cy="890428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Shape 120"/>
          <p:cNvSpPr txBox="1"/>
          <p:nvPr/>
        </p:nvSpPr>
        <p:spPr>
          <a:xfrm>
            <a:off x="10798700" y="7645400"/>
            <a:ext cx="5152799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8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4"/>
              </a:rPr>
              <a:t>http://xkcd.com/208/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15748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Regular Expression Quick Guide</a:t>
            </a:r>
          </a:p>
        </p:txBody>
      </p:sp>
      <p:sp>
        <p:nvSpPr>
          <p:cNvPr id="126" name="Shape 126"/>
          <p:cNvSpPr txBox="1"/>
          <p:nvPr/>
        </p:nvSpPr>
        <p:spPr>
          <a:xfrm>
            <a:off x="1022350" y="2044700"/>
            <a:ext cx="14719299" cy="6832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^ 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Matches the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beginning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of a line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$  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Matches the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of the line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Matches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any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character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\s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Matches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whitespace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\S 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Matches any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non-whitespace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character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Repeats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a character zero or more times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*?   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Repeats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a character zero or more times (non-greedy)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Repeats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a character one or more times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+? 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Repeats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a character one or more times (non-greedy)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[aeiou]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Matches a single character in the listed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[^XYZ]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Matches a single character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not in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the listed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[a-z0-9]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The set of characters can include a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Indicates where string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extraction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is to start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Indicates where string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extraction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is to end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The Regular Expression Module</a:t>
            </a:r>
          </a:p>
        </p:txBody>
      </p:sp>
      <p:sp>
        <p:nvSpPr>
          <p:cNvPr id="171" name="Shape 17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4076899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Before you can use regular expressions in your program, you must import the library using "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import re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"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You can use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re.search()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to see if a string matches a regular expression,  similar to using 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find()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method for strings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You can use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re.findall()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extract portions of a string that match your regular expression similar to a combination of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find()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slicing:      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var[5:10] 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Using 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re.search()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like </a:t>
            </a: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find()</a:t>
            </a:r>
          </a:p>
        </p:txBody>
      </p:sp>
      <p:sp>
        <p:nvSpPr>
          <p:cNvPr id="177" name="Shape 177"/>
          <p:cNvSpPr txBox="1"/>
          <p:nvPr/>
        </p:nvSpPr>
        <p:spPr>
          <a:xfrm>
            <a:off x="8371600" y="3410950"/>
            <a:ext cx="7579499" cy="3852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import re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baseline="0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hand = open('mbox-short.txt')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line in 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line = line.rstrip()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if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re.search('From:', line)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 line</a:t>
            </a:r>
          </a:p>
        </p:txBody>
      </p:sp>
      <p:sp>
        <p:nvSpPr>
          <p:cNvPr id="178" name="Shape 178"/>
          <p:cNvSpPr txBox="1"/>
          <p:nvPr/>
        </p:nvSpPr>
        <p:spPr>
          <a:xfrm>
            <a:off x="576925" y="3652600"/>
            <a:ext cx="7406099" cy="32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hand = open('mbox-short.txt')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line in 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line = line.rstrip()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if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line.find('From:')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&gt;= 0: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 line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Using 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re.search()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like </a:t>
            </a: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startswith()</a:t>
            </a:r>
          </a:p>
        </p:txBody>
      </p:sp>
      <p:sp>
        <p:nvSpPr>
          <p:cNvPr id="184" name="Shape 184"/>
          <p:cNvSpPr txBox="1"/>
          <p:nvPr/>
        </p:nvSpPr>
        <p:spPr>
          <a:xfrm>
            <a:off x="7881325" y="3120650"/>
            <a:ext cx="7895700" cy="341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import re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baseline="0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hand = open('mbox-short.txt')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line in 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line = line.rstrip()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if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re.search('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^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From:', line)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 line</a:t>
            </a:r>
          </a:p>
        </p:txBody>
      </p:sp>
      <p:sp>
        <p:nvSpPr>
          <p:cNvPr id="185" name="Shape 185"/>
          <p:cNvSpPr txBox="1"/>
          <p:nvPr/>
        </p:nvSpPr>
        <p:spPr>
          <a:xfrm>
            <a:off x="682250" y="3305150"/>
            <a:ext cx="8364000" cy="32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hand = open('mbox-short.txt')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line in 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line = line.rstrip()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if </a:t>
            </a: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line.startswith('From:')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 line</a:t>
            </a:r>
          </a:p>
        </p:txBody>
      </p:sp>
      <p:sp>
        <p:nvSpPr>
          <p:cNvPr id="186" name="Shape 186"/>
          <p:cNvSpPr txBox="1"/>
          <p:nvPr/>
        </p:nvSpPr>
        <p:spPr>
          <a:xfrm>
            <a:off x="188775" y="8140700"/>
            <a:ext cx="157622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We fine-tune what is matched by adding special characters to the string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Wild-Card Characters</a:t>
            </a:r>
          </a:p>
        </p:txBody>
      </p:sp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2438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dot character matches any character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If you add the asterisk character, the character is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any number of times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</a:p>
        </p:txBody>
      </p:sp>
      <p:sp>
        <p:nvSpPr>
          <p:cNvPr id="193" name="Shape 193"/>
          <p:cNvSpPr txBox="1"/>
          <p:nvPr/>
        </p:nvSpPr>
        <p:spPr>
          <a:xfrm>
            <a:off x="1400175" y="5426075"/>
            <a:ext cx="97395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X-Sieve: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CMU Sieve 2.3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X-DSPAM-Result: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Innocent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X-DSPAM-Confidence: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0.8475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X-Content-Type-Message-Body: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text/plain</a:t>
            </a:r>
          </a:p>
        </p:txBody>
      </p:sp>
      <p:sp>
        <p:nvSpPr>
          <p:cNvPr id="194" name="Shape 194"/>
          <p:cNvSpPr txBox="1"/>
          <p:nvPr/>
        </p:nvSpPr>
        <p:spPr>
          <a:xfrm>
            <a:off x="12074525" y="6286500"/>
            <a:ext cx="2469000" cy="97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00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^X.*:</a:t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Wild-Card Characters</a:t>
            </a:r>
          </a:p>
        </p:txBody>
      </p:sp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2438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dot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character matches any character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If you add the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asterisk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character, the character is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any number of times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1247775" y="5426075"/>
            <a:ext cx="95073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-Sieve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CMU Sieve 2.3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-DSPAM-Result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Innocent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-DSPAM-Confidence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0.8475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-Content-Type-Message-Body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text/plain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11843075" y="6286475"/>
            <a:ext cx="3071700" cy="97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^</a:t>
            </a:r>
            <a:r>
              <a:rPr lang="en-US" sz="6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6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6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6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7351711" y="5143500"/>
            <a:ext cx="4962525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Match the start of the line</a:t>
            </a:r>
          </a:p>
        </p:txBody>
      </p:sp>
      <p:sp>
        <p:nvSpPr>
          <p:cNvPr id="204" name="Shape 204"/>
          <p:cNvSpPr txBox="1"/>
          <p:nvPr/>
        </p:nvSpPr>
        <p:spPr>
          <a:xfrm>
            <a:off x="11277600" y="7785100"/>
            <a:ext cx="48188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Match any character</a:t>
            </a:r>
          </a:p>
        </p:txBody>
      </p:sp>
      <p:sp>
        <p:nvSpPr>
          <p:cNvPr id="205" name="Shape 205"/>
          <p:cNvSpPr txBox="1"/>
          <p:nvPr/>
        </p:nvSpPr>
        <p:spPr>
          <a:xfrm>
            <a:off x="13616000" y="4507637"/>
            <a:ext cx="2212800" cy="125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Many times</a:t>
            </a:r>
          </a:p>
        </p:txBody>
      </p:sp>
      <p:cxnSp>
        <p:nvCxnSpPr>
          <p:cNvPr id="206" name="Shape 206"/>
          <p:cNvCxnSpPr/>
          <p:nvPr/>
        </p:nvCxnSpPr>
        <p:spPr>
          <a:xfrm>
            <a:off x="13646087" y="7264500"/>
            <a:ext cx="81000" cy="5906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7" name="Shape 207"/>
          <p:cNvCxnSpPr>
            <a:endCxn id="205" idx="2"/>
          </p:cNvCxnSpPr>
          <p:nvPr/>
        </p:nvCxnSpPr>
        <p:spPr>
          <a:xfrm rot="10800000" flipH="1">
            <a:off x="14122400" y="5765837"/>
            <a:ext cx="600000" cy="606000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8" name="Shape 208"/>
          <p:cNvCxnSpPr/>
          <p:nvPr/>
        </p:nvCxnSpPr>
        <p:spPr>
          <a:xfrm rot="10800000">
            <a:off x="11497399" y="5752649"/>
            <a:ext cx="982800" cy="632400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Fine-Tuning Your Match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1247775" y="5467350"/>
            <a:ext cx="8796300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-Sieve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CMU Sieve 2.3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-DSPAM-Result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Innocent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X-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Plane is behind schedule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two weeks</a:t>
            </a:r>
          </a:p>
        </p:txBody>
      </p:sp>
      <p:sp>
        <p:nvSpPr>
          <p:cNvPr id="215" name="Shape 215"/>
          <p:cNvSpPr txBox="1"/>
          <p:nvPr/>
        </p:nvSpPr>
        <p:spPr>
          <a:xfrm>
            <a:off x="12074525" y="6286500"/>
            <a:ext cx="3071700" cy="97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^</a:t>
            </a:r>
            <a:r>
              <a:rPr lang="en-US" sz="6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6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6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6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</p:txBody>
      </p:sp>
      <p:sp>
        <p:nvSpPr>
          <p:cNvPr id="216" name="Shape 216"/>
          <p:cNvSpPr txBox="1"/>
          <p:nvPr/>
        </p:nvSpPr>
        <p:spPr>
          <a:xfrm>
            <a:off x="7351711" y="5143500"/>
            <a:ext cx="49625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Match the start of the line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11277600" y="7785100"/>
            <a:ext cx="48188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Match any character</a:t>
            </a:r>
          </a:p>
        </p:txBody>
      </p:sp>
      <p:sp>
        <p:nvSpPr>
          <p:cNvPr id="218" name="Shape 218"/>
          <p:cNvSpPr txBox="1"/>
          <p:nvPr/>
        </p:nvSpPr>
        <p:spPr>
          <a:xfrm>
            <a:off x="13616000" y="4507637"/>
            <a:ext cx="2212800" cy="125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Many times</a:t>
            </a:r>
          </a:p>
        </p:txBody>
      </p:sp>
      <p:cxnSp>
        <p:nvCxnSpPr>
          <p:cNvPr id="219" name="Shape 219"/>
          <p:cNvCxnSpPr/>
          <p:nvPr/>
        </p:nvCxnSpPr>
        <p:spPr>
          <a:xfrm>
            <a:off x="13646087" y="7264500"/>
            <a:ext cx="81000" cy="5906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0" name="Shape 220"/>
          <p:cNvCxnSpPr>
            <a:endCxn id="218" idx="2"/>
          </p:cNvCxnSpPr>
          <p:nvPr/>
        </p:nvCxnSpPr>
        <p:spPr>
          <a:xfrm rot="10800000" flipH="1">
            <a:off x="14122400" y="5765837"/>
            <a:ext cx="600000" cy="606000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1" name="Shape 221"/>
          <p:cNvCxnSpPr/>
          <p:nvPr/>
        </p:nvCxnSpPr>
        <p:spPr>
          <a:xfrm rot="10800000">
            <a:off x="11615674" y="5797499"/>
            <a:ext cx="982800" cy="632400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22" name="Shape 22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2438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Depending on how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clean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your data is and the purpose of your application, you may want to narrow your match down a bit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Fine-Tuning Your Match</a:t>
            </a:r>
          </a:p>
        </p:txBody>
      </p:sp>
      <p:sp>
        <p:nvSpPr>
          <p:cNvPr id="228" name="Shape 22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2438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Depending on how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clean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your data is and the purpose of your application, you may want to narrow your match down a bit</a:t>
            </a:r>
          </a:p>
        </p:txBody>
      </p:sp>
      <p:sp>
        <p:nvSpPr>
          <p:cNvPr id="229" name="Shape 229"/>
          <p:cNvSpPr txBox="1"/>
          <p:nvPr/>
        </p:nvSpPr>
        <p:spPr>
          <a:xfrm>
            <a:off x="1247775" y="5441950"/>
            <a:ext cx="8781600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X-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Sieve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CMU Sieve 2.3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X-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DSPAM-Result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Innocent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X-Plane is behind schedule: two weeks</a:t>
            </a:r>
          </a:p>
        </p:txBody>
      </p:sp>
      <p:sp>
        <p:nvSpPr>
          <p:cNvPr id="230" name="Shape 230"/>
          <p:cNvSpPr txBox="1"/>
          <p:nvPr/>
        </p:nvSpPr>
        <p:spPr>
          <a:xfrm>
            <a:off x="11690350" y="6286500"/>
            <a:ext cx="3259500" cy="97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^</a:t>
            </a:r>
            <a:r>
              <a:rPr lang="en-US" sz="6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X-</a:t>
            </a:r>
            <a:r>
              <a:rPr lang="en-US" sz="6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\S</a:t>
            </a:r>
            <a:r>
              <a:rPr lang="en-US" sz="6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6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</p:txBody>
      </p:sp>
      <p:sp>
        <p:nvSpPr>
          <p:cNvPr id="231" name="Shape 231"/>
          <p:cNvSpPr txBox="1"/>
          <p:nvPr/>
        </p:nvSpPr>
        <p:spPr>
          <a:xfrm>
            <a:off x="7351711" y="5143500"/>
            <a:ext cx="4962525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Match the start of the line</a:t>
            </a:r>
          </a:p>
        </p:txBody>
      </p:sp>
      <p:sp>
        <p:nvSpPr>
          <p:cNvPr id="232" name="Shape 232"/>
          <p:cNvSpPr txBox="1"/>
          <p:nvPr/>
        </p:nvSpPr>
        <p:spPr>
          <a:xfrm>
            <a:off x="8431211" y="7937500"/>
            <a:ext cx="7365999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Match any non-whitespace character</a:t>
            </a:r>
          </a:p>
        </p:txBody>
      </p:sp>
      <p:sp>
        <p:nvSpPr>
          <p:cNvPr id="233" name="Shape 233"/>
          <p:cNvSpPr txBox="1"/>
          <p:nvPr/>
        </p:nvSpPr>
        <p:spPr>
          <a:xfrm>
            <a:off x="13065125" y="4654550"/>
            <a:ext cx="30607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One or more times</a:t>
            </a:r>
          </a:p>
        </p:txBody>
      </p:sp>
      <p:cxnSp>
        <p:nvCxnSpPr>
          <p:cNvPr id="234" name="Shape 234"/>
          <p:cNvCxnSpPr>
            <a:stCxn id="230" idx="2"/>
          </p:cNvCxnSpPr>
          <p:nvPr/>
        </p:nvCxnSpPr>
        <p:spPr>
          <a:xfrm flipH="1">
            <a:off x="12898300" y="7264500"/>
            <a:ext cx="421800" cy="7920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35" name="Shape 235"/>
          <p:cNvCxnSpPr>
            <a:endCxn id="233" idx="2"/>
          </p:cNvCxnSpPr>
          <p:nvPr/>
        </p:nvCxnSpPr>
        <p:spPr>
          <a:xfrm rot="10800000" flipH="1">
            <a:off x="14238475" y="5797550"/>
            <a:ext cx="357000" cy="632400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36" name="Shape 236"/>
          <p:cNvCxnSpPr/>
          <p:nvPr/>
        </p:nvCxnSpPr>
        <p:spPr>
          <a:xfrm rot="10800000">
            <a:off x="11615736" y="5797550"/>
            <a:ext cx="285750" cy="528637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Matching and Extracting Data</a:t>
            </a:r>
          </a:p>
        </p:txBody>
      </p:sp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28194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re.search()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returns a True/False depending on whether the string matches  the regular expression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If we actually want the matching strings to be extracted, we use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re.findall()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x="5692825" y="5950850"/>
            <a:ext cx="10330799" cy="2462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import 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x = 'My 2 favorite numbers are 19 and 42'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y = </a:t>
            </a: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re.findall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[0-9]+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['2', '19', '42']</a:t>
            </a:r>
          </a:p>
        </p:txBody>
      </p:sp>
      <p:sp>
        <p:nvSpPr>
          <p:cNvPr id="244" name="Shape 244"/>
          <p:cNvSpPr txBox="1"/>
          <p:nvPr/>
        </p:nvSpPr>
        <p:spPr>
          <a:xfrm>
            <a:off x="1727200" y="6096000"/>
            <a:ext cx="2772299" cy="914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[0-9]+</a:t>
            </a:r>
          </a:p>
        </p:txBody>
      </p:sp>
      <p:sp>
        <p:nvSpPr>
          <p:cNvPr id="245" name="Shape 245"/>
          <p:cNvSpPr txBox="1"/>
          <p:nvPr/>
        </p:nvSpPr>
        <p:spPr>
          <a:xfrm>
            <a:off x="931862" y="7683500"/>
            <a:ext cx="37053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One or more digits</a:t>
            </a:r>
          </a:p>
        </p:txBody>
      </p:sp>
      <p:cxnSp>
        <p:nvCxnSpPr>
          <p:cNvPr id="246" name="Shape 246"/>
          <p:cNvCxnSpPr/>
          <p:nvPr/>
        </p:nvCxnSpPr>
        <p:spPr>
          <a:xfrm>
            <a:off x="3097212" y="7026275"/>
            <a:ext cx="81000" cy="5906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Matching and Extracting Data</a:t>
            </a:r>
          </a:p>
        </p:txBody>
      </p:sp>
      <p:sp>
        <p:nvSpPr>
          <p:cNvPr id="252" name="Shape 25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16158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When we use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re.findall()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, it returns a list of zero or more sub-strings that match the regular expression</a:t>
            </a:r>
          </a:p>
        </p:txBody>
      </p:sp>
      <p:sp>
        <p:nvSpPr>
          <p:cNvPr id="253" name="Shape 253"/>
          <p:cNvSpPr txBox="1"/>
          <p:nvPr/>
        </p:nvSpPr>
        <p:spPr>
          <a:xfrm>
            <a:off x="3091625" y="4864050"/>
            <a:ext cx="11680500" cy="3575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import 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x = 'My 2 favorite numbers are 19 and 42'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y =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re.findall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[0-9]+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['2', '19', '42']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y =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re.findall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[AEIOU]+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Warning: </a:t>
            </a: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Greedy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Matching</a:t>
            </a:r>
          </a:p>
        </p:txBody>
      </p:sp>
      <p:sp>
        <p:nvSpPr>
          <p:cNvPr id="259" name="Shape 25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18288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repeat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characters (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*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+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) push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outward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in both directions (greedy) to match the largest possible string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987425" y="4597400"/>
            <a:ext cx="10033000" cy="270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import 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x = '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From: Using the :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character'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y = re.findall('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^F.+: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From: Using the :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']</a:t>
            </a:r>
          </a:p>
        </p:txBody>
      </p:sp>
      <p:sp>
        <p:nvSpPr>
          <p:cNvPr id="261" name="Shape 261"/>
          <p:cNvSpPr txBox="1"/>
          <p:nvPr/>
        </p:nvSpPr>
        <p:spPr>
          <a:xfrm>
            <a:off x="10909300" y="5581650"/>
            <a:ext cx="2588999" cy="102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6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^F</a:t>
            </a:r>
            <a:r>
              <a:rPr lang="en-US" sz="6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.+</a:t>
            </a:r>
            <a:r>
              <a:rPr lang="en-US" sz="6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11757025" y="3854450"/>
            <a:ext cx="32384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One or more characters</a:t>
            </a:r>
          </a:p>
        </p:txBody>
      </p:sp>
      <p:cxnSp>
        <p:nvCxnSpPr>
          <p:cNvPr id="263" name="Shape 263"/>
          <p:cNvCxnSpPr/>
          <p:nvPr/>
        </p:nvCxnSpPr>
        <p:spPr>
          <a:xfrm rot="10800000" flipH="1">
            <a:off x="12652975" y="4997449"/>
            <a:ext cx="799499" cy="793800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64" name="Shape 264"/>
          <p:cNvSpPr txBox="1"/>
          <p:nvPr/>
        </p:nvSpPr>
        <p:spPr>
          <a:xfrm>
            <a:off x="7289800" y="7480300"/>
            <a:ext cx="41654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First character in the match is an F</a:t>
            </a:r>
          </a:p>
        </p:txBody>
      </p:sp>
      <p:cxnSp>
        <p:nvCxnSpPr>
          <p:cNvPr id="265" name="Shape 265"/>
          <p:cNvCxnSpPr/>
          <p:nvPr/>
        </p:nvCxnSpPr>
        <p:spPr>
          <a:xfrm flipH="1">
            <a:off x="10720236" y="6611936"/>
            <a:ext cx="514499" cy="9350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66" name="Shape 266"/>
          <p:cNvSpPr txBox="1"/>
          <p:nvPr/>
        </p:nvSpPr>
        <p:spPr>
          <a:xfrm>
            <a:off x="11785600" y="7493000"/>
            <a:ext cx="41654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Last character in the match is a :</a:t>
            </a:r>
          </a:p>
        </p:txBody>
      </p:sp>
      <p:cxnSp>
        <p:nvCxnSpPr>
          <p:cNvPr id="267" name="Shape 267"/>
          <p:cNvCxnSpPr/>
          <p:nvPr/>
        </p:nvCxnSpPr>
        <p:spPr>
          <a:xfrm>
            <a:off x="13004875" y="6502475"/>
            <a:ext cx="863400" cy="9905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68" name="Shape 268"/>
          <p:cNvSpPr txBox="1"/>
          <p:nvPr/>
        </p:nvSpPr>
        <p:spPr>
          <a:xfrm>
            <a:off x="1155696" y="7788350"/>
            <a:ext cx="4030200" cy="552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Why not 'From:' ?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Non-Greedy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Matching</a:t>
            </a:r>
          </a:p>
        </p:txBody>
      </p:sp>
      <p:sp>
        <p:nvSpPr>
          <p:cNvPr id="274" name="Shape 27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18288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Not all regular expression repeat codes are greedy!  If you add a ? character - the + and * chill out a bit...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987425" y="4597400"/>
            <a:ext cx="10033000" cy="270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import 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x = '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From: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Using the : character'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y = re.findall('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^F.+?: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From: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']</a:t>
            </a:r>
          </a:p>
        </p:txBody>
      </p:sp>
      <p:sp>
        <p:nvSpPr>
          <p:cNvPr id="276" name="Shape 276"/>
          <p:cNvSpPr txBox="1"/>
          <p:nvPr/>
        </p:nvSpPr>
        <p:spPr>
          <a:xfrm>
            <a:off x="10833100" y="5581650"/>
            <a:ext cx="2966399" cy="102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6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^F</a:t>
            </a:r>
            <a:r>
              <a:rPr lang="en-US" sz="6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.+?</a:t>
            </a:r>
            <a:r>
              <a:rPr lang="en-US" sz="6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</p:txBody>
      </p:sp>
      <p:sp>
        <p:nvSpPr>
          <p:cNvPr id="277" name="Shape 277"/>
          <p:cNvSpPr txBox="1"/>
          <p:nvPr/>
        </p:nvSpPr>
        <p:spPr>
          <a:xfrm>
            <a:off x="12747625" y="3644900"/>
            <a:ext cx="32384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One or more characters but not greedy</a:t>
            </a:r>
          </a:p>
        </p:txBody>
      </p:sp>
      <p:cxnSp>
        <p:nvCxnSpPr>
          <p:cNvPr id="278" name="Shape 278"/>
          <p:cNvCxnSpPr>
            <a:stCxn id="276" idx="0"/>
          </p:cNvCxnSpPr>
          <p:nvPr/>
        </p:nvCxnSpPr>
        <p:spPr>
          <a:xfrm rot="10800000" flipH="1">
            <a:off x="12316299" y="4772250"/>
            <a:ext cx="547800" cy="809400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79" name="Shape 279"/>
          <p:cNvSpPr txBox="1"/>
          <p:nvPr/>
        </p:nvSpPr>
        <p:spPr>
          <a:xfrm>
            <a:off x="7289800" y="7480300"/>
            <a:ext cx="41654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First character in the match is an F</a:t>
            </a:r>
          </a:p>
        </p:txBody>
      </p:sp>
      <p:cxnSp>
        <p:nvCxnSpPr>
          <p:cNvPr id="280" name="Shape 280"/>
          <p:cNvCxnSpPr/>
          <p:nvPr/>
        </p:nvCxnSpPr>
        <p:spPr>
          <a:xfrm flipH="1">
            <a:off x="10644036" y="6611936"/>
            <a:ext cx="514499" cy="9350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81" name="Shape 281"/>
          <p:cNvSpPr txBox="1"/>
          <p:nvPr/>
        </p:nvSpPr>
        <p:spPr>
          <a:xfrm>
            <a:off x="11785600" y="7493000"/>
            <a:ext cx="41654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Last character in the match is a :</a:t>
            </a:r>
          </a:p>
        </p:txBody>
      </p:sp>
      <p:cxnSp>
        <p:nvCxnSpPr>
          <p:cNvPr id="282" name="Shape 282"/>
          <p:cNvCxnSpPr>
            <a:endCxn id="281" idx="0"/>
          </p:cNvCxnSpPr>
          <p:nvPr/>
        </p:nvCxnSpPr>
        <p:spPr>
          <a:xfrm>
            <a:off x="13483749" y="6517099"/>
            <a:ext cx="384600" cy="975900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Fine</a:t>
            </a:r>
            <a:r>
              <a:rPr lang="en-US" sz="7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-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Tuning String Extraction</a:t>
            </a:r>
          </a:p>
        </p:txBody>
      </p:sp>
      <p:sp>
        <p:nvSpPr>
          <p:cNvPr id="288" name="Shape 288"/>
          <p:cNvSpPr txBox="1">
            <a:spLocks noGrp="1"/>
          </p:cNvSpPr>
          <p:nvPr>
            <p:ph type="body" idx="1"/>
          </p:nvPr>
        </p:nvSpPr>
        <p:spPr>
          <a:xfrm>
            <a:off x="1155700" y="2197100"/>
            <a:ext cx="13931900" cy="15240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You can refine the match for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re.findall()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separately determine which portion of the match is to be extracted by using parenthes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</a:t>
            </a:r>
          </a:p>
        </p:txBody>
      </p:sp>
      <p:sp>
        <p:nvSpPr>
          <p:cNvPr id="289" name="Shape 289"/>
          <p:cNvSpPr txBox="1"/>
          <p:nvPr/>
        </p:nvSpPr>
        <p:spPr>
          <a:xfrm>
            <a:off x="482600" y="4184650"/>
            <a:ext cx="15478125" cy="673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stephen.marquard@uct.ac.za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  <p:sp>
        <p:nvSpPr>
          <p:cNvPr id="290" name="Shape 290"/>
          <p:cNvSpPr txBox="1"/>
          <p:nvPr/>
        </p:nvSpPr>
        <p:spPr>
          <a:xfrm>
            <a:off x="959775" y="5405414"/>
            <a:ext cx="21907499" cy="3027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y = re.findall('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\S+@\S+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['stephen.marquard@uct.ac.za']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Font typeface="Cabin"/>
              <a:buNone/>
            </a:pPr>
            <a:endParaRPr sz="30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Font typeface="Cabin"/>
              <a:buNone/>
            </a:pPr>
            <a:endParaRPr sz="30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Font typeface="Cabin"/>
              <a:buNone/>
            </a:pPr>
            <a:endParaRPr sz="30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1" name="Shape 291"/>
          <p:cNvSpPr txBox="1"/>
          <p:nvPr/>
        </p:nvSpPr>
        <p:spPr>
          <a:xfrm>
            <a:off x="12192000" y="5349975"/>
            <a:ext cx="3238499" cy="926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57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\S+</a:t>
            </a:r>
            <a:r>
              <a:rPr lang="en-US" sz="5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-US" sz="57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\S+</a:t>
            </a:r>
          </a:p>
        </p:txBody>
      </p:sp>
      <p:sp>
        <p:nvSpPr>
          <p:cNvPr id="292" name="Shape 292"/>
          <p:cNvSpPr txBox="1"/>
          <p:nvPr/>
        </p:nvSpPr>
        <p:spPr>
          <a:xfrm>
            <a:off x="12176125" y="7112000"/>
            <a:ext cx="32384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At least one non-whitespace character</a:t>
            </a:r>
          </a:p>
        </p:txBody>
      </p:sp>
      <p:cxnSp>
        <p:nvCxnSpPr>
          <p:cNvPr id="293" name="Shape 293"/>
          <p:cNvCxnSpPr/>
          <p:nvPr/>
        </p:nvCxnSpPr>
        <p:spPr>
          <a:xfrm>
            <a:off x="12979400" y="6353175"/>
            <a:ext cx="177900" cy="6890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94" name="Shape 294"/>
          <p:cNvCxnSpPr/>
          <p:nvPr/>
        </p:nvCxnSpPr>
        <p:spPr>
          <a:xfrm flipH="1">
            <a:off x="14363562" y="6291261"/>
            <a:ext cx="182699" cy="8348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Fine</a:t>
            </a:r>
            <a:r>
              <a:rPr lang="en-US" sz="7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-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Tuning String Extraction</a:t>
            </a:r>
          </a:p>
        </p:txBody>
      </p:sp>
      <p:sp>
        <p:nvSpPr>
          <p:cNvPr id="300" name="Shape 300"/>
          <p:cNvSpPr txBox="1">
            <a:spLocks noGrp="1"/>
          </p:cNvSpPr>
          <p:nvPr>
            <p:ph type="body" idx="1"/>
          </p:nvPr>
        </p:nvSpPr>
        <p:spPr>
          <a:xfrm>
            <a:off x="1155700" y="2197100"/>
            <a:ext cx="13931900" cy="15240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Parenthes</a:t>
            </a:r>
            <a:r>
              <a:rPr lang="en-US" sz="360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e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are not part of the match - but they tell where to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start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stop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what string to extract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482600" y="4184650"/>
            <a:ext cx="15478125" cy="673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stephen.marquard@uct.ac.za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10377800" y="5581650"/>
            <a:ext cx="6068700" cy="926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^From </a:t>
            </a:r>
            <a:r>
              <a:rPr lang="en-US" sz="48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48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\S+</a:t>
            </a:r>
            <a:r>
              <a:rPr lang="en-US" sz="48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-US" sz="48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\S+</a:t>
            </a:r>
            <a:r>
              <a:rPr lang="en-US" sz="48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cxnSp>
        <p:nvCxnSpPr>
          <p:cNvPr id="303" name="Shape 303"/>
          <p:cNvCxnSpPr/>
          <p:nvPr/>
        </p:nvCxnSpPr>
        <p:spPr>
          <a:xfrm>
            <a:off x="12788900" y="6634150"/>
            <a:ext cx="177900" cy="689099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4" name="Shape 304"/>
          <p:cNvCxnSpPr/>
          <p:nvPr/>
        </p:nvCxnSpPr>
        <p:spPr>
          <a:xfrm flipH="1">
            <a:off x="15337812" y="6561199"/>
            <a:ext cx="182699" cy="834899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05" name="Shape 305"/>
          <p:cNvSpPr txBox="1"/>
          <p:nvPr/>
        </p:nvSpPr>
        <p:spPr>
          <a:xfrm>
            <a:off x="959775" y="5405414"/>
            <a:ext cx="21907499" cy="3027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y = re.findall('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\S+@\S+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['stephen.marquard@uct.ac.za']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y = re.findall('^From:.*? (\S+@\S+)',x)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['stephen.marquard@uct.ac.za']</a:t>
            </a: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 txBox="1"/>
          <p:nvPr/>
        </p:nvSpPr>
        <p:spPr>
          <a:xfrm>
            <a:off x="787475" y="3154350"/>
            <a:ext cx="15182700" cy="5540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8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'From stephen.marquard@uct.ac.za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atpos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8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28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.find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8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'@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8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atpos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sppos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8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28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.find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8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 '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8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atpos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8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sppos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host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8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28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28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atpos</a:t>
            </a:r>
            <a:r>
              <a:rPr lang="en-US" sz="28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28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8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en-US" sz="28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sppos</a:t>
            </a:r>
            <a:r>
              <a:rPr lang="en-US" sz="28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8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host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</a:p>
        </p:txBody>
      </p:sp>
      <p:sp>
        <p:nvSpPr>
          <p:cNvPr id="311" name="Shape 311"/>
          <p:cNvSpPr txBox="1"/>
          <p:nvPr/>
        </p:nvSpPr>
        <p:spPr>
          <a:xfrm>
            <a:off x="330200" y="1835150"/>
            <a:ext cx="15582900" cy="673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uct.ac.za Sat Jan  5 09:14:16 2008</a:t>
            </a:r>
          </a:p>
        </p:txBody>
      </p:sp>
      <p:sp>
        <p:nvSpPr>
          <p:cNvPr id="312" name="Shape 312"/>
          <p:cNvSpPr txBox="1"/>
          <p:nvPr/>
        </p:nvSpPr>
        <p:spPr>
          <a:xfrm>
            <a:off x="6016625" y="825500"/>
            <a:ext cx="5715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21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8724900" y="825500"/>
            <a:ext cx="5715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31</a:t>
            </a:r>
          </a:p>
        </p:txBody>
      </p:sp>
      <p:cxnSp>
        <p:nvCxnSpPr>
          <p:cNvPr id="314" name="Shape 314"/>
          <p:cNvCxnSpPr/>
          <p:nvPr/>
        </p:nvCxnSpPr>
        <p:spPr>
          <a:xfrm rot="10800000">
            <a:off x="6302375" y="1481137"/>
            <a:ext cx="19049" cy="373061"/>
          </a:xfrm>
          <a:prstGeom prst="straightConnector1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15" name="Shape 315"/>
          <p:cNvCxnSpPr/>
          <p:nvPr/>
        </p:nvCxnSpPr>
        <p:spPr>
          <a:xfrm rot="10800000">
            <a:off x="9004299" y="1485899"/>
            <a:ext cx="17461" cy="373061"/>
          </a:xfrm>
          <a:prstGeom prst="straightConnector1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16" name="Shape 316"/>
          <p:cNvCxnSpPr/>
          <p:nvPr/>
        </p:nvCxnSpPr>
        <p:spPr>
          <a:xfrm>
            <a:off x="6351587" y="2446336"/>
            <a:ext cx="2541587" cy="19049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17" name="Shape 317"/>
          <p:cNvSpPr txBox="1"/>
          <p:nvPr/>
        </p:nvSpPr>
        <p:spPr>
          <a:xfrm>
            <a:off x="11055350" y="5918200"/>
            <a:ext cx="4457700" cy="1892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1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Extracting a host name - using find and string slicing</a:t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The Double Split Pattern</a:t>
            </a:r>
          </a:p>
        </p:txBody>
      </p:sp>
      <p:sp>
        <p:nvSpPr>
          <p:cNvPr id="362" name="Shape 362"/>
          <p:cNvSpPr txBox="1">
            <a:spLocks noGrp="1"/>
          </p:cNvSpPr>
          <p:nvPr>
            <p:ph type="body" idx="1"/>
          </p:nvPr>
        </p:nvSpPr>
        <p:spPr>
          <a:xfrm>
            <a:off x="1057950" y="2406925"/>
            <a:ext cx="13570499" cy="1473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Sometimes we split a line one way, and then grab one of the pieces of the line and split that piece again</a:t>
            </a:r>
          </a:p>
        </p:txBody>
      </p:sp>
      <p:sp>
        <p:nvSpPr>
          <p:cNvPr id="363" name="Shape 363"/>
          <p:cNvSpPr txBox="1"/>
          <p:nvPr/>
        </p:nvSpPr>
        <p:spPr>
          <a:xfrm>
            <a:off x="7321275" y="6326775"/>
            <a:ext cx="6981300" cy="482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['stephen.marquard', 'uct.ac.za']</a:t>
            </a:r>
          </a:p>
        </p:txBody>
      </p:sp>
      <p:sp>
        <p:nvSpPr>
          <p:cNvPr id="364" name="Shape 364"/>
          <p:cNvSpPr txBox="1"/>
          <p:nvPr/>
        </p:nvSpPr>
        <p:spPr>
          <a:xfrm>
            <a:off x="1155700" y="4526525"/>
            <a:ext cx="133427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  <p:sp>
        <p:nvSpPr>
          <p:cNvPr id="365" name="Shape 365"/>
          <p:cNvSpPr txBox="1"/>
          <p:nvPr/>
        </p:nvSpPr>
        <p:spPr>
          <a:xfrm>
            <a:off x="1155700" y="5594000"/>
            <a:ext cx="6179100" cy="229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words = 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.split()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email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words[1]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pieces</a:t>
            </a:r>
            <a:r>
              <a:rPr lang="en-US" sz="2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email.split('@')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</a:t>
            </a:r>
            <a:r>
              <a:rPr lang="en-US" sz="26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pieces[1]</a:t>
            </a:r>
          </a:p>
        </p:txBody>
      </p:sp>
      <p:sp>
        <p:nvSpPr>
          <p:cNvPr id="366" name="Shape 366"/>
          <p:cNvSpPr txBox="1"/>
          <p:nvPr/>
        </p:nvSpPr>
        <p:spPr>
          <a:xfrm>
            <a:off x="7336425" y="5683325"/>
            <a:ext cx="65738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Arial"/>
              <a:buNone/>
            </a:pPr>
            <a:r>
              <a:rPr lang="en-US" sz="2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stephen.marquard@uct.ac.za</a:t>
            </a:r>
          </a:p>
        </p:txBody>
      </p:sp>
      <p:sp>
        <p:nvSpPr>
          <p:cNvPr id="367" name="Shape 367"/>
          <p:cNvSpPr txBox="1"/>
          <p:nvPr/>
        </p:nvSpPr>
        <p:spPr>
          <a:xfrm>
            <a:off x="7246300" y="6843100"/>
            <a:ext cx="2729099" cy="548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uct.ac.za'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The Regex Version</a:t>
            </a:r>
          </a:p>
        </p:txBody>
      </p:sp>
      <p:sp>
        <p:nvSpPr>
          <p:cNvPr id="373" name="Shape 373"/>
          <p:cNvSpPr txBox="1"/>
          <p:nvPr/>
        </p:nvSpPr>
        <p:spPr>
          <a:xfrm>
            <a:off x="7035800" y="5822950"/>
            <a:ext cx="4386262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4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48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-US" sz="4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([^ ]*)'</a:t>
            </a:r>
          </a:p>
        </p:txBody>
      </p:sp>
      <p:sp>
        <p:nvSpPr>
          <p:cNvPr id="374" name="Shape 374"/>
          <p:cNvSpPr txBox="1"/>
          <p:nvPr/>
        </p:nvSpPr>
        <p:spPr>
          <a:xfrm>
            <a:off x="2306622" y="7543800"/>
            <a:ext cx="10770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Look through the string until you find an at</a:t>
            </a:r>
            <a:r>
              <a:rPr lang="en-US" sz="3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sign</a:t>
            </a:r>
          </a:p>
        </p:txBody>
      </p:sp>
      <p:cxnSp>
        <p:nvCxnSpPr>
          <p:cNvPr id="375" name="Shape 375"/>
          <p:cNvCxnSpPr/>
          <p:nvPr/>
        </p:nvCxnSpPr>
        <p:spPr>
          <a:xfrm flipH="1">
            <a:off x="7078661" y="6591300"/>
            <a:ext cx="530224" cy="99695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76" name="Shape 376"/>
          <p:cNvSpPr txBox="1"/>
          <p:nvPr/>
        </p:nvSpPr>
        <p:spPr>
          <a:xfrm>
            <a:off x="457200" y="2686050"/>
            <a:ext cx="142265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  <p:sp>
        <p:nvSpPr>
          <p:cNvPr id="377" name="Shape 377"/>
          <p:cNvSpPr txBox="1"/>
          <p:nvPr/>
        </p:nvSpPr>
        <p:spPr>
          <a:xfrm>
            <a:off x="466725" y="3841750"/>
            <a:ext cx="15760800" cy="22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lin = 'From stephen.marquard@uct.ac.za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y = re.findall(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'@([^ ]*)'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,lin)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['uct.ac.za']</a:t>
            </a:r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38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The Regex Version</a:t>
            </a:r>
          </a:p>
        </p:txBody>
      </p:sp>
      <p:sp>
        <p:nvSpPr>
          <p:cNvPr id="383" name="Shape 383"/>
          <p:cNvSpPr txBox="1"/>
          <p:nvPr/>
        </p:nvSpPr>
        <p:spPr>
          <a:xfrm>
            <a:off x="7035800" y="5822950"/>
            <a:ext cx="4386262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57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'@(</a:t>
            </a:r>
            <a:r>
              <a:rPr lang="en-US" sz="57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[^ ]</a:t>
            </a:r>
            <a:r>
              <a:rPr lang="en-US" sz="57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57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)'</a:t>
            </a:r>
          </a:p>
        </p:txBody>
      </p:sp>
      <p:sp>
        <p:nvSpPr>
          <p:cNvPr id="384" name="Shape 384"/>
          <p:cNvSpPr txBox="1"/>
          <p:nvPr/>
        </p:nvSpPr>
        <p:spPr>
          <a:xfrm>
            <a:off x="4343749" y="7594600"/>
            <a:ext cx="61256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Match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non-blank character</a:t>
            </a:r>
          </a:p>
        </p:txBody>
      </p:sp>
      <p:cxnSp>
        <p:nvCxnSpPr>
          <p:cNvPr id="385" name="Shape 385"/>
          <p:cNvCxnSpPr/>
          <p:nvPr/>
        </p:nvCxnSpPr>
        <p:spPr>
          <a:xfrm>
            <a:off x="8707436" y="6708775"/>
            <a:ext cx="576300" cy="1001700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86" name="Shape 386"/>
          <p:cNvCxnSpPr/>
          <p:nvPr/>
        </p:nvCxnSpPr>
        <p:spPr>
          <a:xfrm>
            <a:off x="10431461" y="6672261"/>
            <a:ext cx="981900" cy="9495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87" name="Shape 387"/>
          <p:cNvCxnSpPr/>
          <p:nvPr/>
        </p:nvCxnSpPr>
        <p:spPr>
          <a:xfrm flipH="1">
            <a:off x="9342511" y="6702425"/>
            <a:ext cx="447600" cy="976199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88" name="Shape 388"/>
          <p:cNvSpPr txBox="1"/>
          <p:nvPr/>
        </p:nvSpPr>
        <p:spPr>
          <a:xfrm>
            <a:off x="10272696" y="7594600"/>
            <a:ext cx="49238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Match many of them</a:t>
            </a:r>
          </a:p>
        </p:txBody>
      </p:sp>
      <p:sp>
        <p:nvSpPr>
          <p:cNvPr id="389" name="Shape 389"/>
          <p:cNvSpPr txBox="1"/>
          <p:nvPr/>
        </p:nvSpPr>
        <p:spPr>
          <a:xfrm>
            <a:off x="457200" y="2686050"/>
            <a:ext cx="154781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  <p:sp>
        <p:nvSpPr>
          <p:cNvPr id="390" name="Shape 390"/>
          <p:cNvSpPr txBox="1"/>
          <p:nvPr/>
        </p:nvSpPr>
        <p:spPr>
          <a:xfrm>
            <a:off x="466725" y="3841750"/>
            <a:ext cx="15760800" cy="22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lin = 'From stephen.marquard@uct.ac.za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y = re.findall(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'@([^ ]*)'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,lin)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['uct.ac.za']</a:t>
            </a: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39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The Regex Version</a:t>
            </a:r>
          </a:p>
        </p:txBody>
      </p:sp>
      <p:sp>
        <p:nvSpPr>
          <p:cNvPr id="396" name="Shape 396"/>
          <p:cNvSpPr txBox="1"/>
          <p:nvPr/>
        </p:nvSpPr>
        <p:spPr>
          <a:xfrm>
            <a:off x="7035800" y="5822950"/>
            <a:ext cx="4386262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57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'@</a:t>
            </a:r>
            <a:r>
              <a:rPr lang="en-US" sz="57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57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[^ ]*</a:t>
            </a:r>
            <a:r>
              <a:rPr lang="en-US" sz="57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57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</p:txBody>
      </p:sp>
      <p:sp>
        <p:nvSpPr>
          <p:cNvPr id="397" name="Shape 397"/>
          <p:cNvSpPr txBox="1"/>
          <p:nvPr/>
        </p:nvSpPr>
        <p:spPr>
          <a:xfrm>
            <a:off x="7823275" y="7620000"/>
            <a:ext cx="76344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Extract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the non-blank characters</a:t>
            </a:r>
          </a:p>
        </p:txBody>
      </p:sp>
      <p:cxnSp>
        <p:nvCxnSpPr>
          <p:cNvPr id="398" name="Shape 398"/>
          <p:cNvCxnSpPr/>
          <p:nvPr/>
        </p:nvCxnSpPr>
        <p:spPr>
          <a:xfrm>
            <a:off x="8340725" y="6692900"/>
            <a:ext cx="793749" cy="915986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99" name="Shape 399"/>
          <p:cNvCxnSpPr/>
          <p:nvPr/>
        </p:nvCxnSpPr>
        <p:spPr>
          <a:xfrm flipH="1">
            <a:off x="9621836" y="6734175"/>
            <a:ext cx="895349" cy="9144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0" name="Shape 400"/>
          <p:cNvSpPr txBox="1"/>
          <p:nvPr/>
        </p:nvSpPr>
        <p:spPr>
          <a:xfrm>
            <a:off x="457200" y="2686050"/>
            <a:ext cx="154781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  <p:sp>
        <p:nvSpPr>
          <p:cNvPr id="401" name="Shape 401"/>
          <p:cNvSpPr txBox="1"/>
          <p:nvPr/>
        </p:nvSpPr>
        <p:spPr>
          <a:xfrm>
            <a:off x="466725" y="3689350"/>
            <a:ext cx="15760800" cy="3059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lin = 'From stephen.marquard@uct.ac.za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y = re.findall(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'@([^ ]*)'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,lin)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ourier New"/>
              <a:buNone/>
            </a:pPr>
            <a:endParaRPr sz="30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['uct.ac.za']</a:t>
            </a:r>
          </a:p>
        </p:txBody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Even Cooler Regex Version</a:t>
            </a:r>
          </a:p>
        </p:txBody>
      </p:sp>
      <p:sp>
        <p:nvSpPr>
          <p:cNvPr id="407" name="Shape 407"/>
          <p:cNvSpPr txBox="1"/>
          <p:nvPr/>
        </p:nvSpPr>
        <p:spPr>
          <a:xfrm>
            <a:off x="7035800" y="5822950"/>
            <a:ext cx="7896225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57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57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^</a:t>
            </a:r>
            <a:r>
              <a:rPr lang="en-US" sz="57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US" sz="57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.*@([^ ]*)'</a:t>
            </a:r>
          </a:p>
        </p:txBody>
      </p:sp>
      <p:sp>
        <p:nvSpPr>
          <p:cNvPr id="408" name="Shape 408"/>
          <p:cNvSpPr txBox="1"/>
          <p:nvPr/>
        </p:nvSpPr>
        <p:spPr>
          <a:xfrm>
            <a:off x="3806825" y="8013700"/>
            <a:ext cx="117984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Starting at the beginning of the line,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look for the string 'From ' </a:t>
            </a:r>
          </a:p>
        </p:txBody>
      </p:sp>
      <p:cxnSp>
        <p:nvCxnSpPr>
          <p:cNvPr id="409" name="Shape 409"/>
          <p:cNvCxnSpPr/>
          <p:nvPr/>
        </p:nvCxnSpPr>
        <p:spPr>
          <a:xfrm flipH="1">
            <a:off x="6852186" y="6591300"/>
            <a:ext cx="858300" cy="14393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10" name="Shape 410"/>
          <p:cNvCxnSpPr/>
          <p:nvPr/>
        </p:nvCxnSpPr>
        <p:spPr>
          <a:xfrm>
            <a:off x="9501186" y="6692900"/>
            <a:ext cx="2319337" cy="1343024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11" name="Shape 411"/>
          <p:cNvSpPr txBox="1"/>
          <p:nvPr/>
        </p:nvSpPr>
        <p:spPr>
          <a:xfrm>
            <a:off x="457200" y="2686050"/>
            <a:ext cx="154781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  <p:sp>
        <p:nvSpPr>
          <p:cNvPr id="412" name="Shape 412"/>
          <p:cNvSpPr txBox="1"/>
          <p:nvPr/>
        </p:nvSpPr>
        <p:spPr>
          <a:xfrm>
            <a:off x="466725" y="3841750"/>
            <a:ext cx="15760800" cy="22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lin = 'From stephen.marquard@uct.ac.za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y = re.findall(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30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^From .*@([^ ]*)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,lin)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['uct.ac.za']</a:t>
            </a:r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41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Even Cooler Regex Version</a:t>
            </a:r>
          </a:p>
        </p:txBody>
      </p:sp>
      <p:sp>
        <p:nvSpPr>
          <p:cNvPr id="418" name="Shape 418"/>
          <p:cNvSpPr txBox="1"/>
          <p:nvPr/>
        </p:nvSpPr>
        <p:spPr>
          <a:xfrm>
            <a:off x="7035800" y="5822950"/>
            <a:ext cx="7896225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57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'^From </a:t>
            </a:r>
            <a:r>
              <a:rPr lang="en-US" sz="57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.*</a:t>
            </a:r>
            <a:r>
              <a:rPr lang="en-US" sz="57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-US" sz="57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([^ ]*)'</a:t>
            </a:r>
          </a:p>
        </p:txBody>
      </p:sp>
      <p:sp>
        <p:nvSpPr>
          <p:cNvPr id="419" name="Shape 419"/>
          <p:cNvSpPr txBox="1"/>
          <p:nvPr/>
        </p:nvSpPr>
        <p:spPr>
          <a:xfrm>
            <a:off x="4695825" y="8026400"/>
            <a:ext cx="117983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Skip a bunch of characters,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looking for an at</a:t>
            </a:r>
            <a:r>
              <a:rPr lang="en-US" sz="360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sign</a:t>
            </a:r>
          </a:p>
        </p:txBody>
      </p:sp>
      <p:cxnSp>
        <p:nvCxnSpPr>
          <p:cNvPr id="420" name="Shape 420"/>
          <p:cNvCxnSpPr/>
          <p:nvPr/>
        </p:nvCxnSpPr>
        <p:spPr>
          <a:xfrm flipH="1">
            <a:off x="10110786" y="6629400"/>
            <a:ext cx="330200" cy="1344612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21" name="Shape 421"/>
          <p:cNvCxnSpPr/>
          <p:nvPr/>
        </p:nvCxnSpPr>
        <p:spPr>
          <a:xfrm>
            <a:off x="11352211" y="6651625"/>
            <a:ext cx="468311" cy="1384299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22" name="Shape 422"/>
          <p:cNvSpPr txBox="1"/>
          <p:nvPr/>
        </p:nvSpPr>
        <p:spPr>
          <a:xfrm>
            <a:off x="457200" y="2686050"/>
            <a:ext cx="154781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  <p:sp>
        <p:nvSpPr>
          <p:cNvPr id="423" name="Shape 423"/>
          <p:cNvSpPr txBox="1"/>
          <p:nvPr/>
        </p:nvSpPr>
        <p:spPr>
          <a:xfrm>
            <a:off x="466725" y="3841750"/>
            <a:ext cx="15760800" cy="22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lin = 'From stephen.marquard@uct.ac.za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y = re.findall(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30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^From .*@([^ ]*)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,lin)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['uct.ac.za']</a:t>
            </a:r>
          </a:p>
        </p:txBody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42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Even Cooler Regex Version</a:t>
            </a:r>
          </a:p>
        </p:txBody>
      </p:sp>
      <p:sp>
        <p:nvSpPr>
          <p:cNvPr id="429" name="Shape 429"/>
          <p:cNvSpPr txBox="1"/>
          <p:nvPr/>
        </p:nvSpPr>
        <p:spPr>
          <a:xfrm>
            <a:off x="7035800" y="5822950"/>
            <a:ext cx="7896225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57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'^From .*@</a:t>
            </a:r>
            <a:r>
              <a:rPr lang="en-US" sz="57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57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[^ ]*)'</a:t>
            </a:r>
          </a:p>
        </p:txBody>
      </p:sp>
      <p:sp>
        <p:nvSpPr>
          <p:cNvPr id="430" name="Shape 430"/>
          <p:cNvSpPr txBox="1"/>
          <p:nvPr/>
        </p:nvSpPr>
        <p:spPr>
          <a:xfrm>
            <a:off x="7401025" y="8062475"/>
            <a:ext cx="78963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Start extracting</a:t>
            </a:r>
          </a:p>
        </p:txBody>
      </p:sp>
      <p:cxnSp>
        <p:nvCxnSpPr>
          <p:cNvPr id="431" name="Shape 431"/>
          <p:cNvCxnSpPr/>
          <p:nvPr/>
        </p:nvCxnSpPr>
        <p:spPr>
          <a:xfrm flipH="1">
            <a:off x="11367986" y="6705600"/>
            <a:ext cx="330300" cy="13445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32" name="Shape 432"/>
          <p:cNvSpPr txBox="1"/>
          <p:nvPr/>
        </p:nvSpPr>
        <p:spPr>
          <a:xfrm>
            <a:off x="457200" y="2686050"/>
            <a:ext cx="154781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  <p:sp>
        <p:nvSpPr>
          <p:cNvPr id="433" name="Shape 433"/>
          <p:cNvSpPr txBox="1"/>
          <p:nvPr/>
        </p:nvSpPr>
        <p:spPr>
          <a:xfrm>
            <a:off x="466725" y="3841750"/>
            <a:ext cx="15760800" cy="22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lin = 'From stephen.marquard@uct.ac.za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y = re.findall(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30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^From .*@([^ ]*)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,lin)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['uct.ac.za']</a:t>
            </a:r>
          </a:p>
        </p:txBody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43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Even Cooler Regex Version</a:t>
            </a:r>
          </a:p>
        </p:txBody>
      </p:sp>
      <p:sp>
        <p:nvSpPr>
          <p:cNvPr id="439" name="Shape 439"/>
          <p:cNvSpPr txBox="1"/>
          <p:nvPr/>
        </p:nvSpPr>
        <p:spPr>
          <a:xfrm>
            <a:off x="7035800" y="5822950"/>
            <a:ext cx="7896225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57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'^From .*@(</a:t>
            </a:r>
            <a:r>
              <a:rPr lang="en-US" sz="57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[^ ]</a:t>
            </a:r>
            <a:r>
              <a:rPr lang="en-US" sz="57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57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)'</a:t>
            </a:r>
          </a:p>
        </p:txBody>
      </p:sp>
      <p:sp>
        <p:nvSpPr>
          <p:cNvPr id="440" name="Shape 440"/>
          <p:cNvSpPr txBox="1"/>
          <p:nvPr/>
        </p:nvSpPr>
        <p:spPr>
          <a:xfrm>
            <a:off x="5998523" y="7734300"/>
            <a:ext cx="56013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Match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non-blank character</a:t>
            </a:r>
          </a:p>
        </p:txBody>
      </p:sp>
      <p:cxnSp>
        <p:nvCxnSpPr>
          <p:cNvPr id="441" name="Shape 441"/>
          <p:cNvCxnSpPr/>
          <p:nvPr/>
        </p:nvCxnSpPr>
        <p:spPr>
          <a:xfrm flipH="1">
            <a:off x="11175999" y="6651625"/>
            <a:ext cx="868362" cy="1122361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42" name="Shape 442"/>
          <p:cNvCxnSpPr/>
          <p:nvPr/>
        </p:nvCxnSpPr>
        <p:spPr>
          <a:xfrm flipH="1">
            <a:off x="13849287" y="6632575"/>
            <a:ext cx="20699" cy="11555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43" name="Shape 443"/>
          <p:cNvCxnSpPr/>
          <p:nvPr/>
        </p:nvCxnSpPr>
        <p:spPr>
          <a:xfrm flipH="1">
            <a:off x="11234736" y="6651625"/>
            <a:ext cx="1989136" cy="1090612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44" name="Shape 444"/>
          <p:cNvSpPr txBox="1"/>
          <p:nvPr/>
        </p:nvSpPr>
        <p:spPr>
          <a:xfrm>
            <a:off x="11697723" y="7734300"/>
            <a:ext cx="43821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Match many of them</a:t>
            </a:r>
          </a:p>
        </p:txBody>
      </p:sp>
      <p:sp>
        <p:nvSpPr>
          <p:cNvPr id="445" name="Shape 445"/>
          <p:cNvSpPr txBox="1"/>
          <p:nvPr/>
        </p:nvSpPr>
        <p:spPr>
          <a:xfrm>
            <a:off x="457200" y="2686050"/>
            <a:ext cx="154781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  <p:sp>
        <p:nvSpPr>
          <p:cNvPr id="446" name="Shape 446"/>
          <p:cNvSpPr txBox="1"/>
          <p:nvPr/>
        </p:nvSpPr>
        <p:spPr>
          <a:xfrm>
            <a:off x="466725" y="3841750"/>
            <a:ext cx="15760800" cy="22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lin = 'From stephen.marquard@uct.ac.za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y = re.findall(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30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^From .*@([^ ]*)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,lin)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['uct.ac.za']</a:t>
            </a:r>
          </a:p>
        </p:txBody>
      </p: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45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Even Cooler Regex Version</a:t>
            </a:r>
          </a:p>
        </p:txBody>
      </p:sp>
      <p:sp>
        <p:nvSpPr>
          <p:cNvPr id="452" name="Shape 452"/>
          <p:cNvSpPr txBox="1"/>
          <p:nvPr/>
        </p:nvSpPr>
        <p:spPr>
          <a:xfrm>
            <a:off x="7035800" y="5822950"/>
            <a:ext cx="7896225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57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'^From .*@([^ ]*</a:t>
            </a:r>
            <a:r>
              <a:rPr lang="en-US" sz="57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57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</p:txBody>
      </p:sp>
      <p:sp>
        <p:nvSpPr>
          <p:cNvPr id="453" name="Shape 453"/>
          <p:cNvSpPr txBox="1"/>
          <p:nvPr/>
        </p:nvSpPr>
        <p:spPr>
          <a:xfrm>
            <a:off x="11744325" y="8026400"/>
            <a:ext cx="43942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Stop extracting</a:t>
            </a:r>
          </a:p>
        </p:txBody>
      </p:sp>
      <p:cxnSp>
        <p:nvCxnSpPr>
          <p:cNvPr id="454" name="Shape 454"/>
          <p:cNvCxnSpPr/>
          <p:nvPr/>
        </p:nvCxnSpPr>
        <p:spPr>
          <a:xfrm flipH="1">
            <a:off x="13755687" y="6731000"/>
            <a:ext cx="330200" cy="1344612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55" name="Shape 455"/>
          <p:cNvSpPr txBox="1"/>
          <p:nvPr/>
        </p:nvSpPr>
        <p:spPr>
          <a:xfrm>
            <a:off x="457200" y="2686050"/>
            <a:ext cx="154781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  <p:sp>
        <p:nvSpPr>
          <p:cNvPr id="456" name="Shape 456"/>
          <p:cNvSpPr txBox="1"/>
          <p:nvPr/>
        </p:nvSpPr>
        <p:spPr>
          <a:xfrm>
            <a:off x="466725" y="3841750"/>
            <a:ext cx="15760800" cy="22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lin = 'From stephen.marquard@uct.ac.za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y = re.findall(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30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^From .*@([^ ]*)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,lin)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['uct.ac.za']</a:t>
            </a:r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Shape 461"/>
          <p:cNvSpPr txBox="1">
            <a:spLocks noGrp="1"/>
          </p:cNvSpPr>
          <p:nvPr>
            <p:ph type="title"/>
          </p:nvPr>
        </p:nvSpPr>
        <p:spPr>
          <a:xfrm>
            <a:off x="2420650" y="414225"/>
            <a:ext cx="11168699" cy="18389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Spam Confidence</a:t>
            </a:r>
          </a:p>
        </p:txBody>
      </p:sp>
      <p:sp>
        <p:nvSpPr>
          <p:cNvPr id="462" name="Shape 462"/>
          <p:cNvSpPr txBox="1"/>
          <p:nvPr/>
        </p:nvSpPr>
        <p:spPr>
          <a:xfrm>
            <a:off x="652449" y="2382825"/>
            <a:ext cx="15676199" cy="4924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hand = open('mbox-short.txt')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numlist = list()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line in 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line = line.rstrip()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000" b="1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re.findall</a:t>
            </a:r>
            <a:r>
              <a:rPr lang="en-US" sz="3000" b="1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US" sz="3000" b="1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^X-DSPAM-Confidence: </a:t>
            </a:r>
            <a:r>
              <a:rPr lang="en-US" sz="3000" b="1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[0-9.]+</a:t>
            </a:r>
            <a:r>
              <a:rPr lang="en-US" sz="3000" b="1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3000" b="1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line)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if len(</a:t>
            </a:r>
            <a:r>
              <a:rPr lang="en-US" sz="3000" b="1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000" b="1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 != 1 :  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num = float(</a:t>
            </a:r>
            <a:r>
              <a:rPr lang="en-US" sz="3000" b="1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000" b="1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[0]</a:t>
            </a:r>
            <a:r>
              <a:rPr lang="en-US" sz="3000" b="1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numlist.append(num)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'Maximum:', max(numlist)</a:t>
            </a:r>
          </a:p>
        </p:txBody>
      </p:sp>
      <p:sp>
        <p:nvSpPr>
          <p:cNvPr id="463" name="Shape 463"/>
          <p:cNvSpPr txBox="1"/>
          <p:nvPr/>
        </p:nvSpPr>
        <p:spPr>
          <a:xfrm>
            <a:off x="11437350" y="7315200"/>
            <a:ext cx="4717199" cy="1200299"/>
          </a:xfrm>
          <a:prstGeom prst="rect">
            <a:avLst/>
          </a:prstGeom>
          <a:noFill/>
          <a:ln w="127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90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9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python ds.py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9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9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Maximum: 0.9907</a:t>
            </a:r>
          </a:p>
        </p:txBody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15748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Regular Expression Quick Guide</a:t>
            </a:r>
          </a:p>
        </p:txBody>
      </p:sp>
      <p:sp>
        <p:nvSpPr>
          <p:cNvPr id="469" name="Shape 469"/>
          <p:cNvSpPr txBox="1"/>
          <p:nvPr/>
        </p:nvSpPr>
        <p:spPr>
          <a:xfrm>
            <a:off x="1022350" y="2044700"/>
            <a:ext cx="14719299" cy="6832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^ 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Matches the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beginning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of a line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$  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Matches the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of the line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Matches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any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character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\s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Matches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whitespace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\S 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Matches any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non-whitespace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character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Repeats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a character zero or more times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*?   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Repeats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a character zero or more times (non-greedy)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Repeats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a character one or more times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+? 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Repeats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a character one or more times (non-greedy)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[aeiou]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Matches a single character in the listed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[^XYZ]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Matches a single character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not in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the listed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[a-z0-9]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The set of characters can include a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Indicates where string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extraction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is to start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9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Indicates where string </a:t>
            </a:r>
            <a:r>
              <a:rPr lang="en-US" sz="29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extraction</a:t>
            </a:r>
            <a:r>
              <a:rPr lang="en-US" sz="29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is to end</a:t>
            </a:r>
          </a:p>
        </p:txBody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hape 474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Escape Character</a:t>
            </a:r>
          </a:p>
        </p:txBody>
      </p:sp>
      <p:sp>
        <p:nvSpPr>
          <p:cNvPr id="475" name="Shape 475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16001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If you want a special regular expression character to just behave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normally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(most of the time) you prefix it with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'\'</a:t>
            </a:r>
          </a:p>
        </p:txBody>
      </p:sp>
      <p:sp>
        <p:nvSpPr>
          <p:cNvPr id="476" name="Shape 476"/>
          <p:cNvSpPr txBox="1"/>
          <p:nvPr/>
        </p:nvSpPr>
        <p:spPr>
          <a:xfrm>
            <a:off x="787400" y="4684700"/>
            <a:ext cx="10826100" cy="2924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import 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x = 'We just received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$10.00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for cookies.'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y = re.findall('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\$[0-9.]+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print 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$10.00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']</a:t>
            </a:r>
          </a:p>
        </p:txBody>
      </p:sp>
      <p:sp>
        <p:nvSpPr>
          <p:cNvPr id="477" name="Shape 477"/>
          <p:cNvSpPr txBox="1"/>
          <p:nvPr/>
        </p:nvSpPr>
        <p:spPr>
          <a:xfrm>
            <a:off x="11062850" y="6667500"/>
            <a:ext cx="3422700" cy="812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49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\$</a:t>
            </a:r>
            <a:r>
              <a:rPr lang="en-US" sz="49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[0-9.]</a:t>
            </a:r>
            <a:r>
              <a:rPr lang="en-US" sz="49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12003086" y="8102600"/>
            <a:ext cx="3400499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A digit or period</a:t>
            </a:r>
          </a:p>
        </p:txBody>
      </p:sp>
      <p:sp>
        <p:nvSpPr>
          <p:cNvPr id="479" name="Shape 479"/>
          <p:cNvSpPr txBox="1"/>
          <p:nvPr/>
        </p:nvSpPr>
        <p:spPr>
          <a:xfrm>
            <a:off x="7951786" y="8039100"/>
            <a:ext cx="3422700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A real dollar sign</a:t>
            </a:r>
          </a:p>
        </p:txBody>
      </p:sp>
      <p:cxnSp>
        <p:nvCxnSpPr>
          <p:cNvPr id="480" name="Shape 480"/>
          <p:cNvCxnSpPr/>
          <p:nvPr/>
        </p:nvCxnSpPr>
        <p:spPr>
          <a:xfrm flipH="1">
            <a:off x="11188836" y="7546975"/>
            <a:ext cx="312599" cy="4985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1" name="Shape 481"/>
          <p:cNvCxnSpPr/>
          <p:nvPr/>
        </p:nvCxnSpPr>
        <p:spPr>
          <a:xfrm>
            <a:off x="12503325" y="7445400"/>
            <a:ext cx="312599" cy="6062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2" name="Shape 482"/>
          <p:cNvCxnSpPr/>
          <p:nvPr/>
        </p:nvCxnSpPr>
        <p:spPr>
          <a:xfrm flipH="1">
            <a:off x="13474698" y="7453100"/>
            <a:ext cx="85500" cy="6494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3" name="Shape 483"/>
          <p:cNvSpPr txBox="1"/>
          <p:nvPr/>
        </p:nvSpPr>
        <p:spPr>
          <a:xfrm>
            <a:off x="12825411" y="4660900"/>
            <a:ext cx="2883000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At least one or more</a:t>
            </a:r>
          </a:p>
        </p:txBody>
      </p:sp>
      <p:cxnSp>
        <p:nvCxnSpPr>
          <p:cNvPr id="484" name="Shape 484"/>
          <p:cNvCxnSpPr/>
          <p:nvPr/>
        </p:nvCxnSpPr>
        <p:spPr>
          <a:xfrm rot="10800000" flipH="1">
            <a:off x="14180460" y="5880099"/>
            <a:ext cx="86399" cy="919800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489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Summary</a:t>
            </a:r>
          </a:p>
        </p:txBody>
      </p:sp>
      <p:sp>
        <p:nvSpPr>
          <p:cNvPr id="490" name="Shape 490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53594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Regular expressions are a cryptic but powerful language for matching strings and extracting elements from those strings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Regular expressions have special characters that indicate intent</a:t>
            </a:r>
          </a:p>
        </p:txBody>
      </p:sp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95152" y="3275856"/>
            <a:ext cx="13932000" cy="2298600"/>
          </a:xfrm>
        </p:spPr>
        <p:txBody>
          <a:bodyPr/>
          <a:lstStyle/>
          <a:p>
            <a:r>
              <a:rPr lang="en-US" sz="9600" b="1" dirty="0" smtClean="0">
                <a:solidFill>
                  <a:schemeClr val="bg1"/>
                </a:solidFill>
              </a:rPr>
              <a:t>Any Doubt?</a:t>
            </a:r>
            <a:endParaRPr lang="en-US" sz="9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333399"/>
      </a:accent2>
      <a:accent3>
        <a:srgbClr val="AAAAAA"/>
      </a:accent3>
      <a:accent4>
        <a:srgbClr val="DADADA"/>
      </a:accent4>
      <a:accent5>
        <a:srgbClr val="FF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4C4C4C"/>
      </a:accent1>
      <a:accent2>
        <a:srgbClr val="333399"/>
      </a:accent2>
      <a:accent3>
        <a:srgbClr val="AAAAAA"/>
      </a:accent3>
      <a:accent4>
        <a:srgbClr val="DADADA"/>
      </a:accent4>
      <a:accent5>
        <a:srgbClr val="B2B2B2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FFFF00"/>
      </a:accent1>
      <a:accent2>
        <a:srgbClr val="333399"/>
      </a:accent2>
      <a:accent3>
        <a:srgbClr val="AAAAAA"/>
      </a:accent3>
      <a:accent4>
        <a:srgbClr val="DADADA"/>
      </a:accent4>
      <a:accent5>
        <a:srgbClr val="FFFF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1936</Words>
  <Application>Microsoft Office PowerPoint</Application>
  <PresentationFormat>Custom</PresentationFormat>
  <Paragraphs>302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Courier New</vt:lpstr>
      <vt:lpstr>Cabin</vt:lpstr>
      <vt:lpstr>Title &amp; Subtitle</vt:lpstr>
      <vt:lpstr>Title &amp; Bullets</vt:lpstr>
      <vt:lpstr>1_Title &amp; Bullets</vt:lpstr>
      <vt:lpstr>1_Title &amp; Bullets</vt:lpstr>
      <vt:lpstr>Title &amp; Bullets</vt:lpstr>
      <vt:lpstr>Regular Expressions</vt:lpstr>
      <vt:lpstr>Regular Expressions</vt:lpstr>
      <vt:lpstr>Regular Expressions</vt:lpstr>
      <vt:lpstr>Understanding Regular Expressions</vt:lpstr>
      <vt:lpstr>PowerPoint Presentation</vt:lpstr>
      <vt:lpstr>Regular Expression Quick Guide</vt:lpstr>
      <vt:lpstr>The Regular Expression Module</vt:lpstr>
      <vt:lpstr>Using re.search() like find()</vt:lpstr>
      <vt:lpstr>Using re.search() like startswith()</vt:lpstr>
      <vt:lpstr>Wild-Card Characters</vt:lpstr>
      <vt:lpstr>Wild-Card Characters</vt:lpstr>
      <vt:lpstr>Fine-Tuning Your Match</vt:lpstr>
      <vt:lpstr>Fine-Tuning Your Match</vt:lpstr>
      <vt:lpstr>Matching and Extracting Data</vt:lpstr>
      <vt:lpstr>Matching and Extracting Data</vt:lpstr>
      <vt:lpstr>Warning: Greedy Matching</vt:lpstr>
      <vt:lpstr>Non-Greedy Matching</vt:lpstr>
      <vt:lpstr>Fine-Tuning String Extraction</vt:lpstr>
      <vt:lpstr>Fine-Tuning String Extraction</vt:lpstr>
      <vt:lpstr>PowerPoint Presentation</vt:lpstr>
      <vt:lpstr>The Double Split Pattern</vt:lpstr>
      <vt:lpstr>The Regex Version</vt:lpstr>
      <vt:lpstr>The Regex Version</vt:lpstr>
      <vt:lpstr>The Regex Version</vt:lpstr>
      <vt:lpstr>Even Cooler Regex Version</vt:lpstr>
      <vt:lpstr>Even Cooler Regex Version</vt:lpstr>
      <vt:lpstr>Even Cooler Regex Version</vt:lpstr>
      <vt:lpstr>Even Cooler Regex Version</vt:lpstr>
      <vt:lpstr>Even Cooler Regex Version</vt:lpstr>
      <vt:lpstr>Spam Confidence</vt:lpstr>
      <vt:lpstr>Regular Expression Quick Guide</vt:lpstr>
      <vt:lpstr>Escape Character</vt:lpstr>
      <vt:lpstr>Summary</vt:lpstr>
      <vt:lpstr>Any Doubt?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 Expressions</dc:title>
  <cp:lastModifiedBy>Hp</cp:lastModifiedBy>
  <cp:revision>2</cp:revision>
  <dcterms:modified xsi:type="dcterms:W3CDTF">2016-01-12T08:54:31Z</dcterms:modified>
</cp:coreProperties>
</file>