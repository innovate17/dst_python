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Default Extension="gif" ContentType="image/gif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  <p:sldMasterId id="2147483704" r:id="rId2"/>
    <p:sldMasterId id="2147483705" r:id="rId3"/>
    <p:sldMasterId id="2147483706" r:id="rId4"/>
  </p:sldMasterIdLst>
  <p:notesMasterIdLst>
    <p:notesMasterId r:id="rId2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6256000" cy="9144000"/>
  <p:notesSz cx="6858000" cy="9144000"/>
  <p:embeddedFontLst>
    <p:embeddedFont>
      <p:font typeface="Cabin" charset="0"/>
      <p:regular r:id="rId29"/>
      <p:bold r:id="rId30"/>
      <p:italic r:id="rId31"/>
      <p:boldItalic r:id="rId32"/>
    </p:embeddedFont>
  </p:embeddedFontLst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-120" y="-162"/>
      </p:cViewPr>
      <p:guideLst>
        <p:guide orient="horz" pos="2880"/>
        <p:guide pos="5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3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2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lang="en-US" dirty="0">
              <a:solidFill>
                <a:schemeClr val="dk2"/>
              </a:solidFill>
            </a:endParaRPr>
          </a:p>
        </p:txBody>
      </p:sp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09" name="Shape 10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56" name="Shape 15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62" name="Shape 16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69" name="Shape 16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76" name="Shape 17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82" name="Shape 18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89" name="Shape 18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96" name="Shape 19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03" name="Shape 20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10" name="Shape 21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17" name="Shape 21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24" name="Shape 22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31" name="Shape 23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38" name="Shape 23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46" name="Shape 24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54" name="Shape 254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62" name="Shape 26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2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71" name="Shape 27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2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80" name="Shape 28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87" name="Shape 28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3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33" name="Shape 33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Shape 6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49" name="Shape 6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title"/>
          </p:nvPr>
        </p:nvSpPr>
        <p:spPr>
          <a:xfrm rot="5400000">
            <a:off x="11231562" y="1909762"/>
            <a:ext cx="4229100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body" idx="1"/>
          </p:nvPr>
        </p:nvSpPr>
        <p:spPr>
          <a:xfrm rot="5400000">
            <a:off x="4189412" y="-1497012"/>
            <a:ext cx="4229100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 rot="5400000">
            <a:off x="7594599" y="-1727200"/>
            <a:ext cx="1054100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" name="Shape 15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Shape 16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688975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8197850" y="4711700"/>
            <a:ext cx="688975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title"/>
          </p:nvPr>
        </p:nvSpPr>
        <p:spPr>
          <a:xfrm rot="5400000">
            <a:off x="10597356" y="3321843"/>
            <a:ext cx="6034087" cy="3657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body" idx="1"/>
          </p:nvPr>
        </p:nvSpPr>
        <p:spPr>
          <a:xfrm rot="5400000">
            <a:off x="3205956" y="-259556"/>
            <a:ext cx="6034087" cy="10820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title"/>
          </p:nvPr>
        </p:nvSpPr>
        <p:spPr>
          <a:xfrm>
            <a:off x="1155700" y="2781300"/>
            <a:ext cx="13931900" cy="356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 rot="5400000">
            <a:off x="5110956" y="-2164556"/>
            <a:ext cx="6034087" cy="14630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2" name="Shape 62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>
            <a:spLocks noGrp="1"/>
          </p:cNvSpPr>
          <p:nvPr>
            <p:ph type="title"/>
          </p:nvPr>
        </p:nvSpPr>
        <p:spPr>
          <a:xfrm>
            <a:off x="1155700" y="2781300"/>
            <a:ext cx="13931900" cy="356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155700" y="2781300"/>
            <a:ext cx="13931900" cy="356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7239000" cy="60340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2"/>
          </p:nvPr>
        </p:nvSpPr>
        <p:spPr>
          <a:xfrm>
            <a:off x="8204200" y="2133600"/>
            <a:ext cx="7239000" cy="60340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title"/>
          </p:nvPr>
        </p:nvSpPr>
        <p:spPr>
          <a:xfrm>
            <a:off x="1155700" y="2781300"/>
            <a:ext cx="13931900" cy="356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14630400" cy="60340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89" name="Shape 89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>
            <a:spLocks noGrp="1"/>
          </p:cNvSpPr>
          <p:nvPr>
            <p:ph type="title"/>
          </p:nvPr>
        </p:nvSpPr>
        <p:spPr>
          <a:xfrm rot="5400000">
            <a:off x="9313862" y="2532062"/>
            <a:ext cx="8064499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 rot="5400000">
            <a:off x="2271712" y="-874712"/>
            <a:ext cx="8064499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 rot="5400000">
            <a:off x="5270500" y="-1511300"/>
            <a:ext cx="5702299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21" name="Shape 121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25" name="Shape 125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26" name="Shape 126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133" name="Shape 133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34" name="Shape 134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135" name="Shape 135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39" name="Shape 139"/>
          <p:cNvSpPr txBox="1">
            <a:spLocks noGrp="1"/>
          </p:cNvSpPr>
          <p:nvPr>
            <p:ph type="body" idx="2"/>
          </p:nvPr>
        </p:nvSpPr>
        <p:spPr>
          <a:xfrm>
            <a:off x="819785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45" name="Shape 14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48" name="Shape 148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292"/>
          <p:cNvSpPr txBox="1">
            <a:spLocks noGrp="1"/>
          </p:cNvSpPr>
          <p:nvPr>
            <p:ph type="title"/>
          </p:nvPr>
        </p:nvSpPr>
        <p:spPr>
          <a:xfrm rot="5400000">
            <a:off x="9313862" y="2532062"/>
            <a:ext cx="8064499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93" name="Shape 293"/>
          <p:cNvSpPr txBox="1">
            <a:spLocks noGrp="1"/>
          </p:cNvSpPr>
          <p:nvPr>
            <p:ph type="body" idx="1"/>
          </p:nvPr>
        </p:nvSpPr>
        <p:spPr>
          <a:xfrm rot="5400000">
            <a:off x="2271712" y="-874712"/>
            <a:ext cx="8064499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96" name="Shape 296"/>
          <p:cNvSpPr txBox="1">
            <a:spLocks noGrp="1"/>
          </p:cNvSpPr>
          <p:nvPr>
            <p:ph type="body" idx="1"/>
          </p:nvPr>
        </p:nvSpPr>
        <p:spPr>
          <a:xfrm rot="5400000">
            <a:off x="5270500" y="-1511300"/>
            <a:ext cx="5702299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99" name="Shape 299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300" name="Shape 300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302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03" name="Shape 303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04" name="Shape 304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309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10" name="Shape 310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311" name="Shape 311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12" name="Shape 312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313" name="Shape 313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31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16" name="Shape 31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17" name="Shape 317"/>
          <p:cNvSpPr txBox="1">
            <a:spLocks noGrp="1"/>
          </p:cNvSpPr>
          <p:nvPr>
            <p:ph type="body" idx="2"/>
          </p:nvPr>
        </p:nvSpPr>
        <p:spPr>
          <a:xfrm>
            <a:off x="819785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20" name="Shape 320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23" name="Shape 323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325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26" name="Shape 326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1155700" y="2781300"/>
            <a:ext cx="13931900" cy="356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12" name="Shape 112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28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90" name="Shape 290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4inf.com/code/mbox-short.tx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stephen.marquard@uct.ac.za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Reading Files</a:t>
            </a:r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5494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Chapter 7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/>
          <p:nvPr/>
        </p:nvSpPr>
        <p:spPr>
          <a:xfrm>
            <a:off x="4724400" y="1041400"/>
            <a:ext cx="3454499" cy="6489599"/>
          </a:xfrm>
          <a:prstGeom prst="rect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 Software</a:t>
            </a:r>
          </a:p>
        </p:txBody>
      </p:sp>
      <p:sp>
        <p:nvSpPr>
          <p:cNvPr id="92" name="Shape 92"/>
          <p:cNvSpPr txBox="1"/>
          <p:nvPr/>
        </p:nvSpPr>
        <p:spPr>
          <a:xfrm>
            <a:off x="1460500" y="1790700"/>
            <a:ext cx="2184300" cy="2184300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Input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and Output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Devices</a:t>
            </a:r>
          </a:p>
        </p:txBody>
      </p:sp>
      <p:sp>
        <p:nvSpPr>
          <p:cNvPr id="93" name="Shape 93"/>
          <p:cNvSpPr txBox="1"/>
          <p:nvPr/>
        </p:nvSpPr>
        <p:spPr>
          <a:xfrm>
            <a:off x="5359400" y="1892300"/>
            <a:ext cx="2133599" cy="19811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Central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Processing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Unit</a:t>
            </a:r>
          </a:p>
        </p:txBody>
      </p:sp>
      <p:sp>
        <p:nvSpPr>
          <p:cNvPr id="94" name="Shape 94"/>
          <p:cNvSpPr txBox="1"/>
          <p:nvPr/>
        </p:nvSpPr>
        <p:spPr>
          <a:xfrm>
            <a:off x="5359400" y="4927600"/>
            <a:ext cx="2171700" cy="21335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Main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Memory</a:t>
            </a:r>
          </a:p>
        </p:txBody>
      </p:sp>
      <p:sp>
        <p:nvSpPr>
          <p:cNvPr id="95" name="Shape 95"/>
          <p:cNvSpPr txBox="1"/>
          <p:nvPr/>
        </p:nvSpPr>
        <p:spPr>
          <a:xfrm>
            <a:off x="9893300" y="3098800"/>
            <a:ext cx="2184300" cy="2184300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Secondary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Memory</a:t>
            </a:r>
          </a:p>
        </p:txBody>
      </p:sp>
      <p:cxnSp>
        <p:nvCxnSpPr>
          <p:cNvPr id="96" name="Shape 96"/>
          <p:cNvCxnSpPr/>
          <p:nvPr/>
        </p:nvCxnSpPr>
        <p:spPr>
          <a:xfrm flipH="1">
            <a:off x="3659048" y="2917825"/>
            <a:ext cx="1058999" cy="17399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stealth" w="med" len="med"/>
          </a:ln>
        </p:spPr>
      </p:cxnSp>
      <p:cxnSp>
        <p:nvCxnSpPr>
          <p:cNvPr id="97" name="Shape 97"/>
          <p:cNvCxnSpPr/>
          <p:nvPr/>
        </p:nvCxnSpPr>
        <p:spPr>
          <a:xfrm rot="10800000">
            <a:off x="6019800" y="3901924"/>
            <a:ext cx="0" cy="971700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98" name="Shape 98"/>
          <p:cNvCxnSpPr/>
          <p:nvPr/>
        </p:nvCxnSpPr>
        <p:spPr>
          <a:xfrm>
            <a:off x="6973886" y="3919537"/>
            <a:ext cx="0" cy="919200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99" name="Shape 99"/>
          <p:cNvCxnSpPr/>
          <p:nvPr/>
        </p:nvCxnSpPr>
        <p:spPr>
          <a:xfrm flipH="1">
            <a:off x="8283575" y="3541712"/>
            <a:ext cx="1562099" cy="17399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00" name="Shape 100"/>
          <p:cNvCxnSpPr/>
          <p:nvPr/>
        </p:nvCxnSpPr>
        <p:spPr>
          <a:xfrm>
            <a:off x="8248650" y="4546600"/>
            <a:ext cx="1579499" cy="0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01" name="Shape 101"/>
          <p:cNvSpPr txBox="1"/>
          <p:nvPr/>
        </p:nvSpPr>
        <p:spPr>
          <a:xfrm>
            <a:off x="10385425" y="482600"/>
            <a:ext cx="5052000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It is time to go find some Data to mess with!</a:t>
            </a:r>
          </a:p>
        </p:txBody>
      </p:sp>
      <p:sp>
        <p:nvSpPr>
          <p:cNvPr id="102" name="Shape 102"/>
          <p:cNvSpPr/>
          <p:nvPr/>
        </p:nvSpPr>
        <p:spPr>
          <a:xfrm>
            <a:off x="7810500" y="838200"/>
            <a:ext cx="1803300" cy="1269899"/>
          </a:xfrm>
          <a:prstGeom prst="wedgeEllipseCallout">
            <a:avLst>
              <a:gd name="adj1" fmla="val -66356"/>
              <a:gd name="adj2" fmla="val 96966"/>
            </a:avLst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What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Next?</a:t>
            </a:r>
          </a:p>
        </p:txBody>
      </p:sp>
      <p:pic>
        <p:nvPicPr>
          <p:cNvPr id="103" name="Shape 1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10211" y="5168900"/>
            <a:ext cx="457200" cy="649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Shape 104"/>
          <p:cNvSpPr/>
          <p:nvPr/>
        </p:nvSpPr>
        <p:spPr>
          <a:xfrm>
            <a:off x="6299200" y="3937050"/>
            <a:ext cx="2768700" cy="1269899"/>
          </a:xfrm>
          <a:prstGeom prst="wedgeEllipseCallout">
            <a:avLst>
              <a:gd name="adj1" fmla="val -16423"/>
              <a:gd name="adj2" fmla="val 86316"/>
            </a:avLst>
          </a:prstGeom>
          <a:solidFill>
            <a:schemeClr val="accent1"/>
          </a:solidFill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if x &lt; 3: print</a:t>
            </a:r>
          </a:p>
        </p:txBody>
      </p:sp>
      <p:sp>
        <p:nvSpPr>
          <p:cNvPr id="105" name="Shape 105"/>
          <p:cNvSpPr txBox="1"/>
          <p:nvPr/>
        </p:nvSpPr>
        <p:spPr>
          <a:xfrm>
            <a:off x="9334500" y="5899150"/>
            <a:ext cx="4927500" cy="1650900"/>
          </a:xfrm>
          <a:prstGeom prst="rect">
            <a:avLst/>
          </a:prstGeom>
          <a:noFill/>
          <a:ln w="12700" cap="rnd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13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From stephen.marquard@uct.ac.za Sat Jan  5 09:14:16 2008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13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Return-Path: &lt;postmaster@collab.sakaiproject.org&gt;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13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Date: Sat, 5 Jan 2008 09:12:18 -0500To: source@collab.sakaiproject.orgFrom: stephen.marquard@uct.ac.zaSubject: [sakai] svn commit: r39772 - content/branches/Details: http://source.sakaiproject.org/viewsvn/?view=rev&amp;rev=39772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13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...</a:t>
            </a:r>
          </a:p>
        </p:txBody>
      </p:sp>
      <p:sp>
        <p:nvSpPr>
          <p:cNvPr id="106" name="Shape 106"/>
          <p:cNvSpPr/>
          <p:nvPr/>
        </p:nvSpPr>
        <p:spPr>
          <a:xfrm>
            <a:off x="12192000" y="2552700"/>
            <a:ext cx="1955699" cy="1003199"/>
          </a:xfrm>
          <a:prstGeom prst="wedgeEllipseCallout">
            <a:avLst>
              <a:gd name="adj1" fmla="val -56870"/>
              <a:gd name="adj2" fmla="val 111090"/>
            </a:avLst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Files R Us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 txBox="1">
            <a:spLocks noGrp="1"/>
          </p:cNvSpPr>
          <p:nvPr>
            <p:ph type="title"/>
          </p:nvPr>
        </p:nvSpPr>
        <p:spPr>
          <a:xfrm>
            <a:off x="1162000" y="22615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File Processing</a:t>
            </a:r>
          </a:p>
        </p:txBody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1155700" y="2222500"/>
            <a:ext cx="13932000" cy="13334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text file can be thought of as a sequence of lines</a:t>
            </a:r>
          </a:p>
        </p:txBody>
      </p:sp>
      <p:sp>
        <p:nvSpPr>
          <p:cNvPr id="152" name="Shape 152"/>
          <p:cNvSpPr txBox="1"/>
          <p:nvPr/>
        </p:nvSpPr>
        <p:spPr>
          <a:xfrm>
            <a:off x="1616050" y="3497450"/>
            <a:ext cx="12859499" cy="3479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From stephen.marquard@uct.ac.za Sat Jan  5 09:14:16 2008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Return-Path: &lt;postmaster@collab.sakaiproject.org&gt;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Date: Sat, 5 Jan 2008 09:12:18 -0500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To: source@collab.sakaiproject.org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From: stephen.marquard@uct.ac.za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Subject: [sakai] svn commit: r39772 - content/branches/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Font typeface="Cabin"/>
              <a:buNone/>
            </a:pPr>
            <a:endParaRPr sz="2400" b="1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Details:</a:t>
            </a:r>
            <a:r>
              <a:rPr lang="en-US" sz="24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http://source.sakaiproject.org/viewsvn/?view=rev&amp;rev=39772</a:t>
            </a:r>
          </a:p>
        </p:txBody>
      </p:sp>
      <p:sp>
        <p:nvSpPr>
          <p:cNvPr id="153" name="Shape 153"/>
          <p:cNvSpPr txBox="1"/>
          <p:nvPr/>
        </p:nvSpPr>
        <p:spPr>
          <a:xfrm>
            <a:off x="3073400" y="8051800"/>
            <a:ext cx="96029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sng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http://www.py4inf.com/code/mbox-short.txt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>
            <a:spLocks noGrp="1"/>
          </p:cNvSpPr>
          <p:nvPr>
            <p:ph type="title"/>
          </p:nvPr>
        </p:nvSpPr>
        <p:spPr>
          <a:xfrm>
            <a:off x="850900" y="241300"/>
            <a:ext cx="13932000" cy="2057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Opening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 File</a:t>
            </a:r>
          </a:p>
        </p:txBody>
      </p:sp>
      <p:sp>
        <p:nvSpPr>
          <p:cNvPr id="159" name="Shape 159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Before we can read the contents of the file, we must tell Python which file we are going to work with and what we will be doing with the file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This is done with the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open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() function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00FF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open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() returns a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file handle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- a variable used to perform operations on the file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Similar to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File -&gt; Open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in a Word Processor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 txBox="1">
            <a:spLocks noGrp="1"/>
          </p:cNvSpPr>
          <p:nvPr>
            <p:ph type="title"/>
          </p:nvPr>
        </p:nvSpPr>
        <p:spPr>
          <a:xfrm>
            <a:off x="10795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Using open()</a:t>
            </a:r>
          </a:p>
        </p:txBody>
      </p:sp>
      <p:sp>
        <p:nvSpPr>
          <p:cNvPr id="165" name="Shape 16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52959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handle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=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open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</a:t>
            </a: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filename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mode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</a:p>
          <a:p>
            <a:pPr marL="1041400" marR="0" lvl="1" indent="-1424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7F00"/>
              </a:buClr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returns a handle use to manipulate the file</a:t>
            </a:r>
          </a:p>
          <a:p>
            <a:pPr marL="1041400" marR="0" lvl="1" indent="-1424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filename is a string</a:t>
            </a:r>
          </a:p>
          <a:p>
            <a:pPr marL="1041400" marR="0" lvl="1" indent="-1424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mode is optional and should be 'r' if we are planning to read the file and 'w' if we are going to write to the file</a:t>
            </a:r>
          </a:p>
        </p:txBody>
      </p:sp>
      <p:sp>
        <p:nvSpPr>
          <p:cNvPr id="166" name="Shape 166"/>
          <p:cNvSpPr txBox="1"/>
          <p:nvPr/>
        </p:nvSpPr>
        <p:spPr>
          <a:xfrm>
            <a:off x="9283700" y="3232150"/>
            <a:ext cx="58292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fhand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=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open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('</a:t>
            </a: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mbox.txt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', '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r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')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What is a Handle?</a:t>
            </a:r>
          </a:p>
        </p:txBody>
      </p:sp>
      <p:sp>
        <p:nvSpPr>
          <p:cNvPr id="172" name="Shape 172"/>
          <p:cNvSpPr txBox="1"/>
          <p:nvPr/>
        </p:nvSpPr>
        <p:spPr>
          <a:xfrm>
            <a:off x="952500" y="2554275"/>
            <a:ext cx="9761999" cy="1660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'mbox.txt'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&lt;open file 'mbox.txt', mode 'r' at 0x1005088b0&gt;</a:t>
            </a:r>
          </a:p>
        </p:txBody>
      </p:sp>
      <p:pic>
        <p:nvPicPr>
          <p:cNvPr id="173" name="Shape 1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800" y="4495800"/>
            <a:ext cx="8005800" cy="405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When Files are Missing</a:t>
            </a:r>
          </a:p>
        </p:txBody>
      </p:sp>
      <p:sp>
        <p:nvSpPr>
          <p:cNvPr id="179" name="Shape 179"/>
          <p:cNvSpPr txBox="1"/>
          <p:nvPr/>
        </p:nvSpPr>
        <p:spPr>
          <a:xfrm>
            <a:off x="1422400" y="3076575"/>
            <a:ext cx="13533900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stuff.txt'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Traceback (most recent call last):  File "&lt;stdin&gt;", line 1, in &lt;module&gt;IOError: [Err</a:t>
            </a:r>
            <a:r>
              <a:rPr lang="en-US" sz="3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no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2]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No such file or directory: 'stuff.txt'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 txBox="1">
            <a:spLocks noGrp="1"/>
          </p:cNvSpPr>
          <p:nvPr>
            <p:ph type="title"/>
          </p:nvPr>
        </p:nvSpPr>
        <p:spPr>
          <a:xfrm>
            <a:off x="1505550" y="241300"/>
            <a:ext cx="12695700" cy="21431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7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newline</a:t>
            </a:r>
            <a:r>
              <a:rPr lang="en-US" sz="7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Character</a:t>
            </a:r>
          </a:p>
        </p:txBody>
      </p:sp>
      <p:sp>
        <p:nvSpPr>
          <p:cNvPr id="185" name="Shape 185"/>
          <p:cNvSpPr txBox="1">
            <a:spLocks noGrp="1"/>
          </p:cNvSpPr>
          <p:nvPr>
            <p:ph type="body" idx="1"/>
          </p:nvPr>
        </p:nvSpPr>
        <p:spPr>
          <a:xfrm>
            <a:off x="1155700" y="2166650"/>
            <a:ext cx="6578699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use a special character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called the “</a:t>
            </a:r>
            <a:r>
              <a:rPr lang="en-US" sz="360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newline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to indicate when a line ends 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represent it as </a:t>
            </a: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\n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in strings 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Newline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is still one character - not two</a:t>
            </a:r>
          </a:p>
        </p:txBody>
      </p:sp>
      <p:sp>
        <p:nvSpPr>
          <p:cNvPr id="186" name="Shape 186"/>
          <p:cNvSpPr txBox="1"/>
          <p:nvPr/>
        </p:nvSpPr>
        <p:spPr>
          <a:xfrm>
            <a:off x="9294500" y="2748725"/>
            <a:ext cx="6691499" cy="5245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'Hello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World!</a:t>
            </a:r>
            <a:r>
              <a:rPr lang="en-US" sz="30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'Hello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World!</a:t>
            </a:r>
            <a:r>
              <a:rPr lang="en-US" sz="30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Hello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World!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'X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30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File Processing</a:t>
            </a:r>
          </a:p>
        </p:txBody>
      </p:sp>
      <p:sp>
        <p:nvSpPr>
          <p:cNvPr id="192" name="Shape 192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13334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text file can be thought of as a sequence of lines</a:t>
            </a:r>
          </a:p>
        </p:txBody>
      </p:sp>
      <p:sp>
        <p:nvSpPr>
          <p:cNvPr id="193" name="Shape 193"/>
          <p:cNvSpPr txBox="1"/>
          <p:nvPr/>
        </p:nvSpPr>
        <p:spPr>
          <a:xfrm>
            <a:off x="1851475" y="3937000"/>
            <a:ext cx="13010999" cy="3479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From stephen.marquard@uct.ac.za Sat Jan  5 09:14:16 2008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Return-Path: &lt;postmaster@collab.sakaiproject.org&gt;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Date: Sat, 5 Jan 2008 09:12:18 -0500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To: source@collab.sakaiproject.org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From: stephen.marquard@uct.ac.za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Subject: [sakai] svn commit: r39772 - content/branches/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Font typeface="Cabin"/>
              <a:buNone/>
            </a:pPr>
            <a:endParaRPr sz="2400" b="1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Details:</a:t>
            </a:r>
            <a:r>
              <a:rPr lang="en-US" sz="24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http://source.sakaiproject.org/viewsvn/?view=rev&amp;rev=39772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File Processing</a:t>
            </a:r>
          </a:p>
        </p:txBody>
      </p:sp>
      <p:sp>
        <p:nvSpPr>
          <p:cNvPr id="199" name="Shape 199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13334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text file has </a:t>
            </a: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newlines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at the end of each line</a:t>
            </a:r>
          </a:p>
        </p:txBody>
      </p:sp>
      <p:sp>
        <p:nvSpPr>
          <p:cNvPr id="200" name="Shape 200"/>
          <p:cNvSpPr txBox="1"/>
          <p:nvPr/>
        </p:nvSpPr>
        <p:spPr>
          <a:xfrm>
            <a:off x="1851475" y="3937000"/>
            <a:ext cx="13010999" cy="3479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From stephen.marquard@uct.ac.za Sat Jan  5 09:14:16 2008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Return-Path: &lt;postmaster@collab.sakaiproject.org&gt;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Date: Sat, 5 Jan 2008 09:12:18 -0500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To: source@collab.sakaiproject.org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From: stephen.marquard@uct.ac.za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\</a:t>
            </a:r>
            <a:r>
              <a:rPr lang="en-US" sz="2400" b="1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Subject: [sakai] svn commit: r39772 - content/branches/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Details:</a:t>
            </a:r>
            <a:r>
              <a:rPr lang="en-US" sz="24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http://source.sakaiproject.org/viewsvn/?view=rev&amp;rev=39772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\</a:t>
            </a:r>
            <a:r>
              <a:rPr lang="en-US" sz="2400" b="1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File Handle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as a </a:t>
            </a:r>
            <a:r>
              <a:rPr lang="en-US" sz="7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Sequence</a:t>
            </a:r>
          </a:p>
        </p:txBody>
      </p:sp>
      <p:sp>
        <p:nvSpPr>
          <p:cNvPr id="206" name="Shape 206"/>
          <p:cNvSpPr txBox="1">
            <a:spLocks noGrp="1"/>
          </p:cNvSpPr>
          <p:nvPr>
            <p:ph type="body" idx="1"/>
          </p:nvPr>
        </p:nvSpPr>
        <p:spPr>
          <a:xfrm>
            <a:off x="850900" y="2603500"/>
            <a:ext cx="7581899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</a:t>
            </a:r>
            <a:r>
              <a:rPr lang="en-US" sz="34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file handle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open for read can be treated as a </a:t>
            </a:r>
            <a:r>
              <a:rPr lang="en-US" sz="34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sequence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of strings where each line in the file is a string in the sequence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can use the </a:t>
            </a:r>
            <a:r>
              <a:rPr lang="en-US" sz="34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for</a:t>
            </a: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statement to iterate through a </a:t>
            </a:r>
            <a:r>
              <a:rPr lang="en-US" sz="34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sequence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Remember - a </a:t>
            </a:r>
            <a:r>
              <a:rPr lang="en-US" sz="34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sequence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is an ordered set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8784175" y="3490925"/>
            <a:ext cx="7037399" cy="2728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xfile</a:t>
            </a:r>
            <a:r>
              <a:rPr lang="en-US" sz="3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US" sz="3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('mbox.txt')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cheese</a:t>
            </a:r>
            <a:r>
              <a:rPr lang="en-US" sz="3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xfile</a:t>
            </a:r>
            <a:r>
              <a:rPr lang="en-US" sz="3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cheese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Counting Lines in a File</a:t>
            </a:r>
          </a:p>
        </p:txBody>
      </p:sp>
      <p:sp>
        <p:nvSpPr>
          <p:cNvPr id="213" name="Shape 213"/>
          <p:cNvSpPr txBox="1">
            <a:spLocks noGrp="1"/>
          </p:cNvSpPr>
          <p:nvPr>
            <p:ph type="body" idx="1"/>
          </p:nvPr>
        </p:nvSpPr>
        <p:spPr>
          <a:xfrm>
            <a:off x="1091325" y="2362200"/>
            <a:ext cx="6565800" cy="4583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Open a </a:t>
            </a: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file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read-only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Use a </a:t>
            </a:r>
            <a:r>
              <a:rPr lang="en-US" sz="34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for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loop to read each line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7F00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Count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the lines and print out the number of lines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8845300" y="2819350"/>
            <a:ext cx="6931200" cy="4787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('mbox.txt')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+ 1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'Line Count:',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baseline="0">
              <a:solidFill>
                <a:srgbClr val="FF7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baseline="0">
              <a:solidFill>
                <a:srgbClr val="FF7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python open.py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Line Count: 132045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Reading the </a:t>
            </a:r>
            <a:r>
              <a:rPr lang="en-US" sz="7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*Whole*</a:t>
            </a: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File</a:t>
            </a:r>
          </a:p>
        </p:txBody>
      </p:sp>
      <p:sp>
        <p:nvSpPr>
          <p:cNvPr id="220" name="Shape 220"/>
          <p:cNvSpPr txBox="1">
            <a:spLocks noGrp="1"/>
          </p:cNvSpPr>
          <p:nvPr>
            <p:ph type="body" idx="1"/>
          </p:nvPr>
        </p:nvSpPr>
        <p:spPr>
          <a:xfrm>
            <a:off x="927625" y="2800275"/>
            <a:ext cx="5835599" cy="27377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can </a:t>
            </a:r>
            <a:r>
              <a:rPr lang="en-US" sz="34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read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the whole file (newlines and all) into a </a:t>
            </a:r>
            <a:r>
              <a:rPr lang="en-US" sz="34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single string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7449875" y="2671475"/>
            <a:ext cx="8280600" cy="3464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  <a:r>
              <a:rPr lang="en-US" sz="30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 dirty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US" sz="30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('mbox-short.txt')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 dirty="0" err="1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inp</a:t>
            </a:r>
            <a:r>
              <a:rPr lang="en-US" sz="30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  <a:r>
              <a:rPr lang="en-US" sz="3000" b="1" i="0" u="none" strike="noStrike" cap="none" baseline="0" dirty="0" err="1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.read</a:t>
            </a:r>
            <a:r>
              <a:rPr lang="en-US" sz="30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 dirty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 dirty="0" err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sz="30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 dirty="0" err="1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inp</a:t>
            </a:r>
            <a:r>
              <a:rPr lang="en-US" sz="3000" b="1" i="0" u="none" strike="noStrike" cap="none" baseline="0" dirty="0" smtClean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)#94626</a:t>
            </a:r>
            <a:endParaRPr lang="en-US" sz="3000" b="1" i="0" u="none" strike="noStrike" cap="none" baseline="0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 dirty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 dirty="0" err="1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inp</a:t>
            </a:r>
            <a:r>
              <a:rPr lang="en-US" sz="30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[:20]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US" sz="30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stephen.marquar</a:t>
            </a:r>
            <a:endParaRPr lang="en-US" sz="3000" b="1" i="0" u="none" strike="noStrike" cap="none" baseline="0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Searching Through a File</a:t>
            </a:r>
          </a:p>
        </p:txBody>
      </p:sp>
      <p:sp>
        <p:nvSpPr>
          <p:cNvPr id="227" name="Shape 227"/>
          <p:cNvSpPr txBox="1">
            <a:spLocks noGrp="1"/>
          </p:cNvSpPr>
          <p:nvPr>
            <p:ph type="body" idx="1"/>
          </p:nvPr>
        </p:nvSpPr>
        <p:spPr>
          <a:xfrm>
            <a:off x="774700" y="2644200"/>
            <a:ext cx="6426300" cy="3083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can put an </a:t>
            </a:r>
            <a:r>
              <a:rPr lang="en-US" sz="34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if 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statement in our </a:t>
            </a:r>
            <a:r>
              <a:rPr lang="en-US" sz="34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for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loop to only print lines that meet some criteria</a:t>
            </a:r>
          </a:p>
        </p:txBody>
      </p:sp>
      <p:sp>
        <p:nvSpPr>
          <p:cNvPr id="228" name="Shape 228"/>
          <p:cNvSpPr txBox="1"/>
          <p:nvPr/>
        </p:nvSpPr>
        <p:spPr>
          <a:xfrm>
            <a:off x="8049525" y="3161700"/>
            <a:ext cx="7276200" cy="2444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('mbox-short.txt')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.startswith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('From:')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OOPS!</a:t>
            </a:r>
          </a:p>
        </p:txBody>
      </p:sp>
      <p:sp>
        <p:nvSpPr>
          <p:cNvPr id="234" name="Shape 234"/>
          <p:cNvSpPr txBox="1"/>
          <p:nvPr/>
        </p:nvSpPr>
        <p:spPr>
          <a:xfrm>
            <a:off x="1246825" y="3253025"/>
            <a:ext cx="52704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What are all these blank lines doing here?</a:t>
            </a:r>
          </a:p>
        </p:txBody>
      </p:sp>
      <p:sp>
        <p:nvSpPr>
          <p:cNvPr id="235" name="Shape 235"/>
          <p:cNvSpPr txBox="1"/>
          <p:nvPr/>
        </p:nvSpPr>
        <p:spPr>
          <a:xfrm>
            <a:off x="7594600" y="2895600"/>
            <a:ext cx="8128000" cy="452437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From: stephen.marquard@uct.ac.za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baseline="0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From: louis@media.berkeley.edu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baseline="0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From: zqian@umich.edu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baseline="0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From: rjlowe@iupui.edu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OOPS!</a:t>
            </a:r>
          </a:p>
        </p:txBody>
      </p:sp>
      <p:sp>
        <p:nvSpPr>
          <p:cNvPr id="241" name="Shape 241"/>
          <p:cNvSpPr txBox="1"/>
          <p:nvPr/>
        </p:nvSpPr>
        <p:spPr>
          <a:xfrm>
            <a:off x="1292225" y="2813050"/>
            <a:ext cx="52704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What are all these blank lines doing here?</a:t>
            </a:r>
          </a:p>
        </p:txBody>
      </p:sp>
      <p:sp>
        <p:nvSpPr>
          <p:cNvPr id="242" name="Shape 242"/>
          <p:cNvSpPr txBox="1"/>
          <p:nvPr/>
        </p:nvSpPr>
        <p:spPr>
          <a:xfrm>
            <a:off x="7579425" y="2900800"/>
            <a:ext cx="8127900" cy="5078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From: stephen.marquard@uct.ac.za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From: louis@media.berkeley.edu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From: zqian@umich.edu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From: rjlowe@iupui.edu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</a:p>
        </p:txBody>
      </p:sp>
      <p:sp>
        <p:nvSpPr>
          <p:cNvPr id="243" name="Shape 243"/>
          <p:cNvSpPr txBox="1">
            <a:spLocks noGrp="1"/>
          </p:cNvSpPr>
          <p:nvPr>
            <p:ph type="body" idx="1"/>
          </p:nvPr>
        </p:nvSpPr>
        <p:spPr>
          <a:xfrm>
            <a:off x="957400" y="4032000"/>
            <a:ext cx="5965199" cy="37185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Each </a:t>
            </a:r>
            <a:r>
              <a:rPr lang="en-US" sz="34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line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from the file has a </a:t>
            </a:r>
            <a:r>
              <a:rPr lang="en-US" sz="34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newline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at the end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40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print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statement adds a </a:t>
            </a:r>
            <a:r>
              <a:rPr lang="en-US" sz="340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newline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to each line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Searching Through a File (fixed)</a:t>
            </a:r>
          </a:p>
        </p:txBody>
      </p:sp>
      <p:sp>
        <p:nvSpPr>
          <p:cNvPr id="249" name="Shape 249"/>
          <p:cNvSpPr txBox="1">
            <a:spLocks noGrp="1"/>
          </p:cNvSpPr>
          <p:nvPr>
            <p:ph type="body" idx="1"/>
          </p:nvPr>
        </p:nvSpPr>
        <p:spPr>
          <a:xfrm>
            <a:off x="774700" y="2783500"/>
            <a:ext cx="6426300" cy="46833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can strip the whitespace from the right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-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hand side of the string using </a:t>
            </a:r>
            <a:r>
              <a:rPr lang="en-US" sz="34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rstrip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() from the string library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newline is considered 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white space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is </a:t>
            </a:r>
            <a:r>
              <a:rPr lang="en-US" sz="34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stripped</a:t>
            </a:r>
          </a:p>
        </p:txBody>
      </p:sp>
      <p:sp>
        <p:nvSpPr>
          <p:cNvPr id="250" name="Shape 250"/>
          <p:cNvSpPr txBox="1"/>
          <p:nvPr/>
        </p:nvSpPr>
        <p:spPr>
          <a:xfrm>
            <a:off x="8491500" y="2783500"/>
            <a:ext cx="6596099" cy="229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('mbox-short.txt')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.rstrip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.startswith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('From:')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4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</a:p>
        </p:txBody>
      </p:sp>
      <p:sp>
        <p:nvSpPr>
          <p:cNvPr id="251" name="Shape 251"/>
          <p:cNvSpPr txBox="1"/>
          <p:nvPr/>
        </p:nvSpPr>
        <p:spPr>
          <a:xfrm>
            <a:off x="8388425" y="5391750"/>
            <a:ext cx="7442100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From: stephen.marquard@uct.ac.za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From: louis@media.berkeley.edu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From: zqian@umich.edu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From: rjlowe@iupui.edu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....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Skipping with </a:t>
            </a: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continue</a:t>
            </a:r>
          </a:p>
        </p:txBody>
      </p:sp>
      <p:sp>
        <p:nvSpPr>
          <p:cNvPr id="257" name="Shape 257"/>
          <p:cNvSpPr txBox="1">
            <a:spLocks noGrp="1"/>
          </p:cNvSpPr>
          <p:nvPr>
            <p:ph type="body" idx="1"/>
          </p:nvPr>
        </p:nvSpPr>
        <p:spPr>
          <a:xfrm>
            <a:off x="836825" y="3285150"/>
            <a:ext cx="5109899" cy="29489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can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convenient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ly skip a line by using the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continue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statement</a:t>
            </a:r>
          </a:p>
        </p:txBody>
      </p:sp>
      <p:sp>
        <p:nvSpPr>
          <p:cNvPr id="258" name="Shape 258"/>
          <p:cNvSpPr txBox="1"/>
          <p:nvPr/>
        </p:nvSpPr>
        <p:spPr>
          <a:xfrm>
            <a:off x="6534225" y="2540000"/>
            <a:ext cx="88601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('mbox-short.txt')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.rstrip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.startswith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('From:')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continue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</a:p>
        </p:txBody>
      </p:sp>
      <p:cxnSp>
        <p:nvCxnSpPr>
          <p:cNvPr id="259" name="Shape 259"/>
          <p:cNvCxnSpPr/>
          <p:nvPr/>
        </p:nvCxnSpPr>
        <p:spPr>
          <a:xfrm>
            <a:off x="10733375" y="4944575"/>
            <a:ext cx="896999" cy="0"/>
          </a:xfrm>
          <a:prstGeom prst="straightConnector1">
            <a:avLst/>
          </a:prstGeom>
          <a:noFill/>
          <a:ln w="381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Using </a:t>
            </a: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in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to select </a:t>
            </a: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lines</a:t>
            </a:r>
          </a:p>
        </p:txBody>
      </p:sp>
      <p:sp>
        <p:nvSpPr>
          <p:cNvPr id="265" name="Shape 26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032499" cy="27940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can look for a string anywhere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line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as our selection criteria</a:t>
            </a:r>
          </a:p>
        </p:txBody>
      </p:sp>
      <p:sp>
        <p:nvSpPr>
          <p:cNvPr id="266" name="Shape 266"/>
          <p:cNvSpPr txBox="1"/>
          <p:nvPr/>
        </p:nvSpPr>
        <p:spPr>
          <a:xfrm>
            <a:off x="8547100" y="2516175"/>
            <a:ext cx="6947100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('mbox-short.txt')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.rstrip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@uct.ac.za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continue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</a:p>
        </p:txBody>
      </p:sp>
      <p:sp>
        <p:nvSpPr>
          <p:cNvPr id="267" name="Shape 267"/>
          <p:cNvSpPr txBox="1"/>
          <p:nvPr/>
        </p:nvSpPr>
        <p:spPr>
          <a:xfrm>
            <a:off x="1412675" y="5915175"/>
            <a:ext cx="13932000" cy="2881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From stephen.marquard@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uct.ac.za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Sat Jan  5 09:14:16 2008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X-Authentication-Warning: set sender to stephen.marquard@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uct.ac.za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using –f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From: </a:t>
            </a:r>
            <a:r>
              <a:rPr lang="en-US" sz="2400" b="1" i="0" u="sng" strike="noStrike" cap="none" baseline="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stephen.marquard@uct.ac.za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Author: </a:t>
            </a:r>
            <a:r>
              <a:rPr lang="en-US" sz="2400" b="1" i="0" u="sng" strike="noStrike" cap="none" baseline="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stephen.marquard@uct.ac.za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From david.horwitz@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uct.ac.za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Fri Jan  4 07:02:32 2008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X-Authentication-Warning: set sender to david.horwitz@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uct.ac.za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using -f...</a:t>
            </a:r>
          </a:p>
        </p:txBody>
      </p:sp>
      <p:cxnSp>
        <p:nvCxnSpPr>
          <p:cNvPr id="268" name="Shape 268"/>
          <p:cNvCxnSpPr/>
          <p:nvPr/>
        </p:nvCxnSpPr>
        <p:spPr>
          <a:xfrm>
            <a:off x="11594475" y="4811225"/>
            <a:ext cx="1575299" cy="889499"/>
          </a:xfrm>
          <a:prstGeom prst="straightConnector1">
            <a:avLst/>
          </a:prstGeom>
          <a:noFill/>
          <a:ln w="381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 txBox="1">
            <a:spLocks noGrp="1"/>
          </p:cNvSpPr>
          <p:nvPr>
            <p:ph type="title"/>
          </p:nvPr>
        </p:nvSpPr>
        <p:spPr>
          <a:xfrm>
            <a:off x="10058400" y="558800"/>
            <a:ext cx="58547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Prompt for File Name</a:t>
            </a:r>
          </a:p>
        </p:txBody>
      </p:sp>
      <p:sp>
        <p:nvSpPr>
          <p:cNvPr id="274" name="Shape 274"/>
          <p:cNvSpPr txBox="1"/>
          <p:nvPr/>
        </p:nvSpPr>
        <p:spPr>
          <a:xfrm>
            <a:off x="800975" y="773100"/>
            <a:ext cx="9517499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fname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raw_input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('Enter the file name:  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fname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.startswith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('Subject:')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+ 1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'There were',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'subject lines in', fname</a:t>
            </a:r>
          </a:p>
        </p:txBody>
      </p:sp>
      <p:sp>
        <p:nvSpPr>
          <p:cNvPr id="275" name="Shape 275"/>
          <p:cNvSpPr txBox="1"/>
          <p:nvPr/>
        </p:nvSpPr>
        <p:spPr>
          <a:xfrm>
            <a:off x="7440611" y="5441950"/>
            <a:ext cx="8643937" cy="2768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Enter the file name: 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mbox.txt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There were 1797 subject lines in mbox.txt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 baseline="0">
              <a:solidFill>
                <a:srgbClr val="FF00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Enter the file name: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mbox-short.txt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There were 27 subject lines in mbox-short.txt</a:t>
            </a:r>
          </a:p>
        </p:txBody>
      </p:sp>
      <p:cxnSp>
        <p:nvCxnSpPr>
          <p:cNvPr id="276" name="Shape 276"/>
          <p:cNvCxnSpPr/>
          <p:nvPr/>
        </p:nvCxnSpPr>
        <p:spPr>
          <a:xfrm>
            <a:off x="8752675" y="1701975"/>
            <a:ext cx="993000" cy="369599"/>
          </a:xfrm>
          <a:prstGeom prst="straightConnector1">
            <a:avLst/>
          </a:prstGeom>
          <a:noFill/>
          <a:ln w="381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77" name="Shape 277"/>
          <p:cNvCxnSpPr/>
          <p:nvPr/>
        </p:nvCxnSpPr>
        <p:spPr>
          <a:xfrm rot="10800000" flipH="1">
            <a:off x="13096875" y="4540250"/>
            <a:ext cx="1065212" cy="671511"/>
          </a:xfrm>
          <a:prstGeom prst="straightConnector1">
            <a:avLst/>
          </a:prstGeom>
          <a:noFill/>
          <a:ln w="381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 txBox="1">
            <a:spLocks noGrp="1"/>
          </p:cNvSpPr>
          <p:nvPr>
            <p:ph type="title"/>
          </p:nvPr>
        </p:nvSpPr>
        <p:spPr>
          <a:xfrm>
            <a:off x="355600" y="1600200"/>
            <a:ext cx="45153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Bad File Names</a:t>
            </a:r>
          </a:p>
        </p:txBody>
      </p:sp>
      <p:sp>
        <p:nvSpPr>
          <p:cNvPr id="283" name="Shape 283"/>
          <p:cNvSpPr txBox="1"/>
          <p:nvPr/>
        </p:nvSpPr>
        <p:spPr>
          <a:xfrm>
            <a:off x="5423775" y="344475"/>
            <a:ext cx="10205700" cy="4735800"/>
          </a:xfrm>
          <a:prstGeom prst="rect">
            <a:avLst/>
          </a:prstGeom>
          <a:noFill/>
          <a:ln w="12700" cap="rnd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fname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raw_input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('Enter the file name:  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fname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except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'File cannot be opened:',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fname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exit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</a:pPr>
            <a:endParaRPr sz="24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.startswith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('Subject:')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+ 1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'There were',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'subject lines in', fname</a:t>
            </a:r>
          </a:p>
        </p:txBody>
      </p:sp>
      <p:sp>
        <p:nvSpPr>
          <p:cNvPr id="284" name="Shape 284"/>
          <p:cNvSpPr txBox="1"/>
          <p:nvPr/>
        </p:nvSpPr>
        <p:spPr>
          <a:xfrm>
            <a:off x="495300" y="5748250"/>
            <a:ext cx="7502399" cy="2616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Enter the file name: </a:t>
            </a:r>
            <a:r>
              <a:rPr lang="en-US" sz="34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mbox.txt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There were 1797 subject lines in mbox.txt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 b="0" i="0" u="none" strike="noStrike" cap="none" baseline="0">
              <a:solidFill>
                <a:srgbClr val="FF00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Enter the file name: </a:t>
            </a:r>
            <a:r>
              <a:rPr lang="en-US" sz="34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na na boo boo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File cannot be opened: na na boo boo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328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Summary</a:t>
            </a:r>
          </a:p>
        </p:txBody>
      </p:sp>
      <p:sp>
        <p:nvSpPr>
          <p:cNvPr id="329" name="Shape 329"/>
          <p:cNvSpPr txBox="1">
            <a:spLocks noGrp="1"/>
          </p:cNvSpPr>
          <p:nvPr>
            <p:ph type="body" idx="1"/>
          </p:nvPr>
        </p:nvSpPr>
        <p:spPr>
          <a:xfrm>
            <a:off x="1002875" y="3149975"/>
            <a:ext cx="7450500" cy="47031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3944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Secondary storage</a:t>
            </a:r>
          </a:p>
          <a:p>
            <a:pPr marL="685800" marR="0" lvl="0" indent="-394461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Opening a file - file handle</a:t>
            </a:r>
          </a:p>
          <a:p>
            <a:pPr marL="685800" marR="0" lvl="0" indent="-394461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File structure - newline character</a:t>
            </a:r>
          </a:p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Reading a file line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by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line with a </a:t>
            </a:r>
            <a:b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</a:b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for loop</a:t>
            </a:r>
          </a:p>
        </p:txBody>
      </p:sp>
      <p:sp>
        <p:nvSpPr>
          <p:cNvPr id="330" name="Shape 330"/>
          <p:cNvSpPr txBox="1">
            <a:spLocks noGrp="1"/>
          </p:cNvSpPr>
          <p:nvPr>
            <p:ph type="body" idx="2"/>
          </p:nvPr>
        </p:nvSpPr>
        <p:spPr>
          <a:xfrm>
            <a:off x="8709425" y="2810100"/>
            <a:ext cx="5268599" cy="4133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Searching for lines</a:t>
            </a:r>
          </a:p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Reading file names</a:t>
            </a:r>
          </a:p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Dealing with bad files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35112" y="251520"/>
            <a:ext cx="108732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 smtClean="0"/>
              <a:t>Chapter 7 : Finished</a:t>
            </a:r>
          </a:p>
          <a:p>
            <a:endParaRPr lang="en-US" sz="8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000208" y="7209001"/>
            <a:ext cx="69847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 smtClean="0"/>
              <a:t>Any Doubt?</a:t>
            </a:r>
            <a:endParaRPr lang="en-US" sz="8000" b="1" dirty="0"/>
          </a:p>
        </p:txBody>
      </p:sp>
      <p:pic>
        <p:nvPicPr>
          <p:cNvPr id="2" name="Picture 2" descr="C:\Users\ATUL one\Desktop\194ug5e9ds0ydgif.gif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7200" y="1443531"/>
            <a:ext cx="10225136" cy="5751639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le - Center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333399"/>
      </a:accent2>
      <a:accent3>
        <a:srgbClr val="AAAAAA"/>
      </a:accent3>
      <a:accent4>
        <a:srgbClr val="DADADA"/>
      </a:accent4>
      <a:accent5>
        <a:srgbClr val="A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itle &amp; Bullets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itle &amp; Bullets - 2 Column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1244</Words>
  <Application>Microsoft Office PowerPoint</Application>
  <PresentationFormat>Custom</PresentationFormat>
  <Paragraphs>219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Cabin</vt:lpstr>
      <vt:lpstr>Courier New</vt:lpstr>
      <vt:lpstr>Title &amp; Subtitle</vt:lpstr>
      <vt:lpstr>Title - Center</vt:lpstr>
      <vt:lpstr>1_Title &amp; Bullets</vt:lpstr>
      <vt:lpstr>Title &amp; Bullets - 2 Column</vt:lpstr>
      <vt:lpstr>Reading Files</vt:lpstr>
      <vt:lpstr>Slide 2</vt:lpstr>
      <vt:lpstr>File Processing</vt:lpstr>
      <vt:lpstr>Opening a File</vt:lpstr>
      <vt:lpstr>Using open()</vt:lpstr>
      <vt:lpstr>What is a Handle?</vt:lpstr>
      <vt:lpstr>When Files are Missing</vt:lpstr>
      <vt:lpstr>The newline Character</vt:lpstr>
      <vt:lpstr>File Processing</vt:lpstr>
      <vt:lpstr>File Processing</vt:lpstr>
      <vt:lpstr>File Handle as a Sequence</vt:lpstr>
      <vt:lpstr>Counting Lines in a File</vt:lpstr>
      <vt:lpstr>Reading the *Whole* File</vt:lpstr>
      <vt:lpstr>Searching Through a File</vt:lpstr>
      <vt:lpstr>OOPS!</vt:lpstr>
      <vt:lpstr>OOPS!</vt:lpstr>
      <vt:lpstr>Searching Through a File (fixed)</vt:lpstr>
      <vt:lpstr>Skipping with continue</vt:lpstr>
      <vt:lpstr>Using in to select lines</vt:lpstr>
      <vt:lpstr>Prompt for File Name</vt:lpstr>
      <vt:lpstr>Bad File Names</vt:lpstr>
      <vt:lpstr>Summary</vt:lpstr>
      <vt:lpstr>Slide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Reading Files</dc:title>
  <cp:lastModifiedBy>Atul Ghumade</cp:lastModifiedBy>
  <cp:revision>5</cp:revision>
  <dcterms:modified xsi:type="dcterms:W3CDTF">2015-09-14T05:21:50Z</dcterms:modified>
</cp:coreProperties>
</file>