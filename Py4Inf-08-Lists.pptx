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Default Extension="gif" ContentType="image/gif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2" r:id="rId1"/>
    <p:sldMasterId id="2147483693" r:id="rId2"/>
    <p:sldMasterId id="2147483694" r:id="rId3"/>
    <p:sldMasterId id="2147483695" r:id="rId4"/>
  </p:sldMasterIdLst>
  <p:notesMasterIdLst>
    <p:notesMasterId r:id="rId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6256000" cy="9144000"/>
  <p:notesSz cx="6858000" cy="9144000"/>
  <p:embeddedFontLst>
    <p:embeddedFont>
      <p:font typeface="Cabin" charset="0"/>
      <p:regular r:id="rId34"/>
      <p:bold r:id="rId35"/>
      <p:italic r:id="rId36"/>
      <p:boldItalic r:id="rId37"/>
    </p:embeddedFont>
  </p:embeddedFontLst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774" y="-90"/>
      </p:cViewPr>
      <p:guideLst>
        <p:guide orient="horz" pos="2880"/>
        <p:guide pos="5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98" name="Shape 9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05" name="Shape 10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9" name="Shape 11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43" name="Shape 14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57" name="Shape 15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64" name="Shape 16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93" name="Shape 19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00" name="Shape 20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60" name="Shape 26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67" name="Shape 26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75" name="Shape 27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81" name="Shape 28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89" name="Shape 28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8" name="Shape 2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07" name="Shape 30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17" name="Shape 31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28" name="Shape 32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75" name="Shape 37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9" name="Shape 6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title"/>
          </p:nvPr>
        </p:nvSpPr>
        <p:spPr>
          <a:xfrm rot="5400000">
            <a:off x="11231562" y="1909762"/>
            <a:ext cx="4229100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body" idx="1"/>
          </p:nvPr>
        </p:nvSpPr>
        <p:spPr>
          <a:xfrm rot="5400000">
            <a:off x="4189412" y="-1497012"/>
            <a:ext cx="4229100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 rot="5400000">
            <a:off x="7594599" y="-1727200"/>
            <a:ext cx="1054100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819785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 rot="5400000">
            <a:off x="9236075" y="2441574"/>
            <a:ext cx="7708899" cy="33083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13" name="Shape 213"/>
          <p:cNvSpPr txBox="1">
            <a:spLocks noGrp="1"/>
          </p:cNvSpPr>
          <p:nvPr>
            <p:ph type="body" idx="1"/>
          </p:nvPr>
        </p:nvSpPr>
        <p:spPr>
          <a:xfrm rot="5400000">
            <a:off x="2543175" y="-790575"/>
            <a:ext cx="7708899" cy="97726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16" name="Shape 216"/>
          <p:cNvSpPr txBox="1">
            <a:spLocks noGrp="1"/>
          </p:cNvSpPr>
          <p:nvPr>
            <p:ph type="body" idx="1"/>
          </p:nvPr>
        </p:nvSpPr>
        <p:spPr>
          <a:xfrm rot="5400000">
            <a:off x="5448299" y="-1346199"/>
            <a:ext cx="5359400" cy="132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9" name="Shape 219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4" name="Shape 224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0" name="Shape 230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31" name="Shape 231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2" name="Shape 232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33" name="Shape 233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36" name="Shape 236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6540500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7" name="Shape 237"/>
          <p:cNvSpPr txBox="1">
            <a:spLocks noGrp="1"/>
          </p:cNvSpPr>
          <p:nvPr>
            <p:ph type="body" idx="2"/>
          </p:nvPr>
        </p:nvSpPr>
        <p:spPr>
          <a:xfrm>
            <a:off x="8204200" y="2590800"/>
            <a:ext cx="6540500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40" name="Shape 240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46" name="Shape 246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34" name="Shape 334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37" name="Shape 337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40" name="Shape 340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Shape 341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44" name="Shape 344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45" name="Shape 345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51" name="Shape 351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52" name="Shape 352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53" name="Shape 353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54" name="Shape 354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57" name="Shape 35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58" name="Shape 358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61" name="Shape 361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64" name="Shape 36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67" name="Shape 367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31" name="Shape 33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tutorial/datastructures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Python Lists</a:t>
            </a:r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549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Chapter 8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09220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7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7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is a kind of </a:t>
            </a:r>
            <a:r>
              <a:rPr lang="en-US" sz="7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Collection</a:t>
            </a:r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3340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collection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allows us to put many values in a single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variable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collection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nice because we can carry all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many values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around in one convenient package.</a:t>
            </a:r>
          </a:p>
        </p:txBody>
      </p:sp>
      <p:pic>
        <p:nvPicPr>
          <p:cNvPr id="94" name="Shape 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93600" y="260350"/>
            <a:ext cx="3136899" cy="226536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hape 95"/>
          <p:cNvSpPr txBox="1"/>
          <p:nvPr/>
        </p:nvSpPr>
        <p:spPr>
          <a:xfrm>
            <a:off x="2002250" y="6000750"/>
            <a:ext cx="12192000" cy="2501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[ 'Joseph', 'Glenn', 'Sally' ]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baseline="0">
              <a:solidFill>
                <a:srgbClr val="FF7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carryon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[ 'socks', 'shirt', 'perfume' ]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is </a:t>
            </a:r>
            <a:r>
              <a:rPr lang="en-US" sz="7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not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 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Collection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1534150" y="2660650"/>
            <a:ext cx="13187699" cy="1652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Most of our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variables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have one value in them - when we put a new value in 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variable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old value is overwritten</a:t>
            </a:r>
          </a:p>
        </p:txBody>
      </p:sp>
      <p:sp>
        <p:nvSpPr>
          <p:cNvPr id="102" name="Shape 102"/>
          <p:cNvSpPr txBox="1"/>
          <p:nvPr/>
        </p:nvSpPr>
        <p:spPr>
          <a:xfrm>
            <a:off x="2136725" y="4641850"/>
            <a:ext cx="13521599" cy="374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Python 2.5.2 (r252:60911, Feb 22 2008, 07:57:53)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[GCC 4.0.1 (Apple Computer, Inc. build 5363)] on darwin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Constants</a:t>
            </a:r>
          </a:p>
        </p:txBody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251600" cy="56288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constants are surrounded by square brackets and the elements in the list are separated by commas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element can be any Python object - even </a:t>
            </a:r>
            <a:r>
              <a:rPr lang="en-US" sz="34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another list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can be empty</a:t>
            </a:r>
          </a:p>
        </p:txBody>
      </p:sp>
      <p:sp>
        <p:nvSpPr>
          <p:cNvPr id="109" name="Shape 109"/>
          <p:cNvSpPr txBox="1"/>
          <p:nvPr/>
        </p:nvSpPr>
        <p:spPr>
          <a:xfrm>
            <a:off x="9753600" y="2532050"/>
            <a:ext cx="6767100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[1, 24, 76]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[1, 24, 76]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['red', 'yellow', 'blue']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['red', 'yellow', 'blue']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['red', 24, 98.6]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['red', 24, 98.599999999999994]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[ 1, 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[5, 6]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, 7]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[1, [5, 6], 7]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We already use lists!</a:t>
            </a:r>
          </a:p>
        </p:txBody>
      </p:sp>
      <p:sp>
        <p:nvSpPr>
          <p:cNvPr id="115" name="Shape 115"/>
          <p:cNvSpPr txBox="1"/>
          <p:nvPr/>
        </p:nvSpPr>
        <p:spPr>
          <a:xfrm>
            <a:off x="1895475" y="2726300"/>
            <a:ext cx="8488800" cy="3982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[5, 4, 3, 2, 1]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'Blastoff!'</a:t>
            </a:r>
          </a:p>
        </p:txBody>
      </p:sp>
      <p:sp>
        <p:nvSpPr>
          <p:cNvPr id="116" name="Shape 116"/>
          <p:cNvSpPr txBox="1"/>
          <p:nvPr/>
        </p:nvSpPr>
        <p:spPr>
          <a:xfrm>
            <a:off x="11091861" y="3003550"/>
            <a:ext cx="2384424" cy="4902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Blastoff!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Lists and definite loops - best pals</a:t>
            </a:r>
          </a:p>
        </p:txBody>
      </p:sp>
      <p:sp>
        <p:nvSpPr>
          <p:cNvPr id="122" name="Shape 122"/>
          <p:cNvSpPr txBox="1"/>
          <p:nvPr/>
        </p:nvSpPr>
        <p:spPr>
          <a:xfrm>
            <a:off x="1850625" y="3208850"/>
            <a:ext cx="72804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 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'Happy New Year:'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'Done!'</a:t>
            </a:r>
          </a:p>
        </p:txBody>
      </p:sp>
      <p:sp>
        <p:nvSpPr>
          <p:cNvPr id="123" name="Shape 123"/>
          <p:cNvSpPr txBox="1"/>
          <p:nvPr/>
        </p:nvSpPr>
        <p:spPr>
          <a:xfrm>
            <a:off x="11014625" y="3851075"/>
            <a:ext cx="5037300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Happy New Year: Joseph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Happy New Year: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Happy New Year: Sally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Done!</a:t>
            </a:r>
          </a:p>
        </p:txBody>
      </p:sp>
      <p:cxnSp>
        <p:nvCxnSpPr>
          <p:cNvPr id="124" name="Shape 124"/>
          <p:cNvCxnSpPr/>
          <p:nvPr/>
        </p:nvCxnSpPr>
        <p:spPr>
          <a:xfrm flipH="1">
            <a:off x="8709550" y="4139162"/>
            <a:ext cx="2149499" cy="355500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25" name="Shape 125"/>
          <p:cNvCxnSpPr/>
          <p:nvPr/>
        </p:nvCxnSpPr>
        <p:spPr>
          <a:xfrm rot="10800000">
            <a:off x="8692124" y="4643973"/>
            <a:ext cx="2297099" cy="5984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26" name="Shape 126"/>
          <p:cNvCxnSpPr/>
          <p:nvPr/>
        </p:nvCxnSpPr>
        <p:spPr>
          <a:xfrm rot="10800000">
            <a:off x="4333025" y="4945850"/>
            <a:ext cx="6596999" cy="7988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Looking Inside Lists</a:t>
            </a:r>
          </a:p>
        </p:txBody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1536700" y="2603500"/>
            <a:ext cx="12679199" cy="23399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Just like strings, we can get at any single element in a list using an index specified in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square brackets</a:t>
            </a:r>
          </a:p>
        </p:txBody>
      </p:sp>
      <p:pic>
        <p:nvPicPr>
          <p:cNvPr id="133" name="Shape 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750" y="482600"/>
            <a:ext cx="27368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Shape 134"/>
          <p:cNvSpPr txBox="1"/>
          <p:nvPr/>
        </p:nvSpPr>
        <p:spPr>
          <a:xfrm>
            <a:off x="1790700" y="7137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</p:txBody>
      </p:sp>
      <p:sp>
        <p:nvSpPr>
          <p:cNvPr id="135" name="Shape 135"/>
          <p:cNvSpPr txBox="1"/>
          <p:nvPr/>
        </p:nvSpPr>
        <p:spPr>
          <a:xfrm>
            <a:off x="1219200" y="6413500"/>
            <a:ext cx="1879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Joseph</a:t>
            </a:r>
          </a:p>
        </p:txBody>
      </p:sp>
      <p:sp>
        <p:nvSpPr>
          <p:cNvPr id="136" name="Shape 136"/>
          <p:cNvSpPr txBox="1"/>
          <p:nvPr/>
        </p:nvSpPr>
        <p:spPr>
          <a:xfrm>
            <a:off x="7950200" y="5726100"/>
            <a:ext cx="8156400" cy="2339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 'Joseph', 'Glenn', 'Sally' 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  <p:sp>
        <p:nvSpPr>
          <p:cNvPr id="137" name="Shape 137"/>
          <p:cNvSpPr txBox="1"/>
          <p:nvPr/>
        </p:nvSpPr>
        <p:spPr>
          <a:xfrm>
            <a:off x="3670300" y="7137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</p:txBody>
      </p:sp>
      <p:sp>
        <p:nvSpPr>
          <p:cNvPr id="138" name="Shape 138"/>
          <p:cNvSpPr txBox="1"/>
          <p:nvPr/>
        </p:nvSpPr>
        <p:spPr>
          <a:xfrm>
            <a:off x="3098800" y="6413500"/>
            <a:ext cx="1879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Glenn</a:t>
            </a:r>
          </a:p>
        </p:txBody>
      </p:sp>
      <p:sp>
        <p:nvSpPr>
          <p:cNvPr id="139" name="Shape 139"/>
          <p:cNvSpPr txBox="1"/>
          <p:nvPr/>
        </p:nvSpPr>
        <p:spPr>
          <a:xfrm>
            <a:off x="5549900" y="7137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</a:p>
        </p:txBody>
      </p:sp>
      <p:sp>
        <p:nvSpPr>
          <p:cNvPr id="140" name="Shape 140"/>
          <p:cNvSpPr txBox="1"/>
          <p:nvPr/>
        </p:nvSpPr>
        <p:spPr>
          <a:xfrm>
            <a:off x="4978400" y="6413500"/>
            <a:ext cx="1879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Sally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title"/>
          </p:nvPr>
        </p:nvSpPr>
        <p:spPr>
          <a:xfrm>
            <a:off x="4697500" y="530425"/>
            <a:ext cx="7023000" cy="18005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Lists are Mutable</a:t>
            </a:r>
          </a:p>
        </p:txBody>
      </p:sp>
      <p:sp>
        <p:nvSpPr>
          <p:cNvPr id="146" name="Shape 146"/>
          <p:cNvSpPr txBox="1">
            <a:spLocks noGrp="1"/>
          </p:cNvSpPr>
          <p:nvPr>
            <p:ph type="body" idx="1"/>
          </p:nvPr>
        </p:nvSpPr>
        <p:spPr>
          <a:xfrm>
            <a:off x="1155700" y="2374900"/>
            <a:ext cx="64643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Strings are 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immutable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- we </a:t>
            </a:r>
            <a:r>
              <a:rPr lang="en-US" sz="3400" b="0" i="1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cannot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change the contents of a string - we must make a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new string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make any change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Lists are 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mutable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’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- we </a:t>
            </a:r>
            <a:r>
              <a:rPr lang="en-US" sz="3400" b="0" i="1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can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change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 element of a list using the </a:t>
            </a:r>
            <a:r>
              <a:rPr lang="en-US" sz="34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index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operator</a:t>
            </a:r>
          </a:p>
        </p:txBody>
      </p:sp>
      <p:sp>
        <p:nvSpPr>
          <p:cNvPr id="147" name="Shape 147"/>
          <p:cNvSpPr txBox="1"/>
          <p:nvPr/>
        </p:nvSpPr>
        <p:spPr>
          <a:xfrm>
            <a:off x="9334300" y="1845050"/>
            <a:ext cx="6464399" cy="637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'Banana</a:t>
            </a:r>
            <a:r>
              <a:rPr lang="en-US" sz="24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'b</a:t>
            </a:r>
            <a:r>
              <a:rPr lang="en-US" sz="24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Traceback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TypeError: 'str' object does not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support item assignment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.lower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banana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lotto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[2, 14, 26, 41, 63]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lotto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[2, 14, 26, 41, 63]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lotto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28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lotto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[2, 14,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28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41, 63]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How </a:t>
            </a: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Long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a </a:t>
            </a: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?</a:t>
            </a:r>
          </a:p>
        </p:txBody>
      </p:sp>
      <p:sp>
        <p:nvSpPr>
          <p:cNvPr id="153" name="Shape 153"/>
          <p:cNvSpPr txBox="1">
            <a:spLocks noGrp="1"/>
          </p:cNvSpPr>
          <p:nvPr>
            <p:ph type="body" idx="1"/>
          </p:nvPr>
        </p:nvSpPr>
        <p:spPr>
          <a:xfrm>
            <a:off x="1155700" y="2374900"/>
            <a:ext cx="73026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len()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function takes a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as a parameter and returns the number of </a:t>
            </a:r>
            <a:r>
              <a:rPr lang="en-US" sz="3400" b="0" i="1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elements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in the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Actually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len()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tells us the number of elements of </a:t>
            </a:r>
            <a:r>
              <a:rPr lang="en-US" sz="3400" b="0" i="1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any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set or sequence (such as a string...)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x="9912350" y="3009900"/>
            <a:ext cx="61197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'Hello Bob</a:t>
            </a:r>
            <a:r>
              <a:rPr lang="en-US" sz="3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[ 1, 2, 'joe', 99]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868399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Using the </a:t>
            </a: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range</a:t>
            </a: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function</a:t>
            </a:r>
          </a:p>
        </p:txBody>
      </p:sp>
      <p:sp>
        <p:nvSpPr>
          <p:cNvPr id="160" name="Shape 160"/>
          <p:cNvSpPr txBox="1">
            <a:spLocks noGrp="1"/>
          </p:cNvSpPr>
          <p:nvPr>
            <p:ph type="body" idx="1"/>
          </p:nvPr>
        </p:nvSpPr>
        <p:spPr>
          <a:xfrm>
            <a:off x="939800" y="2679700"/>
            <a:ext cx="6545999" cy="5000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range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function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returns a list of numbers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range from zero to one less than the </a:t>
            </a:r>
            <a:r>
              <a:rPr lang="en-US" sz="34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parameter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construct an index loop using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an integer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iterator</a:t>
            </a:r>
          </a:p>
        </p:txBody>
      </p:sp>
      <p:sp>
        <p:nvSpPr>
          <p:cNvPr id="161" name="Shape 161"/>
          <p:cNvSpPr txBox="1"/>
          <p:nvPr/>
        </p:nvSpPr>
        <p:spPr>
          <a:xfrm>
            <a:off x="8107200" y="3022600"/>
            <a:ext cx="78437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[0, 1, 2, 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[0, 1, 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868399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A tale of two loops...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x="584950" y="3118400"/>
            <a:ext cx="7175700" cy="3594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['Joseph', 'Glenn', 'Sally']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baseline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friend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 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'Happy New Year:', 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friend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baseline="0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(len(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friends)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friend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[i]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'Happy New Year:', 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friend</a:t>
            </a:r>
          </a:p>
        </p:txBody>
      </p:sp>
      <p:sp>
        <p:nvSpPr>
          <p:cNvPr id="168" name="Shape 168"/>
          <p:cNvSpPr txBox="1"/>
          <p:nvPr/>
        </p:nvSpPr>
        <p:spPr>
          <a:xfrm>
            <a:off x="8105725" y="5652525"/>
            <a:ext cx="5591699" cy="2139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Happy New Year: Joseph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Happy New Year: Glenn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Happy New Year: Sally</a:t>
            </a:r>
          </a:p>
        </p:txBody>
      </p:sp>
      <p:sp>
        <p:nvSpPr>
          <p:cNvPr id="169" name="Shape 169"/>
          <p:cNvSpPr txBox="1"/>
          <p:nvPr/>
        </p:nvSpPr>
        <p:spPr>
          <a:xfrm>
            <a:off x="8105725" y="2509825"/>
            <a:ext cx="78888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(friends))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[0, 1, 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Concatenating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lists using </a:t>
            </a:r>
            <a:r>
              <a:rPr lang="en-US" sz="7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+</a:t>
            </a:r>
          </a:p>
        </p:txBody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378799" cy="31950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create a new list by adding two ex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ting lists together</a:t>
            </a:r>
          </a:p>
        </p:txBody>
      </p:sp>
      <p:sp>
        <p:nvSpPr>
          <p:cNvPr id="176" name="Shape 176"/>
          <p:cNvSpPr txBox="1"/>
          <p:nvPr/>
        </p:nvSpPr>
        <p:spPr>
          <a:xfrm>
            <a:off x="9714275" y="2714100"/>
            <a:ext cx="4965900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[1, 2, 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[4, 5, 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[1, 2, 3, 4, 5, 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[1, 2, 3]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Lists can be </a:t>
            </a:r>
            <a:r>
              <a:rPr lang="en-US" sz="7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sliced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using </a:t>
            </a:r>
            <a:r>
              <a:rPr lang="en-US" sz="7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:</a:t>
            </a:r>
          </a:p>
        </p:txBody>
      </p:sp>
      <p:sp>
        <p:nvSpPr>
          <p:cNvPr id="182" name="Shape 182"/>
          <p:cNvSpPr txBox="1"/>
          <p:nvPr/>
        </p:nvSpPr>
        <p:spPr>
          <a:xfrm>
            <a:off x="962200" y="2875600"/>
            <a:ext cx="69416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[9, 41, 12, 3, 74, 15]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[1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[41,12]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[9, 41, 12, 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[3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[3, 74, 15]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[9, 41, 12, 3, 74, 15]</a:t>
            </a:r>
          </a:p>
        </p:txBody>
      </p:sp>
      <p:sp>
        <p:nvSpPr>
          <p:cNvPr id="183" name="Shape 183"/>
          <p:cNvSpPr txBox="1"/>
          <p:nvPr/>
        </p:nvSpPr>
        <p:spPr>
          <a:xfrm>
            <a:off x="8506725" y="4033425"/>
            <a:ext cx="5465399" cy="219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Remember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:  </a:t>
            </a:r>
            <a:r>
              <a:rPr lang="en-US" sz="3600" b="0" i="1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Just like in strings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 the second number is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up to but not including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List Methods</a:t>
            </a:r>
          </a:p>
        </p:txBody>
      </p:sp>
      <p:sp>
        <p:nvSpPr>
          <p:cNvPr id="189" name="Shape 189"/>
          <p:cNvSpPr txBox="1"/>
          <p:nvPr/>
        </p:nvSpPr>
        <p:spPr>
          <a:xfrm>
            <a:off x="1918550" y="3110400"/>
            <a:ext cx="12042899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)&lt;type 'list'&gt;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dir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)['append', 'count', 'extend', 'index', 'insert', 'pop', 'remove', 'reverse', 'sort']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</p:txBody>
      </p:sp>
      <p:sp>
        <p:nvSpPr>
          <p:cNvPr id="190" name="Shape 190"/>
          <p:cNvSpPr txBox="1"/>
          <p:nvPr/>
        </p:nvSpPr>
        <p:spPr>
          <a:xfrm>
            <a:off x="3173875" y="8051800"/>
            <a:ext cx="10416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http://docs.python.org/tutorial/datastructures.html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Building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 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from scratch</a:t>
            </a:r>
          </a:p>
        </p:txBody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905500" cy="51747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create an empty 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then add elements using the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append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method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stays in order and new elements are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added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at the end of the 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</a:p>
        </p:txBody>
      </p:sp>
      <p:sp>
        <p:nvSpPr>
          <p:cNvPr id="197" name="Shape 197"/>
          <p:cNvSpPr txBox="1"/>
          <p:nvPr/>
        </p:nvSpPr>
        <p:spPr>
          <a:xfrm>
            <a:off x="8367175" y="2990850"/>
            <a:ext cx="74555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.append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('book')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.append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(99)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['book', 99]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.append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('cookie')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['book', 99, 'cookie']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>
            <a:spLocks noGrp="1"/>
          </p:cNvSpPr>
          <p:nvPr>
            <p:ph type="title"/>
          </p:nvPr>
        </p:nvSpPr>
        <p:spPr>
          <a:xfrm>
            <a:off x="1162050" y="22615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Is Something </a:t>
            </a: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a List?</a:t>
            </a:r>
          </a:p>
        </p:txBody>
      </p:sp>
      <p:sp>
        <p:nvSpPr>
          <p:cNvPr id="203" name="Shape 203"/>
          <p:cNvSpPr txBox="1">
            <a:spLocks noGrp="1"/>
          </p:cNvSpPr>
          <p:nvPr>
            <p:ph type="body" idx="1"/>
          </p:nvPr>
        </p:nvSpPr>
        <p:spPr>
          <a:xfrm>
            <a:off x="774700" y="2603500"/>
            <a:ext cx="58379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Python provides two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operators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let you check if an item is in a list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These are logical operators that return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True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or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False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They do not modify the list</a:t>
            </a:r>
          </a:p>
        </p:txBody>
      </p:sp>
      <p:sp>
        <p:nvSpPr>
          <p:cNvPr id="204" name="Shape 204"/>
          <p:cNvSpPr txBox="1"/>
          <p:nvPr/>
        </p:nvSpPr>
        <p:spPr>
          <a:xfrm>
            <a:off x="7799425" y="2940050"/>
            <a:ext cx="82476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some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[1, 9, 21, 10, 16]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some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some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not 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some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78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7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an </a:t>
            </a:r>
            <a:r>
              <a:rPr lang="en-US" sz="7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Ordered</a:t>
            </a:r>
            <a:r>
              <a:rPr lang="en-US" sz="7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Sequence</a:t>
            </a:r>
          </a:p>
        </p:txBody>
      </p:sp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368300" y="2806700"/>
            <a:ext cx="7124700" cy="56132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5906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can hold many items and keeps those items in the order until we do something to change the order</a:t>
            </a:r>
          </a:p>
          <a:p>
            <a:pPr marL="1104900" marR="0" lvl="0" indent="-5906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list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can be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sorted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b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(i.e., change its order)</a:t>
            </a:r>
          </a:p>
          <a:p>
            <a:pPr marL="1104900" marR="0" lvl="0" indent="-5906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sort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method (unlike in strings) means 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sort yourself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</p:txBody>
      </p:sp>
      <p:sp>
        <p:nvSpPr>
          <p:cNvPr id="250" name="Shape 250"/>
          <p:cNvSpPr txBox="1"/>
          <p:nvPr/>
        </p:nvSpPr>
        <p:spPr>
          <a:xfrm>
            <a:off x="8143075" y="3041075"/>
            <a:ext cx="8172899" cy="436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 'Joseph', 'Glenn', 'Sally' 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friends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.sort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['Glenn', 'Joseph',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Joseph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Built</a:t>
            </a:r>
            <a:r>
              <a:rPr lang="en-US" sz="7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 </a:t>
            </a: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Functions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Lists</a:t>
            </a:r>
          </a:p>
        </p:txBody>
      </p:sp>
      <p:sp>
        <p:nvSpPr>
          <p:cNvPr id="256" name="Shape 25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816699" cy="53717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There are a number of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built into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Python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take 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lists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as parameters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Remember the loops we built?  These are much simpler.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7929600" y="2455850"/>
            <a:ext cx="7885799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[3, 41, 12, 9, 74, 15]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154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)/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/>
          <p:nvPr/>
        </p:nvSpPr>
        <p:spPr>
          <a:xfrm>
            <a:off x="7314550" y="4800525"/>
            <a:ext cx="8127900" cy="3416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numlist = list()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while True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inp = raw_input('Enter a number: 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if inp == 'done' : 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value = float(inp)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numlist.append(value)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baseline="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average = sum(numlist) / len(numlist)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 'Average:', average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1011450" y="646125"/>
            <a:ext cx="8127900" cy="41543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total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count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while True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inp = raw_input('Enter a number: 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if inp == 'done' : 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value = float(inp)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total = total + value  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count = count + 1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baseline="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average = total / count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4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 'Average:', average</a:t>
            </a:r>
          </a:p>
        </p:txBody>
      </p:sp>
      <p:sp>
        <p:nvSpPr>
          <p:cNvPr id="264" name="Shape 264"/>
          <p:cNvSpPr txBox="1"/>
          <p:nvPr/>
        </p:nvSpPr>
        <p:spPr>
          <a:xfrm>
            <a:off x="9794500" y="646125"/>
            <a:ext cx="5435700" cy="2862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Enter a number: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Enter a number: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Enter a number: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Enter a number: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Average: 5.66666666667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 txBox="1">
            <a:spLocks noGrp="1"/>
          </p:cNvSpPr>
          <p:nvPr>
            <p:ph type="title"/>
          </p:nvPr>
        </p:nvSpPr>
        <p:spPr>
          <a:xfrm>
            <a:off x="1155700" y="469900"/>
            <a:ext cx="13932000" cy="1549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Best Friends: Strings and Lists</a:t>
            </a:r>
          </a:p>
        </p:txBody>
      </p:sp>
      <p:sp>
        <p:nvSpPr>
          <p:cNvPr id="270" name="Shape 270"/>
          <p:cNvSpPr txBox="1"/>
          <p:nvPr/>
        </p:nvSpPr>
        <p:spPr>
          <a:xfrm>
            <a:off x="1498600" y="2349500"/>
            <a:ext cx="67491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abc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'With three words</a:t>
            </a:r>
            <a:r>
              <a:rPr lang="en-US" sz="3000" b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abc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.split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['With', 'three', 'words']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</a:p>
        </p:txBody>
      </p:sp>
      <p:sp>
        <p:nvSpPr>
          <p:cNvPr id="271" name="Shape 271"/>
          <p:cNvSpPr txBox="1"/>
          <p:nvPr/>
        </p:nvSpPr>
        <p:spPr>
          <a:xfrm>
            <a:off x="10045700" y="2301875"/>
            <a:ext cx="6450900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['With', 'three', 'words']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</a:t>
            </a:r>
            <a:r>
              <a:rPr lang="en-US" sz="3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Three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Words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  <p:sp>
        <p:nvSpPr>
          <p:cNvPr id="272" name="Shape 272"/>
          <p:cNvSpPr txBox="1"/>
          <p:nvPr/>
        </p:nvSpPr>
        <p:spPr>
          <a:xfrm>
            <a:off x="1050925" y="7639050"/>
            <a:ext cx="145033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Split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breaks a string into parts and produces a list of strings.  We think of these as words.  We can </a:t>
            </a:r>
            <a:r>
              <a:rPr lang="en-US" sz="34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access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 particular word or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loop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through all the words.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/>
          <p:nvPr/>
        </p:nvSpPr>
        <p:spPr>
          <a:xfrm>
            <a:off x="508000" y="228600"/>
            <a:ext cx="12370200" cy="702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'A lot               of spaces</a:t>
            </a:r>
            <a:r>
              <a:rPr lang="en-US" sz="2600" b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etc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line.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split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etc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['A', 'lot', 'of', 'spaces']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'first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second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third</a:t>
            </a:r>
            <a:r>
              <a:rPr lang="en-US" sz="2600" b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thing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line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.split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thing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['first;second;third']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thing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thing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.split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';'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thing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['first', 'second', 'third']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thing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  <p:sp>
        <p:nvSpPr>
          <p:cNvPr id="278" name="Shape 278"/>
          <p:cNvSpPr txBox="1"/>
          <p:nvPr/>
        </p:nvSpPr>
        <p:spPr>
          <a:xfrm>
            <a:off x="1406025" y="7137375"/>
            <a:ext cx="13985399" cy="1610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457200" marR="0" lvl="0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●"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When you do not specify a 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delimiter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 multiple spaces are treated like</a:t>
            </a:r>
            <a:r>
              <a:rPr lang="en-US" sz="30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1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one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delimiter</a:t>
            </a:r>
          </a:p>
          <a:p>
            <a:pPr marL="457200" marR="0" lvl="0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●"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You can specify what 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delimiter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character to use in the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splitting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 txBox="1"/>
          <p:nvPr/>
        </p:nvSpPr>
        <p:spPr>
          <a:xfrm>
            <a:off x="2526075" y="2058975"/>
            <a:ext cx="8889299" cy="3324300"/>
          </a:xfrm>
          <a:prstGeom prst="rect">
            <a:avLst/>
          </a:prstGeom>
          <a:noFill/>
          <a:ln w="127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('mbox-short.txt')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.rstrip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 not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.startswith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('From ') :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words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.split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words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[2]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x="13538200" y="2330450"/>
            <a:ext cx="8160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Sat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Fri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Fri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Fri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   ...</a:t>
            </a:r>
          </a:p>
        </p:txBody>
      </p:sp>
      <p:sp>
        <p:nvSpPr>
          <p:cNvPr id="285" name="Shape 285"/>
          <p:cNvSpPr txBox="1"/>
          <p:nvPr/>
        </p:nvSpPr>
        <p:spPr>
          <a:xfrm>
            <a:off x="642650" y="945775"/>
            <a:ext cx="130700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 stephen.marquard@uct.ac.za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Sat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Jan  5 09:14:16 2008</a:t>
            </a:r>
          </a:p>
        </p:txBody>
      </p:sp>
      <p:sp>
        <p:nvSpPr>
          <p:cNvPr id="286" name="Shape 286"/>
          <p:cNvSpPr txBox="1"/>
          <p:nvPr/>
        </p:nvSpPr>
        <p:spPr>
          <a:xfrm>
            <a:off x="1212375" y="6000750"/>
            <a:ext cx="14283299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'From stephen.marquard@uct.ac.za Sat Jan  5 09:14:16 2008’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words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.split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words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['From', 'stephen.marquard@uct.ac.za', 'Sat', 'Jan', '5', '09:14:16', '2008']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The Double Split Pattern</a:t>
            </a:r>
          </a:p>
        </p:txBody>
      </p:sp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1057950" y="2406925"/>
            <a:ext cx="13570499" cy="1473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Sometimes we split a line one way, and then grab one of the pieces of the line and split that piece again</a:t>
            </a:r>
          </a:p>
        </p:txBody>
      </p:sp>
      <p:sp>
        <p:nvSpPr>
          <p:cNvPr id="293" name="Shape 293"/>
          <p:cNvSpPr txBox="1"/>
          <p:nvPr/>
        </p:nvSpPr>
        <p:spPr>
          <a:xfrm>
            <a:off x="6646861" y="6972300"/>
            <a:ext cx="9486900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36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['stephen.marquard', 'uct.ac.za']</a:t>
            </a:r>
          </a:p>
        </p:txBody>
      </p:sp>
      <p:sp>
        <p:nvSpPr>
          <p:cNvPr id="294" name="Shape 294"/>
          <p:cNvSpPr txBox="1"/>
          <p:nvPr/>
        </p:nvSpPr>
        <p:spPr>
          <a:xfrm>
            <a:off x="1155700" y="4526525"/>
            <a:ext cx="133427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295" name="Shape 295"/>
          <p:cNvSpPr txBox="1"/>
          <p:nvPr/>
        </p:nvSpPr>
        <p:spPr>
          <a:xfrm>
            <a:off x="1155700" y="5213000"/>
            <a:ext cx="5169599" cy="188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words =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.split()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 pieces[1]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The Double Split Pattern</a:t>
            </a:r>
          </a:p>
        </p:txBody>
      </p:sp>
      <p:sp>
        <p:nvSpPr>
          <p:cNvPr id="301" name="Shape 301"/>
          <p:cNvSpPr txBox="1">
            <a:spLocks noGrp="1"/>
          </p:cNvSpPr>
          <p:nvPr>
            <p:ph type="body" idx="1"/>
          </p:nvPr>
        </p:nvSpPr>
        <p:spPr>
          <a:xfrm>
            <a:off x="1057950" y="2406925"/>
            <a:ext cx="13570499" cy="1473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Sometimes we split a line one way, and then grab one of the pieces of the line and split that piece again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7336425" y="5835725"/>
            <a:ext cx="6573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Arial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stephen.marquard@uct.ac.za</a:t>
            </a:r>
          </a:p>
        </p:txBody>
      </p:sp>
      <p:sp>
        <p:nvSpPr>
          <p:cNvPr id="303" name="Shape 303"/>
          <p:cNvSpPr txBox="1"/>
          <p:nvPr/>
        </p:nvSpPr>
        <p:spPr>
          <a:xfrm>
            <a:off x="1155700" y="4526525"/>
            <a:ext cx="133427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1155700" y="5289200"/>
            <a:ext cx="5169599" cy="188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words =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.split()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 pieces[1]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The Double Split Pattern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7321275" y="6326775"/>
            <a:ext cx="6981300" cy="482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['stephen.marquard', 'uct.ac.za']</a:t>
            </a:r>
          </a:p>
        </p:txBody>
      </p:sp>
      <p:sp>
        <p:nvSpPr>
          <p:cNvPr id="311" name="Shape 311"/>
          <p:cNvSpPr txBox="1">
            <a:spLocks noGrp="1"/>
          </p:cNvSpPr>
          <p:nvPr>
            <p:ph type="body" idx="1"/>
          </p:nvPr>
        </p:nvSpPr>
        <p:spPr>
          <a:xfrm>
            <a:off x="1057950" y="2406925"/>
            <a:ext cx="13570499" cy="1473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Sometimes we split a line one way, and then grab one of the pieces of the line and split that piece again</a:t>
            </a:r>
          </a:p>
        </p:txBody>
      </p:sp>
      <p:sp>
        <p:nvSpPr>
          <p:cNvPr id="312" name="Shape 312"/>
          <p:cNvSpPr txBox="1"/>
          <p:nvPr/>
        </p:nvSpPr>
        <p:spPr>
          <a:xfrm>
            <a:off x="1155700" y="4526525"/>
            <a:ext cx="133427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1155700" y="5441600"/>
            <a:ext cx="6179100" cy="188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words =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.split()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pieces</a:t>
            </a:r>
            <a:r>
              <a:rPr lang="en-US" sz="24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email.split('@')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 pieces[1]</a:t>
            </a:r>
          </a:p>
        </p:txBody>
      </p:sp>
      <p:sp>
        <p:nvSpPr>
          <p:cNvPr id="314" name="Shape 314"/>
          <p:cNvSpPr txBox="1"/>
          <p:nvPr/>
        </p:nvSpPr>
        <p:spPr>
          <a:xfrm>
            <a:off x="7336425" y="5759525"/>
            <a:ext cx="6573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Arial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stephen.marquard@uct.ac.za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The Double Split Pattern</a:t>
            </a:r>
          </a:p>
        </p:txBody>
      </p:sp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1057950" y="2406925"/>
            <a:ext cx="13570499" cy="1473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Sometimes we split a line one way, and then grab one of the pieces of the line and split that piece again</a:t>
            </a:r>
          </a:p>
        </p:txBody>
      </p:sp>
      <p:sp>
        <p:nvSpPr>
          <p:cNvPr id="321" name="Shape 321"/>
          <p:cNvSpPr txBox="1"/>
          <p:nvPr/>
        </p:nvSpPr>
        <p:spPr>
          <a:xfrm>
            <a:off x="7321275" y="6326775"/>
            <a:ext cx="6981300" cy="482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['stephen.marquard', 'uct.ac.za']</a:t>
            </a:r>
          </a:p>
        </p:txBody>
      </p:sp>
      <p:sp>
        <p:nvSpPr>
          <p:cNvPr id="322" name="Shape 322"/>
          <p:cNvSpPr txBox="1"/>
          <p:nvPr/>
        </p:nvSpPr>
        <p:spPr>
          <a:xfrm>
            <a:off x="1155700" y="4526525"/>
            <a:ext cx="133427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1155700" y="5594000"/>
            <a:ext cx="6179100" cy="188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words = 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.split()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pieces</a:t>
            </a:r>
            <a:r>
              <a:rPr lang="en-US" sz="24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email.split('@')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</a:t>
            </a:r>
            <a:r>
              <a:rPr lang="en-US" sz="24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pieces[1]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 pieces[1]</a:t>
            </a:r>
          </a:p>
        </p:txBody>
      </p:sp>
      <p:sp>
        <p:nvSpPr>
          <p:cNvPr id="324" name="Shape 324"/>
          <p:cNvSpPr txBox="1"/>
          <p:nvPr/>
        </p:nvSpPr>
        <p:spPr>
          <a:xfrm>
            <a:off x="7336425" y="5759525"/>
            <a:ext cx="6573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Arial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stephen.marquard@uct.ac.za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7246300" y="6766900"/>
            <a:ext cx="2729099" cy="548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'uct.ac.za'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List Summary</a:t>
            </a:r>
          </a:p>
        </p:txBody>
      </p:sp>
      <p:sp>
        <p:nvSpPr>
          <p:cNvPr id="370" name="Shape 370"/>
          <p:cNvSpPr txBox="1"/>
          <p:nvPr/>
        </p:nvSpPr>
        <p:spPr>
          <a:xfrm>
            <a:off x="927100" y="2014200"/>
            <a:ext cx="6368099" cy="6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71" name="Shape 371"/>
          <p:cNvSpPr txBox="1"/>
          <p:nvPr/>
        </p:nvSpPr>
        <p:spPr>
          <a:xfrm>
            <a:off x="774275" y="3149975"/>
            <a:ext cx="7450500" cy="5110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lvl="0" indent="-394462" rtl="0">
              <a:spcBef>
                <a:spcPts val="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Concept of a collection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Lists and definite loops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Indexing and lookup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List mutability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Functions: len, min, max, sum</a:t>
            </a:r>
          </a:p>
        </p:txBody>
      </p:sp>
      <p:sp>
        <p:nvSpPr>
          <p:cNvPr id="372" name="Shape 372"/>
          <p:cNvSpPr txBox="1"/>
          <p:nvPr/>
        </p:nvSpPr>
        <p:spPr>
          <a:xfrm>
            <a:off x="7932975" y="2733900"/>
            <a:ext cx="7565400" cy="5110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Slicing lists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List methods: append,  remove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Sorting lists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Splitting strings into lists of words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Using split to parse strings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35112" y="251520"/>
            <a:ext cx="108732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Chapter </a:t>
            </a:r>
            <a:r>
              <a:rPr lang="en-US" sz="8000" b="1" dirty="0" smtClean="0"/>
              <a:t>8 </a:t>
            </a:r>
            <a:r>
              <a:rPr lang="en-US" sz="8000" b="1" dirty="0" smtClean="0"/>
              <a:t>: Finished</a:t>
            </a:r>
          </a:p>
          <a:p>
            <a:endParaRPr lang="en-US" sz="8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000208" y="7209001"/>
            <a:ext cx="6984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Any Doubt?</a:t>
            </a:r>
            <a:endParaRPr lang="en-US" sz="8000" b="1" dirty="0"/>
          </a:p>
        </p:txBody>
      </p:sp>
      <p:pic>
        <p:nvPicPr>
          <p:cNvPr id="1026" name="Picture 2" descr="C:\Users\ATUL one\Desktop\Do_the_Ed_dance.gif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71416" y="971600"/>
            <a:ext cx="4596699" cy="8467604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4C4C4C"/>
      </a:accent1>
      <a:accent2>
        <a:srgbClr val="333399"/>
      </a:accent2>
      <a:accent3>
        <a:srgbClr val="AAAAAA"/>
      </a:accent3>
      <a:accent4>
        <a:srgbClr val="DADADA"/>
      </a:accent4>
      <a:accent5>
        <a:srgbClr val="B2B2B2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333399"/>
      </a:accent2>
      <a:accent3>
        <a:srgbClr val="AAAAAA"/>
      </a:accent3>
      <a:accent4>
        <a:srgbClr val="DADADA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itle &amp; Bullets - 2 Column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1850</Words>
  <Application>Microsoft Office PowerPoint</Application>
  <PresentationFormat>Custom</PresentationFormat>
  <Paragraphs>319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Cabin</vt:lpstr>
      <vt:lpstr>Courier New</vt:lpstr>
      <vt:lpstr>Title &amp; Subtitle</vt:lpstr>
      <vt:lpstr>1_Title &amp; Bullets</vt:lpstr>
      <vt:lpstr>Title &amp; Bullets</vt:lpstr>
      <vt:lpstr>Title &amp; Bullets - 2 Column</vt:lpstr>
      <vt:lpstr>Python Lists</vt:lpstr>
      <vt:lpstr>A List is a kind of Collection</vt:lpstr>
      <vt:lpstr>What is not a “Collection”</vt:lpstr>
      <vt:lpstr>List Constants</vt:lpstr>
      <vt:lpstr>We already use lists!</vt:lpstr>
      <vt:lpstr>Lists and definite loops - best pals</vt:lpstr>
      <vt:lpstr>Looking Inside Lists</vt:lpstr>
      <vt:lpstr>Lists are Mutable</vt:lpstr>
      <vt:lpstr>How Long is a List?</vt:lpstr>
      <vt:lpstr>Using the range function</vt:lpstr>
      <vt:lpstr>A tale of two loops...</vt:lpstr>
      <vt:lpstr>Concatenating lists using +</vt:lpstr>
      <vt:lpstr>Lists can be sliced using :</vt:lpstr>
      <vt:lpstr>List Methods</vt:lpstr>
      <vt:lpstr>Building a list from scratch</vt:lpstr>
      <vt:lpstr>Is Something in a List?</vt:lpstr>
      <vt:lpstr>A List is an Ordered Sequence</vt:lpstr>
      <vt:lpstr>Built-in Functions and Lists</vt:lpstr>
      <vt:lpstr>Slide 19</vt:lpstr>
      <vt:lpstr>Best Friends: Strings and Lists</vt:lpstr>
      <vt:lpstr>Slide 21</vt:lpstr>
      <vt:lpstr>Slide 22</vt:lpstr>
      <vt:lpstr>The Double Split Pattern</vt:lpstr>
      <vt:lpstr>The Double Split Pattern</vt:lpstr>
      <vt:lpstr>The Double Split Pattern</vt:lpstr>
      <vt:lpstr>The Double Split Pattern</vt:lpstr>
      <vt:lpstr>List Summary</vt:lpstr>
      <vt:lpstr>Slide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Lists</dc:title>
  <cp:lastModifiedBy>Atul Ghumade</cp:lastModifiedBy>
  <cp:revision>3</cp:revision>
  <dcterms:modified xsi:type="dcterms:W3CDTF">2015-09-08T08:00:45Z</dcterms:modified>
</cp:coreProperties>
</file>