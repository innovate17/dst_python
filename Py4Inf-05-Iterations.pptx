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Default Extension="gif" ContentType="image/gif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notesSlides/notesSlide37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  <p:sldMasterId id="2147483704" r:id="rId2"/>
    <p:sldMasterId id="2147483705" r:id="rId3"/>
    <p:sldMasterId id="2147483706" r:id="rId4"/>
  </p:sldMasterIdLst>
  <p:notesMasterIdLst>
    <p:notesMasterId r:id="rId5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</p:sldIdLst>
  <p:sldSz cx="16256000" cy="9144000"/>
  <p:notesSz cx="6858000" cy="9144000"/>
  <p:embeddedFontLst>
    <p:embeddedFont>
      <p:font typeface="Cabin" charset="0"/>
      <p:regular r:id="rId58"/>
      <p:bold r:id="rId59"/>
      <p:italic r:id="rId60"/>
      <p:boldItalic r:id="rId61"/>
    </p:embeddedFont>
    <p:embeddedFont>
      <p:font typeface="Comic Sans MS" pitchFamily="66" charset="0"/>
      <p:regular r:id="rId62"/>
      <p:bold r:id="rId63"/>
      <p:italic r:id="rId64"/>
      <p:boldItalic r:id="rId65"/>
    </p:embeddedFont>
  </p:embeddedFontLst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750" y="-90"/>
      </p:cViewPr>
      <p:guideLst>
        <p:guide orient="horz" pos="2880"/>
        <p:guide pos="5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font" Target="fonts/font6.fntdata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font" Target="fonts/font1.fntdata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61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font" Target="fonts/font7.fntdata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2.fntdata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dirty="0" smtClean="0">
                <a:solidFill>
                  <a:schemeClr val="dk2"/>
                </a:solidFill>
              </a:rPr>
              <a:t>.</a:t>
            </a:r>
            <a:endParaRPr lang="en-US" dirty="0">
              <a:solidFill>
                <a:schemeClr val="dk2"/>
              </a:solidFill>
            </a:endParaRPr>
          </a:p>
        </p:txBody>
      </p:sp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65" name="Shape 16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73" name="Shape 17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83" name="Shape 18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11" name="Shape 2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19" name="Shape 21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29" name="Shape 22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55" name="Shape 25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61" name="Shape 26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67" name="Shape 26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74" name="Shape 274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85" name="Shape 28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09" name="Shape 30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20" name="Shape 32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3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41" name="Shape 34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hape 3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80" name="Shape 38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Shape 3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86" name="Shape 38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Shape 4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29" name="Shape 42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Shape 4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39" name="Shape 43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Shape 4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46" name="Shape 44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4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51" name="Shape 45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Shape 4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57" name="Shape 45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63" name="Shape 46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hape 46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69" name="Shape 46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Shape 4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75" name="Shape 47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Shape 48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81" name="Shape 48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87" name="Shape 48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Shape 4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92" name="Shape 49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Shape 5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03" name="Shape 50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Shape 5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11" name="Shape 51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5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20" name="Shape 52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Shape 5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29" name="Shape 52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Shape 5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38" name="Shape 53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Shape 5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47" name="Shape 54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Shape 5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56" name="Shape 55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Shape 5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65" name="Shape 56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Shape 5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79" name="Shape 57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Shape 5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87" name="Shape 58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Shape 5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95" name="Shape 59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Shape 6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03" name="Shape 60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Shape 6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11" name="Shape 61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Shape 6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19" name="Shape 61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Shape 62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27" name="Shape 62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Shape 6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35" name="Shape 63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hape 6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42" name="Shape 64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Shape 6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50" name="Shape 65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Shape 6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58" name="Shape 65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Shape 6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65" name="Shape 66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Shape 7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711" name="Shape 71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Shape 6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49" name="Shape 6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title"/>
          </p:nvPr>
        </p:nvSpPr>
        <p:spPr>
          <a:xfrm rot="5400000">
            <a:off x="11231562" y="1909762"/>
            <a:ext cx="4229100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body" idx="1"/>
          </p:nvPr>
        </p:nvSpPr>
        <p:spPr>
          <a:xfrm rot="5400000">
            <a:off x="4189412" y="-1497012"/>
            <a:ext cx="4229100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 rot="5400000">
            <a:off x="7594599" y="-1727200"/>
            <a:ext cx="1054100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" name="Shape 15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Shape 16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688975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8197850" y="4711700"/>
            <a:ext cx="688975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xfrm rot="5400000">
            <a:off x="9313862" y="2532062"/>
            <a:ext cx="8064499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 rot="5400000">
            <a:off x="2271712" y="-874712"/>
            <a:ext cx="8064499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 rot="5400000">
            <a:off x="5270500" y="-1511300"/>
            <a:ext cx="5702299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3" name="Shape 63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body" idx="2"/>
          </p:nvPr>
        </p:nvSpPr>
        <p:spPr>
          <a:xfrm>
            <a:off x="819785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 rot="5400000">
            <a:off x="10597356" y="3321843"/>
            <a:ext cx="6034087" cy="3657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91" name="Shape 391"/>
          <p:cNvSpPr txBox="1">
            <a:spLocks noGrp="1"/>
          </p:cNvSpPr>
          <p:nvPr>
            <p:ph type="body" idx="1"/>
          </p:nvPr>
        </p:nvSpPr>
        <p:spPr>
          <a:xfrm rot="5400000">
            <a:off x="3205956" y="-259556"/>
            <a:ext cx="6034087" cy="10820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393"/>
          <p:cNvSpPr txBox="1">
            <a:spLocks noGrp="1"/>
          </p:cNvSpPr>
          <p:nvPr>
            <p:ph type="title"/>
          </p:nvPr>
        </p:nvSpPr>
        <p:spPr>
          <a:xfrm>
            <a:off x="1155700" y="2781300"/>
            <a:ext cx="13931900" cy="356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94" name="Shape 394"/>
          <p:cNvSpPr txBox="1">
            <a:spLocks noGrp="1"/>
          </p:cNvSpPr>
          <p:nvPr>
            <p:ph type="body" idx="1"/>
          </p:nvPr>
        </p:nvSpPr>
        <p:spPr>
          <a:xfrm rot="5400000">
            <a:off x="5110956" y="-2164556"/>
            <a:ext cx="6034087" cy="14630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396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97" name="Shape 397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Shape 398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400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01" name="Shape 401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02" name="Shape 402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405"/>
          <p:cNvSpPr txBox="1">
            <a:spLocks noGrp="1"/>
          </p:cNvSpPr>
          <p:nvPr>
            <p:ph type="title"/>
          </p:nvPr>
        </p:nvSpPr>
        <p:spPr>
          <a:xfrm>
            <a:off x="1155700" y="2781300"/>
            <a:ext cx="13931900" cy="356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407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08" name="Shape 408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409" name="Shape 409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10" name="Shape 410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411" name="Shape 411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413"/>
          <p:cNvSpPr txBox="1">
            <a:spLocks noGrp="1"/>
          </p:cNvSpPr>
          <p:nvPr>
            <p:ph type="title"/>
          </p:nvPr>
        </p:nvSpPr>
        <p:spPr>
          <a:xfrm>
            <a:off x="1155700" y="2781300"/>
            <a:ext cx="13931900" cy="356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14" name="Shape 414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7239000" cy="60340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15" name="Shape 415"/>
          <p:cNvSpPr txBox="1">
            <a:spLocks noGrp="1"/>
          </p:cNvSpPr>
          <p:nvPr>
            <p:ph type="body" idx="2"/>
          </p:nvPr>
        </p:nvSpPr>
        <p:spPr>
          <a:xfrm>
            <a:off x="8204200" y="2133600"/>
            <a:ext cx="7239000" cy="60340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417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18" name="Shape 418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hape 420"/>
          <p:cNvSpPr txBox="1">
            <a:spLocks noGrp="1"/>
          </p:cNvSpPr>
          <p:nvPr>
            <p:ph type="title"/>
          </p:nvPr>
        </p:nvSpPr>
        <p:spPr>
          <a:xfrm>
            <a:off x="1155700" y="2781300"/>
            <a:ext cx="13931900" cy="356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21" name="Shape 421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14630400" cy="60340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Shape 423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24" name="Shape 424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Shape 670"/>
          <p:cNvSpPr txBox="1">
            <a:spLocks noGrp="1"/>
          </p:cNvSpPr>
          <p:nvPr>
            <p:ph type="title"/>
          </p:nvPr>
        </p:nvSpPr>
        <p:spPr>
          <a:xfrm rot="5400000">
            <a:off x="9313862" y="2532062"/>
            <a:ext cx="8064499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71" name="Shape 671"/>
          <p:cNvSpPr txBox="1">
            <a:spLocks noGrp="1"/>
          </p:cNvSpPr>
          <p:nvPr>
            <p:ph type="body" idx="1"/>
          </p:nvPr>
        </p:nvSpPr>
        <p:spPr>
          <a:xfrm rot="5400000">
            <a:off x="2271712" y="-874712"/>
            <a:ext cx="8064499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Shape 67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74" name="Shape 674"/>
          <p:cNvSpPr txBox="1">
            <a:spLocks noGrp="1"/>
          </p:cNvSpPr>
          <p:nvPr>
            <p:ph type="body" idx="1"/>
          </p:nvPr>
        </p:nvSpPr>
        <p:spPr>
          <a:xfrm rot="5400000">
            <a:off x="5270500" y="-1511300"/>
            <a:ext cx="5702299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Shape 676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77" name="Shape 677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678" name="Shape 678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Shape 680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81" name="Shape 681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82" name="Shape 682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Shape 68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Shape 687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88" name="Shape 688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689" name="Shape 689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90" name="Shape 690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691" name="Shape 691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Shape 69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94" name="Shape 69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95" name="Shape 695"/>
          <p:cNvSpPr txBox="1">
            <a:spLocks noGrp="1"/>
          </p:cNvSpPr>
          <p:nvPr>
            <p:ph type="body" idx="2"/>
          </p:nvPr>
        </p:nvSpPr>
        <p:spPr>
          <a:xfrm>
            <a:off x="819785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Shape 697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98" name="Shape 698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Shape 700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701" name="Shape 701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Shape 703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704" name="Shape 704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marR="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marR="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marR="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marR="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Shape 388"/>
          <p:cNvSpPr txBox="1">
            <a:spLocks noGrp="1"/>
          </p:cNvSpPr>
          <p:nvPr>
            <p:ph type="title"/>
          </p:nvPr>
        </p:nvSpPr>
        <p:spPr>
          <a:xfrm>
            <a:off x="1155700" y="2781300"/>
            <a:ext cx="13931900" cy="356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Shape 66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68" name="Shape 66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Loops and Iteration</a:t>
            </a:r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5494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Chapter 5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title"/>
          </p:nvPr>
        </p:nvSpPr>
        <p:spPr>
          <a:xfrm>
            <a:off x="7638525" y="152350"/>
            <a:ext cx="7810499" cy="16638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Repeated Steps</a:t>
            </a:r>
          </a:p>
        </p:txBody>
      </p:sp>
      <p:sp>
        <p:nvSpPr>
          <p:cNvPr id="93" name="Shape 93"/>
          <p:cNvSpPr txBox="1"/>
          <p:nvPr/>
        </p:nvSpPr>
        <p:spPr>
          <a:xfrm>
            <a:off x="7558075" y="2184400"/>
            <a:ext cx="4104300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Program: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 baseline="0">
              <a:solidFill>
                <a:srgbClr val="FF7F00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while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–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'Blastoff!'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</a:p>
        </p:txBody>
      </p:sp>
      <p:cxnSp>
        <p:nvCxnSpPr>
          <p:cNvPr id="94" name="Shape 94"/>
          <p:cNvCxnSpPr/>
          <p:nvPr/>
        </p:nvCxnSpPr>
        <p:spPr>
          <a:xfrm rot="10800000">
            <a:off x="2838449" y="1344612"/>
            <a:ext cx="14287" cy="566736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95" name="Shape 95"/>
          <p:cNvCxnSpPr/>
          <p:nvPr/>
        </p:nvCxnSpPr>
        <p:spPr>
          <a:xfrm flipH="1">
            <a:off x="10891836" y="3554412"/>
            <a:ext cx="1958974" cy="512762"/>
          </a:xfrm>
          <a:prstGeom prst="straightConnector1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96" name="Shape 96"/>
          <p:cNvSpPr/>
          <p:nvPr/>
        </p:nvSpPr>
        <p:spPr>
          <a:xfrm>
            <a:off x="1422400" y="1905000"/>
            <a:ext cx="2870100" cy="1269899"/>
          </a:xfrm>
          <a:prstGeom prst="diamond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n &gt; 0 ?</a:t>
            </a:r>
          </a:p>
        </p:txBody>
      </p:sp>
      <p:cxnSp>
        <p:nvCxnSpPr>
          <p:cNvPr id="97" name="Shape 97"/>
          <p:cNvCxnSpPr/>
          <p:nvPr/>
        </p:nvCxnSpPr>
        <p:spPr>
          <a:xfrm rot="10800000" flipH="1">
            <a:off x="2836861" y="3175000"/>
            <a:ext cx="20636" cy="231774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98" name="Shape 98"/>
          <p:cNvCxnSpPr/>
          <p:nvPr/>
        </p:nvCxnSpPr>
        <p:spPr>
          <a:xfrm rot="10800000">
            <a:off x="4279899" y="2533649"/>
            <a:ext cx="777875" cy="15875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99" name="Shape 99"/>
          <p:cNvCxnSpPr/>
          <p:nvPr/>
        </p:nvCxnSpPr>
        <p:spPr>
          <a:xfrm rot="10800000" flipH="1">
            <a:off x="5024437" y="2533650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00" name="Shape 100"/>
          <p:cNvCxnSpPr/>
          <p:nvPr/>
        </p:nvCxnSpPr>
        <p:spPr>
          <a:xfrm flipH="1">
            <a:off x="5024436" y="3362325"/>
            <a:ext cx="1587" cy="2093912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01" name="Shape 101"/>
          <p:cNvCxnSpPr/>
          <p:nvPr/>
        </p:nvCxnSpPr>
        <p:spPr>
          <a:xfrm>
            <a:off x="2852736" y="5459412"/>
            <a:ext cx="2187574" cy="14287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02" name="Shape 102"/>
          <p:cNvCxnSpPr/>
          <p:nvPr/>
        </p:nvCxnSpPr>
        <p:spPr>
          <a:xfrm flipH="1">
            <a:off x="1066800" y="2549525"/>
            <a:ext cx="396874" cy="3174"/>
          </a:xfrm>
          <a:prstGeom prst="straightConnector1">
            <a:avLst/>
          </a:prstGeom>
          <a:noFill/>
          <a:ln w="76200" cap="rnd" cmpd="sng">
            <a:solidFill>
              <a:srgbClr val="0000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103" name="Shape 103"/>
          <p:cNvCxnSpPr/>
          <p:nvPr/>
        </p:nvCxnSpPr>
        <p:spPr>
          <a:xfrm rot="10800000" flipH="1">
            <a:off x="2840036" y="5937250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04" name="Shape 104"/>
          <p:cNvCxnSpPr/>
          <p:nvPr/>
        </p:nvCxnSpPr>
        <p:spPr>
          <a:xfrm rot="10800000">
            <a:off x="1063625" y="2520950"/>
            <a:ext cx="36512" cy="3433761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05" name="Shape 105"/>
          <p:cNvCxnSpPr/>
          <p:nvPr/>
        </p:nvCxnSpPr>
        <p:spPr>
          <a:xfrm>
            <a:off x="1084262" y="5954712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06" name="Shape 106"/>
          <p:cNvCxnSpPr/>
          <p:nvPr/>
        </p:nvCxnSpPr>
        <p:spPr>
          <a:xfrm rot="10800000">
            <a:off x="10872786" y="4448174"/>
            <a:ext cx="2035175" cy="1101725"/>
          </a:xfrm>
          <a:prstGeom prst="straightConnector1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07" name="Shape 107"/>
          <p:cNvSpPr txBox="1"/>
          <p:nvPr/>
        </p:nvSpPr>
        <p:spPr>
          <a:xfrm>
            <a:off x="5024425" y="7124700"/>
            <a:ext cx="10618799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Loops (repeated steps) have </a:t>
            </a: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iteration variables</a:t>
            </a:r>
            <a:r>
              <a:rPr lang="en-US" sz="32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that change each time through a loop.  Often these </a:t>
            </a: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iteration variables 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go through a sequence of numbers.</a:t>
            </a:r>
          </a:p>
        </p:txBody>
      </p:sp>
      <p:sp>
        <p:nvSpPr>
          <p:cNvPr id="108" name="Shape 108"/>
          <p:cNvSpPr txBox="1"/>
          <p:nvPr/>
        </p:nvSpPr>
        <p:spPr>
          <a:xfrm>
            <a:off x="542925" y="1790700"/>
            <a:ext cx="7239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  <p:sp>
        <p:nvSpPr>
          <p:cNvPr id="109" name="Shape 109"/>
          <p:cNvSpPr txBox="1"/>
          <p:nvPr/>
        </p:nvSpPr>
        <p:spPr>
          <a:xfrm>
            <a:off x="1397000" y="6553200"/>
            <a:ext cx="2921000" cy="74929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'Blastoff'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4659312" y="1790700"/>
            <a:ext cx="725486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sp>
        <p:nvSpPr>
          <p:cNvPr id="111" name="Shape 111"/>
          <p:cNvSpPr txBox="1"/>
          <p:nvPr/>
        </p:nvSpPr>
        <p:spPr>
          <a:xfrm>
            <a:off x="1397000" y="609600"/>
            <a:ext cx="2921099" cy="74939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1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 = 5</a:t>
            </a:r>
          </a:p>
        </p:txBody>
      </p:sp>
      <p:sp>
        <p:nvSpPr>
          <p:cNvPr id="112" name="Shape 112"/>
          <p:cNvSpPr txBox="1"/>
          <p:nvPr/>
        </p:nvSpPr>
        <p:spPr>
          <a:xfrm>
            <a:off x="3581400" y="3187700"/>
            <a:ext cx="2921099" cy="74939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</a:t>
            </a: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n</a:t>
            </a:r>
          </a:p>
        </p:txBody>
      </p:sp>
      <p:sp>
        <p:nvSpPr>
          <p:cNvPr id="113" name="Shape 113"/>
          <p:cNvSpPr txBox="1"/>
          <p:nvPr/>
        </p:nvSpPr>
        <p:spPr>
          <a:xfrm>
            <a:off x="13073061" y="2019300"/>
            <a:ext cx="1727099" cy="4787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Output: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 baseline="0">
              <a:solidFill>
                <a:srgbClr val="FF00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Blastoff!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</a:p>
        </p:txBody>
      </p:sp>
      <p:sp>
        <p:nvSpPr>
          <p:cNvPr id="114" name="Shape 114"/>
          <p:cNvSpPr txBox="1"/>
          <p:nvPr/>
        </p:nvSpPr>
        <p:spPr>
          <a:xfrm>
            <a:off x="3568700" y="4406900"/>
            <a:ext cx="2921099" cy="74939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 = n -1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>
            <a:spLocks noGrp="1"/>
          </p:cNvSpPr>
          <p:nvPr>
            <p:ph type="title"/>
          </p:nvPr>
        </p:nvSpPr>
        <p:spPr>
          <a:xfrm>
            <a:off x="7988300" y="241300"/>
            <a:ext cx="68835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An Infinite Loop</a:t>
            </a:r>
          </a:p>
        </p:txBody>
      </p:sp>
      <p:sp>
        <p:nvSpPr>
          <p:cNvPr id="120" name="Shape 120"/>
          <p:cNvSpPr txBox="1"/>
          <p:nvPr/>
        </p:nvSpPr>
        <p:spPr>
          <a:xfrm>
            <a:off x="8853467" y="3181350"/>
            <a:ext cx="4590299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while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'Lather’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'Rinse'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'Dry off!'</a:t>
            </a:r>
          </a:p>
        </p:txBody>
      </p:sp>
      <p:cxnSp>
        <p:nvCxnSpPr>
          <p:cNvPr id="121" name="Shape 121"/>
          <p:cNvCxnSpPr/>
          <p:nvPr/>
        </p:nvCxnSpPr>
        <p:spPr>
          <a:xfrm rot="10800000">
            <a:off x="2838449" y="1344612"/>
            <a:ext cx="14287" cy="566736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22" name="Shape 122"/>
          <p:cNvSpPr/>
          <p:nvPr/>
        </p:nvSpPr>
        <p:spPr>
          <a:xfrm>
            <a:off x="1422400" y="1905000"/>
            <a:ext cx="2870200" cy="1270000"/>
          </a:xfrm>
          <a:prstGeom prst="diamond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 &gt; 0 ?</a:t>
            </a:r>
          </a:p>
        </p:txBody>
      </p:sp>
      <p:cxnSp>
        <p:nvCxnSpPr>
          <p:cNvPr id="123" name="Shape 123"/>
          <p:cNvCxnSpPr/>
          <p:nvPr/>
        </p:nvCxnSpPr>
        <p:spPr>
          <a:xfrm rot="10800000" flipH="1">
            <a:off x="2836861" y="3175000"/>
            <a:ext cx="20636" cy="231774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124" name="Shape 124"/>
          <p:cNvCxnSpPr/>
          <p:nvPr/>
        </p:nvCxnSpPr>
        <p:spPr>
          <a:xfrm rot="10800000">
            <a:off x="4203675" y="2533524"/>
            <a:ext cx="819299" cy="78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25" name="Shape 125"/>
          <p:cNvCxnSpPr/>
          <p:nvPr/>
        </p:nvCxnSpPr>
        <p:spPr>
          <a:xfrm rot="10800000" flipH="1">
            <a:off x="5024437" y="2533650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26" name="Shape 126"/>
          <p:cNvCxnSpPr/>
          <p:nvPr/>
        </p:nvCxnSpPr>
        <p:spPr>
          <a:xfrm flipH="1">
            <a:off x="5024436" y="3362325"/>
            <a:ext cx="1587" cy="2093912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27" name="Shape 127"/>
          <p:cNvCxnSpPr/>
          <p:nvPr/>
        </p:nvCxnSpPr>
        <p:spPr>
          <a:xfrm>
            <a:off x="2852736" y="5459412"/>
            <a:ext cx="2187574" cy="14287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28" name="Shape 128"/>
          <p:cNvCxnSpPr/>
          <p:nvPr/>
        </p:nvCxnSpPr>
        <p:spPr>
          <a:xfrm flipH="1">
            <a:off x="1066800" y="2549525"/>
            <a:ext cx="396874" cy="3174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129" name="Shape 129"/>
          <p:cNvCxnSpPr/>
          <p:nvPr/>
        </p:nvCxnSpPr>
        <p:spPr>
          <a:xfrm rot="10800000" flipH="1">
            <a:off x="2840036" y="5937250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30" name="Shape 130"/>
          <p:cNvCxnSpPr/>
          <p:nvPr/>
        </p:nvCxnSpPr>
        <p:spPr>
          <a:xfrm rot="10800000">
            <a:off x="1063625" y="2520950"/>
            <a:ext cx="36512" cy="3433761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31" name="Shape 131"/>
          <p:cNvCxnSpPr/>
          <p:nvPr/>
        </p:nvCxnSpPr>
        <p:spPr>
          <a:xfrm>
            <a:off x="1084262" y="5954712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32" name="Shape 132"/>
          <p:cNvSpPr txBox="1"/>
          <p:nvPr/>
        </p:nvSpPr>
        <p:spPr>
          <a:xfrm>
            <a:off x="542925" y="1790700"/>
            <a:ext cx="723900" cy="622299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  <p:sp>
        <p:nvSpPr>
          <p:cNvPr id="133" name="Shape 133"/>
          <p:cNvSpPr txBox="1"/>
          <p:nvPr/>
        </p:nvSpPr>
        <p:spPr>
          <a:xfrm>
            <a:off x="1397000" y="6553200"/>
            <a:ext cx="2921000" cy="749299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'Dry off!'</a:t>
            </a:r>
          </a:p>
        </p:txBody>
      </p:sp>
      <p:sp>
        <p:nvSpPr>
          <p:cNvPr id="134" name="Shape 134"/>
          <p:cNvSpPr txBox="1"/>
          <p:nvPr/>
        </p:nvSpPr>
        <p:spPr>
          <a:xfrm>
            <a:off x="4659312" y="1790700"/>
            <a:ext cx="725486" cy="622299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sp>
        <p:nvSpPr>
          <p:cNvPr id="135" name="Shape 135"/>
          <p:cNvSpPr txBox="1"/>
          <p:nvPr/>
        </p:nvSpPr>
        <p:spPr>
          <a:xfrm>
            <a:off x="1397000" y="609600"/>
            <a:ext cx="2921000" cy="749299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1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 = 5</a:t>
            </a:r>
          </a:p>
        </p:txBody>
      </p:sp>
      <p:sp>
        <p:nvSpPr>
          <p:cNvPr id="136" name="Shape 136"/>
          <p:cNvSpPr txBox="1"/>
          <p:nvPr/>
        </p:nvSpPr>
        <p:spPr>
          <a:xfrm>
            <a:off x="3586162" y="3187700"/>
            <a:ext cx="2909887" cy="747711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</a:t>
            </a: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'Lather'</a:t>
            </a:r>
          </a:p>
        </p:txBody>
      </p:sp>
      <p:sp>
        <p:nvSpPr>
          <p:cNvPr id="137" name="Shape 137"/>
          <p:cNvSpPr txBox="1"/>
          <p:nvPr/>
        </p:nvSpPr>
        <p:spPr>
          <a:xfrm>
            <a:off x="3568700" y="4406900"/>
            <a:ext cx="2921000" cy="749299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</a:t>
            </a: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'Rinse'</a:t>
            </a:r>
          </a:p>
        </p:txBody>
      </p:sp>
      <p:sp>
        <p:nvSpPr>
          <p:cNvPr id="138" name="Shape 138"/>
          <p:cNvSpPr txBox="1"/>
          <p:nvPr/>
        </p:nvSpPr>
        <p:spPr>
          <a:xfrm>
            <a:off x="8295899" y="7412450"/>
            <a:ext cx="57054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What is wrong with this loop?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 txBox="1">
            <a:spLocks noGrp="1"/>
          </p:cNvSpPr>
          <p:nvPr>
            <p:ph type="title"/>
          </p:nvPr>
        </p:nvSpPr>
        <p:spPr>
          <a:xfrm>
            <a:off x="7924800" y="241300"/>
            <a:ext cx="6591299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Another Loop</a:t>
            </a:r>
          </a:p>
        </p:txBody>
      </p:sp>
      <p:sp>
        <p:nvSpPr>
          <p:cNvPr id="144" name="Shape 144"/>
          <p:cNvSpPr txBox="1"/>
          <p:nvPr/>
        </p:nvSpPr>
        <p:spPr>
          <a:xfrm>
            <a:off x="8853467" y="3181350"/>
            <a:ext cx="4682999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while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'Lather’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'Rinse'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'Dry off!'</a:t>
            </a:r>
          </a:p>
        </p:txBody>
      </p:sp>
      <p:cxnSp>
        <p:nvCxnSpPr>
          <p:cNvPr id="145" name="Shape 145"/>
          <p:cNvCxnSpPr/>
          <p:nvPr/>
        </p:nvCxnSpPr>
        <p:spPr>
          <a:xfrm rot="10800000">
            <a:off x="2838449" y="1344612"/>
            <a:ext cx="14287" cy="566736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46" name="Shape 146"/>
          <p:cNvSpPr/>
          <p:nvPr/>
        </p:nvSpPr>
        <p:spPr>
          <a:xfrm>
            <a:off x="1422400" y="1905000"/>
            <a:ext cx="2870200" cy="1270000"/>
          </a:xfrm>
          <a:prstGeom prst="diamond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n &gt; 0 ?</a:t>
            </a:r>
          </a:p>
        </p:txBody>
      </p:sp>
      <p:cxnSp>
        <p:nvCxnSpPr>
          <p:cNvPr id="147" name="Shape 147"/>
          <p:cNvCxnSpPr/>
          <p:nvPr/>
        </p:nvCxnSpPr>
        <p:spPr>
          <a:xfrm rot="10800000" flipH="1">
            <a:off x="2836861" y="3175000"/>
            <a:ext cx="20636" cy="231774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148" name="Shape 148"/>
          <p:cNvCxnSpPr/>
          <p:nvPr/>
        </p:nvCxnSpPr>
        <p:spPr>
          <a:xfrm rot="10800000">
            <a:off x="4203675" y="2533625"/>
            <a:ext cx="777899" cy="158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49" name="Shape 149"/>
          <p:cNvCxnSpPr/>
          <p:nvPr/>
        </p:nvCxnSpPr>
        <p:spPr>
          <a:xfrm rot="10800000" flipH="1">
            <a:off x="5024437" y="2533650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50" name="Shape 150"/>
          <p:cNvCxnSpPr/>
          <p:nvPr/>
        </p:nvCxnSpPr>
        <p:spPr>
          <a:xfrm flipH="1">
            <a:off x="5024436" y="3362325"/>
            <a:ext cx="1587" cy="2093912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51" name="Shape 151"/>
          <p:cNvCxnSpPr/>
          <p:nvPr/>
        </p:nvCxnSpPr>
        <p:spPr>
          <a:xfrm>
            <a:off x="2852736" y="5459412"/>
            <a:ext cx="2187574" cy="14287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52" name="Shape 152"/>
          <p:cNvCxnSpPr/>
          <p:nvPr/>
        </p:nvCxnSpPr>
        <p:spPr>
          <a:xfrm flipH="1">
            <a:off x="1066800" y="2549525"/>
            <a:ext cx="396874" cy="3174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153" name="Shape 153"/>
          <p:cNvCxnSpPr/>
          <p:nvPr/>
        </p:nvCxnSpPr>
        <p:spPr>
          <a:xfrm rot="10800000" flipH="1">
            <a:off x="2840036" y="5937250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54" name="Shape 154"/>
          <p:cNvCxnSpPr/>
          <p:nvPr/>
        </p:nvCxnSpPr>
        <p:spPr>
          <a:xfrm rot="10800000">
            <a:off x="1063625" y="2520950"/>
            <a:ext cx="36512" cy="3433761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55" name="Shape 155"/>
          <p:cNvCxnSpPr/>
          <p:nvPr/>
        </p:nvCxnSpPr>
        <p:spPr>
          <a:xfrm>
            <a:off x="1084262" y="5954712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56" name="Shape 156"/>
          <p:cNvSpPr txBox="1"/>
          <p:nvPr/>
        </p:nvSpPr>
        <p:spPr>
          <a:xfrm>
            <a:off x="542925" y="1790700"/>
            <a:ext cx="723900" cy="622299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  <p:sp>
        <p:nvSpPr>
          <p:cNvPr id="157" name="Shape 157"/>
          <p:cNvSpPr txBox="1"/>
          <p:nvPr/>
        </p:nvSpPr>
        <p:spPr>
          <a:xfrm>
            <a:off x="1397000" y="6553200"/>
            <a:ext cx="2921000" cy="749299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'Dry off!'</a:t>
            </a:r>
          </a:p>
        </p:txBody>
      </p:sp>
      <p:sp>
        <p:nvSpPr>
          <p:cNvPr id="158" name="Shape 158"/>
          <p:cNvSpPr txBox="1"/>
          <p:nvPr/>
        </p:nvSpPr>
        <p:spPr>
          <a:xfrm>
            <a:off x="4659312" y="1790700"/>
            <a:ext cx="725486" cy="622299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sp>
        <p:nvSpPr>
          <p:cNvPr id="159" name="Shape 159"/>
          <p:cNvSpPr txBox="1"/>
          <p:nvPr/>
        </p:nvSpPr>
        <p:spPr>
          <a:xfrm>
            <a:off x="1397000" y="609600"/>
            <a:ext cx="2921000" cy="749299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1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 = 0</a:t>
            </a:r>
          </a:p>
        </p:txBody>
      </p:sp>
      <p:sp>
        <p:nvSpPr>
          <p:cNvPr id="160" name="Shape 160"/>
          <p:cNvSpPr txBox="1"/>
          <p:nvPr/>
        </p:nvSpPr>
        <p:spPr>
          <a:xfrm>
            <a:off x="3581400" y="3187700"/>
            <a:ext cx="2921000" cy="749299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</a:t>
            </a: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'Lather'</a:t>
            </a:r>
          </a:p>
        </p:txBody>
      </p:sp>
      <p:sp>
        <p:nvSpPr>
          <p:cNvPr id="161" name="Shape 161"/>
          <p:cNvSpPr txBox="1"/>
          <p:nvPr/>
        </p:nvSpPr>
        <p:spPr>
          <a:xfrm>
            <a:off x="3568700" y="4406900"/>
            <a:ext cx="2921000" cy="749299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</a:t>
            </a: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'Rinse'</a:t>
            </a:r>
          </a:p>
        </p:txBody>
      </p:sp>
      <p:sp>
        <p:nvSpPr>
          <p:cNvPr id="162" name="Shape 162"/>
          <p:cNvSpPr txBox="1"/>
          <p:nvPr/>
        </p:nvSpPr>
        <p:spPr>
          <a:xfrm>
            <a:off x="9155111" y="7289800"/>
            <a:ext cx="46829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What does this loop do?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19938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Breaking Out of a Loop</a:t>
            </a:r>
          </a:p>
        </p:txBody>
      </p:sp>
      <p:sp>
        <p:nvSpPr>
          <p:cNvPr id="168" name="Shape 168"/>
          <p:cNvSpPr txBox="1">
            <a:spLocks noGrp="1"/>
          </p:cNvSpPr>
          <p:nvPr>
            <p:ph type="body" idx="1"/>
          </p:nvPr>
        </p:nvSpPr>
        <p:spPr>
          <a:xfrm>
            <a:off x="1282700" y="2235200"/>
            <a:ext cx="14071599" cy="28574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break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statement ends the current loop and jumps to the statement immediately following the loop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It is like a loop test that can happen anywhere in the body of the loop</a:t>
            </a:r>
          </a:p>
        </p:txBody>
      </p:sp>
      <p:sp>
        <p:nvSpPr>
          <p:cNvPr id="169" name="Shape 169"/>
          <p:cNvSpPr txBox="1"/>
          <p:nvPr/>
        </p:nvSpPr>
        <p:spPr>
          <a:xfrm>
            <a:off x="10817225" y="5202237"/>
            <a:ext cx="24350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&gt;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&gt;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finished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finished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&gt;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done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Done!</a:t>
            </a:r>
          </a:p>
        </p:txBody>
      </p:sp>
      <p:sp>
        <p:nvSpPr>
          <p:cNvPr id="170" name="Shape 170"/>
          <p:cNvSpPr txBox="1"/>
          <p:nvPr/>
        </p:nvSpPr>
        <p:spPr>
          <a:xfrm>
            <a:off x="3774650" y="5304525"/>
            <a:ext cx="6430500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raw_input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'&gt; 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'done'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'Done!'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19938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Breaking Out of a Loop</a:t>
            </a:r>
          </a:p>
        </p:txBody>
      </p:sp>
      <p:sp>
        <p:nvSpPr>
          <p:cNvPr id="176" name="Shape 176"/>
          <p:cNvSpPr txBox="1">
            <a:spLocks noGrp="1"/>
          </p:cNvSpPr>
          <p:nvPr>
            <p:ph type="body" idx="1"/>
          </p:nvPr>
        </p:nvSpPr>
        <p:spPr>
          <a:xfrm>
            <a:off x="1282700" y="2235200"/>
            <a:ext cx="14071599" cy="28574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break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statement ends the current loop and jumps to the statement immediately following the loop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It is like a loop test that can happen anywhere in the body of the loop</a:t>
            </a:r>
          </a:p>
        </p:txBody>
      </p:sp>
      <p:sp>
        <p:nvSpPr>
          <p:cNvPr id="177" name="Shape 177"/>
          <p:cNvSpPr txBox="1"/>
          <p:nvPr/>
        </p:nvSpPr>
        <p:spPr>
          <a:xfrm>
            <a:off x="3774650" y="5304525"/>
            <a:ext cx="68741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raw_input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'&gt; 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'done'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'Done!'</a:t>
            </a:r>
          </a:p>
        </p:txBody>
      </p:sp>
      <p:sp>
        <p:nvSpPr>
          <p:cNvPr id="178" name="Shape 178"/>
          <p:cNvSpPr txBox="1"/>
          <p:nvPr/>
        </p:nvSpPr>
        <p:spPr>
          <a:xfrm>
            <a:off x="10817225" y="5202237"/>
            <a:ext cx="24350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&gt;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&gt;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finished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f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inished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&gt;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done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Done!</a:t>
            </a:r>
          </a:p>
        </p:txBody>
      </p:sp>
      <p:cxnSp>
        <p:nvCxnSpPr>
          <p:cNvPr id="179" name="Shape 179"/>
          <p:cNvCxnSpPr/>
          <p:nvPr/>
        </p:nvCxnSpPr>
        <p:spPr>
          <a:xfrm rot="10800000">
            <a:off x="3082749" y="7565975"/>
            <a:ext cx="522900" cy="643499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80" name="Shape 180"/>
          <p:cNvCxnSpPr/>
          <p:nvPr/>
        </p:nvCxnSpPr>
        <p:spPr>
          <a:xfrm rot="10800000" flipH="1">
            <a:off x="3025775" y="7310661"/>
            <a:ext cx="2035499" cy="237900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Shape 185"/>
          <p:cNvCxnSpPr/>
          <p:nvPr/>
        </p:nvCxnSpPr>
        <p:spPr>
          <a:xfrm rot="10800000">
            <a:off x="11017136" y="557249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86" name="Shape 186"/>
          <p:cNvSpPr/>
          <p:nvPr/>
        </p:nvSpPr>
        <p:spPr>
          <a:xfrm>
            <a:off x="9601200" y="1117600"/>
            <a:ext cx="2870100" cy="1269899"/>
          </a:xfrm>
          <a:prstGeom prst="diamond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True ?</a:t>
            </a:r>
          </a:p>
        </p:txBody>
      </p:sp>
      <p:cxnSp>
        <p:nvCxnSpPr>
          <p:cNvPr id="187" name="Shape 187"/>
          <p:cNvCxnSpPr/>
          <p:nvPr/>
        </p:nvCxnSpPr>
        <p:spPr>
          <a:xfrm rot="10800000" flipH="1">
            <a:off x="10939461" y="2425849"/>
            <a:ext cx="96899" cy="40194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188" name="Shape 188"/>
          <p:cNvCxnSpPr/>
          <p:nvPr/>
        </p:nvCxnSpPr>
        <p:spPr>
          <a:xfrm rot="10800000">
            <a:off x="12382475" y="1746225"/>
            <a:ext cx="777899" cy="158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89" name="Shape 189"/>
          <p:cNvCxnSpPr/>
          <p:nvPr/>
        </p:nvCxnSpPr>
        <p:spPr>
          <a:xfrm rot="10800000">
            <a:off x="13190537" y="1746275"/>
            <a:ext cx="0" cy="47084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90" name="Shape 190"/>
          <p:cNvCxnSpPr/>
          <p:nvPr/>
        </p:nvCxnSpPr>
        <p:spPr>
          <a:xfrm>
            <a:off x="10955336" y="6411911"/>
            <a:ext cx="2187600" cy="144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91" name="Shape 191"/>
          <p:cNvCxnSpPr/>
          <p:nvPr/>
        </p:nvCxnSpPr>
        <p:spPr>
          <a:xfrm flipH="1">
            <a:off x="9245574" y="17621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192" name="Shape 192"/>
          <p:cNvCxnSpPr/>
          <p:nvPr/>
        </p:nvCxnSpPr>
        <p:spPr>
          <a:xfrm rot="10800000" flipH="1">
            <a:off x="10942636" y="6889874"/>
            <a:ext cx="15899" cy="6444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93" name="Shape 193"/>
          <p:cNvCxnSpPr/>
          <p:nvPr/>
        </p:nvCxnSpPr>
        <p:spPr>
          <a:xfrm rot="10800000" flipH="1">
            <a:off x="9202736" y="1752611"/>
            <a:ext cx="58800" cy="51545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94" name="Shape 194"/>
          <p:cNvCxnSpPr/>
          <p:nvPr/>
        </p:nvCxnSpPr>
        <p:spPr>
          <a:xfrm>
            <a:off x="9216150" y="6870200"/>
            <a:ext cx="1723200" cy="368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95" name="Shape 195"/>
          <p:cNvSpPr txBox="1"/>
          <p:nvPr/>
        </p:nvSpPr>
        <p:spPr>
          <a:xfrm>
            <a:off x="8721725" y="1003300"/>
            <a:ext cx="723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  <p:sp>
        <p:nvSpPr>
          <p:cNvPr id="196" name="Shape 196"/>
          <p:cNvSpPr txBox="1"/>
          <p:nvPr/>
        </p:nvSpPr>
        <p:spPr>
          <a:xfrm>
            <a:off x="9499600" y="7505700"/>
            <a:ext cx="2921099" cy="74939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'Done'</a:t>
            </a:r>
          </a:p>
        </p:txBody>
      </p:sp>
      <p:sp>
        <p:nvSpPr>
          <p:cNvPr id="197" name="Shape 197"/>
          <p:cNvSpPr txBox="1"/>
          <p:nvPr/>
        </p:nvSpPr>
        <p:spPr>
          <a:xfrm>
            <a:off x="12838111" y="1003300"/>
            <a:ext cx="7253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sp>
        <p:nvSpPr>
          <p:cNvPr id="198" name="Shape 198"/>
          <p:cNvSpPr txBox="1"/>
          <p:nvPr/>
        </p:nvSpPr>
        <p:spPr>
          <a:xfrm>
            <a:off x="11760200" y="2400300"/>
            <a:ext cx="2921099" cy="74939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....</a:t>
            </a:r>
          </a:p>
        </p:txBody>
      </p:sp>
      <p:sp>
        <p:nvSpPr>
          <p:cNvPr id="199" name="Shape 199"/>
          <p:cNvSpPr txBox="1"/>
          <p:nvPr/>
        </p:nvSpPr>
        <p:spPr>
          <a:xfrm>
            <a:off x="11709400" y="5346700"/>
            <a:ext cx="2921099" cy="74939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...</a:t>
            </a:r>
          </a:p>
        </p:txBody>
      </p:sp>
      <p:cxnSp>
        <p:nvCxnSpPr>
          <p:cNvPr id="200" name="Shape 200"/>
          <p:cNvCxnSpPr/>
          <p:nvPr/>
        </p:nvCxnSpPr>
        <p:spPr>
          <a:xfrm rot="10800000">
            <a:off x="14816037" y="4603711"/>
            <a:ext cx="1016099" cy="14906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01" name="Shape 201"/>
          <p:cNvCxnSpPr/>
          <p:nvPr/>
        </p:nvCxnSpPr>
        <p:spPr>
          <a:xfrm rot="10800000" flipH="1">
            <a:off x="11952286" y="6069111"/>
            <a:ext cx="3849600" cy="1346100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02" name="Shape 202"/>
          <p:cNvSpPr txBox="1"/>
          <p:nvPr/>
        </p:nvSpPr>
        <p:spPr>
          <a:xfrm>
            <a:off x="1752600" y="1195375"/>
            <a:ext cx="6558000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raw_input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'&gt; 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'done'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'Done!'</a:t>
            </a:r>
          </a:p>
        </p:txBody>
      </p:sp>
      <p:cxnSp>
        <p:nvCxnSpPr>
          <p:cNvPr id="203" name="Shape 203"/>
          <p:cNvCxnSpPr/>
          <p:nvPr/>
        </p:nvCxnSpPr>
        <p:spPr>
          <a:xfrm rot="10800000">
            <a:off x="1318899" y="3504149"/>
            <a:ext cx="348900" cy="544500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04" name="Shape 204"/>
          <p:cNvCxnSpPr/>
          <p:nvPr/>
        </p:nvCxnSpPr>
        <p:spPr>
          <a:xfrm rot="10800000" flipH="1">
            <a:off x="1312400" y="3085225"/>
            <a:ext cx="1787100" cy="377099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05" name="Shape 205"/>
          <p:cNvCxnSpPr/>
          <p:nvPr/>
        </p:nvCxnSpPr>
        <p:spPr>
          <a:xfrm rot="10800000">
            <a:off x="13209448" y="3186137"/>
            <a:ext cx="1401899" cy="8223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208" name="Shape 208"/>
          <p:cNvSpPr txBox="1"/>
          <p:nvPr/>
        </p:nvSpPr>
        <p:spPr>
          <a:xfrm>
            <a:off x="13665200" y="3873500"/>
            <a:ext cx="2184300" cy="74939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break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>
            <a:spLocks noGrp="1"/>
          </p:cNvSpPr>
          <p:nvPr>
            <p:ph type="body" idx="1"/>
          </p:nvPr>
        </p:nvSpPr>
        <p:spPr>
          <a:xfrm>
            <a:off x="1968500" y="2235200"/>
            <a:ext cx="12738600" cy="14927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continue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statement ends the current iteration and jumps to the top of the loop and starts the next iteration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3098800" y="4146550"/>
            <a:ext cx="6032399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raw_input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'&gt; 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line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[0]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==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'#'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continue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'done' </a:t>
            </a:r>
            <a:r>
              <a:rPr lang="en-US" sz="30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'Done!'</a:t>
            </a:r>
          </a:p>
        </p:txBody>
      </p:sp>
      <p:sp>
        <p:nvSpPr>
          <p:cNvPr id="215" name="Shape 215"/>
          <p:cNvSpPr txBox="1"/>
          <p:nvPr/>
        </p:nvSpPr>
        <p:spPr>
          <a:xfrm>
            <a:off x="10639425" y="4494212"/>
            <a:ext cx="3576599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&gt;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&gt;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# don't print this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&gt;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print this!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this!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&gt;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done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Done!</a:t>
            </a:r>
          </a:p>
        </p:txBody>
      </p:sp>
      <p:sp>
        <p:nvSpPr>
          <p:cNvPr id="216" name="Shape 21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Finishing an Iteration with continue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Finishing an Iteration with continue</a:t>
            </a:r>
          </a:p>
        </p:txBody>
      </p:sp>
      <p:sp>
        <p:nvSpPr>
          <p:cNvPr id="222" name="Shape 222"/>
          <p:cNvSpPr txBox="1">
            <a:spLocks noGrp="1"/>
          </p:cNvSpPr>
          <p:nvPr>
            <p:ph type="body" idx="1"/>
          </p:nvPr>
        </p:nvSpPr>
        <p:spPr>
          <a:xfrm>
            <a:off x="1968500" y="2235200"/>
            <a:ext cx="11999100" cy="15132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continue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statement ends the </a:t>
            </a:r>
            <a:r>
              <a:rPr lang="en-US" sz="3600" b="0" i="1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current iteration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jumps to the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top of the loop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starts the next iteration</a:t>
            </a:r>
          </a:p>
        </p:txBody>
      </p:sp>
      <p:sp>
        <p:nvSpPr>
          <p:cNvPr id="223" name="Shape 223"/>
          <p:cNvSpPr txBox="1"/>
          <p:nvPr/>
        </p:nvSpPr>
        <p:spPr>
          <a:xfrm>
            <a:off x="3098800" y="4146550"/>
            <a:ext cx="6499500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raw_input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'&gt; 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line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[0]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==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'#'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continue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'done'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'Done!'</a:t>
            </a:r>
          </a:p>
        </p:txBody>
      </p:sp>
      <p:sp>
        <p:nvSpPr>
          <p:cNvPr id="224" name="Shape 224"/>
          <p:cNvSpPr txBox="1"/>
          <p:nvPr/>
        </p:nvSpPr>
        <p:spPr>
          <a:xfrm>
            <a:off x="11172825" y="4494212"/>
            <a:ext cx="3576637" cy="38766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&gt;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&gt;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# don't print this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&gt;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print this!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this!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&gt;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done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Done!</a:t>
            </a:r>
          </a:p>
        </p:txBody>
      </p:sp>
      <p:cxnSp>
        <p:nvCxnSpPr>
          <p:cNvPr id="225" name="Shape 225"/>
          <p:cNvCxnSpPr/>
          <p:nvPr/>
        </p:nvCxnSpPr>
        <p:spPr>
          <a:xfrm flipH="1">
            <a:off x="2930400" y="4975800"/>
            <a:ext cx="150899" cy="719999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26" name="Shape 226"/>
          <p:cNvCxnSpPr/>
          <p:nvPr/>
        </p:nvCxnSpPr>
        <p:spPr>
          <a:xfrm>
            <a:off x="2874961" y="5695950"/>
            <a:ext cx="1907099" cy="440399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1" name="Shape 231"/>
          <p:cNvCxnSpPr/>
          <p:nvPr/>
        </p:nvCxnSpPr>
        <p:spPr>
          <a:xfrm rot="10800000">
            <a:off x="10991736" y="938249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32" name="Shape 232"/>
          <p:cNvSpPr/>
          <p:nvPr/>
        </p:nvSpPr>
        <p:spPr>
          <a:xfrm>
            <a:off x="9575800" y="1498600"/>
            <a:ext cx="2870100" cy="1269899"/>
          </a:xfrm>
          <a:prstGeom prst="diamond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True ?</a:t>
            </a:r>
          </a:p>
        </p:txBody>
      </p:sp>
      <p:cxnSp>
        <p:nvCxnSpPr>
          <p:cNvPr id="233" name="Shape 233"/>
          <p:cNvCxnSpPr/>
          <p:nvPr/>
        </p:nvCxnSpPr>
        <p:spPr>
          <a:xfrm rot="10800000">
            <a:off x="10995700" y="2681850"/>
            <a:ext cx="30299" cy="40580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234" name="Shape 234"/>
          <p:cNvCxnSpPr/>
          <p:nvPr/>
        </p:nvCxnSpPr>
        <p:spPr>
          <a:xfrm rot="10800000">
            <a:off x="12433275" y="2127225"/>
            <a:ext cx="777899" cy="158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35" name="Shape 235"/>
          <p:cNvCxnSpPr/>
          <p:nvPr/>
        </p:nvCxnSpPr>
        <p:spPr>
          <a:xfrm>
            <a:off x="10991725" y="6788150"/>
            <a:ext cx="2178300" cy="32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36" name="Shape 236"/>
          <p:cNvCxnSpPr/>
          <p:nvPr/>
        </p:nvCxnSpPr>
        <p:spPr>
          <a:xfrm flipH="1">
            <a:off x="9220174" y="21431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237" name="Shape 237"/>
          <p:cNvCxnSpPr/>
          <p:nvPr/>
        </p:nvCxnSpPr>
        <p:spPr>
          <a:xfrm rot="10800000" flipH="1">
            <a:off x="10917236" y="7270874"/>
            <a:ext cx="15899" cy="6444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38" name="Shape 238"/>
          <p:cNvCxnSpPr/>
          <p:nvPr/>
        </p:nvCxnSpPr>
        <p:spPr>
          <a:xfrm rot="10800000" flipH="1">
            <a:off x="9220186" y="2133611"/>
            <a:ext cx="58800" cy="51545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39" name="Shape 239"/>
          <p:cNvCxnSpPr/>
          <p:nvPr/>
        </p:nvCxnSpPr>
        <p:spPr>
          <a:xfrm>
            <a:off x="9161461" y="7288211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240" name="Shape 240"/>
          <p:cNvSpPr txBox="1"/>
          <p:nvPr/>
        </p:nvSpPr>
        <p:spPr>
          <a:xfrm>
            <a:off x="8696325" y="1384300"/>
            <a:ext cx="723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  <p:sp>
        <p:nvSpPr>
          <p:cNvPr id="241" name="Shape 241"/>
          <p:cNvSpPr txBox="1"/>
          <p:nvPr/>
        </p:nvSpPr>
        <p:spPr>
          <a:xfrm>
            <a:off x="9474200" y="7886700"/>
            <a:ext cx="2921099" cy="74939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'Done'</a:t>
            </a:r>
          </a:p>
        </p:txBody>
      </p:sp>
      <p:sp>
        <p:nvSpPr>
          <p:cNvPr id="242" name="Shape 242"/>
          <p:cNvSpPr txBox="1"/>
          <p:nvPr/>
        </p:nvSpPr>
        <p:spPr>
          <a:xfrm>
            <a:off x="13295312" y="1828800"/>
            <a:ext cx="7253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cxnSp>
        <p:nvCxnSpPr>
          <p:cNvPr id="243" name="Shape 243"/>
          <p:cNvCxnSpPr/>
          <p:nvPr/>
        </p:nvCxnSpPr>
        <p:spPr>
          <a:xfrm rot="10800000" flipH="1">
            <a:off x="11563350" y="1304775"/>
            <a:ext cx="3002099" cy="2858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44" name="Shape 244"/>
          <p:cNvSpPr txBox="1"/>
          <p:nvPr/>
        </p:nvSpPr>
        <p:spPr>
          <a:xfrm>
            <a:off x="2057400" y="2355850"/>
            <a:ext cx="6290999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raw_input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'&gt; ’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line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[0]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==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'#'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continue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'done'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'Done!'</a:t>
            </a:r>
          </a:p>
        </p:txBody>
      </p:sp>
      <p:cxnSp>
        <p:nvCxnSpPr>
          <p:cNvPr id="245" name="Shape 245"/>
          <p:cNvCxnSpPr/>
          <p:nvPr/>
        </p:nvCxnSpPr>
        <p:spPr>
          <a:xfrm flipH="1">
            <a:off x="1703325" y="3029550"/>
            <a:ext cx="265199" cy="837599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46" name="Shape 246"/>
          <p:cNvCxnSpPr/>
          <p:nvPr/>
        </p:nvCxnSpPr>
        <p:spPr>
          <a:xfrm>
            <a:off x="1717225" y="3909050"/>
            <a:ext cx="1237200" cy="464399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47" name="Shape 247"/>
          <p:cNvCxnSpPr/>
          <p:nvPr/>
        </p:nvCxnSpPr>
        <p:spPr>
          <a:xfrm rot="10800000">
            <a:off x="13261975" y="2127225"/>
            <a:ext cx="0" cy="47084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248" name="Shape 248"/>
          <p:cNvSpPr txBox="1"/>
          <p:nvPr/>
        </p:nvSpPr>
        <p:spPr>
          <a:xfrm>
            <a:off x="11696700" y="5727700"/>
            <a:ext cx="2921099" cy="74939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...</a:t>
            </a:r>
          </a:p>
        </p:txBody>
      </p:sp>
      <p:cxnSp>
        <p:nvCxnSpPr>
          <p:cNvPr id="249" name="Shape 249"/>
          <p:cNvCxnSpPr/>
          <p:nvPr/>
        </p:nvCxnSpPr>
        <p:spPr>
          <a:xfrm>
            <a:off x="14546262" y="1285875"/>
            <a:ext cx="846000" cy="29177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50" name="Shape 250"/>
          <p:cNvCxnSpPr/>
          <p:nvPr/>
        </p:nvCxnSpPr>
        <p:spPr>
          <a:xfrm rot="10800000">
            <a:off x="13196748" y="3490937"/>
            <a:ext cx="1401899" cy="8223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251" name="Shape 251"/>
          <p:cNvSpPr txBox="1"/>
          <p:nvPr/>
        </p:nvSpPr>
        <p:spPr>
          <a:xfrm>
            <a:off x="11684000" y="2824112"/>
            <a:ext cx="2921099" cy="74939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....</a:t>
            </a:r>
          </a:p>
        </p:txBody>
      </p:sp>
      <p:sp>
        <p:nvSpPr>
          <p:cNvPr id="252" name="Shape 252"/>
          <p:cNvSpPr txBox="1"/>
          <p:nvPr/>
        </p:nvSpPr>
        <p:spPr>
          <a:xfrm>
            <a:off x="13500100" y="4254500"/>
            <a:ext cx="2184300" cy="74939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continue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Indefinite Loops</a:t>
            </a:r>
          </a:p>
        </p:txBody>
      </p:sp>
      <p:sp>
        <p:nvSpPr>
          <p:cNvPr id="258" name="Shape 258"/>
          <p:cNvSpPr txBox="1">
            <a:spLocks noGrp="1"/>
          </p:cNvSpPr>
          <p:nvPr>
            <p:ph type="body" idx="1"/>
          </p:nvPr>
        </p:nvSpPr>
        <p:spPr>
          <a:xfrm>
            <a:off x="1155700" y="2146300"/>
            <a:ext cx="13932000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While loops are called </a:t>
            </a:r>
            <a:r>
              <a:rPr lang="en-US" sz="360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indefinite loops</a:t>
            </a:r>
            <a:r>
              <a:rPr lang="en-US" sz="360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because they keep going until  a logical condition becomes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False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loops we have seen so far are pretty easy to examine to see if they will terminate or if they will be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infinite loops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Sometimes it is a little harder to be sure if a loop will terminate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Definite Loops</a:t>
            </a:r>
          </a:p>
        </p:txBody>
      </p:sp>
      <p:sp>
        <p:nvSpPr>
          <p:cNvPr id="264" name="Shape 264"/>
          <p:cNvSpPr txBox="1">
            <a:spLocks noGrp="1"/>
          </p:cNvSpPr>
          <p:nvPr>
            <p:ph type="body" idx="1"/>
          </p:nvPr>
        </p:nvSpPr>
        <p:spPr>
          <a:xfrm>
            <a:off x="1155700" y="2012200"/>
            <a:ext cx="13932000" cy="60650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Quite often we have a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list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of items of the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lines in a file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- effectively a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finite set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of things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can write a loop to run the loop once for each of the items in a set using the Python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for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construct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These loops are called </a:t>
            </a:r>
            <a:r>
              <a:rPr lang="en-US" sz="3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definite loops</a:t>
            </a:r>
            <a:r>
              <a:rPr lang="en-US" sz="3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because they execute an exact number of times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say that </a:t>
            </a:r>
            <a:r>
              <a:rPr lang="en-US" sz="3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definite loops iterate through the members of a set</a:t>
            </a:r>
            <a:r>
              <a:rPr lang="en-US" sz="3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A Simple Definite Loop</a:t>
            </a:r>
          </a:p>
        </p:txBody>
      </p:sp>
      <p:sp>
        <p:nvSpPr>
          <p:cNvPr id="270" name="Shape 270"/>
          <p:cNvSpPr txBox="1"/>
          <p:nvPr/>
        </p:nvSpPr>
        <p:spPr>
          <a:xfrm>
            <a:off x="1926625" y="3414325"/>
            <a:ext cx="7524599" cy="2540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[5, 4, 3, 2, 1]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'Blastoff!'</a:t>
            </a:r>
          </a:p>
        </p:txBody>
      </p:sp>
      <p:sp>
        <p:nvSpPr>
          <p:cNvPr id="271" name="Shape 271"/>
          <p:cNvSpPr txBox="1"/>
          <p:nvPr/>
        </p:nvSpPr>
        <p:spPr>
          <a:xfrm>
            <a:off x="11091861" y="3003550"/>
            <a:ext cx="2384424" cy="4902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Blastoff!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27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A Definite Loop with Strings</a:t>
            </a:r>
          </a:p>
        </p:txBody>
      </p:sp>
      <p:sp>
        <p:nvSpPr>
          <p:cNvPr id="277" name="Shape 277"/>
          <p:cNvSpPr txBox="1"/>
          <p:nvPr/>
        </p:nvSpPr>
        <p:spPr>
          <a:xfrm>
            <a:off x="698125" y="4144325"/>
            <a:ext cx="92139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friends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['Joseph', 'Glenn', 'Sally']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friends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'Happy New Year:'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'Done!'</a:t>
            </a:r>
          </a:p>
        </p:txBody>
      </p:sp>
      <p:sp>
        <p:nvSpPr>
          <p:cNvPr id="278" name="Shape 278"/>
          <p:cNvSpPr txBox="1"/>
          <p:nvPr/>
        </p:nvSpPr>
        <p:spPr>
          <a:xfrm>
            <a:off x="10607875" y="3551825"/>
            <a:ext cx="5447100" cy="3096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Happy New Year: Joseph</a:t>
            </a:r>
            <a:b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</a:b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Happy New Year: Glenn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Happy New Year: Sally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Font typeface="Cabin"/>
              <a:buNone/>
            </a:pPr>
            <a:endParaRPr sz="3600">
              <a:solidFill>
                <a:srgbClr val="FF00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Done!</a:t>
            </a:r>
          </a:p>
        </p:txBody>
      </p:sp>
      <p:cxnSp>
        <p:nvCxnSpPr>
          <p:cNvPr id="279" name="Shape 279"/>
          <p:cNvCxnSpPr/>
          <p:nvPr/>
        </p:nvCxnSpPr>
        <p:spPr>
          <a:xfrm flipH="1">
            <a:off x="8809849" y="4534150"/>
            <a:ext cx="1609200" cy="1018500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80" name="Shape 280"/>
          <p:cNvCxnSpPr/>
          <p:nvPr/>
        </p:nvCxnSpPr>
        <p:spPr>
          <a:xfrm rot="10800000">
            <a:off x="3870499" y="5989100"/>
            <a:ext cx="6599100" cy="226799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81" name="Shape 281"/>
          <p:cNvCxnSpPr/>
          <p:nvPr/>
        </p:nvCxnSpPr>
        <p:spPr>
          <a:xfrm flipH="1">
            <a:off x="8830249" y="4024100"/>
            <a:ext cx="1588800" cy="1406400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82" name="Shape 282"/>
          <p:cNvCxnSpPr/>
          <p:nvPr/>
        </p:nvCxnSpPr>
        <p:spPr>
          <a:xfrm flipH="1">
            <a:off x="8809749" y="4997400"/>
            <a:ext cx="1690800" cy="636900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 txBox="1">
            <a:spLocks noGrp="1"/>
          </p:cNvSpPr>
          <p:nvPr>
            <p:ph type="title"/>
          </p:nvPr>
        </p:nvSpPr>
        <p:spPr>
          <a:xfrm>
            <a:off x="3029725" y="0"/>
            <a:ext cx="9575700" cy="20067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A Simple Definite Loop</a:t>
            </a:r>
          </a:p>
        </p:txBody>
      </p:sp>
      <p:sp>
        <p:nvSpPr>
          <p:cNvPr id="288" name="Shape 288"/>
          <p:cNvSpPr txBox="1"/>
          <p:nvPr/>
        </p:nvSpPr>
        <p:spPr>
          <a:xfrm>
            <a:off x="8786700" y="3290525"/>
            <a:ext cx="5106600" cy="1660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[5, 4, 3, 2, 1]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'Blastoff!'</a:t>
            </a:r>
          </a:p>
        </p:txBody>
      </p:sp>
      <p:sp>
        <p:nvSpPr>
          <p:cNvPr id="289" name="Shape 289"/>
          <p:cNvSpPr txBox="1"/>
          <p:nvPr/>
        </p:nvSpPr>
        <p:spPr>
          <a:xfrm>
            <a:off x="14170825" y="2825675"/>
            <a:ext cx="1659900" cy="322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Blastoff!</a:t>
            </a:r>
          </a:p>
        </p:txBody>
      </p:sp>
      <p:cxnSp>
        <p:nvCxnSpPr>
          <p:cNvPr id="290" name="Shape 290"/>
          <p:cNvCxnSpPr/>
          <p:nvPr/>
        </p:nvCxnSpPr>
        <p:spPr>
          <a:xfrm rot="10800000">
            <a:off x="3041537" y="1954249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91" name="Shape 291"/>
          <p:cNvSpPr/>
          <p:nvPr/>
        </p:nvSpPr>
        <p:spPr>
          <a:xfrm>
            <a:off x="1625600" y="2514600"/>
            <a:ext cx="2870100" cy="1269899"/>
          </a:xfrm>
          <a:prstGeom prst="diamond">
            <a:avLst/>
          </a:prstGeom>
          <a:solidFill>
            <a:srgbClr val="FFFF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Done?</a:t>
            </a:r>
          </a:p>
        </p:txBody>
      </p:sp>
      <p:cxnSp>
        <p:nvCxnSpPr>
          <p:cNvPr id="292" name="Shape 292"/>
          <p:cNvCxnSpPr/>
          <p:nvPr/>
        </p:nvCxnSpPr>
        <p:spPr>
          <a:xfrm rot="10800000">
            <a:off x="3060712" y="3784699"/>
            <a:ext cx="11100" cy="14985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293" name="Shape 293"/>
          <p:cNvCxnSpPr/>
          <p:nvPr/>
        </p:nvCxnSpPr>
        <p:spPr>
          <a:xfrm rot="10800000">
            <a:off x="6274237" y="3524225"/>
            <a:ext cx="26999" cy="6509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94" name="Shape 294"/>
          <p:cNvCxnSpPr/>
          <p:nvPr/>
        </p:nvCxnSpPr>
        <p:spPr>
          <a:xfrm flipH="1">
            <a:off x="6296423" y="3946575"/>
            <a:ext cx="4799" cy="13143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95" name="Shape 295"/>
          <p:cNvCxnSpPr/>
          <p:nvPr/>
        </p:nvCxnSpPr>
        <p:spPr>
          <a:xfrm>
            <a:off x="3068637" y="5268912"/>
            <a:ext cx="3225899" cy="276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96" name="Shape 296"/>
          <p:cNvCxnSpPr/>
          <p:nvPr/>
        </p:nvCxnSpPr>
        <p:spPr>
          <a:xfrm flipH="1">
            <a:off x="1269974" y="31591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297" name="Shape 297"/>
          <p:cNvCxnSpPr/>
          <p:nvPr/>
        </p:nvCxnSpPr>
        <p:spPr>
          <a:xfrm rot="10800000" flipH="1">
            <a:off x="3055937" y="6000874"/>
            <a:ext cx="15899" cy="6444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98" name="Shape 298"/>
          <p:cNvCxnSpPr/>
          <p:nvPr/>
        </p:nvCxnSpPr>
        <p:spPr>
          <a:xfrm rot="10800000">
            <a:off x="1300036" y="3213012"/>
            <a:ext cx="3299" cy="27797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99" name="Shape 299"/>
          <p:cNvCxnSpPr/>
          <p:nvPr/>
        </p:nvCxnSpPr>
        <p:spPr>
          <a:xfrm>
            <a:off x="1300161" y="6018212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00" name="Shape 300"/>
          <p:cNvSpPr txBox="1"/>
          <p:nvPr/>
        </p:nvSpPr>
        <p:spPr>
          <a:xfrm>
            <a:off x="744537" y="2400300"/>
            <a:ext cx="7253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1422400" y="6578600"/>
            <a:ext cx="3289200" cy="74939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'Blast off!'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4991100" y="4064000"/>
            <a:ext cx="2921099" cy="74939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</a:t>
            </a: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</a:p>
        </p:txBody>
      </p:sp>
      <p:sp>
        <p:nvSpPr>
          <p:cNvPr id="303" name="Shape 303"/>
          <p:cNvSpPr txBox="1"/>
          <p:nvPr/>
        </p:nvSpPr>
        <p:spPr>
          <a:xfrm>
            <a:off x="4165600" y="2336800"/>
            <a:ext cx="723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  <p:sp>
        <p:nvSpPr>
          <p:cNvPr id="304" name="Shape 304"/>
          <p:cNvSpPr txBox="1"/>
          <p:nvPr/>
        </p:nvSpPr>
        <p:spPr>
          <a:xfrm>
            <a:off x="4950100" y="2781300"/>
            <a:ext cx="3114600" cy="74939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Move i ahead</a:t>
            </a:r>
          </a:p>
        </p:txBody>
      </p:sp>
      <p:sp>
        <p:nvSpPr>
          <p:cNvPr id="305" name="Shape 305"/>
          <p:cNvSpPr txBox="1"/>
          <p:nvPr/>
        </p:nvSpPr>
        <p:spPr>
          <a:xfrm>
            <a:off x="5508625" y="7048500"/>
            <a:ext cx="10134600" cy="1663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Definite loops (for loops) have explicit </a:t>
            </a: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iteration variables</a:t>
            </a:r>
            <a:r>
              <a:rPr lang="en-US" sz="32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that change each time through a loop.  These </a:t>
            </a: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iteration variables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move through the sequence or set. </a:t>
            </a:r>
          </a:p>
        </p:txBody>
      </p:sp>
      <p:cxnSp>
        <p:nvCxnSpPr>
          <p:cNvPr id="306" name="Shape 306"/>
          <p:cNvCxnSpPr/>
          <p:nvPr/>
        </p:nvCxnSpPr>
        <p:spPr>
          <a:xfrm>
            <a:off x="4559325" y="31591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stealth" w="med" len="med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 txBox="1">
            <a:spLocks noGrp="1"/>
          </p:cNvSpPr>
          <p:nvPr>
            <p:ph type="title"/>
          </p:nvPr>
        </p:nvSpPr>
        <p:spPr>
          <a:xfrm>
            <a:off x="1162050" y="152400"/>
            <a:ext cx="13932000" cy="22001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Looking at </a:t>
            </a: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In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...</a:t>
            </a:r>
          </a:p>
        </p:txBody>
      </p:sp>
      <p:sp>
        <p:nvSpPr>
          <p:cNvPr id="312" name="Shape 312"/>
          <p:cNvSpPr txBox="1">
            <a:spLocks noGrp="1"/>
          </p:cNvSpPr>
          <p:nvPr>
            <p:ph type="body" idx="1"/>
          </p:nvPr>
        </p:nvSpPr>
        <p:spPr>
          <a:xfrm>
            <a:off x="955275" y="2540000"/>
            <a:ext cx="5981699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iteration variable 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iterates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ough the </a:t>
            </a:r>
            <a:r>
              <a:rPr lang="en-US" sz="34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sequence 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(ordered set)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block (body)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of code is executed once for each value </a:t>
            </a:r>
            <a:r>
              <a:rPr lang="en-US" sz="34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in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the </a:t>
            </a:r>
            <a:r>
              <a:rPr lang="en-US" sz="34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sequence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iteration variable 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moves through all of the values </a:t>
            </a:r>
            <a:r>
              <a:rPr lang="en-US" sz="34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in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the </a:t>
            </a:r>
            <a:r>
              <a:rPr lang="en-US" sz="34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sequence</a:t>
            </a:r>
          </a:p>
        </p:txBody>
      </p:sp>
      <p:sp>
        <p:nvSpPr>
          <p:cNvPr id="313" name="Shape 313"/>
          <p:cNvSpPr txBox="1"/>
          <p:nvPr/>
        </p:nvSpPr>
        <p:spPr>
          <a:xfrm>
            <a:off x="8140700" y="5265725"/>
            <a:ext cx="6364200" cy="133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[5, 4, 3, 2, 1]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print i</a:t>
            </a:r>
          </a:p>
        </p:txBody>
      </p:sp>
      <p:sp>
        <p:nvSpPr>
          <p:cNvPr id="314" name="Shape 314"/>
          <p:cNvSpPr txBox="1"/>
          <p:nvPr/>
        </p:nvSpPr>
        <p:spPr>
          <a:xfrm>
            <a:off x="7366000" y="3911600"/>
            <a:ext cx="32558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Iteration variable</a:t>
            </a:r>
          </a:p>
        </p:txBody>
      </p:sp>
      <p:sp>
        <p:nvSpPr>
          <p:cNvPr id="315" name="Shape 315"/>
          <p:cNvSpPr txBox="1"/>
          <p:nvPr/>
        </p:nvSpPr>
        <p:spPr>
          <a:xfrm>
            <a:off x="11071225" y="3517900"/>
            <a:ext cx="46863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Five-element sequence</a:t>
            </a:r>
          </a:p>
        </p:txBody>
      </p:sp>
      <p:cxnSp>
        <p:nvCxnSpPr>
          <p:cNvPr id="316" name="Shape 316"/>
          <p:cNvCxnSpPr/>
          <p:nvPr/>
        </p:nvCxnSpPr>
        <p:spPr>
          <a:xfrm rot="10800000">
            <a:off x="9064625" y="4516436"/>
            <a:ext cx="34924" cy="67786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17" name="Shape 317"/>
          <p:cNvCxnSpPr/>
          <p:nvPr/>
        </p:nvCxnSpPr>
        <p:spPr>
          <a:xfrm rot="10800000" flipH="1">
            <a:off x="11964986" y="4187537"/>
            <a:ext cx="794999" cy="1078200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2" name="Shape 322"/>
          <p:cNvCxnSpPr/>
          <p:nvPr/>
        </p:nvCxnSpPr>
        <p:spPr>
          <a:xfrm rot="10800000">
            <a:off x="3143137" y="1192249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23" name="Shape 323"/>
          <p:cNvSpPr/>
          <p:nvPr/>
        </p:nvSpPr>
        <p:spPr>
          <a:xfrm>
            <a:off x="1727200" y="1752600"/>
            <a:ext cx="2870100" cy="1269899"/>
          </a:xfrm>
          <a:prstGeom prst="diamond">
            <a:avLst/>
          </a:prstGeom>
          <a:solidFill>
            <a:srgbClr val="FFFF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Done?</a:t>
            </a:r>
          </a:p>
        </p:txBody>
      </p:sp>
      <p:cxnSp>
        <p:nvCxnSpPr>
          <p:cNvPr id="324" name="Shape 324"/>
          <p:cNvCxnSpPr/>
          <p:nvPr/>
        </p:nvCxnSpPr>
        <p:spPr>
          <a:xfrm rot="10800000">
            <a:off x="3162312" y="3022699"/>
            <a:ext cx="11100" cy="14985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325" name="Shape 325"/>
          <p:cNvCxnSpPr/>
          <p:nvPr/>
        </p:nvCxnSpPr>
        <p:spPr>
          <a:xfrm rot="10800000" flipH="1">
            <a:off x="6472237" y="2711574"/>
            <a:ext cx="15899" cy="6444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26" name="Shape 326"/>
          <p:cNvCxnSpPr/>
          <p:nvPr/>
        </p:nvCxnSpPr>
        <p:spPr>
          <a:xfrm flipH="1">
            <a:off x="6469023" y="3209925"/>
            <a:ext cx="4799" cy="13143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27" name="Shape 327"/>
          <p:cNvCxnSpPr/>
          <p:nvPr/>
        </p:nvCxnSpPr>
        <p:spPr>
          <a:xfrm rot="10800000" flipH="1">
            <a:off x="3170237" y="4502112"/>
            <a:ext cx="3328200" cy="47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28" name="Shape 328"/>
          <p:cNvCxnSpPr/>
          <p:nvPr/>
        </p:nvCxnSpPr>
        <p:spPr>
          <a:xfrm flipH="1">
            <a:off x="1371574" y="23971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329" name="Shape 329"/>
          <p:cNvCxnSpPr/>
          <p:nvPr/>
        </p:nvCxnSpPr>
        <p:spPr>
          <a:xfrm rot="10800000" flipH="1">
            <a:off x="3157537" y="5238874"/>
            <a:ext cx="15899" cy="6444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30" name="Shape 330"/>
          <p:cNvCxnSpPr/>
          <p:nvPr/>
        </p:nvCxnSpPr>
        <p:spPr>
          <a:xfrm rot="10800000">
            <a:off x="1401636" y="2451012"/>
            <a:ext cx="3299" cy="27797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31" name="Shape 331"/>
          <p:cNvCxnSpPr/>
          <p:nvPr/>
        </p:nvCxnSpPr>
        <p:spPr>
          <a:xfrm>
            <a:off x="1401761" y="5256212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32" name="Shape 332"/>
          <p:cNvSpPr txBox="1"/>
          <p:nvPr/>
        </p:nvSpPr>
        <p:spPr>
          <a:xfrm>
            <a:off x="846137" y="1638300"/>
            <a:ext cx="7253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sp>
        <p:nvSpPr>
          <p:cNvPr id="333" name="Shape 333"/>
          <p:cNvSpPr txBox="1"/>
          <p:nvPr/>
        </p:nvSpPr>
        <p:spPr>
          <a:xfrm>
            <a:off x="5016500" y="3302000"/>
            <a:ext cx="2921099" cy="74939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</a:t>
            </a: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</a:p>
        </p:txBody>
      </p:sp>
      <p:sp>
        <p:nvSpPr>
          <p:cNvPr id="334" name="Shape 334"/>
          <p:cNvSpPr txBox="1"/>
          <p:nvPr/>
        </p:nvSpPr>
        <p:spPr>
          <a:xfrm>
            <a:off x="4206150" y="1397100"/>
            <a:ext cx="723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  <p:sp>
        <p:nvSpPr>
          <p:cNvPr id="335" name="Shape 335"/>
          <p:cNvSpPr txBox="1"/>
          <p:nvPr/>
        </p:nvSpPr>
        <p:spPr>
          <a:xfrm>
            <a:off x="5016500" y="2019300"/>
            <a:ext cx="2997300" cy="74939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Move i ahead</a:t>
            </a:r>
          </a:p>
        </p:txBody>
      </p:sp>
      <p:sp>
        <p:nvSpPr>
          <p:cNvPr id="336" name="Shape 336"/>
          <p:cNvSpPr txBox="1"/>
          <p:nvPr/>
        </p:nvSpPr>
        <p:spPr>
          <a:xfrm>
            <a:off x="8356600" y="1714500"/>
            <a:ext cx="7162799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95300" marR="0" lvl="0" indent="-3329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iteration variable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iterates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through the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sequence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(ordered set)</a:t>
            </a:r>
          </a:p>
          <a:p>
            <a:pPr marL="495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block (body)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of code is executed once for each value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the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sequence</a:t>
            </a:r>
          </a:p>
          <a:p>
            <a:pPr marL="495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iteration variable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moves through all of the values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the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sequence</a:t>
            </a:r>
          </a:p>
        </p:txBody>
      </p:sp>
      <p:sp>
        <p:nvSpPr>
          <p:cNvPr id="337" name="Shape 337"/>
          <p:cNvSpPr txBox="1"/>
          <p:nvPr/>
        </p:nvSpPr>
        <p:spPr>
          <a:xfrm>
            <a:off x="1400175" y="6704000"/>
            <a:ext cx="6537300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[5, 4, 3, 2, 1] </a:t>
            </a:r>
            <a:r>
              <a:rPr lang="en-US" sz="30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</a:p>
        </p:txBody>
      </p:sp>
      <p:cxnSp>
        <p:nvCxnSpPr>
          <p:cNvPr id="338" name="Shape 338"/>
          <p:cNvCxnSpPr/>
          <p:nvPr/>
        </p:nvCxnSpPr>
        <p:spPr>
          <a:xfrm>
            <a:off x="4635525" y="23971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triangle" w="med" len="med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3" name="Shape 343"/>
          <p:cNvCxnSpPr/>
          <p:nvPr/>
        </p:nvCxnSpPr>
        <p:spPr>
          <a:xfrm rot="10800000">
            <a:off x="3447937" y="1192249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44" name="Shape 344"/>
          <p:cNvSpPr/>
          <p:nvPr/>
        </p:nvSpPr>
        <p:spPr>
          <a:xfrm>
            <a:off x="2032000" y="1752600"/>
            <a:ext cx="2870100" cy="1269899"/>
          </a:xfrm>
          <a:prstGeom prst="diamond">
            <a:avLst/>
          </a:prstGeom>
          <a:solidFill>
            <a:srgbClr val="FFFF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Done?</a:t>
            </a:r>
          </a:p>
        </p:txBody>
      </p:sp>
      <p:cxnSp>
        <p:nvCxnSpPr>
          <p:cNvPr id="345" name="Shape 345"/>
          <p:cNvCxnSpPr/>
          <p:nvPr/>
        </p:nvCxnSpPr>
        <p:spPr>
          <a:xfrm rot="10800000">
            <a:off x="3467112" y="3022699"/>
            <a:ext cx="11100" cy="14985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346" name="Shape 346"/>
          <p:cNvCxnSpPr/>
          <p:nvPr/>
        </p:nvCxnSpPr>
        <p:spPr>
          <a:xfrm rot="10800000" flipH="1">
            <a:off x="6853237" y="2711574"/>
            <a:ext cx="15899" cy="6444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47" name="Shape 347"/>
          <p:cNvCxnSpPr/>
          <p:nvPr/>
        </p:nvCxnSpPr>
        <p:spPr>
          <a:xfrm flipH="1">
            <a:off x="6850023" y="3209925"/>
            <a:ext cx="4799" cy="13143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48" name="Shape 348"/>
          <p:cNvCxnSpPr/>
          <p:nvPr/>
        </p:nvCxnSpPr>
        <p:spPr>
          <a:xfrm>
            <a:off x="3475037" y="4513212"/>
            <a:ext cx="3395100" cy="294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49" name="Shape 349"/>
          <p:cNvCxnSpPr/>
          <p:nvPr/>
        </p:nvCxnSpPr>
        <p:spPr>
          <a:xfrm flipH="1">
            <a:off x="1676374" y="23971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350" name="Shape 350"/>
          <p:cNvCxnSpPr/>
          <p:nvPr/>
        </p:nvCxnSpPr>
        <p:spPr>
          <a:xfrm rot="10800000" flipH="1">
            <a:off x="3462337" y="5238874"/>
            <a:ext cx="15899" cy="6444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1" name="Shape 351"/>
          <p:cNvCxnSpPr/>
          <p:nvPr/>
        </p:nvCxnSpPr>
        <p:spPr>
          <a:xfrm rot="10800000">
            <a:off x="1706436" y="2451012"/>
            <a:ext cx="3299" cy="27797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2" name="Shape 352"/>
          <p:cNvCxnSpPr/>
          <p:nvPr/>
        </p:nvCxnSpPr>
        <p:spPr>
          <a:xfrm>
            <a:off x="1706561" y="5256212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53" name="Shape 353"/>
          <p:cNvSpPr txBox="1"/>
          <p:nvPr/>
        </p:nvSpPr>
        <p:spPr>
          <a:xfrm>
            <a:off x="1150937" y="1638300"/>
            <a:ext cx="7253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sp>
        <p:nvSpPr>
          <p:cNvPr id="354" name="Shape 354"/>
          <p:cNvSpPr txBox="1"/>
          <p:nvPr/>
        </p:nvSpPr>
        <p:spPr>
          <a:xfrm>
            <a:off x="5397500" y="3302000"/>
            <a:ext cx="2921099" cy="74939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</a:t>
            </a: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</a:p>
        </p:txBody>
      </p:sp>
      <p:sp>
        <p:nvSpPr>
          <p:cNvPr id="355" name="Shape 355"/>
          <p:cNvSpPr txBox="1"/>
          <p:nvPr/>
        </p:nvSpPr>
        <p:spPr>
          <a:xfrm>
            <a:off x="4407600" y="1471700"/>
            <a:ext cx="723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  <p:sp>
        <p:nvSpPr>
          <p:cNvPr id="356" name="Shape 356"/>
          <p:cNvSpPr txBox="1"/>
          <p:nvPr/>
        </p:nvSpPr>
        <p:spPr>
          <a:xfrm>
            <a:off x="5397500" y="2019300"/>
            <a:ext cx="2997300" cy="74939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Move i ahead</a:t>
            </a:r>
          </a:p>
        </p:txBody>
      </p:sp>
      <p:cxnSp>
        <p:nvCxnSpPr>
          <p:cNvPr id="357" name="Shape 357"/>
          <p:cNvCxnSpPr/>
          <p:nvPr/>
        </p:nvCxnSpPr>
        <p:spPr>
          <a:xfrm rot="10800000" flipH="1">
            <a:off x="13185775" y="915987"/>
            <a:ext cx="12699" cy="307974"/>
          </a:xfrm>
          <a:prstGeom prst="straightConnector1">
            <a:avLst/>
          </a:prstGeom>
          <a:noFill/>
          <a:ln w="508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58" name="Shape 358"/>
          <p:cNvSpPr txBox="1"/>
          <p:nvPr/>
        </p:nvSpPr>
        <p:spPr>
          <a:xfrm>
            <a:off x="11703050" y="1231900"/>
            <a:ext cx="2984500" cy="536575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</a:t>
            </a: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</a:p>
        </p:txBody>
      </p:sp>
      <p:sp>
        <p:nvSpPr>
          <p:cNvPr id="359" name="Shape 359"/>
          <p:cNvSpPr txBox="1"/>
          <p:nvPr/>
        </p:nvSpPr>
        <p:spPr>
          <a:xfrm>
            <a:off x="11703050" y="381000"/>
            <a:ext cx="2984500" cy="52387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i = 5</a:t>
            </a:r>
          </a:p>
        </p:txBody>
      </p:sp>
      <p:cxnSp>
        <p:nvCxnSpPr>
          <p:cNvPr id="360" name="Shape 360"/>
          <p:cNvCxnSpPr/>
          <p:nvPr/>
        </p:nvCxnSpPr>
        <p:spPr>
          <a:xfrm rot="10800000" flipH="1">
            <a:off x="13181012" y="1825625"/>
            <a:ext cx="12699" cy="307974"/>
          </a:xfrm>
          <a:prstGeom prst="straightConnector1">
            <a:avLst/>
          </a:prstGeom>
          <a:noFill/>
          <a:ln w="508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61" name="Shape 361"/>
          <p:cNvCxnSpPr/>
          <p:nvPr/>
        </p:nvCxnSpPr>
        <p:spPr>
          <a:xfrm rot="10800000" flipH="1">
            <a:off x="13181012" y="2630486"/>
            <a:ext cx="12699" cy="307974"/>
          </a:xfrm>
          <a:prstGeom prst="straightConnector1">
            <a:avLst/>
          </a:prstGeom>
          <a:noFill/>
          <a:ln w="508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62" name="Shape 362"/>
          <p:cNvSpPr txBox="1"/>
          <p:nvPr/>
        </p:nvSpPr>
        <p:spPr>
          <a:xfrm>
            <a:off x="11703050" y="2946400"/>
            <a:ext cx="2984500" cy="536575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</a:t>
            </a: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</a:p>
        </p:txBody>
      </p:sp>
      <p:sp>
        <p:nvSpPr>
          <p:cNvPr id="363" name="Shape 363"/>
          <p:cNvSpPr txBox="1"/>
          <p:nvPr/>
        </p:nvSpPr>
        <p:spPr>
          <a:xfrm>
            <a:off x="11703050" y="2093911"/>
            <a:ext cx="2984500" cy="52546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i = 4</a:t>
            </a:r>
          </a:p>
        </p:txBody>
      </p:sp>
      <p:cxnSp>
        <p:nvCxnSpPr>
          <p:cNvPr id="364" name="Shape 364"/>
          <p:cNvCxnSpPr/>
          <p:nvPr/>
        </p:nvCxnSpPr>
        <p:spPr>
          <a:xfrm rot="10800000" flipH="1">
            <a:off x="13181012" y="3459162"/>
            <a:ext cx="12699" cy="307974"/>
          </a:xfrm>
          <a:prstGeom prst="straightConnector1">
            <a:avLst/>
          </a:prstGeom>
          <a:noFill/>
          <a:ln w="508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65" name="Shape 365"/>
          <p:cNvCxnSpPr/>
          <p:nvPr/>
        </p:nvCxnSpPr>
        <p:spPr>
          <a:xfrm rot="10800000" flipH="1">
            <a:off x="13181012" y="4310062"/>
            <a:ext cx="12699" cy="307974"/>
          </a:xfrm>
          <a:prstGeom prst="straightConnector1">
            <a:avLst/>
          </a:prstGeom>
          <a:noFill/>
          <a:ln w="508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66" name="Shape 366"/>
          <p:cNvSpPr txBox="1"/>
          <p:nvPr/>
        </p:nvSpPr>
        <p:spPr>
          <a:xfrm>
            <a:off x="11703050" y="4625975"/>
            <a:ext cx="2984500" cy="536575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</a:t>
            </a: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</a:p>
        </p:txBody>
      </p:sp>
      <p:sp>
        <p:nvSpPr>
          <p:cNvPr id="367" name="Shape 367"/>
          <p:cNvSpPr txBox="1"/>
          <p:nvPr/>
        </p:nvSpPr>
        <p:spPr>
          <a:xfrm>
            <a:off x="11703050" y="3773487"/>
            <a:ext cx="2984500" cy="52546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i = 3</a:t>
            </a:r>
          </a:p>
        </p:txBody>
      </p:sp>
      <p:cxnSp>
        <p:nvCxnSpPr>
          <p:cNvPr id="368" name="Shape 368"/>
          <p:cNvCxnSpPr/>
          <p:nvPr/>
        </p:nvCxnSpPr>
        <p:spPr>
          <a:xfrm rot="10800000" flipH="1">
            <a:off x="13181012" y="5208587"/>
            <a:ext cx="12699" cy="307974"/>
          </a:xfrm>
          <a:prstGeom prst="straightConnector1">
            <a:avLst/>
          </a:prstGeom>
          <a:noFill/>
          <a:ln w="508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69" name="Shape 369"/>
          <p:cNvCxnSpPr/>
          <p:nvPr/>
        </p:nvCxnSpPr>
        <p:spPr>
          <a:xfrm rot="10800000" flipH="1">
            <a:off x="13181012" y="6107111"/>
            <a:ext cx="12699" cy="306386"/>
          </a:xfrm>
          <a:prstGeom prst="straightConnector1">
            <a:avLst/>
          </a:prstGeom>
          <a:noFill/>
          <a:ln w="508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70" name="Shape 370"/>
          <p:cNvSpPr txBox="1"/>
          <p:nvPr/>
        </p:nvSpPr>
        <p:spPr>
          <a:xfrm>
            <a:off x="11703050" y="6421437"/>
            <a:ext cx="2984500" cy="536575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</a:t>
            </a: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</a:p>
        </p:txBody>
      </p:sp>
      <p:sp>
        <p:nvSpPr>
          <p:cNvPr id="371" name="Shape 371"/>
          <p:cNvSpPr txBox="1"/>
          <p:nvPr/>
        </p:nvSpPr>
        <p:spPr>
          <a:xfrm>
            <a:off x="11703050" y="5570537"/>
            <a:ext cx="2984500" cy="52387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i = 2</a:t>
            </a:r>
          </a:p>
        </p:txBody>
      </p:sp>
      <p:cxnSp>
        <p:nvCxnSpPr>
          <p:cNvPr id="372" name="Shape 372"/>
          <p:cNvCxnSpPr/>
          <p:nvPr/>
        </p:nvCxnSpPr>
        <p:spPr>
          <a:xfrm rot="10800000" flipH="1">
            <a:off x="13181012" y="6934200"/>
            <a:ext cx="12699" cy="307974"/>
          </a:xfrm>
          <a:prstGeom prst="straightConnector1">
            <a:avLst/>
          </a:prstGeom>
          <a:noFill/>
          <a:ln w="508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73" name="Shape 373"/>
          <p:cNvCxnSpPr/>
          <p:nvPr/>
        </p:nvCxnSpPr>
        <p:spPr>
          <a:xfrm rot="10800000" flipH="1">
            <a:off x="13181012" y="7808911"/>
            <a:ext cx="12699" cy="307974"/>
          </a:xfrm>
          <a:prstGeom prst="straightConnector1">
            <a:avLst/>
          </a:prstGeom>
          <a:noFill/>
          <a:ln w="508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74" name="Shape 374"/>
          <p:cNvSpPr txBox="1"/>
          <p:nvPr/>
        </p:nvSpPr>
        <p:spPr>
          <a:xfrm>
            <a:off x="11703050" y="8124825"/>
            <a:ext cx="2984500" cy="53498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</a:t>
            </a: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</a:p>
        </p:txBody>
      </p:sp>
      <p:sp>
        <p:nvSpPr>
          <p:cNvPr id="375" name="Shape 375"/>
          <p:cNvSpPr txBox="1"/>
          <p:nvPr/>
        </p:nvSpPr>
        <p:spPr>
          <a:xfrm>
            <a:off x="11703050" y="7272336"/>
            <a:ext cx="2984500" cy="52546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i = 1</a:t>
            </a:r>
          </a:p>
        </p:txBody>
      </p:sp>
      <p:sp>
        <p:nvSpPr>
          <p:cNvPr id="376" name="Shape 376"/>
          <p:cNvSpPr txBox="1"/>
          <p:nvPr/>
        </p:nvSpPr>
        <p:spPr>
          <a:xfrm>
            <a:off x="4481375" y="6254750"/>
            <a:ext cx="62682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[5, 4, 3, 2, 1]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</a:p>
        </p:txBody>
      </p:sp>
      <p:cxnSp>
        <p:nvCxnSpPr>
          <p:cNvPr id="377" name="Shape 377"/>
          <p:cNvCxnSpPr>
            <a:endCxn id="356" idx="1"/>
          </p:cNvCxnSpPr>
          <p:nvPr/>
        </p:nvCxnSpPr>
        <p:spPr>
          <a:xfrm rot="10800000" flipH="1">
            <a:off x="4919600" y="2393999"/>
            <a:ext cx="477900" cy="30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stealth" w="med" len="med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Shape 382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Definite Loops</a:t>
            </a:r>
          </a:p>
        </p:txBody>
      </p:sp>
      <p:sp>
        <p:nvSpPr>
          <p:cNvPr id="383" name="Shape 383"/>
          <p:cNvSpPr txBox="1">
            <a:spLocks noGrp="1"/>
          </p:cNvSpPr>
          <p:nvPr>
            <p:ph type="body" idx="1"/>
          </p:nvPr>
        </p:nvSpPr>
        <p:spPr>
          <a:xfrm>
            <a:off x="1155700" y="2012200"/>
            <a:ext cx="13932000" cy="60650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Quite often we have a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list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of items of the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lines in a file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- effectively a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finite set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of things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can write a loop to run the loop once for each of the items in a set using the Python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for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construct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These loops are called </a:t>
            </a:r>
            <a:r>
              <a:rPr lang="en-US" sz="3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definite loops</a:t>
            </a:r>
            <a:r>
              <a:rPr lang="en-US" sz="3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because they execute an exact number of times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say that </a:t>
            </a:r>
            <a:r>
              <a:rPr lang="en-US" sz="3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definite loops iterate through the members of a set</a:t>
            </a:r>
            <a:r>
              <a:rPr lang="en-US" sz="3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hape 426"/>
          <p:cNvSpPr txBox="1">
            <a:spLocks noGrp="1"/>
          </p:cNvSpPr>
          <p:nvPr>
            <p:ph type="title"/>
          </p:nvPr>
        </p:nvSpPr>
        <p:spPr>
          <a:xfrm>
            <a:off x="1162000" y="1486000"/>
            <a:ext cx="13932000" cy="59885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Loop Idioms:</a:t>
            </a:r>
            <a:b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</a:b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What We Do in Loops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/>
            </a:r>
            <a:b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</a:br>
            <a:r>
              <a:rPr lang="en-US" sz="4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Note: </a:t>
            </a:r>
            <a:r>
              <a:rPr lang="en-US" sz="48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4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Even though these examples are simple, the patterns apply to all kinds of loops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Shape 43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Making </a:t>
            </a:r>
            <a:r>
              <a:rPr lang="en-US" sz="7600" b="0" i="0" u="none" strike="noStrike" cap="none" baseline="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smart</a:t>
            </a:r>
            <a:r>
              <a:rPr lang="en-US" sz="7600" b="0" i="0" u="none" strike="noStrike" cap="none" baseline="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loops</a:t>
            </a:r>
          </a:p>
        </p:txBody>
      </p:sp>
      <p:sp>
        <p:nvSpPr>
          <p:cNvPr id="432" name="Shape 432"/>
          <p:cNvSpPr txBox="1">
            <a:spLocks noGrp="1"/>
          </p:cNvSpPr>
          <p:nvPr>
            <p:ph type="body" idx="1"/>
          </p:nvPr>
        </p:nvSpPr>
        <p:spPr>
          <a:xfrm>
            <a:off x="1155700" y="2761975"/>
            <a:ext cx="6942599" cy="33561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trick is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knowing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something about the whole loop when you are stuck writing code that only sees one entry at a time</a:t>
            </a:r>
          </a:p>
        </p:txBody>
      </p:sp>
      <p:sp>
        <p:nvSpPr>
          <p:cNvPr id="433" name="Shape 433"/>
          <p:cNvSpPr txBox="1"/>
          <p:nvPr/>
        </p:nvSpPr>
        <p:spPr>
          <a:xfrm>
            <a:off x="9245600" y="2628900"/>
            <a:ext cx="5080000" cy="1181100"/>
          </a:xfrm>
          <a:prstGeom prst="rect">
            <a:avLst/>
          </a:prstGeom>
          <a:noFill/>
          <a:ln w="508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Set some variables to initial values</a:t>
            </a:r>
          </a:p>
        </p:txBody>
      </p:sp>
      <p:sp>
        <p:nvSpPr>
          <p:cNvPr id="434" name="Shape 434"/>
          <p:cNvSpPr txBox="1"/>
          <p:nvPr/>
        </p:nvSpPr>
        <p:spPr>
          <a:xfrm>
            <a:off x="9867900" y="4584700"/>
            <a:ext cx="4406900" cy="2286000"/>
          </a:xfrm>
          <a:prstGeom prst="rect">
            <a:avLst/>
          </a:prstGeom>
          <a:noFill/>
          <a:ln w="508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Look for something or do something to each entry separately, updating a variable</a:t>
            </a:r>
          </a:p>
        </p:txBody>
      </p:sp>
      <p:sp>
        <p:nvSpPr>
          <p:cNvPr id="435" name="Shape 435"/>
          <p:cNvSpPr txBox="1"/>
          <p:nvPr/>
        </p:nvSpPr>
        <p:spPr>
          <a:xfrm>
            <a:off x="9159875" y="3911600"/>
            <a:ext cx="3148012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for thing in data:</a:t>
            </a:r>
          </a:p>
        </p:txBody>
      </p:sp>
      <p:sp>
        <p:nvSpPr>
          <p:cNvPr id="436" name="Shape 436"/>
          <p:cNvSpPr txBox="1"/>
          <p:nvPr/>
        </p:nvSpPr>
        <p:spPr>
          <a:xfrm>
            <a:off x="9245600" y="7213600"/>
            <a:ext cx="5080000" cy="1016000"/>
          </a:xfrm>
          <a:prstGeom prst="rect">
            <a:avLst/>
          </a:prstGeom>
          <a:noFill/>
          <a:ln w="508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Look at the variables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hape 44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Looping through a Set</a:t>
            </a:r>
          </a:p>
        </p:txBody>
      </p:sp>
      <p:sp>
        <p:nvSpPr>
          <p:cNvPr id="442" name="Shape 442"/>
          <p:cNvSpPr txBox="1"/>
          <p:nvPr/>
        </p:nvSpPr>
        <p:spPr>
          <a:xfrm>
            <a:off x="1420525" y="3244325"/>
            <a:ext cx="77745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'Before'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thing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thing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'After'</a:t>
            </a:r>
          </a:p>
        </p:txBody>
      </p:sp>
      <p:sp>
        <p:nvSpPr>
          <p:cNvPr id="443" name="Shape 443"/>
          <p:cNvSpPr txBox="1"/>
          <p:nvPr/>
        </p:nvSpPr>
        <p:spPr>
          <a:xfrm>
            <a:off x="10034586" y="2657475"/>
            <a:ext cx="4052886" cy="49847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$ python basicloop.py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Before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After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448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What is the Largest Number?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Shape 453"/>
          <p:cNvSpPr txBox="1"/>
          <p:nvPr/>
        </p:nvSpPr>
        <p:spPr>
          <a:xfrm>
            <a:off x="37719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</a:p>
        </p:txBody>
      </p:sp>
      <p:sp>
        <p:nvSpPr>
          <p:cNvPr id="454" name="Shape 454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What is the Largest Number?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hape 45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What is the Largest Number?</a:t>
            </a:r>
          </a:p>
        </p:txBody>
      </p:sp>
      <p:sp>
        <p:nvSpPr>
          <p:cNvPr id="460" name="Shape 460"/>
          <p:cNvSpPr txBox="1"/>
          <p:nvPr/>
        </p:nvSpPr>
        <p:spPr>
          <a:xfrm>
            <a:off x="534352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41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What is the Largest Number?</a:t>
            </a:r>
          </a:p>
        </p:txBody>
      </p:sp>
      <p:sp>
        <p:nvSpPr>
          <p:cNvPr id="466" name="Shape 466"/>
          <p:cNvSpPr txBox="1"/>
          <p:nvPr/>
        </p:nvSpPr>
        <p:spPr>
          <a:xfrm>
            <a:off x="7145336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12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47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What is the Largest Number?</a:t>
            </a:r>
          </a:p>
        </p:txBody>
      </p:sp>
      <p:sp>
        <p:nvSpPr>
          <p:cNvPr id="472" name="Shape 472"/>
          <p:cNvSpPr txBox="1"/>
          <p:nvPr/>
        </p:nvSpPr>
        <p:spPr>
          <a:xfrm>
            <a:off x="8945561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9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Shape 47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What is the Largest Number?</a:t>
            </a:r>
          </a:p>
        </p:txBody>
      </p:sp>
      <p:sp>
        <p:nvSpPr>
          <p:cNvPr id="478" name="Shape 478"/>
          <p:cNvSpPr txBox="1"/>
          <p:nvPr/>
        </p:nvSpPr>
        <p:spPr>
          <a:xfrm>
            <a:off x="1067117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74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Shape 48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What is the Largest Number?</a:t>
            </a:r>
          </a:p>
        </p:txBody>
      </p:sp>
      <p:sp>
        <p:nvSpPr>
          <p:cNvPr id="484" name="Shape 484"/>
          <p:cNvSpPr txBox="1"/>
          <p:nvPr/>
        </p:nvSpPr>
        <p:spPr>
          <a:xfrm>
            <a:off x="125476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15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Shape 48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What is the Largest Number?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Shape 494"/>
          <p:cNvSpPr txBox="1"/>
          <p:nvPr/>
        </p:nvSpPr>
        <p:spPr>
          <a:xfrm>
            <a:off x="37719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</a:p>
        </p:txBody>
      </p:sp>
      <p:sp>
        <p:nvSpPr>
          <p:cNvPr id="495" name="Shape 49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What is the Largest Number?</a:t>
            </a:r>
          </a:p>
        </p:txBody>
      </p:sp>
      <p:sp>
        <p:nvSpPr>
          <p:cNvPr id="496" name="Shape 496"/>
          <p:cNvSpPr txBox="1"/>
          <p:nvPr/>
        </p:nvSpPr>
        <p:spPr>
          <a:xfrm>
            <a:off x="534352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41</a:t>
            </a:r>
          </a:p>
        </p:txBody>
      </p:sp>
      <p:sp>
        <p:nvSpPr>
          <p:cNvPr id="497" name="Shape 497"/>
          <p:cNvSpPr txBox="1"/>
          <p:nvPr/>
        </p:nvSpPr>
        <p:spPr>
          <a:xfrm>
            <a:off x="7145336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12</a:t>
            </a:r>
          </a:p>
        </p:txBody>
      </p:sp>
      <p:sp>
        <p:nvSpPr>
          <p:cNvPr id="498" name="Shape 498"/>
          <p:cNvSpPr txBox="1"/>
          <p:nvPr/>
        </p:nvSpPr>
        <p:spPr>
          <a:xfrm>
            <a:off x="8945561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9</a:t>
            </a:r>
          </a:p>
        </p:txBody>
      </p:sp>
      <p:sp>
        <p:nvSpPr>
          <p:cNvPr id="499" name="Shape 499"/>
          <p:cNvSpPr txBox="1"/>
          <p:nvPr/>
        </p:nvSpPr>
        <p:spPr>
          <a:xfrm>
            <a:off x="1067117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74</a:t>
            </a:r>
          </a:p>
        </p:txBody>
      </p:sp>
      <p:sp>
        <p:nvSpPr>
          <p:cNvPr id="500" name="Shape 500"/>
          <p:cNvSpPr txBox="1"/>
          <p:nvPr/>
        </p:nvSpPr>
        <p:spPr>
          <a:xfrm>
            <a:off x="125476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15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Shape 50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What is the Largest Number?</a:t>
            </a:r>
          </a:p>
        </p:txBody>
      </p:sp>
      <p:sp>
        <p:nvSpPr>
          <p:cNvPr id="506" name="Shape 506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Shape 507"/>
          <p:cNvSpPr txBox="1"/>
          <p:nvPr/>
        </p:nvSpPr>
        <p:spPr>
          <a:xfrm>
            <a:off x="2841625" y="6502400"/>
            <a:ext cx="27558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largest_so_far</a:t>
            </a:r>
          </a:p>
        </p:txBody>
      </p:sp>
      <p:sp>
        <p:nvSpPr>
          <p:cNvPr id="508" name="Shape 508"/>
          <p:cNvSpPr txBox="1"/>
          <p:nvPr/>
        </p:nvSpPr>
        <p:spPr>
          <a:xfrm>
            <a:off x="6642100" y="6259512"/>
            <a:ext cx="760500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-1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Shape 513"/>
          <p:cNvSpPr txBox="1"/>
          <p:nvPr/>
        </p:nvSpPr>
        <p:spPr>
          <a:xfrm>
            <a:off x="37719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</a:p>
        </p:txBody>
      </p:sp>
      <p:sp>
        <p:nvSpPr>
          <p:cNvPr id="514" name="Shape 514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What is the Largest Number?</a:t>
            </a:r>
          </a:p>
        </p:txBody>
      </p:sp>
      <p:sp>
        <p:nvSpPr>
          <p:cNvPr id="515" name="Shape 515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Shape 516"/>
          <p:cNvSpPr txBox="1"/>
          <p:nvPr/>
        </p:nvSpPr>
        <p:spPr>
          <a:xfrm>
            <a:off x="2841625" y="6502400"/>
            <a:ext cx="27558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largest_so_far</a:t>
            </a:r>
          </a:p>
        </p:txBody>
      </p:sp>
      <p:sp>
        <p:nvSpPr>
          <p:cNvPr id="517" name="Shape 517"/>
          <p:cNvSpPr txBox="1"/>
          <p:nvPr/>
        </p:nvSpPr>
        <p:spPr>
          <a:xfrm>
            <a:off x="6642100" y="6259512"/>
            <a:ext cx="760500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Shape 522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What is the Largest Number?</a:t>
            </a:r>
          </a:p>
        </p:txBody>
      </p:sp>
      <p:sp>
        <p:nvSpPr>
          <p:cNvPr id="523" name="Shape 523"/>
          <p:cNvSpPr txBox="1"/>
          <p:nvPr/>
        </p:nvSpPr>
        <p:spPr>
          <a:xfrm>
            <a:off x="6451600" y="6159500"/>
            <a:ext cx="5842000" cy="1308100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Shape 524"/>
          <p:cNvSpPr txBox="1"/>
          <p:nvPr/>
        </p:nvSpPr>
        <p:spPr>
          <a:xfrm>
            <a:off x="2841625" y="6502400"/>
            <a:ext cx="27559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largest_so_far</a:t>
            </a:r>
          </a:p>
        </p:txBody>
      </p:sp>
      <p:sp>
        <p:nvSpPr>
          <p:cNvPr id="525" name="Shape 525"/>
          <p:cNvSpPr txBox="1"/>
          <p:nvPr/>
        </p:nvSpPr>
        <p:spPr>
          <a:xfrm>
            <a:off x="6642100" y="6259500"/>
            <a:ext cx="1384200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41</a:t>
            </a:r>
          </a:p>
        </p:txBody>
      </p:sp>
      <p:sp>
        <p:nvSpPr>
          <p:cNvPr id="526" name="Shape 526"/>
          <p:cNvSpPr txBox="1"/>
          <p:nvPr/>
        </p:nvSpPr>
        <p:spPr>
          <a:xfrm>
            <a:off x="5343525" y="3609975"/>
            <a:ext cx="1003300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41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Shape 53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What is the Largest Number?</a:t>
            </a:r>
          </a:p>
        </p:txBody>
      </p:sp>
      <p:sp>
        <p:nvSpPr>
          <p:cNvPr id="532" name="Shape 532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Shape 533"/>
          <p:cNvSpPr txBox="1"/>
          <p:nvPr/>
        </p:nvSpPr>
        <p:spPr>
          <a:xfrm>
            <a:off x="2841625" y="6502400"/>
            <a:ext cx="27558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largest_so_far</a:t>
            </a:r>
          </a:p>
        </p:txBody>
      </p:sp>
      <p:sp>
        <p:nvSpPr>
          <p:cNvPr id="534" name="Shape 534"/>
          <p:cNvSpPr txBox="1"/>
          <p:nvPr/>
        </p:nvSpPr>
        <p:spPr>
          <a:xfrm>
            <a:off x="6642100" y="6259500"/>
            <a:ext cx="2310899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41</a:t>
            </a:r>
          </a:p>
        </p:txBody>
      </p:sp>
      <p:sp>
        <p:nvSpPr>
          <p:cNvPr id="535" name="Shape 535"/>
          <p:cNvSpPr txBox="1"/>
          <p:nvPr/>
        </p:nvSpPr>
        <p:spPr>
          <a:xfrm>
            <a:off x="7145336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12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Shape 540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What is the Largest Number?</a:t>
            </a:r>
          </a:p>
        </p:txBody>
      </p:sp>
      <p:sp>
        <p:nvSpPr>
          <p:cNvPr id="541" name="Shape 541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Shape 542"/>
          <p:cNvSpPr txBox="1"/>
          <p:nvPr/>
        </p:nvSpPr>
        <p:spPr>
          <a:xfrm>
            <a:off x="2841625" y="6502400"/>
            <a:ext cx="27558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largest_so_far</a:t>
            </a:r>
          </a:p>
        </p:txBody>
      </p:sp>
      <p:sp>
        <p:nvSpPr>
          <p:cNvPr id="543" name="Shape 543"/>
          <p:cNvSpPr txBox="1"/>
          <p:nvPr/>
        </p:nvSpPr>
        <p:spPr>
          <a:xfrm>
            <a:off x="6642100" y="6259500"/>
            <a:ext cx="1958699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41</a:t>
            </a:r>
          </a:p>
        </p:txBody>
      </p:sp>
      <p:sp>
        <p:nvSpPr>
          <p:cNvPr id="544" name="Shape 544"/>
          <p:cNvSpPr txBox="1"/>
          <p:nvPr/>
        </p:nvSpPr>
        <p:spPr>
          <a:xfrm>
            <a:off x="8945561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9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Shape 54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What is the Largest Number?</a:t>
            </a:r>
          </a:p>
        </p:txBody>
      </p:sp>
      <p:sp>
        <p:nvSpPr>
          <p:cNvPr id="550" name="Shape 550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Shape 551"/>
          <p:cNvSpPr txBox="1"/>
          <p:nvPr/>
        </p:nvSpPr>
        <p:spPr>
          <a:xfrm>
            <a:off x="2841625" y="6502400"/>
            <a:ext cx="27558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largest_so_far</a:t>
            </a:r>
          </a:p>
        </p:txBody>
      </p:sp>
      <p:sp>
        <p:nvSpPr>
          <p:cNvPr id="552" name="Shape 552"/>
          <p:cNvSpPr txBox="1"/>
          <p:nvPr/>
        </p:nvSpPr>
        <p:spPr>
          <a:xfrm>
            <a:off x="6642100" y="6259500"/>
            <a:ext cx="2181300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74</a:t>
            </a:r>
          </a:p>
        </p:txBody>
      </p:sp>
      <p:sp>
        <p:nvSpPr>
          <p:cNvPr id="553" name="Shape 553"/>
          <p:cNvSpPr txBox="1"/>
          <p:nvPr/>
        </p:nvSpPr>
        <p:spPr>
          <a:xfrm>
            <a:off x="1067117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74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Shape 558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What is the Largest Number?</a:t>
            </a:r>
          </a:p>
        </p:txBody>
      </p:sp>
      <p:sp>
        <p:nvSpPr>
          <p:cNvPr id="559" name="Shape 559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Shape 560"/>
          <p:cNvSpPr txBox="1"/>
          <p:nvPr/>
        </p:nvSpPr>
        <p:spPr>
          <a:xfrm>
            <a:off x="2841625" y="6502400"/>
            <a:ext cx="27558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largest_so_far</a:t>
            </a:r>
          </a:p>
        </p:txBody>
      </p:sp>
      <p:sp>
        <p:nvSpPr>
          <p:cNvPr id="561" name="Shape 561"/>
          <p:cNvSpPr txBox="1"/>
          <p:nvPr/>
        </p:nvSpPr>
        <p:spPr>
          <a:xfrm>
            <a:off x="6642100" y="6259500"/>
            <a:ext cx="2303399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74</a:t>
            </a:r>
          </a:p>
        </p:txBody>
      </p:sp>
      <p:sp>
        <p:nvSpPr>
          <p:cNvPr id="562" name="Shape 562"/>
          <p:cNvSpPr txBox="1"/>
          <p:nvPr/>
        </p:nvSpPr>
        <p:spPr>
          <a:xfrm>
            <a:off x="125476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15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Shape 567"/>
          <p:cNvSpPr txBox="1"/>
          <p:nvPr/>
        </p:nvSpPr>
        <p:spPr>
          <a:xfrm>
            <a:off x="37719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</a:p>
        </p:txBody>
      </p:sp>
      <p:sp>
        <p:nvSpPr>
          <p:cNvPr id="568" name="Shape 568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What is the Largest Number?</a:t>
            </a:r>
          </a:p>
        </p:txBody>
      </p:sp>
      <p:sp>
        <p:nvSpPr>
          <p:cNvPr id="569" name="Shape 569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Shape 570"/>
          <p:cNvSpPr txBox="1"/>
          <p:nvPr/>
        </p:nvSpPr>
        <p:spPr>
          <a:xfrm>
            <a:off x="2841625" y="6502400"/>
            <a:ext cx="27558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largest_so_far</a:t>
            </a:r>
          </a:p>
        </p:txBody>
      </p:sp>
      <p:sp>
        <p:nvSpPr>
          <p:cNvPr id="571" name="Shape 571"/>
          <p:cNvSpPr txBox="1"/>
          <p:nvPr/>
        </p:nvSpPr>
        <p:spPr>
          <a:xfrm>
            <a:off x="6642100" y="6259500"/>
            <a:ext cx="2069999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74</a:t>
            </a:r>
          </a:p>
        </p:txBody>
      </p:sp>
      <p:sp>
        <p:nvSpPr>
          <p:cNvPr id="572" name="Shape 572"/>
          <p:cNvSpPr txBox="1"/>
          <p:nvPr/>
        </p:nvSpPr>
        <p:spPr>
          <a:xfrm>
            <a:off x="534352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41</a:t>
            </a:r>
          </a:p>
        </p:txBody>
      </p:sp>
      <p:sp>
        <p:nvSpPr>
          <p:cNvPr id="573" name="Shape 573"/>
          <p:cNvSpPr txBox="1"/>
          <p:nvPr/>
        </p:nvSpPr>
        <p:spPr>
          <a:xfrm>
            <a:off x="7145336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12</a:t>
            </a:r>
          </a:p>
        </p:txBody>
      </p:sp>
      <p:sp>
        <p:nvSpPr>
          <p:cNvPr id="574" name="Shape 574"/>
          <p:cNvSpPr txBox="1"/>
          <p:nvPr/>
        </p:nvSpPr>
        <p:spPr>
          <a:xfrm>
            <a:off x="8945561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9</a:t>
            </a:r>
          </a:p>
        </p:txBody>
      </p:sp>
      <p:sp>
        <p:nvSpPr>
          <p:cNvPr id="575" name="Shape 575"/>
          <p:cNvSpPr txBox="1"/>
          <p:nvPr/>
        </p:nvSpPr>
        <p:spPr>
          <a:xfrm>
            <a:off x="1067117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74</a:t>
            </a:r>
          </a:p>
        </p:txBody>
      </p:sp>
      <p:sp>
        <p:nvSpPr>
          <p:cNvPr id="576" name="Shape 576"/>
          <p:cNvSpPr txBox="1"/>
          <p:nvPr/>
        </p:nvSpPr>
        <p:spPr>
          <a:xfrm>
            <a:off x="125476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15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Shape 58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Finding the </a:t>
            </a:r>
            <a:r>
              <a:rPr lang="en-US" sz="7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largest </a:t>
            </a:r>
            <a:r>
              <a:rPr lang="en-US" sz="7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value</a:t>
            </a:r>
          </a:p>
        </p:txBody>
      </p:sp>
      <p:sp>
        <p:nvSpPr>
          <p:cNvPr id="582" name="Shape 582"/>
          <p:cNvSpPr txBox="1"/>
          <p:nvPr/>
        </p:nvSpPr>
        <p:spPr>
          <a:xfrm>
            <a:off x="1620375" y="3009225"/>
            <a:ext cx="79958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largest_so_far = 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'Before', </a:t>
            </a: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largest_so_far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th</a:t>
            </a:r>
            <a:r>
              <a:rPr lang="en-US" sz="26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e_num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if the_num &gt; </a:t>
            </a: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largest_so_far</a:t>
            </a:r>
            <a:r>
              <a:rPr lang="en-US" sz="26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largest_so_far = </a:t>
            </a:r>
            <a:r>
              <a:rPr lang="en-US" sz="26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the_num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largest_so_far,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the_num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Font typeface="Cabin"/>
              <a:buNone/>
            </a:pPr>
            <a:endParaRPr sz="2600" b="1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'After', </a:t>
            </a: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largest_so_far</a:t>
            </a:r>
          </a:p>
        </p:txBody>
      </p:sp>
      <p:sp>
        <p:nvSpPr>
          <p:cNvPr id="583" name="Shape 583"/>
          <p:cNvSpPr txBox="1"/>
          <p:nvPr/>
        </p:nvSpPr>
        <p:spPr>
          <a:xfrm>
            <a:off x="10261600" y="2286000"/>
            <a:ext cx="4219499" cy="4986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$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 python </a:t>
            </a:r>
            <a:r>
              <a:rPr lang="en-US" sz="300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largest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.py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Before </a:t>
            </a:r>
            <a:r>
              <a:rPr lang="en-US" sz="300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9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  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41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41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41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  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74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  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74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  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After </a:t>
            </a:r>
            <a:r>
              <a:rPr lang="en-US" sz="300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74</a:t>
            </a:r>
          </a:p>
        </p:txBody>
      </p:sp>
      <p:sp>
        <p:nvSpPr>
          <p:cNvPr id="584" name="Shape 584"/>
          <p:cNvSpPr txBox="1"/>
          <p:nvPr/>
        </p:nvSpPr>
        <p:spPr>
          <a:xfrm>
            <a:off x="906525" y="7194550"/>
            <a:ext cx="14757599" cy="1609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make a </a:t>
            </a:r>
            <a:r>
              <a:rPr lang="en-US" sz="3000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rPr>
              <a:t>variable</a:t>
            </a:r>
            <a:r>
              <a:rPr lang="en-US" sz="30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that contains the </a:t>
            </a:r>
            <a:r>
              <a:rPr lang="en-US" sz="3000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rPr>
              <a:t>largest value we have seen so far</a:t>
            </a:r>
            <a:r>
              <a:rPr lang="en-US" sz="30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. If the current </a:t>
            </a:r>
            <a:r>
              <a:rPr lang="en-US" sz="300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number we are looking at</a:t>
            </a:r>
            <a:r>
              <a:rPr lang="en-US" sz="30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is larger, it is the new </a:t>
            </a:r>
            <a:r>
              <a:rPr lang="en-US" sz="30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largest value we have seen so far</a:t>
            </a:r>
            <a:r>
              <a:rPr lang="en-US" sz="30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.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Shape 58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Counting in a Loop</a:t>
            </a:r>
          </a:p>
        </p:txBody>
      </p:sp>
      <p:sp>
        <p:nvSpPr>
          <p:cNvPr id="590" name="Shape 590"/>
          <p:cNvSpPr txBox="1"/>
          <p:nvPr/>
        </p:nvSpPr>
        <p:spPr>
          <a:xfrm>
            <a:off x="1741475" y="2649525"/>
            <a:ext cx="79958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zork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'Before', zork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thing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zork = zork + 1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zork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, thing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'After', </a:t>
            </a:r>
            <a:r>
              <a:rPr lang="en-US" sz="2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zork</a:t>
            </a:r>
          </a:p>
        </p:txBody>
      </p:sp>
      <p:sp>
        <p:nvSpPr>
          <p:cNvPr id="591" name="Shape 591"/>
          <p:cNvSpPr txBox="1"/>
          <p:nvPr/>
        </p:nvSpPr>
        <p:spPr>
          <a:xfrm>
            <a:off x="10261600" y="2362200"/>
            <a:ext cx="4219499" cy="4674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$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 python countloop.py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Before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1 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4 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5 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6 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After 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6</a:t>
            </a:r>
          </a:p>
        </p:txBody>
      </p:sp>
      <p:sp>
        <p:nvSpPr>
          <p:cNvPr id="592" name="Shape 592"/>
          <p:cNvSpPr txBox="1"/>
          <p:nvPr/>
        </p:nvSpPr>
        <p:spPr>
          <a:xfrm>
            <a:off x="1216025" y="7651750"/>
            <a:ext cx="140714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To </a:t>
            </a: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count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how many times we execute a loop, we introduce a </a:t>
            </a:r>
            <a:r>
              <a:rPr lang="en-US" sz="32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counter variable that starts at 0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we add </a:t>
            </a:r>
            <a:r>
              <a:rPr lang="en-US" sz="32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one to it each time through the loop.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Shape 59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Summing in a Loop</a:t>
            </a:r>
          </a:p>
        </p:txBody>
      </p:sp>
      <p:sp>
        <p:nvSpPr>
          <p:cNvPr id="598" name="Shape 598"/>
          <p:cNvSpPr txBox="1"/>
          <p:nvPr/>
        </p:nvSpPr>
        <p:spPr>
          <a:xfrm>
            <a:off x="1741475" y="2649525"/>
            <a:ext cx="7506900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zork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'Before',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zork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thing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zork = zork +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thing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zork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2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thing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'After',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zork</a:t>
            </a:r>
          </a:p>
        </p:txBody>
      </p:sp>
      <p:sp>
        <p:nvSpPr>
          <p:cNvPr id="599" name="Shape 599"/>
          <p:cNvSpPr txBox="1"/>
          <p:nvPr/>
        </p:nvSpPr>
        <p:spPr>
          <a:xfrm>
            <a:off x="10261600" y="2209800"/>
            <a:ext cx="4219499" cy="4986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$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 python countloop.py</a:t>
            </a: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Before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9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50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62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65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139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154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After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154</a:t>
            </a:r>
          </a:p>
        </p:txBody>
      </p:sp>
      <p:sp>
        <p:nvSpPr>
          <p:cNvPr id="600" name="Shape 600"/>
          <p:cNvSpPr txBox="1"/>
          <p:nvPr/>
        </p:nvSpPr>
        <p:spPr>
          <a:xfrm>
            <a:off x="1050925" y="7651750"/>
            <a:ext cx="146430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To </a:t>
            </a: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add up 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</a:t>
            </a:r>
            <a:r>
              <a:rPr lang="en-US" sz="32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value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we encounter in a loop,  we introduce a </a:t>
            </a: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sum variable that starts at 0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we add the </a:t>
            </a:r>
            <a:r>
              <a:rPr lang="en-US" sz="32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value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to the sum each time through the loop.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Shape 60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Finding the Average in a Loop</a:t>
            </a:r>
          </a:p>
        </p:txBody>
      </p:sp>
      <p:sp>
        <p:nvSpPr>
          <p:cNvPr id="606" name="Shape 606"/>
          <p:cNvSpPr txBox="1"/>
          <p:nvPr/>
        </p:nvSpPr>
        <p:spPr>
          <a:xfrm>
            <a:off x="838550" y="2717875"/>
            <a:ext cx="7984200" cy="4061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count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sum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'Before', </a:t>
            </a:r>
            <a:r>
              <a:rPr lang="en-US" sz="2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value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count = count + 1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sum = sum + value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'After', </a:t>
            </a:r>
            <a:r>
              <a:rPr lang="en-US" sz="2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sum / count</a:t>
            </a:r>
          </a:p>
        </p:txBody>
      </p:sp>
      <p:sp>
        <p:nvSpPr>
          <p:cNvPr id="607" name="Shape 607"/>
          <p:cNvSpPr txBox="1"/>
          <p:nvPr/>
        </p:nvSpPr>
        <p:spPr>
          <a:xfrm>
            <a:off x="10034575" y="2441575"/>
            <a:ext cx="4540199" cy="4746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$ 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python averageloop.py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Before 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9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50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62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4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65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5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139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6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154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After 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6</a:t>
            </a: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154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25</a:t>
            </a:r>
          </a:p>
        </p:txBody>
      </p:sp>
      <p:sp>
        <p:nvSpPr>
          <p:cNvPr id="608" name="Shape 608"/>
          <p:cNvSpPr txBox="1"/>
          <p:nvPr/>
        </p:nvSpPr>
        <p:spPr>
          <a:xfrm>
            <a:off x="2981325" y="7778750"/>
            <a:ext cx="110870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An </a:t>
            </a:r>
            <a:r>
              <a:rPr lang="en-US" sz="32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average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just combines the </a:t>
            </a:r>
            <a:r>
              <a:rPr lang="en-US" sz="32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counting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</a:t>
            </a: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sum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patterns and </a:t>
            </a:r>
            <a:r>
              <a:rPr lang="en-US" sz="32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divides when the loop is done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.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Shape 61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Filtering in a Loop</a:t>
            </a:r>
          </a:p>
        </p:txBody>
      </p:sp>
      <p:sp>
        <p:nvSpPr>
          <p:cNvPr id="614" name="Shape 614"/>
          <p:cNvSpPr txBox="1"/>
          <p:nvPr/>
        </p:nvSpPr>
        <p:spPr>
          <a:xfrm>
            <a:off x="1703375" y="3219450"/>
            <a:ext cx="7687500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'Before</a:t>
            </a:r>
            <a:r>
              <a:rPr lang="en-US" sz="2600" b="1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value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2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 sz="2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 &gt; 20: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 	    print 'Large number',value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'After'</a:t>
            </a:r>
          </a:p>
        </p:txBody>
      </p:sp>
      <p:sp>
        <p:nvSpPr>
          <p:cNvPr id="615" name="Shape 615"/>
          <p:cNvSpPr txBox="1"/>
          <p:nvPr/>
        </p:nvSpPr>
        <p:spPr>
          <a:xfrm>
            <a:off x="10034586" y="3321050"/>
            <a:ext cx="3744899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$ 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python search1.py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Before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Large number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Large number 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After</a:t>
            </a:r>
          </a:p>
        </p:txBody>
      </p:sp>
      <p:sp>
        <p:nvSpPr>
          <p:cNvPr id="616" name="Shape 616"/>
          <p:cNvSpPr txBox="1"/>
          <p:nvPr/>
        </p:nvSpPr>
        <p:spPr>
          <a:xfrm>
            <a:off x="2740025" y="7575550"/>
            <a:ext cx="110870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use an </a:t>
            </a: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if statement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in the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loop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to catch / filter the values we are looking for.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Shape 62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Search Using a </a:t>
            </a: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Boolean</a:t>
            </a: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Variable</a:t>
            </a:r>
          </a:p>
        </p:txBody>
      </p:sp>
      <p:sp>
        <p:nvSpPr>
          <p:cNvPr id="622" name="Shape 622"/>
          <p:cNvSpPr txBox="1"/>
          <p:nvPr/>
        </p:nvSpPr>
        <p:spPr>
          <a:xfrm>
            <a:off x="1703375" y="2970200"/>
            <a:ext cx="7707899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found =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'Before',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found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value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[9, 41, 12, 3, 74, 15]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value == 3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      found =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found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, value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'After',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found</a:t>
            </a:r>
          </a:p>
        </p:txBody>
      </p:sp>
      <p:sp>
        <p:nvSpPr>
          <p:cNvPr id="623" name="Shape 623"/>
          <p:cNvSpPr txBox="1"/>
          <p:nvPr/>
        </p:nvSpPr>
        <p:spPr>
          <a:xfrm>
            <a:off x="10034586" y="2365375"/>
            <a:ext cx="3744899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$ 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python search1.py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Before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False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False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False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False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True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True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True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After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True</a:t>
            </a:r>
          </a:p>
        </p:txBody>
      </p:sp>
      <p:sp>
        <p:nvSpPr>
          <p:cNvPr id="624" name="Shape 624"/>
          <p:cNvSpPr txBox="1"/>
          <p:nvPr/>
        </p:nvSpPr>
        <p:spPr>
          <a:xfrm>
            <a:off x="968100" y="7712825"/>
            <a:ext cx="141195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If we just want to search and</a:t>
            </a:r>
            <a:r>
              <a:rPr lang="en-US" sz="32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know if a value was found</a:t>
            </a:r>
            <a:r>
              <a:rPr lang="en-US" sz="32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use a </a:t>
            </a: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variable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that starts at </a:t>
            </a:r>
            <a:r>
              <a:rPr lang="en-US" sz="32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False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is set to </a:t>
            </a:r>
            <a:r>
              <a:rPr lang="en-US" sz="32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True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as soon as we </a:t>
            </a: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find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what we are looking for.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Shape 62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How to find the </a:t>
            </a:r>
            <a:r>
              <a:rPr lang="en-US" sz="7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smallest </a:t>
            </a:r>
            <a:r>
              <a:rPr lang="en-US" sz="7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value?</a:t>
            </a:r>
          </a:p>
        </p:txBody>
      </p:sp>
      <p:sp>
        <p:nvSpPr>
          <p:cNvPr id="630" name="Shape 630"/>
          <p:cNvSpPr txBox="1"/>
          <p:nvPr/>
        </p:nvSpPr>
        <p:spPr>
          <a:xfrm>
            <a:off x="1620375" y="3009225"/>
            <a:ext cx="79958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largest_so_far = 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'Before', </a:t>
            </a: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largest_so_far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th</a:t>
            </a:r>
            <a:r>
              <a:rPr lang="en-US" sz="26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e_num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if the_num &gt; </a:t>
            </a: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largest_so_far</a:t>
            </a:r>
            <a:r>
              <a:rPr lang="en-US" sz="26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largest_so_far = </a:t>
            </a:r>
            <a:r>
              <a:rPr lang="en-US" sz="26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the_num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largest_so_far,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the_num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Font typeface="Cabin"/>
              <a:buNone/>
            </a:pPr>
            <a:endParaRPr sz="2600" b="1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'After', </a:t>
            </a: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largest_so_far</a:t>
            </a:r>
          </a:p>
        </p:txBody>
      </p:sp>
      <p:sp>
        <p:nvSpPr>
          <p:cNvPr id="631" name="Shape 631"/>
          <p:cNvSpPr txBox="1"/>
          <p:nvPr/>
        </p:nvSpPr>
        <p:spPr>
          <a:xfrm>
            <a:off x="10261600" y="2286000"/>
            <a:ext cx="4219499" cy="4986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$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 python </a:t>
            </a:r>
            <a:r>
              <a:rPr lang="en-US" sz="300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largest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.py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Before </a:t>
            </a:r>
            <a:r>
              <a:rPr lang="en-US" sz="300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9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  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41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41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41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  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74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  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74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  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After </a:t>
            </a:r>
            <a:r>
              <a:rPr lang="en-US" sz="300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74</a:t>
            </a:r>
          </a:p>
        </p:txBody>
      </p:sp>
      <p:sp>
        <p:nvSpPr>
          <p:cNvPr id="632" name="Shape 632"/>
          <p:cNvSpPr txBox="1"/>
          <p:nvPr/>
        </p:nvSpPr>
        <p:spPr>
          <a:xfrm>
            <a:off x="906525" y="7194550"/>
            <a:ext cx="14757599" cy="1609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How would we change this to make it find the smallest value in the list?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Shape 63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Finding the </a:t>
            </a:r>
            <a:r>
              <a:rPr lang="en-US" sz="7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smallest </a:t>
            </a:r>
            <a:r>
              <a:rPr lang="en-US" sz="7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value?</a:t>
            </a:r>
          </a:p>
        </p:txBody>
      </p:sp>
      <p:sp>
        <p:nvSpPr>
          <p:cNvPr id="638" name="Shape 638"/>
          <p:cNvSpPr txBox="1"/>
          <p:nvPr/>
        </p:nvSpPr>
        <p:spPr>
          <a:xfrm>
            <a:off x="1620375" y="3009225"/>
            <a:ext cx="79958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smallest_so_far = 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'Before', </a:t>
            </a: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smallest_so_far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th</a:t>
            </a:r>
            <a:r>
              <a:rPr lang="en-US" sz="26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e_num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if the_num &lt; </a:t>
            </a: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smallest_so_far</a:t>
            </a:r>
            <a:r>
              <a:rPr lang="en-US" sz="26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smallest_so_far = </a:t>
            </a:r>
            <a:r>
              <a:rPr lang="en-US" sz="26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the_num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smallest_so_far,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the_num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Font typeface="Cabin"/>
              <a:buNone/>
            </a:pPr>
            <a:endParaRPr sz="2600" b="1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'After', </a:t>
            </a: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smallest_so_far</a:t>
            </a:r>
          </a:p>
        </p:txBody>
      </p:sp>
      <p:sp>
        <p:nvSpPr>
          <p:cNvPr id="639" name="Shape 639"/>
          <p:cNvSpPr txBox="1"/>
          <p:nvPr/>
        </p:nvSpPr>
        <p:spPr>
          <a:xfrm>
            <a:off x="906525" y="7194550"/>
            <a:ext cx="14757599" cy="1609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switch the variable name to smallest_so_far and switch the &gt; to &lt;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Shape 644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Finding the </a:t>
            </a:r>
            <a:r>
              <a:rPr lang="en-US" sz="7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smallest </a:t>
            </a:r>
            <a:r>
              <a:rPr lang="en-US" sz="7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value?</a:t>
            </a:r>
          </a:p>
        </p:txBody>
      </p:sp>
      <p:sp>
        <p:nvSpPr>
          <p:cNvPr id="645" name="Shape 645"/>
          <p:cNvSpPr txBox="1"/>
          <p:nvPr/>
        </p:nvSpPr>
        <p:spPr>
          <a:xfrm>
            <a:off x="1620375" y="3009225"/>
            <a:ext cx="79958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smallest_so_far = 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'Before', </a:t>
            </a: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smallest_so_far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th</a:t>
            </a:r>
            <a:r>
              <a:rPr lang="en-US" sz="26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e_num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if the_num &lt; </a:t>
            </a: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smallest_so_far</a:t>
            </a:r>
            <a:r>
              <a:rPr lang="en-US" sz="26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smallest_so_far = </a:t>
            </a:r>
            <a:r>
              <a:rPr lang="en-US" sz="26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the_num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smallest_so_far,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the_num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Font typeface="Cabin"/>
              <a:buNone/>
            </a:pPr>
            <a:endParaRPr sz="2600" b="1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'After', </a:t>
            </a: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smallest_so_far</a:t>
            </a:r>
          </a:p>
        </p:txBody>
      </p:sp>
      <p:sp>
        <p:nvSpPr>
          <p:cNvPr id="646" name="Shape 646"/>
          <p:cNvSpPr txBox="1"/>
          <p:nvPr/>
        </p:nvSpPr>
        <p:spPr>
          <a:xfrm>
            <a:off x="10261600" y="2286000"/>
            <a:ext cx="4219499" cy="4986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$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 python </a:t>
            </a:r>
            <a:r>
              <a:rPr lang="en-US" sz="300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smallbad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.py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Before </a:t>
            </a:r>
            <a:r>
              <a:rPr lang="en-US" sz="300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-1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  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-1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-1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-1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  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-1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  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-1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  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After </a:t>
            </a:r>
            <a:r>
              <a:rPr lang="en-US" sz="300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-1</a:t>
            </a:r>
          </a:p>
        </p:txBody>
      </p:sp>
      <p:sp>
        <p:nvSpPr>
          <p:cNvPr id="647" name="Shape 647"/>
          <p:cNvSpPr txBox="1"/>
          <p:nvPr/>
        </p:nvSpPr>
        <p:spPr>
          <a:xfrm>
            <a:off x="906525" y="7194550"/>
            <a:ext cx="14757599" cy="1609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switch the variable name to smallest_so_far and switch the &gt; to &lt;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Shape 652"/>
          <p:cNvSpPr txBox="1"/>
          <p:nvPr/>
        </p:nvSpPr>
        <p:spPr>
          <a:xfrm>
            <a:off x="1459175" y="2133500"/>
            <a:ext cx="7748399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 =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'Before</a:t>
            </a:r>
            <a:r>
              <a:rPr lang="en-US" sz="2600" b="1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value 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smallest </a:t>
            </a:r>
            <a:r>
              <a:rPr lang="en-US" sz="2600" b="1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is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None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      smallest 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= value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value &lt;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      smallest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= value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smallest, 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'After',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</a:t>
            </a:r>
          </a:p>
        </p:txBody>
      </p:sp>
      <p:sp>
        <p:nvSpPr>
          <p:cNvPr id="653" name="Shape 653"/>
          <p:cNvSpPr txBox="1"/>
          <p:nvPr/>
        </p:nvSpPr>
        <p:spPr>
          <a:xfrm>
            <a:off x="10225086" y="2327275"/>
            <a:ext cx="3797399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$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 python smallest.py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Before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9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9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9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After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</a:p>
        </p:txBody>
      </p:sp>
      <p:sp>
        <p:nvSpPr>
          <p:cNvPr id="654" name="Shape 654"/>
          <p:cNvSpPr txBox="1"/>
          <p:nvPr/>
        </p:nvSpPr>
        <p:spPr>
          <a:xfrm>
            <a:off x="695325" y="7702550"/>
            <a:ext cx="148590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still have a variable that is the </a:t>
            </a: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smallest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so far.  The first time through the loop </a:t>
            </a: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smallest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is </a:t>
            </a:r>
            <a:r>
              <a:rPr lang="en-US" sz="32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None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, so we take the first </a:t>
            </a:r>
            <a:r>
              <a:rPr lang="en-US" sz="3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value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to be the </a:t>
            </a: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smallest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.</a:t>
            </a:r>
          </a:p>
        </p:txBody>
      </p:sp>
      <p:sp>
        <p:nvSpPr>
          <p:cNvPr id="655" name="Shape 65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Finding the </a:t>
            </a:r>
            <a:r>
              <a:rPr lang="en-US" sz="7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smallest </a:t>
            </a:r>
            <a:r>
              <a:rPr lang="en-US" sz="7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value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Shape 660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7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is</a:t>
            </a:r>
            <a:r>
              <a:rPr lang="en-US" sz="7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and </a:t>
            </a:r>
            <a:r>
              <a:rPr lang="en-US" sz="7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7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is not</a:t>
            </a:r>
            <a:r>
              <a:rPr lang="en-US" sz="7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Operators</a:t>
            </a:r>
          </a:p>
        </p:txBody>
      </p:sp>
      <p:sp>
        <p:nvSpPr>
          <p:cNvPr id="661" name="Shape 661"/>
          <p:cNvSpPr txBox="1">
            <a:spLocks noGrp="1"/>
          </p:cNvSpPr>
          <p:nvPr>
            <p:ph type="body" idx="1"/>
          </p:nvPr>
        </p:nvSpPr>
        <p:spPr>
          <a:xfrm>
            <a:off x="8140700" y="2603500"/>
            <a:ext cx="6946899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Python has an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is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opera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or that can be used in logical expressions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Implies 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is the same as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Similar to, but stronger than </a:t>
            </a:r>
            <a:r>
              <a:rPr lang="en-US" sz="34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==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is not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also is a logical operator</a:t>
            </a:r>
          </a:p>
        </p:txBody>
      </p:sp>
      <p:sp>
        <p:nvSpPr>
          <p:cNvPr id="662" name="Shape 662"/>
          <p:cNvSpPr txBox="1"/>
          <p:nvPr/>
        </p:nvSpPr>
        <p:spPr>
          <a:xfrm>
            <a:off x="874425" y="2962250"/>
            <a:ext cx="7742400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'Before</a:t>
            </a:r>
            <a:r>
              <a:rPr lang="en-US" sz="2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value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[3, 41, 12, 9,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is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value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value &lt;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value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value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'After',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smallest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Shape 706"/>
          <p:cNvSpPr txBox="1">
            <a:spLocks noGrp="1"/>
          </p:cNvSpPr>
          <p:nvPr>
            <p:ph type="body" idx="1"/>
          </p:nvPr>
        </p:nvSpPr>
        <p:spPr>
          <a:xfrm>
            <a:off x="1234725" y="3184825"/>
            <a:ext cx="6903300" cy="51590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3944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While loops (indefinite)</a:t>
            </a:r>
          </a:p>
          <a:p>
            <a:pPr marL="685800" marR="0" lvl="0" indent="-394461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Infinite loops</a:t>
            </a:r>
          </a:p>
          <a:p>
            <a:pPr marL="685800" marR="0" lvl="0" indent="-394461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Using break</a:t>
            </a:r>
          </a:p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Using continue</a:t>
            </a:r>
          </a:p>
        </p:txBody>
      </p:sp>
      <p:sp>
        <p:nvSpPr>
          <p:cNvPr id="707" name="Shape 707"/>
          <p:cNvSpPr txBox="1">
            <a:spLocks noGrp="1"/>
          </p:cNvSpPr>
          <p:nvPr>
            <p:ph type="body" idx="2"/>
          </p:nvPr>
        </p:nvSpPr>
        <p:spPr>
          <a:xfrm>
            <a:off x="8359600" y="2755900"/>
            <a:ext cx="6903300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For loops (definite)</a:t>
            </a:r>
          </a:p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Iteration variables</a:t>
            </a:r>
          </a:p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Loop idioms</a:t>
            </a:r>
          </a:p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Largest or smallest</a:t>
            </a:r>
          </a:p>
        </p:txBody>
      </p:sp>
      <p:sp>
        <p:nvSpPr>
          <p:cNvPr id="708" name="Shape 708"/>
          <p:cNvSpPr txBox="1">
            <a:spLocks noGrp="1"/>
          </p:cNvSpPr>
          <p:nvPr>
            <p:ph type="title"/>
          </p:nvPr>
        </p:nvSpPr>
        <p:spPr>
          <a:xfrm>
            <a:off x="927100" y="241300"/>
            <a:ext cx="134805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Summary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://vignette2.wikia.nocookie.net/animaljam/images/3/38/Dancing_gir.gif/revision/latest?cb=20141122094457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216" y="323528"/>
            <a:ext cx="12889432" cy="8171901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135112" y="251520"/>
            <a:ext cx="108732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smtClean="0"/>
              <a:t>Chapter </a:t>
            </a:r>
            <a:r>
              <a:rPr lang="en-US" sz="8000" b="1" smtClean="0"/>
              <a:t>5 </a:t>
            </a:r>
            <a:r>
              <a:rPr lang="en-US" sz="8000" b="1" dirty="0" smtClean="0"/>
              <a:t>: Finished</a:t>
            </a:r>
          </a:p>
          <a:p>
            <a:endParaRPr lang="en-US" sz="8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000208" y="7209001"/>
            <a:ext cx="69847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 smtClean="0"/>
              <a:t>Any Doubt?</a:t>
            </a:r>
            <a:endParaRPr lang="en-US" sz="8000" b="1" dirty="0"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itle &amp; Bullets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00FF00"/>
      </a:accent1>
      <a:accent2>
        <a:srgbClr val="333399"/>
      </a:accent2>
      <a:accent3>
        <a:srgbClr val="AAAAAA"/>
      </a:accent3>
      <a:accent4>
        <a:srgbClr val="DADADA"/>
      </a:accent4>
      <a:accent5>
        <a:srgbClr val="AAFFAA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itle - Center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itle &amp; Bullets - 2 Column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2392</Words>
  <Application>Microsoft Office PowerPoint</Application>
  <PresentationFormat>Custom</PresentationFormat>
  <Paragraphs>508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52</vt:i4>
      </vt:variant>
    </vt:vector>
  </HeadingPairs>
  <TitlesOfParts>
    <vt:vector size="60" baseType="lpstr">
      <vt:lpstr>Arial</vt:lpstr>
      <vt:lpstr>Cabin</vt:lpstr>
      <vt:lpstr>Courier New</vt:lpstr>
      <vt:lpstr>Comic Sans MS</vt:lpstr>
      <vt:lpstr>Title &amp; Subtitle</vt:lpstr>
      <vt:lpstr>1_Title &amp; Bullets</vt:lpstr>
      <vt:lpstr>Title - Center</vt:lpstr>
      <vt:lpstr>Title &amp; Bullets - 2 Column</vt:lpstr>
      <vt:lpstr>Loops and Iteration</vt:lpstr>
      <vt:lpstr>Repeated Steps</vt:lpstr>
      <vt:lpstr>An Infinite Loop</vt:lpstr>
      <vt:lpstr>Another Loop</vt:lpstr>
      <vt:lpstr>Breaking Out of a Loop</vt:lpstr>
      <vt:lpstr>Breaking Out of a Loop</vt:lpstr>
      <vt:lpstr>Slide 7</vt:lpstr>
      <vt:lpstr>Finishing an Iteration with continue</vt:lpstr>
      <vt:lpstr>Finishing an Iteration with continue</vt:lpstr>
      <vt:lpstr>Slide 10</vt:lpstr>
      <vt:lpstr>Indefinite Loops</vt:lpstr>
      <vt:lpstr>Definite Loops</vt:lpstr>
      <vt:lpstr>A Simple Definite Loop</vt:lpstr>
      <vt:lpstr>A Definite Loop with Strings</vt:lpstr>
      <vt:lpstr>A Simple Definite Loop</vt:lpstr>
      <vt:lpstr>Looking at In...</vt:lpstr>
      <vt:lpstr>Slide 17</vt:lpstr>
      <vt:lpstr>Slide 18</vt:lpstr>
      <vt:lpstr>Definite Loops</vt:lpstr>
      <vt:lpstr>Loop Idioms: What We Do in Loops  Note:   Even though these examples are simple, the patterns apply to all kinds of loops</vt:lpstr>
      <vt:lpstr>Making “smart” loops</vt:lpstr>
      <vt:lpstr>Looping through a Set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Finding the largest value</vt:lpstr>
      <vt:lpstr>Counting in a Loop</vt:lpstr>
      <vt:lpstr>Summing in a Loop</vt:lpstr>
      <vt:lpstr>Finding the Average in a Loop</vt:lpstr>
      <vt:lpstr>Filtering in a Loop</vt:lpstr>
      <vt:lpstr>Search Using a Boolean Variable</vt:lpstr>
      <vt:lpstr>How to find the smallest value?</vt:lpstr>
      <vt:lpstr>Finding the smallest value?</vt:lpstr>
      <vt:lpstr>Finding the smallest value?</vt:lpstr>
      <vt:lpstr>Finding the smallest value</vt:lpstr>
      <vt:lpstr>The “is” and “is not” Operators</vt:lpstr>
      <vt:lpstr>Summary</vt:lpstr>
      <vt:lpstr>Slide 52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 and Iteration</dc:title>
  <cp:lastModifiedBy>Atul Ghumade</cp:lastModifiedBy>
  <cp:revision>9</cp:revision>
  <dcterms:modified xsi:type="dcterms:W3CDTF">2015-09-06T18:16:30Z</dcterms:modified>
</cp:coreProperties>
</file>