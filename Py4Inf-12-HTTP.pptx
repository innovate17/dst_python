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Layouts/slideLayout4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0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58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Masters/slideMaster5.xml" ContentType="application/vnd.openxmlformats-officedocument.presentationml.slideMaster+xml"/>
  <Override PartName="/ppt/slides/slide49.xml" ContentType="application/vnd.openxmlformats-officedocument.presentationml.slide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Default Extension="jpeg" ContentType="image/jpeg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Masters/slideMaster7.xml" ContentType="application/vnd.openxmlformats-officedocument.presentationml.slideMaster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slides/slide32.xml" ContentType="application/vnd.openxmlformats-officedocument.presentationml.slide+xml"/>
  <Default Extension="fntdata" ContentType="application/x-fontdata"/>
  <Override PartName="/ppt/slideLayouts/slideLayout42.xml" ContentType="application/vnd.openxmlformats-officedocument.presentationml.slideLayout+xml"/>
  <Override PartName="/ppt/notesSlides/notesSlide3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5" r:id="rId1"/>
    <p:sldMasterId id="2147483716" r:id="rId2"/>
    <p:sldMasterId id="2147483717" r:id="rId3"/>
    <p:sldMasterId id="2147483718" r:id="rId4"/>
    <p:sldMasterId id="2147483719" r:id="rId5"/>
    <p:sldMasterId id="2147483720" r:id="rId6"/>
    <p:sldMasterId id="2147483721" r:id="rId7"/>
  </p:sldMasterIdLst>
  <p:notesMasterIdLst>
    <p:notesMasterId r:id="rId68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6256000" cy="9144000"/>
  <p:notesSz cx="6858000" cy="9144000"/>
  <p:embeddedFontLst>
    <p:embeddedFont>
      <p:font typeface="Cabin" charset="0"/>
      <p:regular r:id="rId69"/>
      <p:bold r:id="rId70"/>
      <p:italic r:id="rId71"/>
      <p:boldItalic r:id="rId72"/>
    </p:embeddedFont>
  </p:embeddedFontLst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750" y="-90"/>
      </p:cViewPr>
      <p:guideLst>
        <p:guide orient="horz" pos="2880"/>
        <p:guide pos="5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notesMaster" Target="notesMasters/notesMaster1.xml"/><Relationship Id="rId76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71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61" Type="http://schemas.openxmlformats.org/officeDocument/2006/relationships/slide" Target="slides/slide54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font" Target="fonts/font1.fntdata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font" Target="fonts/font2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</a:pPr>
            <a:endParaRPr/>
          </a:p>
          <a:p>
            <a:pPr lvl="1">
              <a:spcBef>
                <a:spcPts val="0"/>
              </a:spcBef>
            </a:pPr>
            <a:endParaRPr/>
          </a:p>
          <a:p>
            <a:pPr lvl="2">
              <a:spcBef>
                <a:spcPts val="0"/>
              </a:spcBef>
            </a:pPr>
            <a:endParaRPr/>
          </a:p>
          <a:p>
            <a:pPr lvl="3">
              <a:spcBef>
                <a:spcPts val="0"/>
              </a:spcBef>
            </a:pPr>
            <a:endParaRPr/>
          </a:p>
          <a:p>
            <a:pPr lvl="4">
              <a:spcBef>
                <a:spcPts val="0"/>
              </a:spcBef>
            </a:pPr>
            <a:endParaRPr/>
          </a:p>
          <a:p>
            <a:pPr lvl="5">
              <a:spcBef>
                <a:spcPts val="0"/>
              </a:spcBef>
            </a:pPr>
            <a:endParaRPr/>
          </a:p>
          <a:p>
            <a:pPr lvl="6">
              <a:spcBef>
                <a:spcPts val="0"/>
              </a:spcBef>
            </a:pPr>
            <a:endParaRPr/>
          </a:p>
          <a:p>
            <a:pPr lvl="7">
              <a:spcBef>
                <a:spcPts val="0"/>
              </a:spcBef>
            </a:pPr>
            <a:endParaRPr/>
          </a:p>
          <a:p>
            <a:pPr lvl="8">
              <a:spcBef>
                <a:spcPts val="0"/>
              </a:spcBef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55" name="Shape 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07" name="Shape 1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5" name="Shape 1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32" name="Shape 2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44" name="Shape 2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90" name="Shape 2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3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47" name="Shape 34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3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54" name="Shape 3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3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61" name="Shape 3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73" name="Shape 37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79" name="Shape 3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95" name="Shape 3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01" name="Shape 4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Shape 4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09" name="Shape 40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4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24" name="Shape 42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4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30" name="Shape 4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36" name="Shape 4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4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42" name="Shape 4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hape 4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50" name="Shape 4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Shape 4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61" name="Shape 4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4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73" name="Shape 47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87" name="Shape 4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5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03" name="Shape 50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hape 5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12" name="Shape 51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Shape 5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18" name="Shape 5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5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23" name="Shape 52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Shape 5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29" name="Shape 52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42" name="Shape 5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hape 5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51" name="Shape 5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Shape 5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56" name="Shape 5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5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62" name="Shape 5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Shape 5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67" name="Shape 5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Shape 5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74" name="Shape 57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Shape 5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89" name="Shape 5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Shape 5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595" name="Shape 5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5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00" name="Shape 60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Shape 6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06" name="Shape 6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hape 6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13" name="Shape 6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Shape 6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21" name="Shape 6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6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27" name="Shape 6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6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36" name="Shape 6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Shape 6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44" name="Shape 6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Shape 6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51" name="Shape 6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Shape 6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59" name="Shape 6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Shape 6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66" name="Shape 6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Shape 6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78" name="Shape 6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Shape 6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84" name="Shape 6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Shape 6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691" name="Shape 6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Shape 7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706" name="Shape 7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Shape 7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712" name="Shape 71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Shape 7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718" name="Shape 7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Shape 7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725" name="Shape 7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Shape 7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733" name="Shape 7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Shape 7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739" name="Shape 7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Shape 7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746" name="Shape 7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Shape 7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752" name="Shape 75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Shape 80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1" name="Shape 8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title"/>
          </p:nvPr>
        </p:nvSpPr>
        <p:spPr>
          <a:xfrm rot="5400000">
            <a:off x="11231562" y="1909762"/>
            <a:ext cx="4229100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body" idx="1"/>
          </p:nvPr>
        </p:nvSpPr>
        <p:spPr>
          <a:xfrm rot="5400000">
            <a:off x="4189412" y="-1497012"/>
            <a:ext cx="4229100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7594599" y="-1727200"/>
            <a:ext cx="1054100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2"/>
          </p:nvPr>
        </p:nvSpPr>
        <p:spPr>
          <a:xfrm>
            <a:off x="819785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7" name="Shape 67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46" name="Shape 146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Shape 150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3" name="Shape 153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4" name="Shape 154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0" name="Shape 160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161" name="Shape 161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2" name="Shape 162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163" name="Shape 163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7" name="Shape 167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70" name="Shape 170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76" name="Shape 176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94" name="Shape 194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7" name="Shape 197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2" name="Shape 202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8" name="Shape 208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09" name="Shape 209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0" name="Shape 210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11" name="Shape 211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5" name="Shape 215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8" name="Shape 218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21" name="Shape 22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24" name="Shape 224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 txBox="1">
            <a:spLocks noGrp="1"/>
          </p:cNvSpPr>
          <p:nvPr>
            <p:ph type="title"/>
          </p:nvPr>
        </p:nvSpPr>
        <p:spPr>
          <a:xfrm rot="5400000">
            <a:off x="9236075" y="2441574"/>
            <a:ext cx="7708899" cy="33083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50" name="Shape 250"/>
          <p:cNvSpPr txBox="1">
            <a:spLocks noGrp="1"/>
          </p:cNvSpPr>
          <p:nvPr>
            <p:ph type="body" idx="1"/>
          </p:nvPr>
        </p:nvSpPr>
        <p:spPr>
          <a:xfrm rot="5400000">
            <a:off x="2543175" y="-790575"/>
            <a:ext cx="7708899" cy="97726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 rot="5400000">
            <a:off x="5448299" y="-1346199"/>
            <a:ext cx="5359400" cy="13233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56" name="Shape 256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1" name="Shape 261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7" name="Shape 267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68" name="Shape 268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9" name="Shape 269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70" name="Shape 270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73" name="Shape 273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6540500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4" name="Shape 274"/>
          <p:cNvSpPr txBox="1">
            <a:spLocks noGrp="1"/>
          </p:cNvSpPr>
          <p:nvPr>
            <p:ph type="body" idx="2"/>
          </p:nvPr>
        </p:nvSpPr>
        <p:spPr>
          <a:xfrm>
            <a:off x="8204200" y="2590800"/>
            <a:ext cx="6540500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7" name="Shape 277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80" name="Shape 280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83" name="Shape 283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Shape 671"/>
          <p:cNvSpPr txBox="1">
            <a:spLocks noGrp="1"/>
          </p:cNvSpPr>
          <p:nvPr>
            <p:ph type="title"/>
          </p:nvPr>
        </p:nvSpPr>
        <p:spPr>
          <a:xfrm>
            <a:off x="1511300" y="1536700"/>
            <a:ext cx="13233399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72" name="Shape 672"/>
          <p:cNvSpPr txBox="1">
            <a:spLocks noGrp="1"/>
          </p:cNvSpPr>
          <p:nvPr>
            <p:ph type="body" idx="1"/>
          </p:nvPr>
        </p:nvSpPr>
        <p:spPr>
          <a:xfrm>
            <a:off x="1511300" y="4711700"/>
            <a:ext cx="13233399" cy="106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Shape 757"/>
          <p:cNvSpPr txBox="1">
            <a:spLocks noGrp="1"/>
          </p:cNvSpPr>
          <p:nvPr>
            <p:ph type="title"/>
          </p:nvPr>
        </p:nvSpPr>
        <p:spPr>
          <a:xfrm rot="5400000">
            <a:off x="9313799" y="2532099"/>
            <a:ext cx="8064599" cy="348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758" name="Shape 758"/>
          <p:cNvSpPr txBox="1">
            <a:spLocks noGrp="1"/>
          </p:cNvSpPr>
          <p:nvPr>
            <p:ph type="body" idx="1"/>
          </p:nvPr>
        </p:nvSpPr>
        <p:spPr>
          <a:xfrm rot="5400000">
            <a:off x="2271625" y="-874699"/>
            <a:ext cx="8064599" cy="10296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Shape 76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761" name="Shape 761"/>
          <p:cNvSpPr txBox="1">
            <a:spLocks noGrp="1"/>
          </p:cNvSpPr>
          <p:nvPr>
            <p:ph type="body" idx="1"/>
          </p:nvPr>
        </p:nvSpPr>
        <p:spPr>
          <a:xfrm rot="5400000">
            <a:off x="5270399" y="-1511300"/>
            <a:ext cx="5702399" cy="13932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64" name="Shape 764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765" name="Shape 765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Shape 767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399" cy="1549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68" name="Shape 768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699" cy="7804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69" name="Shape 769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399" cy="6254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Shape 77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Shape 774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75" name="Shape 775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699" cy="8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76" name="Shape 776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699" cy="526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77" name="Shape 777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4999" cy="8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78" name="Shape 778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4999" cy="526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Shape 78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781" name="Shape 78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8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82" name="Shape 782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8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Shape 784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699" cy="1816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85" name="Shape 785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699" cy="200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Shape 78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788" name="Shape 78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Shape 790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699" cy="1960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791" name="Shape 791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300" cy="2336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marR="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marR="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marR="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marR="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marR="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marR="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marR="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marR="0" indent="-16421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marR="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marR="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marR="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marR="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marR="0" indent="-164210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247" name="Shape 247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535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1054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4986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943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23876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28321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3289300" marR="0" indent="-374776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37465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42037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4660900" marR="0" indent="-374777" algn="l" rtl="0"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Shape 668"/>
          <p:cNvSpPr txBox="1">
            <a:spLocks noGrp="1"/>
          </p:cNvSpPr>
          <p:nvPr>
            <p:ph type="title"/>
          </p:nvPr>
        </p:nvSpPr>
        <p:spPr>
          <a:xfrm>
            <a:off x="1511300" y="1536700"/>
            <a:ext cx="13233399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69" name="Shape 669"/>
          <p:cNvSpPr txBox="1">
            <a:spLocks noGrp="1"/>
          </p:cNvSpPr>
          <p:nvPr>
            <p:ph type="body" idx="1"/>
          </p:nvPr>
        </p:nvSpPr>
        <p:spPr>
          <a:xfrm>
            <a:off x="1511300" y="4711700"/>
            <a:ext cx="13233399" cy="106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marR="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marR="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marR="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marR="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3" r:id="rId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Shape 75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755" name="Shape 75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4" Type="http://schemas.openxmlformats.org/officeDocument/2006/relationships/hyperlink" Target="http://en.wikipedia.org/wiki/Internet_Protocol_Suit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ickr.com/photos/kitcowan/2103850699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3.xml"/><Relationship Id="rId6" Type="http://schemas.openxmlformats.org/officeDocument/2006/relationships/hyperlink" Target="http://en.wikipedia.org/wiki/Tin_can_telephone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Internet_socke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TCP_and_UDP_por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://www.dr-chuck.com" TargetMode="Externa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3.xml"/><Relationship Id="rId4" Type="http://schemas.openxmlformats.org/officeDocument/2006/relationships/hyperlink" Target="http://en.wikipedia.org/wiki/List_of_TCP_and_UDP_port_number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python.org/library/socket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xkcd.com/353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.xml"/><Relationship Id="rId4" Type="http://schemas.openxmlformats.org/officeDocument/2006/relationships/hyperlink" Target="http://en.wikipedia.org/wiki/Internet_Protocol_Suite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Http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2.xml"/><Relationship Id="rId5" Type="http://schemas.openxmlformats.org/officeDocument/2006/relationships/hyperlink" Target="http://www.youtube.com/watch?v=x2GylLq59rI" TargetMode="External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tools.ietf.org/html/rfc791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2.xml"/><Relationship Id="rId5" Type="http://schemas.openxmlformats.org/officeDocument/2006/relationships/hyperlink" Target="http://nmap.org/movies.html" TargetMode="Externa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xhtml1/DTD/xhtml1-strict.dtd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://www.w3.org/1999/xhtml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python.org/library/urllib.html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python.org/library/urllib.html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Web_scraping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2.xml"/><Relationship Id="rId4" Type="http://schemas.openxmlformats.org/officeDocument/2006/relationships/hyperlink" Target="http://en.wikipedia.org/wiki/Web_crawler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30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acebook.com/terms.php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7.jpeg"/><Relationship Id="rId4" Type="http://schemas.openxmlformats.org/officeDocument/2006/relationships/image" Target="../media/image31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ummy.com/software/BeautifulSoup/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Networked Programs</a:t>
            </a:r>
          </a:p>
        </p:txBody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549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Chapter 12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Shape 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8800" y="2238375"/>
            <a:ext cx="4305299" cy="286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Shape 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00762" y="2297111"/>
            <a:ext cx="3600599" cy="27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Shape 9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23962" y="1844675"/>
            <a:ext cx="4368900" cy="36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Shape 99"/>
          <p:cNvSpPr txBox="1"/>
          <p:nvPr/>
        </p:nvSpPr>
        <p:spPr>
          <a:xfrm>
            <a:off x="6896100" y="3065461"/>
            <a:ext cx="2190900" cy="83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50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Internet</a:t>
            </a:r>
          </a:p>
        </p:txBody>
      </p:sp>
      <p:cxnSp>
        <p:nvCxnSpPr>
          <p:cNvPr id="100" name="Shape 100"/>
          <p:cNvCxnSpPr/>
          <p:nvPr/>
        </p:nvCxnSpPr>
        <p:spPr>
          <a:xfrm rot="10800000">
            <a:off x="5497624" y="2789236"/>
            <a:ext cx="5205300" cy="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01" name="Shape 101"/>
          <p:cNvCxnSpPr/>
          <p:nvPr/>
        </p:nvCxnSpPr>
        <p:spPr>
          <a:xfrm>
            <a:off x="5538787" y="4164012"/>
            <a:ext cx="5117999" cy="4440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02" name="Shape 102"/>
          <p:cNvSpPr txBox="1"/>
          <p:nvPr/>
        </p:nvSpPr>
        <p:spPr>
          <a:xfrm>
            <a:off x="2478086" y="876300"/>
            <a:ext cx="1457399" cy="723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3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Client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12085636" y="876300"/>
            <a:ext cx="1565399" cy="723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3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Server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7053261" y="8089900"/>
            <a:ext cx="1882775" cy="596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Wikipedia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Shape 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8800" y="1628775"/>
            <a:ext cx="4305299" cy="286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Shape 1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00762" y="1687511"/>
            <a:ext cx="36004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Shape 1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23962" y="1235075"/>
            <a:ext cx="4368799" cy="3632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Shape 112"/>
          <p:cNvSpPr txBox="1"/>
          <p:nvPr/>
        </p:nvSpPr>
        <p:spPr>
          <a:xfrm>
            <a:off x="6896100" y="2455861"/>
            <a:ext cx="2190750" cy="83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50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Internet</a:t>
            </a:r>
          </a:p>
        </p:txBody>
      </p:sp>
      <p:cxnSp>
        <p:nvCxnSpPr>
          <p:cNvPr id="113" name="Shape 113"/>
          <p:cNvCxnSpPr/>
          <p:nvPr/>
        </p:nvCxnSpPr>
        <p:spPr>
          <a:xfrm rot="10800000">
            <a:off x="5497512" y="2179636"/>
            <a:ext cx="5205412" cy="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14" name="Shape 114"/>
          <p:cNvCxnSpPr/>
          <p:nvPr/>
        </p:nvCxnSpPr>
        <p:spPr>
          <a:xfrm>
            <a:off x="5538787" y="3554412"/>
            <a:ext cx="5118100" cy="44450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15" name="Shape 115"/>
          <p:cNvSpPr txBox="1"/>
          <p:nvPr/>
        </p:nvSpPr>
        <p:spPr>
          <a:xfrm>
            <a:off x="920750" y="5472112"/>
            <a:ext cx="1238250" cy="596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HTML</a:t>
            </a:r>
          </a:p>
        </p:txBody>
      </p:sp>
      <p:sp>
        <p:nvSpPr>
          <p:cNvPr id="116" name="Shape 116"/>
          <p:cNvSpPr txBox="1"/>
          <p:nvPr/>
        </p:nvSpPr>
        <p:spPr>
          <a:xfrm>
            <a:off x="3367087" y="6213475"/>
            <a:ext cx="815975" cy="596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CSS</a:t>
            </a:r>
          </a:p>
        </p:txBody>
      </p:sp>
      <p:sp>
        <p:nvSpPr>
          <p:cNvPr id="117" name="Shape 117"/>
          <p:cNvSpPr txBox="1"/>
          <p:nvPr/>
        </p:nvSpPr>
        <p:spPr>
          <a:xfrm>
            <a:off x="2898775" y="5349875"/>
            <a:ext cx="2019299" cy="597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JavaScript</a:t>
            </a:r>
          </a:p>
        </p:txBody>
      </p:sp>
      <p:sp>
        <p:nvSpPr>
          <p:cNvPr id="118" name="Shape 118"/>
          <p:cNvSpPr txBox="1"/>
          <p:nvPr/>
        </p:nvSpPr>
        <p:spPr>
          <a:xfrm>
            <a:off x="1533525" y="6108700"/>
            <a:ext cx="1104899" cy="596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AJAX</a:t>
            </a:r>
          </a:p>
        </p:txBody>
      </p:sp>
      <p:sp>
        <p:nvSpPr>
          <p:cNvPr id="119" name="Shape 119"/>
          <p:cNvSpPr txBox="1"/>
          <p:nvPr/>
        </p:nvSpPr>
        <p:spPr>
          <a:xfrm>
            <a:off x="6161087" y="4802187"/>
            <a:ext cx="1171575" cy="596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HTTP</a:t>
            </a:r>
          </a:p>
        </p:txBody>
      </p:sp>
      <p:sp>
        <p:nvSpPr>
          <p:cNvPr id="120" name="Shape 120"/>
          <p:cNvSpPr txBox="1"/>
          <p:nvPr/>
        </p:nvSpPr>
        <p:spPr>
          <a:xfrm>
            <a:off x="8178800" y="4672012"/>
            <a:ext cx="1530350" cy="596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Request</a:t>
            </a:r>
          </a:p>
        </p:txBody>
      </p:sp>
      <p:sp>
        <p:nvSpPr>
          <p:cNvPr id="121" name="Shape 121"/>
          <p:cNvSpPr txBox="1"/>
          <p:nvPr/>
        </p:nvSpPr>
        <p:spPr>
          <a:xfrm>
            <a:off x="6308725" y="5472112"/>
            <a:ext cx="1790699" cy="596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Response</a:t>
            </a:r>
          </a:p>
        </p:txBody>
      </p:sp>
      <p:sp>
        <p:nvSpPr>
          <p:cNvPr id="122" name="Shape 122"/>
          <p:cNvSpPr txBox="1"/>
          <p:nvPr/>
        </p:nvSpPr>
        <p:spPr>
          <a:xfrm>
            <a:off x="8780461" y="5349875"/>
            <a:ext cx="911224" cy="596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GET</a:t>
            </a:r>
          </a:p>
        </p:txBody>
      </p:sp>
      <p:sp>
        <p:nvSpPr>
          <p:cNvPr id="123" name="Shape 123"/>
          <p:cNvSpPr txBox="1"/>
          <p:nvPr/>
        </p:nvSpPr>
        <p:spPr>
          <a:xfrm>
            <a:off x="8001000" y="6594475"/>
            <a:ext cx="1149349" cy="596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POST</a:t>
            </a:r>
          </a:p>
        </p:txBody>
      </p:sp>
      <p:sp>
        <p:nvSpPr>
          <p:cNvPr id="124" name="Shape 124"/>
          <p:cNvSpPr txBox="1"/>
          <p:nvPr/>
        </p:nvSpPr>
        <p:spPr>
          <a:xfrm>
            <a:off x="11183936" y="5159375"/>
            <a:ext cx="1336800" cy="597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Python</a:t>
            </a:r>
          </a:p>
        </p:txBody>
      </p:sp>
      <p:sp>
        <p:nvSpPr>
          <p:cNvPr id="125" name="Shape 125"/>
          <p:cNvSpPr txBox="1"/>
          <p:nvPr/>
        </p:nvSpPr>
        <p:spPr>
          <a:xfrm>
            <a:off x="10920399" y="6108700"/>
            <a:ext cx="1971599" cy="597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Templates</a:t>
            </a:r>
          </a:p>
        </p:txBody>
      </p:sp>
      <p:sp>
        <p:nvSpPr>
          <p:cNvPr id="126" name="Shape 126"/>
          <p:cNvSpPr txBox="1"/>
          <p:nvPr/>
        </p:nvSpPr>
        <p:spPr>
          <a:xfrm>
            <a:off x="13141325" y="5349875"/>
            <a:ext cx="2019299" cy="597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Data Store</a:t>
            </a:r>
          </a:p>
        </p:txBody>
      </p:sp>
      <p:sp>
        <p:nvSpPr>
          <p:cNvPr id="127" name="Shape 127"/>
          <p:cNvSpPr txBox="1"/>
          <p:nvPr/>
        </p:nvSpPr>
        <p:spPr>
          <a:xfrm>
            <a:off x="13622351" y="5969000"/>
            <a:ext cx="2190900" cy="597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memcache</a:t>
            </a:r>
          </a:p>
        </p:txBody>
      </p:sp>
      <p:sp>
        <p:nvSpPr>
          <p:cNvPr id="128" name="Shape 128"/>
          <p:cNvSpPr txBox="1"/>
          <p:nvPr/>
        </p:nvSpPr>
        <p:spPr>
          <a:xfrm>
            <a:off x="6221412" y="6400800"/>
            <a:ext cx="1252536" cy="596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socket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Network Architecture....</a:t>
            </a:r>
          </a:p>
        </p:txBody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Transport Control Protocol (TCP)</a:t>
            </a:r>
          </a:p>
        </p:txBody>
      </p:sp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264399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Built on top of IP (Internet Protocol)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Assumes IP might lose some data - stores and retransmits data if it seems to be lost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Handles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flow control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using a transmit window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Provides a nice reliable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pipe</a:t>
            </a:r>
          </a:p>
        </p:txBody>
      </p:sp>
      <p:pic>
        <p:nvPicPr>
          <p:cNvPr id="180" name="Shape 1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09100" y="2501900"/>
            <a:ext cx="6007199" cy="469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Shape 181"/>
          <p:cNvSpPr txBox="1"/>
          <p:nvPr/>
        </p:nvSpPr>
        <p:spPr>
          <a:xfrm>
            <a:off x="9607600" y="3826250"/>
            <a:ext cx="5410200" cy="6731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Shape 182"/>
          <p:cNvSpPr txBox="1"/>
          <p:nvPr/>
        </p:nvSpPr>
        <p:spPr>
          <a:xfrm>
            <a:off x="8991625" y="7562850"/>
            <a:ext cx="7264499" cy="83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Source: </a:t>
            </a:r>
            <a:r>
              <a:rPr lang="en-US" sz="25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4"/>
              </a:rPr>
              <a:t>http://en.wikipedia.org/wiki/Internet_Protocol_Suite</a:t>
            </a:r>
            <a:r>
              <a:rPr lang="en-US" sz="25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 txBox="1"/>
          <p:nvPr/>
        </p:nvSpPr>
        <p:spPr>
          <a:xfrm>
            <a:off x="4419600" y="8001000"/>
            <a:ext cx="110939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sng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http://www.flickr.com/photos/kitcowan/2103850699/</a:t>
            </a:r>
          </a:p>
        </p:txBody>
      </p:sp>
      <p:pic>
        <p:nvPicPr>
          <p:cNvPr id="227" name="Shape 2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0" y="1244600"/>
            <a:ext cx="4064000" cy="60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Shape 2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1435100"/>
            <a:ext cx="7467600" cy="513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Shape 229"/>
          <p:cNvSpPr txBox="1"/>
          <p:nvPr/>
        </p:nvSpPr>
        <p:spPr>
          <a:xfrm>
            <a:off x="774700" y="7226300"/>
            <a:ext cx="97046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sng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  <a:hlinkClick r:id="rId6"/>
              </a:rPr>
              <a:t>http://en.wikipedia.org/wiki/Tin_can_telephone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TCP Connections / </a:t>
            </a: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Sockets</a:t>
            </a:r>
          </a:p>
        </p:txBody>
      </p:sp>
      <p:sp>
        <p:nvSpPr>
          <p:cNvPr id="235" name="Shape 235"/>
          <p:cNvSpPr txBox="1"/>
          <p:nvPr/>
        </p:nvSpPr>
        <p:spPr>
          <a:xfrm>
            <a:off x="3644900" y="8293100"/>
            <a:ext cx="95474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http://en.wikipedia.org/wiki/Internet_socket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1490475" y="2907625"/>
            <a:ext cx="13369500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 computer networking, an Internet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socket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or network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socket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an endpoint of a bidirectional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inter-process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communication flow across an </a:t>
            </a: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Internet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Protocol-based computer network, such as the </a:t>
            </a: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Internet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</p:txBody>
      </p:sp>
      <p:pic>
        <p:nvPicPr>
          <p:cNvPr id="237" name="Shape 2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2062" y="5256212"/>
            <a:ext cx="3600599" cy="27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Shape 238"/>
          <p:cNvSpPr txBox="1"/>
          <p:nvPr/>
        </p:nvSpPr>
        <p:spPr>
          <a:xfrm>
            <a:off x="7213600" y="5732462"/>
            <a:ext cx="2190900" cy="83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50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Internet</a:t>
            </a:r>
          </a:p>
        </p:txBody>
      </p:sp>
      <p:sp>
        <p:nvSpPr>
          <p:cNvPr id="239" name="Shape 239"/>
          <p:cNvSpPr/>
          <p:nvPr/>
        </p:nvSpPr>
        <p:spPr>
          <a:xfrm>
            <a:off x="3187700" y="5410200"/>
            <a:ext cx="2286000" cy="2603399"/>
          </a:xfrm>
          <a:prstGeom prst="roundRect">
            <a:avLst>
              <a:gd name="adj" fmla="val 1800"/>
            </a:avLst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39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Process</a:t>
            </a:r>
          </a:p>
        </p:txBody>
      </p:sp>
      <p:sp>
        <p:nvSpPr>
          <p:cNvPr id="240" name="Shape 240"/>
          <p:cNvSpPr/>
          <p:nvPr/>
        </p:nvSpPr>
        <p:spPr>
          <a:xfrm>
            <a:off x="10947400" y="5257800"/>
            <a:ext cx="2286000" cy="2603399"/>
          </a:xfrm>
          <a:prstGeom prst="roundRect">
            <a:avLst>
              <a:gd name="adj" fmla="val 1800"/>
            </a:avLst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39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Process</a:t>
            </a:r>
          </a:p>
        </p:txBody>
      </p:sp>
      <p:sp>
        <p:nvSpPr>
          <p:cNvPr id="241" name="Shape 241"/>
          <p:cNvSpPr/>
          <p:nvPr/>
        </p:nvSpPr>
        <p:spPr>
          <a:xfrm>
            <a:off x="5397500" y="6451600"/>
            <a:ext cx="5600699" cy="1016099"/>
          </a:xfrm>
          <a:prstGeom prst="leftRightArrow">
            <a:avLst>
              <a:gd name="adj1" fmla="val 2174"/>
              <a:gd name="adj2" fmla="val 4986"/>
            </a:avLst>
          </a:prstGeom>
          <a:blipFill rotWithShape="1">
            <a:blip r:embed="rId5">
              <a:alphaModFix/>
            </a:blip>
            <a:tile tx="0" ty="0" sx="100000" sy="100000" flip="none" algn="tl"/>
          </a:blip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28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Socket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TCP </a:t>
            </a:r>
            <a:r>
              <a:rPr lang="en-US" sz="78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Port Numbers</a:t>
            </a:r>
          </a:p>
        </p:txBody>
      </p:sp>
      <p:sp>
        <p:nvSpPr>
          <p:cNvPr id="286" name="Shape 286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53594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787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port is an </a:t>
            </a:r>
            <a:r>
              <a:rPr lang="en-US" sz="3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application-specific</a:t>
            </a: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or process-specific software communications endpoint</a:t>
            </a:r>
          </a:p>
          <a:p>
            <a:pPr marL="1104900" marR="0" lvl="0" indent="-78740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It allows multiple networked applications to coexist on the same server.</a:t>
            </a:r>
          </a:p>
          <a:p>
            <a:pPr marL="1104900" marR="0" lvl="0" indent="-78740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There is a list of well-known TCP port numbers</a:t>
            </a:r>
          </a:p>
        </p:txBody>
      </p:sp>
      <p:sp>
        <p:nvSpPr>
          <p:cNvPr id="287" name="Shape 287"/>
          <p:cNvSpPr txBox="1"/>
          <p:nvPr/>
        </p:nvSpPr>
        <p:spPr>
          <a:xfrm>
            <a:off x="2430448" y="8185150"/>
            <a:ext cx="109020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2286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http://en.wikipedia.org/wiki/TCP_and_UDP_port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Shape 2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55136" y="3152775"/>
            <a:ext cx="2755900" cy="208438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Shape 293"/>
          <p:cNvSpPr txBox="1"/>
          <p:nvPr/>
        </p:nvSpPr>
        <p:spPr>
          <a:xfrm>
            <a:off x="1955800" y="520700"/>
            <a:ext cx="6667500" cy="7734299"/>
          </a:xfrm>
          <a:prstGeom prst="rect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www.umich.edu</a:t>
            </a:r>
          </a:p>
        </p:txBody>
      </p:sp>
      <p:grpSp>
        <p:nvGrpSpPr>
          <p:cNvPr id="294" name="Shape 294"/>
          <p:cNvGrpSpPr/>
          <p:nvPr/>
        </p:nvGrpSpPr>
        <p:grpSpPr>
          <a:xfrm>
            <a:off x="12898436" y="2736850"/>
            <a:ext cx="2578099" cy="1854200"/>
            <a:chOff x="0" y="0"/>
            <a:chExt cx="2576512" cy="1854200"/>
          </a:xfrm>
        </p:grpSpPr>
        <p:grpSp>
          <p:nvGrpSpPr>
            <p:cNvPr id="295" name="Shape 295"/>
            <p:cNvGrpSpPr/>
            <p:nvPr/>
          </p:nvGrpSpPr>
          <p:grpSpPr>
            <a:xfrm>
              <a:off x="0" y="0"/>
              <a:ext cx="2576512" cy="1854200"/>
              <a:chOff x="0" y="0"/>
              <a:chExt cx="2576512" cy="1854200"/>
            </a:xfrm>
          </p:grpSpPr>
          <p:grpSp>
            <p:nvGrpSpPr>
              <p:cNvPr id="296" name="Shape 296"/>
              <p:cNvGrpSpPr/>
              <p:nvPr/>
            </p:nvGrpSpPr>
            <p:grpSpPr>
              <a:xfrm>
                <a:off x="352425" y="0"/>
                <a:ext cx="1878011" cy="1184275"/>
                <a:chOff x="0" y="0"/>
                <a:chExt cx="1878011" cy="1184275"/>
              </a:xfrm>
            </p:grpSpPr>
            <p:sp>
              <p:nvSpPr>
                <p:cNvPr id="297" name="Shape 297"/>
                <p:cNvSpPr txBox="1"/>
                <p:nvPr/>
              </p:nvSpPr>
              <p:spPr>
                <a:xfrm>
                  <a:off x="0" y="0"/>
                  <a:ext cx="1878011" cy="1184275"/>
                </a:xfrm>
                <a:prstGeom prst="rect">
                  <a:avLst/>
                </a:prstGeom>
                <a:solidFill>
                  <a:schemeClr val="accent1"/>
                </a:solidFill>
                <a:ln w="12700" cap="rnd" cmpd="sng">
                  <a:solidFill>
                    <a:srgbClr val="618FFD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" name="Shape 298"/>
                <p:cNvSpPr/>
                <p:nvPr/>
              </p:nvSpPr>
              <p:spPr>
                <a:xfrm>
                  <a:off x="149225" y="106361"/>
                  <a:ext cx="1576386" cy="973136"/>
                </a:xfrm>
                <a:prstGeom prst="roundRect">
                  <a:avLst>
                    <a:gd name="adj" fmla="val 1490"/>
                  </a:avLst>
                </a:prstGeom>
                <a:solidFill>
                  <a:srgbClr val="FFFFFF"/>
                </a:solidFill>
                <a:ln w="12700" cap="rnd" cmpd="sng">
                  <a:solidFill>
                    <a:srgbClr val="618FFD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9" name="Shape 299"/>
              <p:cNvGrpSpPr/>
              <p:nvPr/>
            </p:nvGrpSpPr>
            <p:grpSpPr>
              <a:xfrm>
                <a:off x="0" y="1543050"/>
                <a:ext cx="2576512" cy="311150"/>
                <a:chOff x="0" y="0"/>
                <a:chExt cx="2576512" cy="309562"/>
              </a:xfrm>
            </p:grpSpPr>
            <p:cxnSp>
              <p:nvCxnSpPr>
                <p:cNvPr id="300" name="Shape 300"/>
                <p:cNvCxnSpPr/>
                <p:nvPr/>
              </p:nvCxnSpPr>
              <p:spPr>
                <a:xfrm flipH="1">
                  <a:off x="0" y="0"/>
                  <a:ext cx="341311" cy="241299"/>
                </a:xfrm>
                <a:prstGeom prst="straightConnector1">
                  <a:avLst/>
                </a:prstGeom>
                <a:noFill/>
                <a:ln w="12700" cap="rnd" cmpd="sng">
                  <a:solidFill>
                    <a:srgbClr val="618FFD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cxnSp>
            <p:cxnSp>
              <p:nvCxnSpPr>
                <p:cNvPr id="301" name="Shape 301"/>
                <p:cNvCxnSpPr/>
                <p:nvPr/>
              </p:nvCxnSpPr>
              <p:spPr>
                <a:xfrm>
                  <a:off x="0" y="241300"/>
                  <a:ext cx="2574924" cy="1587"/>
                </a:xfrm>
                <a:prstGeom prst="straightConnector1">
                  <a:avLst/>
                </a:prstGeom>
                <a:noFill/>
                <a:ln w="12700" cap="rnd" cmpd="sng">
                  <a:solidFill>
                    <a:srgbClr val="618FFD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cxnSp>
            <p:cxnSp>
              <p:nvCxnSpPr>
                <p:cNvPr id="302" name="Shape 302"/>
                <p:cNvCxnSpPr/>
                <p:nvPr/>
              </p:nvCxnSpPr>
              <p:spPr>
                <a:xfrm>
                  <a:off x="0" y="306387"/>
                  <a:ext cx="2574924" cy="3174"/>
                </a:xfrm>
                <a:prstGeom prst="straightConnector1">
                  <a:avLst/>
                </a:prstGeom>
                <a:noFill/>
                <a:ln w="12700" cap="rnd" cmpd="sng">
                  <a:solidFill>
                    <a:srgbClr val="618FFD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cxnSp>
            <p:cxnSp>
              <p:nvCxnSpPr>
                <p:cNvPr id="303" name="Shape 303"/>
                <p:cNvCxnSpPr/>
                <p:nvPr/>
              </p:nvCxnSpPr>
              <p:spPr>
                <a:xfrm>
                  <a:off x="0" y="241300"/>
                  <a:ext cx="1587" cy="65086"/>
                </a:xfrm>
                <a:prstGeom prst="straightConnector1">
                  <a:avLst/>
                </a:prstGeom>
                <a:noFill/>
                <a:ln w="12700" cap="rnd" cmpd="sng">
                  <a:solidFill>
                    <a:srgbClr val="618FFD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cxnSp>
            <p:cxnSp>
              <p:nvCxnSpPr>
                <p:cNvPr id="304" name="Shape 304"/>
                <p:cNvCxnSpPr/>
                <p:nvPr/>
              </p:nvCxnSpPr>
              <p:spPr>
                <a:xfrm>
                  <a:off x="2239961" y="0"/>
                  <a:ext cx="334961" cy="241299"/>
                </a:xfrm>
                <a:prstGeom prst="straightConnector1">
                  <a:avLst/>
                </a:prstGeom>
                <a:noFill/>
                <a:ln w="12700" cap="rnd" cmpd="sng">
                  <a:solidFill>
                    <a:srgbClr val="618FFD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Shape 305"/>
                <p:cNvCxnSpPr/>
                <p:nvPr/>
              </p:nvCxnSpPr>
              <p:spPr>
                <a:xfrm>
                  <a:off x="2574925" y="241300"/>
                  <a:ext cx="1587" cy="65086"/>
                </a:xfrm>
                <a:prstGeom prst="straightConnector1">
                  <a:avLst/>
                </a:prstGeom>
                <a:noFill/>
                <a:ln w="12700" cap="rnd" cmpd="sng">
                  <a:solidFill>
                    <a:srgbClr val="618FFD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06" name="Shape 306"/>
              <p:cNvSpPr txBox="1"/>
              <p:nvPr/>
            </p:nvSpPr>
            <p:spPr>
              <a:xfrm>
                <a:off x="357187" y="1220787"/>
                <a:ext cx="1874836" cy="304799"/>
              </a:xfrm>
              <a:prstGeom prst="rect">
                <a:avLst/>
              </a:prstGeom>
              <a:noFill/>
              <a:ln w="12700" cap="rnd" cmpd="sng">
                <a:solidFill>
                  <a:srgbClr val="618FFD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07" name="Shape 307"/>
              <p:cNvCxnSpPr/>
              <p:nvPr/>
            </p:nvCxnSpPr>
            <p:spPr>
              <a:xfrm>
                <a:off x="1763711" y="1373187"/>
                <a:ext cx="374649" cy="3174"/>
              </a:xfrm>
              <a:prstGeom prst="straightConnector1">
                <a:avLst/>
              </a:prstGeom>
              <a:noFill/>
              <a:ln w="50800" cap="rnd" cmpd="sng">
                <a:solidFill>
                  <a:srgbClr val="618FFD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</p:grpSp>
        <p:sp>
          <p:nvSpPr>
            <p:cNvPr id="308" name="Shape 308"/>
            <p:cNvSpPr txBox="1"/>
            <p:nvPr/>
          </p:nvSpPr>
          <p:spPr>
            <a:xfrm rot="10800000" flipH="1">
              <a:off x="474662" y="1319212"/>
              <a:ext cx="203199" cy="31750"/>
            </a:xfrm>
            <a:prstGeom prst="rect">
              <a:avLst/>
            </a:prstGeom>
            <a:solidFill>
              <a:srgbClr val="000000"/>
            </a:solidFill>
            <a:ln w="50800" cap="rnd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" name="Shape 309"/>
          <p:cNvSpPr txBox="1"/>
          <p:nvPr/>
        </p:nvSpPr>
        <p:spPr>
          <a:xfrm>
            <a:off x="2933700" y="1346200"/>
            <a:ext cx="2603499" cy="1181100"/>
          </a:xfrm>
          <a:prstGeom prst="rect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Incoming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E-Mail</a:t>
            </a:r>
          </a:p>
        </p:txBody>
      </p:sp>
      <p:sp>
        <p:nvSpPr>
          <p:cNvPr id="310" name="Shape 310"/>
          <p:cNvSpPr txBox="1"/>
          <p:nvPr/>
        </p:nvSpPr>
        <p:spPr>
          <a:xfrm>
            <a:off x="2933700" y="2946400"/>
            <a:ext cx="2603499" cy="723900"/>
          </a:xfrm>
          <a:prstGeom prst="rect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Login</a:t>
            </a:r>
          </a:p>
        </p:txBody>
      </p:sp>
      <p:sp>
        <p:nvSpPr>
          <p:cNvPr id="311" name="Shape 311"/>
          <p:cNvSpPr txBox="1"/>
          <p:nvPr/>
        </p:nvSpPr>
        <p:spPr>
          <a:xfrm>
            <a:off x="2933700" y="4660900"/>
            <a:ext cx="2603499" cy="723900"/>
          </a:xfrm>
          <a:prstGeom prst="rect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Web Server</a:t>
            </a:r>
          </a:p>
        </p:txBody>
      </p:sp>
      <p:sp>
        <p:nvSpPr>
          <p:cNvPr id="312" name="Shape 312"/>
          <p:cNvSpPr txBox="1"/>
          <p:nvPr/>
        </p:nvSpPr>
        <p:spPr>
          <a:xfrm>
            <a:off x="6426200" y="1485900"/>
            <a:ext cx="1270000" cy="6857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25</a:t>
            </a:r>
          </a:p>
        </p:txBody>
      </p:sp>
      <p:pic>
        <p:nvPicPr>
          <p:cNvPr id="313" name="Shape 3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87300" y="838200"/>
            <a:ext cx="2717799" cy="1385887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Shape 314"/>
          <p:cNvSpPr txBox="1"/>
          <p:nvPr/>
        </p:nvSpPr>
        <p:spPr>
          <a:xfrm>
            <a:off x="2933700" y="6286500"/>
            <a:ext cx="2603499" cy="1270000"/>
          </a:xfrm>
          <a:prstGeom prst="rect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Personal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Mail Box</a:t>
            </a:r>
          </a:p>
        </p:txBody>
      </p:sp>
      <p:sp>
        <p:nvSpPr>
          <p:cNvPr id="315" name="Shape 315"/>
          <p:cNvSpPr txBox="1"/>
          <p:nvPr/>
        </p:nvSpPr>
        <p:spPr>
          <a:xfrm>
            <a:off x="6426200" y="2971800"/>
            <a:ext cx="1270000" cy="6857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23</a:t>
            </a:r>
          </a:p>
        </p:txBody>
      </p:sp>
      <p:sp>
        <p:nvSpPr>
          <p:cNvPr id="316" name="Shape 316"/>
          <p:cNvSpPr txBox="1"/>
          <p:nvPr/>
        </p:nvSpPr>
        <p:spPr>
          <a:xfrm>
            <a:off x="6426200" y="4025900"/>
            <a:ext cx="1270000" cy="6857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80</a:t>
            </a:r>
          </a:p>
        </p:txBody>
      </p:sp>
      <p:sp>
        <p:nvSpPr>
          <p:cNvPr id="317" name="Shape 317"/>
          <p:cNvSpPr txBox="1"/>
          <p:nvPr/>
        </p:nvSpPr>
        <p:spPr>
          <a:xfrm>
            <a:off x="6426200" y="4953000"/>
            <a:ext cx="1270000" cy="685799"/>
          </a:xfrm>
          <a:prstGeom prst="rect">
            <a:avLst/>
          </a:prstGeom>
          <a:noFill/>
          <a:ln w="76200" cap="rnd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443</a:t>
            </a:r>
          </a:p>
        </p:txBody>
      </p:sp>
      <p:sp>
        <p:nvSpPr>
          <p:cNvPr id="318" name="Shape 318"/>
          <p:cNvSpPr txBox="1"/>
          <p:nvPr/>
        </p:nvSpPr>
        <p:spPr>
          <a:xfrm>
            <a:off x="6426200" y="6197600"/>
            <a:ext cx="1270000" cy="6857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109</a:t>
            </a:r>
          </a:p>
        </p:txBody>
      </p:sp>
      <p:sp>
        <p:nvSpPr>
          <p:cNvPr id="319" name="Shape 319"/>
          <p:cNvSpPr txBox="1"/>
          <p:nvPr/>
        </p:nvSpPr>
        <p:spPr>
          <a:xfrm>
            <a:off x="6426200" y="7226300"/>
            <a:ext cx="1270000" cy="6857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110</a:t>
            </a:r>
          </a:p>
        </p:txBody>
      </p:sp>
      <p:sp>
        <p:nvSpPr>
          <p:cNvPr id="320" name="Shape 320"/>
          <p:cNvSpPr txBox="1"/>
          <p:nvPr/>
        </p:nvSpPr>
        <p:spPr>
          <a:xfrm>
            <a:off x="8077200" y="3911600"/>
            <a:ext cx="2997199" cy="660400"/>
          </a:xfrm>
          <a:prstGeom prst="rect">
            <a:avLst/>
          </a:prstGeom>
          <a:solidFill>
            <a:srgbClr val="000000"/>
          </a:solidFill>
          <a:ln w="762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74.208.28.177</a:t>
            </a:r>
          </a:p>
        </p:txBody>
      </p:sp>
      <p:cxnSp>
        <p:nvCxnSpPr>
          <p:cNvPr id="321" name="Shape 321"/>
          <p:cNvCxnSpPr/>
          <p:nvPr/>
        </p:nvCxnSpPr>
        <p:spPr>
          <a:xfrm>
            <a:off x="7781925" y="3190875"/>
            <a:ext cx="5337175" cy="223837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22" name="Shape 322"/>
          <p:cNvCxnSpPr/>
          <p:nvPr/>
        </p:nvCxnSpPr>
        <p:spPr>
          <a:xfrm flipH="1">
            <a:off x="7762874" y="1547812"/>
            <a:ext cx="4908550" cy="298450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stealth" w="med" len="med"/>
          </a:ln>
        </p:spPr>
      </p:cxnSp>
      <p:grpSp>
        <p:nvGrpSpPr>
          <p:cNvPr id="323" name="Shape 323"/>
          <p:cNvGrpSpPr/>
          <p:nvPr/>
        </p:nvGrpSpPr>
        <p:grpSpPr>
          <a:xfrm>
            <a:off x="12898436" y="4959350"/>
            <a:ext cx="2578099" cy="1854200"/>
            <a:chOff x="0" y="0"/>
            <a:chExt cx="2576512" cy="1854200"/>
          </a:xfrm>
        </p:grpSpPr>
        <p:grpSp>
          <p:nvGrpSpPr>
            <p:cNvPr id="324" name="Shape 324"/>
            <p:cNvGrpSpPr/>
            <p:nvPr/>
          </p:nvGrpSpPr>
          <p:grpSpPr>
            <a:xfrm>
              <a:off x="0" y="0"/>
              <a:ext cx="2576512" cy="1854200"/>
              <a:chOff x="0" y="0"/>
              <a:chExt cx="2576512" cy="1854200"/>
            </a:xfrm>
          </p:grpSpPr>
          <p:grpSp>
            <p:nvGrpSpPr>
              <p:cNvPr id="325" name="Shape 325"/>
              <p:cNvGrpSpPr/>
              <p:nvPr/>
            </p:nvGrpSpPr>
            <p:grpSpPr>
              <a:xfrm>
                <a:off x="0" y="0"/>
                <a:ext cx="2576512" cy="1854200"/>
                <a:chOff x="0" y="0"/>
                <a:chExt cx="2576512" cy="1854200"/>
              </a:xfrm>
            </p:grpSpPr>
            <p:grpSp>
              <p:nvGrpSpPr>
                <p:cNvPr id="326" name="Shape 326"/>
                <p:cNvGrpSpPr/>
                <p:nvPr/>
              </p:nvGrpSpPr>
              <p:grpSpPr>
                <a:xfrm>
                  <a:off x="352425" y="0"/>
                  <a:ext cx="1878011" cy="1184275"/>
                  <a:chOff x="0" y="0"/>
                  <a:chExt cx="1878011" cy="1184275"/>
                </a:xfrm>
              </p:grpSpPr>
              <p:sp>
                <p:nvSpPr>
                  <p:cNvPr id="327" name="Shape 327"/>
                  <p:cNvSpPr txBox="1"/>
                  <p:nvPr/>
                </p:nvSpPr>
                <p:spPr>
                  <a:xfrm>
                    <a:off x="0" y="0"/>
                    <a:ext cx="1878011" cy="1184275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 cap="rnd" cmpd="sng">
                    <a:solidFill>
                      <a:srgbClr val="618FFD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tIns="0" rIns="0" bIns="0" anchor="t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8" name="Shape 328"/>
                  <p:cNvSpPr/>
                  <p:nvPr/>
                </p:nvSpPr>
                <p:spPr>
                  <a:xfrm>
                    <a:off x="149225" y="106361"/>
                    <a:ext cx="1576386" cy="973136"/>
                  </a:xfrm>
                  <a:prstGeom prst="roundRect">
                    <a:avLst>
                      <a:gd name="adj" fmla="val 1490"/>
                    </a:avLst>
                  </a:prstGeom>
                  <a:solidFill>
                    <a:srgbClr val="FFFFFF"/>
                  </a:solidFill>
                  <a:ln w="12700" cap="rnd" cmpd="sng">
                    <a:solidFill>
                      <a:srgbClr val="618FFD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tIns="0" rIns="0" bIns="0" anchor="t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29" name="Shape 329"/>
                <p:cNvGrpSpPr/>
                <p:nvPr/>
              </p:nvGrpSpPr>
              <p:grpSpPr>
                <a:xfrm>
                  <a:off x="0" y="1543050"/>
                  <a:ext cx="2576512" cy="311150"/>
                  <a:chOff x="0" y="0"/>
                  <a:chExt cx="2576512" cy="309562"/>
                </a:xfrm>
              </p:grpSpPr>
              <p:cxnSp>
                <p:nvCxnSpPr>
                  <p:cNvPr id="330" name="Shape 330"/>
                  <p:cNvCxnSpPr/>
                  <p:nvPr/>
                </p:nvCxnSpPr>
                <p:spPr>
                  <a:xfrm flipH="1">
                    <a:off x="0" y="0"/>
                    <a:ext cx="341311" cy="241299"/>
                  </a:xfrm>
                  <a:prstGeom prst="straightConnector1">
                    <a:avLst/>
                  </a:prstGeom>
                  <a:noFill/>
                  <a:ln w="12700" cap="rnd" cmpd="sng">
                    <a:solidFill>
                      <a:srgbClr val="618FFD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31" name="Shape 331"/>
                  <p:cNvCxnSpPr/>
                  <p:nvPr/>
                </p:nvCxnSpPr>
                <p:spPr>
                  <a:xfrm>
                    <a:off x="0" y="241300"/>
                    <a:ext cx="2574924" cy="1587"/>
                  </a:xfrm>
                  <a:prstGeom prst="straightConnector1">
                    <a:avLst/>
                  </a:prstGeom>
                  <a:noFill/>
                  <a:ln w="12700" cap="rnd" cmpd="sng">
                    <a:solidFill>
                      <a:srgbClr val="618FFD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32" name="Shape 332"/>
                  <p:cNvCxnSpPr/>
                  <p:nvPr/>
                </p:nvCxnSpPr>
                <p:spPr>
                  <a:xfrm>
                    <a:off x="0" y="306387"/>
                    <a:ext cx="2574924" cy="3174"/>
                  </a:xfrm>
                  <a:prstGeom prst="straightConnector1">
                    <a:avLst/>
                  </a:prstGeom>
                  <a:noFill/>
                  <a:ln w="12700" cap="rnd" cmpd="sng">
                    <a:solidFill>
                      <a:srgbClr val="618FFD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33" name="Shape 333"/>
                  <p:cNvCxnSpPr/>
                  <p:nvPr/>
                </p:nvCxnSpPr>
                <p:spPr>
                  <a:xfrm>
                    <a:off x="0" y="241300"/>
                    <a:ext cx="1587" cy="65086"/>
                  </a:xfrm>
                  <a:prstGeom prst="straightConnector1">
                    <a:avLst/>
                  </a:prstGeom>
                  <a:noFill/>
                  <a:ln w="12700" cap="rnd" cmpd="sng">
                    <a:solidFill>
                      <a:srgbClr val="618FFD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34" name="Shape 334"/>
                  <p:cNvCxnSpPr/>
                  <p:nvPr/>
                </p:nvCxnSpPr>
                <p:spPr>
                  <a:xfrm>
                    <a:off x="2239961" y="0"/>
                    <a:ext cx="334961" cy="241299"/>
                  </a:xfrm>
                  <a:prstGeom prst="straightConnector1">
                    <a:avLst/>
                  </a:prstGeom>
                  <a:noFill/>
                  <a:ln w="12700" cap="rnd" cmpd="sng">
                    <a:solidFill>
                      <a:srgbClr val="618FFD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35" name="Shape 335"/>
                  <p:cNvCxnSpPr/>
                  <p:nvPr/>
                </p:nvCxnSpPr>
                <p:spPr>
                  <a:xfrm>
                    <a:off x="2574925" y="241300"/>
                    <a:ext cx="1587" cy="65086"/>
                  </a:xfrm>
                  <a:prstGeom prst="straightConnector1">
                    <a:avLst/>
                  </a:prstGeom>
                  <a:noFill/>
                  <a:ln w="12700" cap="rnd" cmpd="sng">
                    <a:solidFill>
                      <a:srgbClr val="618FFD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</p:cxnSp>
            </p:grpSp>
            <p:sp>
              <p:nvSpPr>
                <p:cNvPr id="336" name="Shape 336"/>
                <p:cNvSpPr txBox="1"/>
                <p:nvPr/>
              </p:nvSpPr>
              <p:spPr>
                <a:xfrm>
                  <a:off x="357187" y="1220787"/>
                  <a:ext cx="1874836" cy="304799"/>
                </a:xfrm>
                <a:prstGeom prst="rect">
                  <a:avLst/>
                </a:prstGeom>
                <a:noFill/>
                <a:ln w="12700" cap="rnd" cmpd="sng">
                  <a:solidFill>
                    <a:srgbClr val="618FFD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37" name="Shape 337"/>
                <p:cNvCxnSpPr/>
                <p:nvPr/>
              </p:nvCxnSpPr>
              <p:spPr>
                <a:xfrm>
                  <a:off x="1763711" y="1373187"/>
                  <a:ext cx="374649" cy="3174"/>
                </a:xfrm>
                <a:prstGeom prst="straightConnector1">
                  <a:avLst/>
                </a:prstGeom>
                <a:noFill/>
                <a:ln w="50800" cap="rnd" cmpd="sng">
                  <a:solidFill>
                    <a:srgbClr val="618FFD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38" name="Shape 338"/>
              <p:cNvSpPr txBox="1"/>
              <p:nvPr/>
            </p:nvSpPr>
            <p:spPr>
              <a:xfrm rot="10800000" flipH="1">
                <a:off x="474662" y="1319212"/>
                <a:ext cx="203199" cy="31750"/>
              </a:xfrm>
              <a:prstGeom prst="rect">
                <a:avLst/>
              </a:prstGeom>
              <a:solidFill>
                <a:srgbClr val="000000"/>
              </a:solidFill>
              <a:ln w="50800" cap="rnd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39" name="Shape 33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84212" y="158750"/>
              <a:ext cx="1206499" cy="8635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0" name="Shape 340"/>
          <p:cNvSpPr txBox="1"/>
          <p:nvPr/>
        </p:nvSpPr>
        <p:spPr>
          <a:xfrm>
            <a:off x="13360400" y="2832100"/>
            <a:ext cx="1701799" cy="101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blah blah blah blah</a:t>
            </a:r>
          </a:p>
        </p:txBody>
      </p:sp>
      <p:cxnSp>
        <p:nvCxnSpPr>
          <p:cNvPr id="341" name="Shape 341"/>
          <p:cNvCxnSpPr/>
          <p:nvPr/>
        </p:nvCxnSpPr>
        <p:spPr>
          <a:xfrm>
            <a:off x="7800975" y="5373687"/>
            <a:ext cx="5356225" cy="168274"/>
          </a:xfrm>
          <a:prstGeom prst="straightConnector1">
            <a:avLst/>
          </a:prstGeom>
          <a:noFill/>
          <a:ln w="762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2" name="Shape 342"/>
          <p:cNvCxnSpPr/>
          <p:nvPr/>
        </p:nvCxnSpPr>
        <p:spPr>
          <a:xfrm rot="10800000" flipH="1">
            <a:off x="7781925" y="5691186"/>
            <a:ext cx="5375274" cy="858836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43" name="Shape 343"/>
          <p:cNvSpPr txBox="1"/>
          <p:nvPr/>
        </p:nvSpPr>
        <p:spPr>
          <a:xfrm>
            <a:off x="9382125" y="6972300"/>
            <a:ext cx="5549899" cy="1663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Please connect me to the web server (port 80) on </a:t>
            </a:r>
            <a:r>
              <a:rPr lang="en-US" sz="3600" b="0" i="0" u="sng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  <a:hlinkClick r:id="rId6"/>
              </a:rPr>
              <a:t>http://www.dr-chuck.com</a:t>
            </a:r>
            <a:r>
              <a:rPr lang="en-US" sz="36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</p:txBody>
      </p:sp>
      <p:sp>
        <p:nvSpPr>
          <p:cNvPr id="344" name="Shape 344"/>
          <p:cNvSpPr txBox="1"/>
          <p:nvPr/>
        </p:nvSpPr>
        <p:spPr>
          <a:xfrm>
            <a:off x="60325" y="8432800"/>
            <a:ext cx="8562900" cy="469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Clipart: </a:t>
            </a:r>
            <a:r>
              <a:rPr lang="en-US" sz="2500" b="0" i="0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http://www.clker.com/search/networksym/1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Common TCP Ports</a:t>
            </a:r>
          </a:p>
        </p:txBody>
      </p:sp>
      <p:pic>
        <p:nvPicPr>
          <p:cNvPr id="350" name="Shape 3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2525" y="2322511"/>
            <a:ext cx="13935074" cy="5986461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Shape 351"/>
          <p:cNvSpPr txBox="1"/>
          <p:nvPr/>
        </p:nvSpPr>
        <p:spPr>
          <a:xfrm>
            <a:off x="1405475" y="8115300"/>
            <a:ext cx="136820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4"/>
              </a:rPr>
              <a:t>http://en.wikipedia.org/wiki/List_of_TCP_and_UDP_port_numbers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Shape 3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8700" y="444500"/>
            <a:ext cx="9109075" cy="68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Shape 357"/>
          <p:cNvSpPr txBox="1"/>
          <p:nvPr/>
        </p:nvSpPr>
        <p:spPr>
          <a:xfrm>
            <a:off x="3273425" y="7600950"/>
            <a:ext cx="101600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Sometimes we see the port number in the URL if the web server is running on a </a:t>
            </a:r>
            <a:r>
              <a:rPr lang="en-US" sz="3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non-standard</a:t>
            </a:r>
            <a:r>
              <a:rPr lang="en-US" sz="36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port.</a:t>
            </a:r>
          </a:p>
        </p:txBody>
      </p:sp>
      <p:sp>
        <p:nvSpPr>
          <p:cNvPr id="358" name="Shape 358"/>
          <p:cNvSpPr/>
          <p:nvPr/>
        </p:nvSpPr>
        <p:spPr>
          <a:xfrm rot="-5400000">
            <a:off x="7988249" y="1358949"/>
            <a:ext cx="876300" cy="774599"/>
          </a:xfrm>
          <a:prstGeom prst="rightArrow">
            <a:avLst>
              <a:gd name="adj1" fmla="val 7826"/>
              <a:gd name="adj2" fmla="val 7344"/>
            </a:avLst>
          </a:prstGeom>
          <a:solidFill>
            <a:srgbClr val="00FF00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Sockets in Python</a:t>
            </a:r>
          </a:p>
        </p:txBody>
      </p:sp>
      <p:sp>
        <p:nvSpPr>
          <p:cNvPr id="364" name="Shape 364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18288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Python has built-in support for TCP Sockets</a:t>
            </a:r>
          </a:p>
        </p:txBody>
      </p:sp>
      <p:sp>
        <p:nvSpPr>
          <p:cNvPr id="365" name="Shape 365"/>
          <p:cNvSpPr txBox="1"/>
          <p:nvPr/>
        </p:nvSpPr>
        <p:spPr>
          <a:xfrm>
            <a:off x="1574800" y="4621200"/>
            <a:ext cx="14092799" cy="1755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import socket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mysock = socket.socket(socket.AF_INET, socket.SOCK_STREAM)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mysock.connect( ('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www.py4inf.com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',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80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) )</a:t>
            </a:r>
          </a:p>
        </p:txBody>
      </p:sp>
      <p:sp>
        <p:nvSpPr>
          <p:cNvPr id="366" name="Shape 366"/>
          <p:cNvSpPr txBox="1"/>
          <p:nvPr/>
        </p:nvSpPr>
        <p:spPr>
          <a:xfrm>
            <a:off x="3212625" y="8154075"/>
            <a:ext cx="8963999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800" b="0" i="0" u="sng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http://docs.python.org/library/socket.html</a:t>
            </a:r>
          </a:p>
        </p:txBody>
      </p:sp>
      <p:sp>
        <p:nvSpPr>
          <p:cNvPr id="367" name="Shape 367"/>
          <p:cNvSpPr txBox="1"/>
          <p:nvPr/>
        </p:nvSpPr>
        <p:spPr>
          <a:xfrm>
            <a:off x="3117850" y="7112000"/>
            <a:ext cx="1079400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Host</a:t>
            </a:r>
          </a:p>
        </p:txBody>
      </p:sp>
      <p:sp>
        <p:nvSpPr>
          <p:cNvPr id="368" name="Shape 368"/>
          <p:cNvSpPr txBox="1"/>
          <p:nvPr/>
        </p:nvSpPr>
        <p:spPr>
          <a:xfrm>
            <a:off x="10909300" y="7112000"/>
            <a:ext cx="976199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Port</a:t>
            </a:r>
          </a:p>
        </p:txBody>
      </p:sp>
      <p:cxnSp>
        <p:nvCxnSpPr>
          <p:cNvPr id="369" name="Shape 369"/>
          <p:cNvCxnSpPr/>
          <p:nvPr/>
        </p:nvCxnSpPr>
        <p:spPr>
          <a:xfrm flipH="1">
            <a:off x="4289375" y="6643686"/>
            <a:ext cx="2089199" cy="725399"/>
          </a:xfrm>
          <a:prstGeom prst="straightConnector1">
            <a:avLst/>
          </a:prstGeom>
          <a:noFill/>
          <a:ln w="1016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0" name="Shape 370"/>
          <p:cNvCxnSpPr/>
          <p:nvPr/>
        </p:nvCxnSpPr>
        <p:spPr>
          <a:xfrm>
            <a:off x="9105900" y="6665911"/>
            <a:ext cx="1693799" cy="923999"/>
          </a:xfrm>
          <a:prstGeom prst="straightConnector1">
            <a:avLst/>
          </a:prstGeom>
          <a:noFill/>
          <a:ln w="1016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Shape 375"/>
          <p:cNvSpPr txBox="1"/>
          <p:nvPr/>
        </p:nvSpPr>
        <p:spPr>
          <a:xfrm>
            <a:off x="11607800" y="4254500"/>
            <a:ext cx="45578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http://xkcd.com/353/</a:t>
            </a:r>
          </a:p>
        </p:txBody>
      </p:sp>
      <p:pic>
        <p:nvPicPr>
          <p:cNvPr id="376" name="Shape 3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1600" y="241300"/>
            <a:ext cx="7619999" cy="864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Application Protocol </a:t>
            </a:r>
          </a:p>
        </p:txBody>
      </p:sp>
      <p:sp>
        <p:nvSpPr>
          <p:cNvPr id="382" name="Shape 382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264399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Since TCP (and Python) gives us a reliable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socket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, what 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 we want to do with the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socket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?  What problem do we want to solve?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Application Protocols</a:t>
            </a:r>
          </a:p>
          <a:p>
            <a:pPr marL="914400" marR="0" lvl="1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Mail</a:t>
            </a:r>
          </a:p>
          <a:p>
            <a:pPr marL="914400" marR="0" lvl="1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World Wide Web</a:t>
            </a:r>
          </a:p>
        </p:txBody>
      </p:sp>
      <p:pic>
        <p:nvPicPr>
          <p:cNvPr id="383" name="Shape 3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09100" y="2806700"/>
            <a:ext cx="6007100" cy="4698999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Shape 384"/>
          <p:cNvSpPr txBox="1"/>
          <p:nvPr/>
        </p:nvSpPr>
        <p:spPr>
          <a:xfrm>
            <a:off x="9613900" y="3390900"/>
            <a:ext cx="5410200" cy="6730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Shape 385"/>
          <p:cNvSpPr txBox="1"/>
          <p:nvPr/>
        </p:nvSpPr>
        <p:spPr>
          <a:xfrm>
            <a:off x="7934325" y="7610950"/>
            <a:ext cx="8152200" cy="914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Source: </a:t>
            </a:r>
            <a:r>
              <a:rPr lang="en-US" sz="28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4"/>
              </a:rPr>
              <a:t>http://en.wikipedia.org/wiki/Internet_Protocol_Suite</a:t>
            </a:r>
            <a:r>
              <a:rPr lang="en-US" sz="28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HTTP - Hypertext Transport Protocol</a:t>
            </a:r>
          </a:p>
        </p:txBody>
      </p:sp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1155700" y="2832100"/>
            <a:ext cx="13932000" cy="5270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dominant Application Layer Protocol on the Internet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Invented for the Web - to Retrieve HTML,  Images, Documents, etc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Extended to be data in addition to documents - RSS, Web Services, etc..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Basic Concept - Make a Connection - Request a document - Retrieve the Document - Close the Connection</a:t>
            </a:r>
          </a:p>
        </p:txBody>
      </p:sp>
      <p:sp>
        <p:nvSpPr>
          <p:cNvPr id="392" name="Shape 392"/>
          <p:cNvSpPr txBox="1"/>
          <p:nvPr/>
        </p:nvSpPr>
        <p:spPr>
          <a:xfrm>
            <a:off x="4773597" y="8102600"/>
            <a:ext cx="7368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http://en.wikipedia.org/wiki/Http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39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HTTP</a:t>
            </a:r>
          </a:p>
        </p:txBody>
      </p:sp>
      <p:sp>
        <p:nvSpPr>
          <p:cNvPr id="398" name="Shape 39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42125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47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H</a:t>
            </a:r>
            <a:r>
              <a:rPr lang="en-US" sz="4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yper</a:t>
            </a:r>
            <a:r>
              <a:rPr lang="en-US" sz="47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</a:t>
            </a:r>
            <a:r>
              <a:rPr lang="en-US" sz="4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ext</a:t>
            </a:r>
            <a:r>
              <a:rPr lang="en-US" sz="47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T</a:t>
            </a:r>
            <a:r>
              <a:rPr lang="en-US" sz="4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ransport </a:t>
            </a:r>
            <a:r>
              <a:rPr lang="en-US" sz="47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P</a:t>
            </a:r>
            <a:r>
              <a:rPr lang="en-US" sz="47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rotocol is the set of rules to allow browsers to retrieve web documents from servers over the Internet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40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What is a Protocol?</a:t>
            </a:r>
          </a:p>
        </p:txBody>
      </p:sp>
      <p:sp>
        <p:nvSpPr>
          <p:cNvPr id="404" name="Shape 40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9027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set of rules that all parties follow for so we can predict each other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’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 behavior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And not bump into each other</a:t>
            </a:r>
          </a:p>
          <a:p>
            <a:pPr marL="914400" marR="0" lvl="1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On two-way roads in USA, drive on the right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hand side of the road</a:t>
            </a:r>
          </a:p>
          <a:p>
            <a:pPr marL="914400" marR="0" lvl="1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On two-way roads in the UK, drive on the left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hand side of the road</a:t>
            </a:r>
          </a:p>
        </p:txBody>
      </p:sp>
      <p:pic>
        <p:nvPicPr>
          <p:cNvPr id="405" name="Shape 4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17311" y="2413000"/>
            <a:ext cx="4065586" cy="255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Shape 40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12550" y="5549900"/>
            <a:ext cx="4070350" cy="285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411"/>
          <p:cNvSpPr txBox="1"/>
          <p:nvPr/>
        </p:nvSpPr>
        <p:spPr>
          <a:xfrm>
            <a:off x="3178175" y="3098800"/>
            <a:ext cx="9167811" cy="64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http://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www.dr-chuck.com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/page1.htm</a:t>
            </a:r>
          </a:p>
        </p:txBody>
      </p:sp>
      <p:pic>
        <p:nvPicPr>
          <p:cNvPr id="412" name="Shape 4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3300" y="774700"/>
            <a:ext cx="14025561" cy="123189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Shape 413"/>
          <p:cNvSpPr txBox="1"/>
          <p:nvPr/>
        </p:nvSpPr>
        <p:spPr>
          <a:xfrm>
            <a:off x="3014661" y="4114800"/>
            <a:ext cx="1722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protocol</a:t>
            </a:r>
          </a:p>
        </p:txBody>
      </p:sp>
      <p:sp>
        <p:nvSpPr>
          <p:cNvPr id="414" name="Shape 414"/>
          <p:cNvSpPr txBox="1"/>
          <p:nvPr/>
        </p:nvSpPr>
        <p:spPr>
          <a:xfrm>
            <a:off x="6805611" y="4114800"/>
            <a:ext cx="923924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host</a:t>
            </a:r>
          </a:p>
        </p:txBody>
      </p:sp>
      <p:sp>
        <p:nvSpPr>
          <p:cNvPr id="415" name="Shape 415"/>
          <p:cNvSpPr txBox="1"/>
          <p:nvPr/>
        </p:nvSpPr>
        <p:spPr>
          <a:xfrm>
            <a:off x="9825800" y="4114800"/>
            <a:ext cx="24120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document</a:t>
            </a:r>
          </a:p>
        </p:txBody>
      </p:sp>
      <p:cxnSp>
        <p:nvCxnSpPr>
          <p:cNvPr id="416" name="Shape 416"/>
          <p:cNvCxnSpPr/>
          <p:nvPr/>
        </p:nvCxnSpPr>
        <p:spPr>
          <a:xfrm flipH="1">
            <a:off x="5087937" y="2751136"/>
            <a:ext cx="22225" cy="2108200"/>
          </a:xfrm>
          <a:prstGeom prst="straightConnector1">
            <a:avLst/>
          </a:prstGeom>
          <a:noFill/>
          <a:ln w="254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17" name="Shape 417"/>
          <p:cNvCxnSpPr/>
          <p:nvPr/>
        </p:nvCxnSpPr>
        <p:spPr>
          <a:xfrm flipH="1">
            <a:off x="9571036" y="2751136"/>
            <a:ext cx="22225" cy="2108200"/>
          </a:xfrm>
          <a:prstGeom prst="straightConnector1">
            <a:avLst/>
          </a:prstGeom>
          <a:noFill/>
          <a:ln w="254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18" name="Shape 4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11000" y="5413375"/>
            <a:ext cx="3276600" cy="3286124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Shape 419"/>
          <p:cNvSpPr txBox="1"/>
          <p:nvPr/>
        </p:nvSpPr>
        <p:spPr>
          <a:xfrm>
            <a:off x="11995150" y="7410450"/>
            <a:ext cx="2903537" cy="1143000"/>
          </a:xfrm>
          <a:prstGeom prst="rect">
            <a:avLst/>
          </a:prstGeom>
          <a:solidFill>
            <a:srgbClr val="000000">
              <a:alpha val="52549"/>
            </a:srgbClr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Robert Cailliau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CERN</a:t>
            </a:r>
          </a:p>
        </p:txBody>
      </p:sp>
      <p:sp>
        <p:nvSpPr>
          <p:cNvPr id="420" name="Shape 420"/>
          <p:cNvSpPr txBox="1"/>
          <p:nvPr/>
        </p:nvSpPr>
        <p:spPr>
          <a:xfrm>
            <a:off x="1465598" y="7054850"/>
            <a:ext cx="9559500" cy="609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5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5"/>
              </a:rPr>
              <a:t>http://www.youtube.com/watch?v=x2GylLq59rI</a:t>
            </a:r>
          </a:p>
        </p:txBody>
      </p:sp>
      <p:sp>
        <p:nvSpPr>
          <p:cNvPr id="421" name="Shape 421"/>
          <p:cNvSpPr txBox="1"/>
          <p:nvPr/>
        </p:nvSpPr>
        <p:spPr>
          <a:xfrm>
            <a:off x="813175" y="8077200"/>
            <a:ext cx="22160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1:17 - 2:19 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42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Getting Data From The Server</a:t>
            </a:r>
          </a:p>
        </p:txBody>
      </p:sp>
      <p:sp>
        <p:nvSpPr>
          <p:cNvPr id="427" name="Shape 42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Each time the user clicks on an anchor tag with an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href=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value to switch to a new page, the browser makes a connection to the web server and issues a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GET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request - to GET the content of the page at the specified URL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server returns the HTML document to the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b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rowser, which formats and displays the document to the user</a:t>
            </a: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43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Making an HTTP request</a:t>
            </a:r>
          </a:p>
        </p:txBody>
      </p:sp>
      <p:sp>
        <p:nvSpPr>
          <p:cNvPr id="433" name="Shape 43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Connect to the server like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www.dr-chuck.com</a:t>
            </a:r>
          </a:p>
          <a:p>
            <a:pPr marL="1828800" marR="0" lvl="3" indent="-228600" algn="l" rtl="0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hand shake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  <a:p>
            <a:pPr marL="457200" marR="0" lvl="0" indent="-228600" algn="l" rtl="0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Request a document (or the default document)</a:t>
            </a:r>
          </a:p>
          <a:p>
            <a:pPr marL="1828800" marR="0" lvl="3" indent="-228600" algn="l" rtl="0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GET http://www.dr-chuck.com/page1.htm</a:t>
            </a:r>
          </a:p>
          <a:p>
            <a:pPr marL="1828800" marR="0" lvl="3" indent="-228600" algn="l" rtl="0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GET http://www.mlive.com/ann-arbor/</a:t>
            </a:r>
          </a:p>
          <a:p>
            <a:pPr marL="1828800" marR="0" lvl="3" indent="-228600" algn="l" rtl="0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GET http://www.facebook.com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Shape 4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500" y="4978400"/>
            <a:ext cx="4978399" cy="294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Shape 4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9461" y="2741611"/>
            <a:ext cx="1644649" cy="124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444"/>
          <p:cNvSpPr txBox="1"/>
          <p:nvPr/>
        </p:nvSpPr>
        <p:spPr>
          <a:xfrm>
            <a:off x="6572250" y="4572000"/>
            <a:ext cx="2746374" cy="9778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60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Browser</a:t>
            </a:r>
          </a:p>
        </p:txBody>
      </p:sp>
      <p:pic>
        <p:nvPicPr>
          <p:cNvPr id="445" name="Shape 4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500" y="4978400"/>
            <a:ext cx="4978399" cy="2946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6" name="Shape 446"/>
          <p:cNvCxnSpPr/>
          <p:nvPr/>
        </p:nvCxnSpPr>
        <p:spPr>
          <a:xfrm flipH="1">
            <a:off x="4514850" y="5167312"/>
            <a:ext cx="1901824" cy="1363661"/>
          </a:xfrm>
          <a:prstGeom prst="straightConnector1">
            <a:avLst/>
          </a:prstGeom>
          <a:noFill/>
          <a:ln w="1143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pic>
        <p:nvPicPr>
          <p:cNvPr id="447" name="Shape 4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9461" y="2741611"/>
            <a:ext cx="1644649" cy="124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Shape 4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9461" y="2741611"/>
            <a:ext cx="1644649" cy="1244599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Shape 453"/>
          <p:cNvSpPr txBox="1"/>
          <p:nvPr/>
        </p:nvSpPr>
        <p:spPr>
          <a:xfrm>
            <a:off x="6572250" y="4572000"/>
            <a:ext cx="2746374" cy="9778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60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Browser</a:t>
            </a:r>
          </a:p>
        </p:txBody>
      </p:sp>
      <p:cxnSp>
        <p:nvCxnSpPr>
          <p:cNvPr id="454" name="Shape 454"/>
          <p:cNvCxnSpPr/>
          <p:nvPr/>
        </p:nvCxnSpPr>
        <p:spPr>
          <a:xfrm flipH="1">
            <a:off x="7561261" y="2292350"/>
            <a:ext cx="22225" cy="2065337"/>
          </a:xfrm>
          <a:prstGeom prst="straightConnector1">
            <a:avLst/>
          </a:prstGeom>
          <a:noFill/>
          <a:ln w="1143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pic>
        <p:nvPicPr>
          <p:cNvPr id="455" name="Shape 4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500" y="4978400"/>
            <a:ext cx="4978399" cy="2946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6" name="Shape 456"/>
          <p:cNvCxnSpPr/>
          <p:nvPr/>
        </p:nvCxnSpPr>
        <p:spPr>
          <a:xfrm flipH="1">
            <a:off x="4514850" y="5167312"/>
            <a:ext cx="1901824" cy="1363661"/>
          </a:xfrm>
          <a:prstGeom prst="straightConnector1">
            <a:avLst/>
          </a:prstGeom>
          <a:noFill/>
          <a:ln w="1143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57" name="Shape 457"/>
          <p:cNvSpPr txBox="1"/>
          <p:nvPr/>
        </p:nvSpPr>
        <p:spPr>
          <a:xfrm>
            <a:off x="6281737" y="577850"/>
            <a:ext cx="3327400" cy="1625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52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Web Server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Shape 458"/>
          <p:cNvSpPr txBox="1"/>
          <p:nvPr/>
        </p:nvSpPr>
        <p:spPr>
          <a:xfrm>
            <a:off x="7315200" y="1651000"/>
            <a:ext cx="1270000" cy="5460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80</a:t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Shape 4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9461" y="2741611"/>
            <a:ext cx="1644649" cy="1244599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Shape 464"/>
          <p:cNvSpPr txBox="1"/>
          <p:nvPr/>
        </p:nvSpPr>
        <p:spPr>
          <a:xfrm>
            <a:off x="6572250" y="4572000"/>
            <a:ext cx="2746374" cy="9778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60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Browser</a:t>
            </a:r>
          </a:p>
        </p:txBody>
      </p:sp>
      <p:cxnSp>
        <p:nvCxnSpPr>
          <p:cNvPr id="465" name="Shape 465"/>
          <p:cNvCxnSpPr/>
          <p:nvPr/>
        </p:nvCxnSpPr>
        <p:spPr>
          <a:xfrm flipH="1">
            <a:off x="7561261" y="2292350"/>
            <a:ext cx="22225" cy="2065337"/>
          </a:xfrm>
          <a:prstGeom prst="straightConnector1">
            <a:avLst/>
          </a:prstGeom>
          <a:noFill/>
          <a:ln w="1143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pic>
        <p:nvPicPr>
          <p:cNvPr id="466" name="Shape 4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500" y="4978400"/>
            <a:ext cx="4978399" cy="2946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Shape 467"/>
          <p:cNvCxnSpPr/>
          <p:nvPr/>
        </p:nvCxnSpPr>
        <p:spPr>
          <a:xfrm flipH="1">
            <a:off x="4514850" y="5167312"/>
            <a:ext cx="1901824" cy="1363661"/>
          </a:xfrm>
          <a:prstGeom prst="straightConnector1">
            <a:avLst/>
          </a:prstGeom>
          <a:noFill/>
          <a:ln w="1143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68" name="Shape 468"/>
          <p:cNvSpPr txBox="1"/>
          <p:nvPr/>
        </p:nvSpPr>
        <p:spPr>
          <a:xfrm>
            <a:off x="128587" y="3276600"/>
            <a:ext cx="6984899" cy="545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GET http://www.dr-chuck.com/page2.htm</a:t>
            </a:r>
          </a:p>
        </p:txBody>
      </p:sp>
      <p:sp>
        <p:nvSpPr>
          <p:cNvPr id="469" name="Shape 469"/>
          <p:cNvSpPr txBox="1"/>
          <p:nvPr/>
        </p:nvSpPr>
        <p:spPr>
          <a:xfrm>
            <a:off x="6281737" y="577850"/>
            <a:ext cx="3327400" cy="1625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52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Web Server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Shape 470"/>
          <p:cNvSpPr txBox="1"/>
          <p:nvPr/>
        </p:nvSpPr>
        <p:spPr>
          <a:xfrm>
            <a:off x="7315200" y="1651000"/>
            <a:ext cx="1270000" cy="5460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80</a:t>
            </a:r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Shape 4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9461" y="2741611"/>
            <a:ext cx="1644649" cy="124459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Shape 476"/>
          <p:cNvSpPr txBox="1"/>
          <p:nvPr/>
        </p:nvSpPr>
        <p:spPr>
          <a:xfrm>
            <a:off x="6572250" y="4572000"/>
            <a:ext cx="2746374" cy="9778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60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Browser</a:t>
            </a:r>
          </a:p>
        </p:txBody>
      </p:sp>
      <p:cxnSp>
        <p:nvCxnSpPr>
          <p:cNvPr id="477" name="Shape 477"/>
          <p:cNvCxnSpPr/>
          <p:nvPr/>
        </p:nvCxnSpPr>
        <p:spPr>
          <a:xfrm flipH="1">
            <a:off x="7561261" y="2292350"/>
            <a:ext cx="22225" cy="2065337"/>
          </a:xfrm>
          <a:prstGeom prst="straightConnector1">
            <a:avLst/>
          </a:prstGeom>
          <a:noFill/>
          <a:ln w="1143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8" name="Shape 478"/>
          <p:cNvCxnSpPr/>
          <p:nvPr/>
        </p:nvCxnSpPr>
        <p:spPr>
          <a:xfrm rot="10800000" flipH="1">
            <a:off x="8308975" y="2314574"/>
            <a:ext cx="22225" cy="2108200"/>
          </a:xfrm>
          <a:prstGeom prst="straightConnector1">
            <a:avLst/>
          </a:prstGeom>
          <a:noFill/>
          <a:ln w="1143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pic>
        <p:nvPicPr>
          <p:cNvPr id="479" name="Shape 4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500" y="4978400"/>
            <a:ext cx="4978399" cy="2946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0" name="Shape 480"/>
          <p:cNvCxnSpPr/>
          <p:nvPr/>
        </p:nvCxnSpPr>
        <p:spPr>
          <a:xfrm flipH="1">
            <a:off x="4514850" y="5167312"/>
            <a:ext cx="1901824" cy="1363661"/>
          </a:xfrm>
          <a:prstGeom prst="straightConnector1">
            <a:avLst/>
          </a:prstGeom>
          <a:noFill/>
          <a:ln w="1143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1" name="Shape 481"/>
          <p:cNvSpPr txBox="1"/>
          <p:nvPr/>
        </p:nvSpPr>
        <p:spPr>
          <a:xfrm>
            <a:off x="10987086" y="1473200"/>
            <a:ext cx="4965600" cy="3212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&lt;h1&gt;The Second Page&lt;/h1&gt;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&lt;p&gt;If you like, you can switch back to the &lt;a href="page1.htm"&gt;First Page&lt;/a&gt;.&lt;/p&gt;</a:t>
            </a:r>
          </a:p>
        </p:txBody>
      </p:sp>
      <p:sp>
        <p:nvSpPr>
          <p:cNvPr id="482" name="Shape 482"/>
          <p:cNvSpPr txBox="1"/>
          <p:nvPr/>
        </p:nvSpPr>
        <p:spPr>
          <a:xfrm>
            <a:off x="6281737" y="577850"/>
            <a:ext cx="3327400" cy="1625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52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Web Server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Shape 483"/>
          <p:cNvSpPr txBox="1"/>
          <p:nvPr/>
        </p:nvSpPr>
        <p:spPr>
          <a:xfrm>
            <a:off x="7315200" y="1651000"/>
            <a:ext cx="1270000" cy="5460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80</a:t>
            </a:r>
          </a:p>
        </p:txBody>
      </p:sp>
      <p:sp>
        <p:nvSpPr>
          <p:cNvPr id="484" name="Shape 484"/>
          <p:cNvSpPr txBox="1"/>
          <p:nvPr/>
        </p:nvSpPr>
        <p:spPr>
          <a:xfrm>
            <a:off x="128587" y="3276600"/>
            <a:ext cx="6984899" cy="545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GET http://www.dr-chuck.com/page2.htm</a:t>
            </a:r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Shape 4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29461" y="2741611"/>
            <a:ext cx="1644649" cy="1244599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Shape 490"/>
          <p:cNvSpPr txBox="1"/>
          <p:nvPr/>
        </p:nvSpPr>
        <p:spPr>
          <a:xfrm>
            <a:off x="6572250" y="4572000"/>
            <a:ext cx="2746374" cy="9778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60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Browser</a:t>
            </a:r>
          </a:p>
        </p:txBody>
      </p:sp>
      <p:sp>
        <p:nvSpPr>
          <p:cNvPr id="491" name="Shape 491"/>
          <p:cNvSpPr txBox="1"/>
          <p:nvPr/>
        </p:nvSpPr>
        <p:spPr>
          <a:xfrm>
            <a:off x="6281737" y="577850"/>
            <a:ext cx="3327400" cy="1625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52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Web Server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2" name="Shape 492"/>
          <p:cNvCxnSpPr/>
          <p:nvPr/>
        </p:nvCxnSpPr>
        <p:spPr>
          <a:xfrm flipH="1">
            <a:off x="7561261" y="2292350"/>
            <a:ext cx="22225" cy="2065337"/>
          </a:xfrm>
          <a:prstGeom prst="straightConnector1">
            <a:avLst/>
          </a:prstGeom>
          <a:noFill/>
          <a:ln w="1143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93" name="Shape 493"/>
          <p:cNvCxnSpPr/>
          <p:nvPr/>
        </p:nvCxnSpPr>
        <p:spPr>
          <a:xfrm rot="10800000" flipH="1">
            <a:off x="8308975" y="2314574"/>
            <a:ext cx="22225" cy="2108200"/>
          </a:xfrm>
          <a:prstGeom prst="straightConnector1">
            <a:avLst/>
          </a:prstGeom>
          <a:noFill/>
          <a:ln w="1143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pic>
        <p:nvPicPr>
          <p:cNvPr id="494" name="Shape 4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500" y="4978400"/>
            <a:ext cx="4978399" cy="294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Shape 4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5500" y="4978400"/>
            <a:ext cx="4978399" cy="2946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6" name="Shape 496"/>
          <p:cNvCxnSpPr/>
          <p:nvPr/>
        </p:nvCxnSpPr>
        <p:spPr>
          <a:xfrm flipH="1">
            <a:off x="4514850" y="5167312"/>
            <a:ext cx="1901824" cy="1363661"/>
          </a:xfrm>
          <a:prstGeom prst="straightConnector1">
            <a:avLst/>
          </a:prstGeom>
          <a:noFill/>
          <a:ln w="1143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97" name="Shape 497"/>
          <p:cNvCxnSpPr/>
          <p:nvPr/>
        </p:nvCxnSpPr>
        <p:spPr>
          <a:xfrm rot="10800000">
            <a:off x="9501187" y="4987925"/>
            <a:ext cx="1395411" cy="973136"/>
          </a:xfrm>
          <a:prstGeom prst="straightConnector1">
            <a:avLst/>
          </a:prstGeom>
          <a:noFill/>
          <a:ln w="1143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98" name="Shape 498"/>
          <p:cNvSpPr txBox="1"/>
          <p:nvPr/>
        </p:nvSpPr>
        <p:spPr>
          <a:xfrm>
            <a:off x="10987086" y="1473200"/>
            <a:ext cx="4965700" cy="3213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&lt;h1&gt;The Second Page&lt;/h1&gt;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&lt;p&gt;If you like, you can switch back to the &lt;a href="page1.htm"&gt;First Page&lt;/a&gt;.&lt;/p&gt;</a:t>
            </a:r>
          </a:p>
        </p:txBody>
      </p:sp>
      <p:sp>
        <p:nvSpPr>
          <p:cNvPr id="499" name="Shape 499"/>
          <p:cNvSpPr txBox="1"/>
          <p:nvPr/>
        </p:nvSpPr>
        <p:spPr>
          <a:xfrm>
            <a:off x="7315200" y="1651000"/>
            <a:ext cx="1270000" cy="54609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80</a:t>
            </a:r>
          </a:p>
        </p:txBody>
      </p:sp>
      <p:sp>
        <p:nvSpPr>
          <p:cNvPr id="500" name="Shape 500"/>
          <p:cNvSpPr txBox="1"/>
          <p:nvPr/>
        </p:nvSpPr>
        <p:spPr>
          <a:xfrm>
            <a:off x="128587" y="3276600"/>
            <a:ext cx="6984899" cy="545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GET http://www.dr-chuck.com/page2.htm</a:t>
            </a:r>
          </a:p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50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Internet Standards</a:t>
            </a:r>
          </a:p>
        </p:txBody>
      </p:sp>
      <p:sp>
        <p:nvSpPr>
          <p:cNvPr id="506" name="Shape 506"/>
          <p:cNvSpPr txBox="1">
            <a:spLocks noGrp="1"/>
          </p:cNvSpPr>
          <p:nvPr>
            <p:ph type="body" idx="1"/>
          </p:nvPr>
        </p:nvSpPr>
        <p:spPr>
          <a:xfrm>
            <a:off x="850900" y="2603500"/>
            <a:ext cx="7734299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standards for all of the Internet protocols (inner workings) are developed by an organization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Internet Engineering Task Force (IETF)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www.ietf.org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Standards are called 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RFCs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- 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Request for Comments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</p:txBody>
      </p:sp>
      <p:sp>
        <p:nvSpPr>
          <p:cNvPr id="507" name="Shape 507"/>
          <p:cNvSpPr txBox="1"/>
          <p:nvPr/>
        </p:nvSpPr>
        <p:spPr>
          <a:xfrm>
            <a:off x="8667900" y="7805525"/>
            <a:ext cx="7033799" cy="558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Source: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0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http://tools.ietf.org/html/rfc791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</p:txBody>
      </p:sp>
      <p:pic>
        <p:nvPicPr>
          <p:cNvPr id="508" name="Shape 5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53500" y="2794000"/>
            <a:ext cx="6578599" cy="253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Shape 50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45561" y="5829300"/>
            <a:ext cx="6586536" cy="123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Shape 5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9775" y="1043500"/>
            <a:ext cx="8665800" cy="79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Shape 515"/>
          <p:cNvSpPr txBox="1"/>
          <p:nvPr/>
        </p:nvSpPr>
        <p:spPr>
          <a:xfrm>
            <a:off x="3352275" y="130825"/>
            <a:ext cx="10955100" cy="769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400" b="1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http://www.w3.org/Protocols/rfc2616/rfc2616.txt</a:t>
            </a:r>
          </a:p>
        </p:txBody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Shape 5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500" y="393700"/>
            <a:ext cx="15354300" cy="835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Shape 52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Making an HTTP request</a:t>
            </a:r>
          </a:p>
        </p:txBody>
      </p:sp>
      <p:sp>
        <p:nvSpPr>
          <p:cNvPr id="526" name="Shape 52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Connect to the server like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www.dr-chuck.com</a:t>
            </a:r>
          </a:p>
          <a:p>
            <a:pPr marL="1828800" marR="0" lvl="3" indent="-228600" algn="l" rtl="0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hand shake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  <a:p>
            <a:pPr marL="457200" marR="0" lvl="0" indent="-228600" algn="l" rtl="0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Request a document (or the default document)</a:t>
            </a:r>
          </a:p>
          <a:p>
            <a:pPr marL="1828800" marR="0" lvl="3" indent="-228600" algn="l" rtl="0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GET http://www.dr-chuck.com/page1.htm</a:t>
            </a:r>
          </a:p>
          <a:p>
            <a:pPr marL="1828800" marR="0" lvl="3" indent="-228600" algn="l" rtl="0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GET http://www.mlive.com/ann-arbor/</a:t>
            </a:r>
          </a:p>
          <a:p>
            <a:pPr marL="1828800" marR="0" lvl="3" indent="-228600" algn="l" rtl="0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GET http://www.facebook.com</a:t>
            </a:r>
          </a:p>
        </p:txBody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53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7518399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7600" b="0" i="0" u="none" strike="noStrike" cap="none" baseline="0">
                <a:solidFill>
                  <a:srgbClr val="FF7F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7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Hacking</a:t>
            </a:r>
            <a:r>
              <a:rPr lang="en-US" sz="7600" b="0" i="0" u="none" strike="noStrike" cap="none" baseline="0">
                <a:solidFill>
                  <a:srgbClr val="FF7F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7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 HTTP</a:t>
            </a:r>
          </a:p>
        </p:txBody>
      </p:sp>
      <p:sp>
        <p:nvSpPr>
          <p:cNvPr id="532" name="Shape 532"/>
          <p:cNvSpPr txBox="1"/>
          <p:nvPr/>
        </p:nvSpPr>
        <p:spPr>
          <a:xfrm>
            <a:off x="763587" y="2540000"/>
            <a:ext cx="14490699" cy="5829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$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telnet www.dr-chuck.com 80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Trying 74.208.28.177...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Connected to www.dr-chuck.com.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Escape character is '^]'.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GET http://www.dr-chuck.com/page1.htm HTTP/1.0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Font typeface="Cabin"/>
              <a:buNone/>
            </a:pPr>
            <a:endParaRPr sz="3400">
              <a:solidFill>
                <a:srgbClr val="FFFF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&lt;h1&gt;The First Page&lt;/h1&gt;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&lt;p&gt;If you like, you can switch </a:t>
            </a:r>
            <a:r>
              <a:rPr lang="en-US" sz="34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to the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&lt;a href="http://www.dr-chuck.com/page2.htm"&gt;Second Page&lt;/a&gt;.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&lt;/p&gt;</a:t>
            </a:r>
          </a:p>
        </p:txBody>
      </p:sp>
      <p:sp>
        <p:nvSpPr>
          <p:cNvPr id="533" name="Shape 533"/>
          <p:cNvSpPr txBox="1"/>
          <p:nvPr/>
        </p:nvSpPr>
        <p:spPr>
          <a:xfrm>
            <a:off x="10288586" y="1949450"/>
            <a:ext cx="16127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HTTP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Request</a:t>
            </a:r>
          </a:p>
        </p:txBody>
      </p:sp>
      <p:sp>
        <p:nvSpPr>
          <p:cNvPr id="534" name="Shape 534"/>
          <p:cNvSpPr txBox="1"/>
          <p:nvPr/>
        </p:nvSpPr>
        <p:spPr>
          <a:xfrm>
            <a:off x="13592175" y="1949450"/>
            <a:ext cx="18891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HTTP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Response</a:t>
            </a:r>
          </a:p>
        </p:txBody>
      </p:sp>
      <p:sp>
        <p:nvSpPr>
          <p:cNvPr id="535" name="Shape 535"/>
          <p:cNvSpPr txBox="1"/>
          <p:nvPr/>
        </p:nvSpPr>
        <p:spPr>
          <a:xfrm>
            <a:off x="11296650" y="3924300"/>
            <a:ext cx="2746499" cy="97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60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Browser</a:t>
            </a:r>
          </a:p>
        </p:txBody>
      </p:sp>
      <p:sp>
        <p:nvSpPr>
          <p:cNvPr id="536" name="Shape 536"/>
          <p:cNvSpPr txBox="1"/>
          <p:nvPr/>
        </p:nvSpPr>
        <p:spPr>
          <a:xfrm>
            <a:off x="11006136" y="565150"/>
            <a:ext cx="3327299" cy="86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52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Web Server</a:t>
            </a:r>
          </a:p>
        </p:txBody>
      </p:sp>
      <p:cxnSp>
        <p:nvCxnSpPr>
          <p:cNvPr id="537" name="Shape 537"/>
          <p:cNvCxnSpPr/>
          <p:nvPr/>
        </p:nvCxnSpPr>
        <p:spPr>
          <a:xfrm flipH="1">
            <a:off x="12285686" y="1644650"/>
            <a:ext cx="22200" cy="2065199"/>
          </a:xfrm>
          <a:prstGeom prst="straightConnector1">
            <a:avLst/>
          </a:prstGeom>
          <a:noFill/>
          <a:ln w="1143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38" name="Shape 538"/>
          <p:cNvCxnSpPr/>
          <p:nvPr/>
        </p:nvCxnSpPr>
        <p:spPr>
          <a:xfrm rot="10800000" flipH="1">
            <a:off x="13033375" y="1666974"/>
            <a:ext cx="22200" cy="2108100"/>
          </a:xfrm>
          <a:prstGeom prst="straightConnector1">
            <a:avLst/>
          </a:prstGeom>
          <a:noFill/>
          <a:ln w="1143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39" name="Shape 539"/>
          <p:cNvSpPr txBox="1"/>
          <p:nvPr/>
        </p:nvSpPr>
        <p:spPr>
          <a:xfrm>
            <a:off x="7104823" y="8191500"/>
            <a:ext cx="86096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Port 80 is the non-encrypted HTTP port</a:t>
            </a:r>
          </a:p>
        </p:txBody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544"/>
          <p:cNvSpPr txBox="1">
            <a:spLocks noGrp="1"/>
          </p:cNvSpPr>
          <p:nvPr>
            <p:ph type="title"/>
          </p:nvPr>
        </p:nvSpPr>
        <p:spPr>
          <a:xfrm>
            <a:off x="1612900" y="393700"/>
            <a:ext cx="7175499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F6D6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1FF6D6"/>
                </a:solidFill>
                <a:latin typeface="Cabin"/>
                <a:ea typeface="Cabin"/>
                <a:cs typeface="Cabin"/>
                <a:sym typeface="Cabin"/>
              </a:rPr>
              <a:t>Accurate Hacking in the Movies</a:t>
            </a:r>
          </a:p>
        </p:txBody>
      </p:sp>
      <p:sp>
        <p:nvSpPr>
          <p:cNvPr id="545" name="Shape 54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175499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Matrix Reloaded</a:t>
            </a:r>
          </a:p>
          <a:p>
            <a:pPr marL="457200" marR="0" lvl="0" indent="-228600" algn="l" rtl="0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Bourne Ultimatum</a:t>
            </a:r>
          </a:p>
          <a:p>
            <a:pPr marL="457200" marR="0" lvl="0" indent="-228600" algn="l" rtl="0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Die Hard 4</a:t>
            </a:r>
          </a:p>
          <a:p>
            <a:pPr marL="457200" marR="0" lvl="0" indent="-228600" algn="l" rtl="0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...</a:t>
            </a:r>
          </a:p>
        </p:txBody>
      </p:sp>
      <p:pic>
        <p:nvPicPr>
          <p:cNvPr id="546" name="Shape 5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20300" y="4572000"/>
            <a:ext cx="4819649" cy="288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Shape 5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33000" y="469900"/>
            <a:ext cx="4800600" cy="3975099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Shape 548"/>
          <p:cNvSpPr txBox="1"/>
          <p:nvPr/>
        </p:nvSpPr>
        <p:spPr>
          <a:xfrm>
            <a:off x="749300" y="7715250"/>
            <a:ext cx="130406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F6D6"/>
              </a:buClr>
              <a:buSzPct val="25000"/>
              <a:buFont typeface="Cabin"/>
              <a:buNone/>
            </a:pPr>
            <a:r>
              <a:rPr lang="en-US" sz="3600" b="0" i="0" u="sng" strike="noStrike" cap="none" baseline="0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5"/>
              </a:rPr>
              <a:t>http://nmap.org/movies.html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F6D6"/>
              </a:buClr>
              <a:buFont typeface="Cabin"/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Shape 553"/>
          <p:cNvSpPr txBox="1"/>
          <p:nvPr/>
        </p:nvSpPr>
        <p:spPr>
          <a:xfrm>
            <a:off x="2794000" y="1524000"/>
            <a:ext cx="11071224" cy="55403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$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telnet www.dr-chuck.com 80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Trying 74.208.28.177...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Connected to www.dr-chuck.com.Escape character is '^]'.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GET http://www.dr-chuck.com/page1.htm HTTP/1.0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 baseline="0">
              <a:solidFill>
                <a:srgbClr val="FF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&lt;h1&gt;The First Page&lt;/h1&gt;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&lt;p&gt;If you like, you can switch to the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&lt;a href="http://www.dr-chuck.com/page2.htm"&gt;Second </a:t>
            </a:r>
            <a:b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Page&lt;/a&gt;.&lt;/p&gt;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Connection closed by foreign host.</a:t>
            </a:r>
          </a:p>
        </p:txBody>
      </p:sp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Shape 558"/>
          <p:cNvSpPr txBox="1"/>
          <p:nvPr/>
        </p:nvSpPr>
        <p:spPr>
          <a:xfrm>
            <a:off x="1838325" y="7988300"/>
            <a:ext cx="126111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Hmmm - This looks kind of Complex..   Lots of GET commands</a:t>
            </a:r>
          </a:p>
        </p:txBody>
      </p:sp>
      <p:pic>
        <p:nvPicPr>
          <p:cNvPr id="559" name="Shape 5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0"/>
            <a:ext cx="13093700" cy="918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564"/>
          <p:cNvSpPr txBox="1"/>
          <p:nvPr/>
        </p:nvSpPr>
        <p:spPr>
          <a:xfrm>
            <a:off x="1697036" y="304800"/>
            <a:ext cx="14554199" cy="7912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si-csev-mbp:tex csev$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telnet www.umich.edu 80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Trying 141.211.144.190...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Connected to www.umich.edu.Escape character is '^]'.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GET /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 PUBLIC "-//W3C//DTD XHTML 1.0 Strict//EN" "http://www.w3.org/TR/xhtml1/DTD/xhtml1-strict.dtd"&gt;&lt;html xmlns="http://www.w3.org/1999/xhtml" xml:lang="en" lang="en"&gt;&lt;head&gt;&lt;title&gt;University of Michigan&lt;/title&gt;&lt;meta name="description" content="University of Michigan is one of the top universities of the world, a diverse public institution of higher learning, fostering excellence in research. U-M provides outstanding undergraduate, graduate and professional education, serving the local, regional, national and international communities." /&gt;</a:t>
            </a:r>
          </a:p>
        </p:txBody>
      </p:sp>
    </p:spTree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569"/>
          <p:cNvSpPr txBox="1"/>
          <p:nvPr/>
        </p:nvSpPr>
        <p:spPr>
          <a:xfrm>
            <a:off x="846137" y="-6350"/>
            <a:ext cx="14554199" cy="7391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link rel="alternate stylesheet" type="text/css" href="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/CSS/accessible.css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" media="screen" title="accessible" /&gt;&lt;link rel="stylesheet" href="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/CSS/print.css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" media="print,projection" /&gt;&lt;link rel="stylesheet" href="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/CSS/other.css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" media="handheld,tty,tv,braille,embossed,speech,aural" /&gt;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&lt;dl&gt;&lt;dt&gt;&lt;a href="http://ns.umich.edu/htdocs/releases/story.php?id=8077"&gt;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&lt;img src="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/Images/electric-brain.jpg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" width="114" height="77" alt="Top News Story" /&gt;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&lt;/a&gt;&lt;span class="verbose"&gt;:&lt;/span&gt;&lt;/dt&gt;&lt;dd&gt;&lt;a href="http://ns.umich.edu/htdocs/releases/story.php?id=8077"&gt;Scientists harness the power of electricity in the brain&lt;/a&gt;&lt;/dd&gt;&lt;/dl&gt;</a:t>
            </a:r>
          </a:p>
        </p:txBody>
      </p:sp>
      <p:sp>
        <p:nvSpPr>
          <p:cNvPr id="570" name="Shape 570"/>
          <p:cNvSpPr txBox="1"/>
          <p:nvPr/>
        </p:nvSpPr>
        <p:spPr>
          <a:xfrm>
            <a:off x="5076825" y="7651750"/>
            <a:ext cx="105791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As the browser reads the document, it finds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other URLs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that must be retr</a:t>
            </a:r>
            <a:r>
              <a:rPr lang="en-US" sz="360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ie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ved to produce the document.</a:t>
            </a:r>
          </a:p>
        </p:txBody>
      </p:sp>
      <p:pic>
        <p:nvPicPr>
          <p:cNvPr id="571" name="Shape 5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9300" y="7297736"/>
            <a:ext cx="2292349" cy="15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Shape 576"/>
          <p:cNvSpPr txBox="1">
            <a:spLocks noGrp="1"/>
          </p:cNvSpPr>
          <p:nvPr>
            <p:ph type="title"/>
          </p:nvPr>
        </p:nvSpPr>
        <p:spPr>
          <a:xfrm>
            <a:off x="647700" y="241300"/>
            <a:ext cx="5359400" cy="2006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9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big picture...</a:t>
            </a:r>
          </a:p>
        </p:txBody>
      </p:sp>
      <p:sp>
        <p:nvSpPr>
          <p:cNvPr id="577" name="Shape 577"/>
          <p:cNvSpPr txBox="1"/>
          <p:nvPr/>
        </p:nvSpPr>
        <p:spPr>
          <a:xfrm>
            <a:off x="7596175" y="1187450"/>
            <a:ext cx="7327800" cy="2330100"/>
          </a:xfrm>
          <a:prstGeom prst="rect">
            <a:avLst/>
          </a:prstGeom>
          <a:noFill/>
          <a:ln w="127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1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&lt;!DOCTYPE html PUBLIC "-//W3C//DTD XHTML 1.0 Strict//EN" "</a:t>
            </a:r>
            <a:r>
              <a:rPr lang="en-US" sz="2100" b="0" i="0" u="sng" strike="noStrike" cap="none" baseline="0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http://www.w3.org/TR/xhtml1/DTD/xhtml1-strict.dtd</a:t>
            </a:r>
            <a:r>
              <a:rPr lang="en-US" sz="21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"&gt;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1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&lt;html xmlns="</a:t>
            </a:r>
            <a:r>
              <a:rPr lang="en-US" sz="21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http://www.w3.org/1999/xhtml</a:t>
            </a:r>
            <a:r>
              <a:rPr lang="en-US" sz="21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" xml:lang="en"&gt;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1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&lt;hea</a:t>
            </a:r>
            <a:r>
              <a:rPr lang="en-US" sz="2100" b="0" i="0" u="sng" strike="noStrike" cap="none" baseline="0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4"/>
              </a:rPr>
              <a:t>d&gt;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100" b="0" i="0" u="sng" strike="noStrike" cap="none" baseline="0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4"/>
              </a:rPr>
              <a:t>&lt;title&gt;University of Mich</a:t>
            </a:r>
            <a:r>
              <a:rPr lang="en-US" sz="21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igan&lt;/title&gt;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1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....</a:t>
            </a:r>
          </a:p>
        </p:txBody>
      </p:sp>
      <p:cxnSp>
        <p:nvCxnSpPr>
          <p:cNvPr id="578" name="Shape 578"/>
          <p:cNvCxnSpPr/>
          <p:nvPr/>
        </p:nvCxnSpPr>
        <p:spPr>
          <a:xfrm rot="10800000" flipH="1">
            <a:off x="5718175" y="3349625"/>
            <a:ext cx="1387474" cy="554037"/>
          </a:xfrm>
          <a:prstGeom prst="straightConnector1">
            <a:avLst/>
          </a:prstGeom>
          <a:noFill/>
          <a:ln w="889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79" name="Shape 579"/>
          <p:cNvSpPr txBox="1"/>
          <p:nvPr/>
        </p:nvSpPr>
        <p:spPr>
          <a:xfrm>
            <a:off x="7608886" y="3676650"/>
            <a:ext cx="7302500" cy="314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1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@import "/CSS/graphical.css"/**/;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1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p.text strong, .verbose, .verbose p, .verbose h2{text-indent:-876em;position:absolute}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1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p.text strong a{text-decoration:none}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1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p.text em{font-weight:bold;font-style:normal}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1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div.alert{background:#eee;border:1px solid red;padding:.5em;margin:0 25%}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1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a img{border:none}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1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.hot br, .quick br, dl.feature2 img{display:none}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1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div#main label, legend{font-weight:bold}</a:t>
            </a:r>
          </a:p>
        </p:txBody>
      </p:sp>
      <p:cxnSp>
        <p:nvCxnSpPr>
          <p:cNvPr id="580" name="Shape 580"/>
          <p:cNvCxnSpPr/>
          <p:nvPr/>
        </p:nvCxnSpPr>
        <p:spPr>
          <a:xfrm>
            <a:off x="5835650" y="4970462"/>
            <a:ext cx="1335086" cy="285750"/>
          </a:xfrm>
          <a:prstGeom prst="straightConnector1">
            <a:avLst/>
          </a:prstGeom>
          <a:noFill/>
          <a:ln w="889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81" name="Shape 581"/>
          <p:cNvCxnSpPr/>
          <p:nvPr/>
        </p:nvCxnSpPr>
        <p:spPr>
          <a:xfrm>
            <a:off x="5842000" y="5346700"/>
            <a:ext cx="1504949" cy="1712911"/>
          </a:xfrm>
          <a:prstGeom prst="straightConnector1">
            <a:avLst/>
          </a:prstGeom>
          <a:noFill/>
          <a:ln w="889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82" name="Shape 582"/>
          <p:cNvCxnSpPr/>
          <p:nvPr/>
        </p:nvCxnSpPr>
        <p:spPr>
          <a:xfrm>
            <a:off x="5867400" y="6565900"/>
            <a:ext cx="1236661" cy="1352550"/>
          </a:xfrm>
          <a:prstGeom prst="straightConnector1">
            <a:avLst/>
          </a:prstGeom>
          <a:noFill/>
          <a:ln w="889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83" name="Shape 583"/>
          <p:cNvCxnSpPr/>
          <p:nvPr/>
        </p:nvCxnSpPr>
        <p:spPr>
          <a:xfrm>
            <a:off x="5867400" y="5930900"/>
            <a:ext cx="1435100" cy="1612900"/>
          </a:xfrm>
          <a:prstGeom prst="straightConnector1">
            <a:avLst/>
          </a:prstGeom>
          <a:noFill/>
          <a:ln w="88900" cap="rnd" cmpd="sng">
            <a:solidFill>
              <a:srgbClr val="FF00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84" name="Shape 584"/>
          <p:cNvSpPr txBox="1"/>
          <p:nvPr/>
        </p:nvSpPr>
        <p:spPr>
          <a:xfrm>
            <a:off x="8513761" y="7251700"/>
            <a:ext cx="631825" cy="1003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2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...</a:t>
            </a:r>
          </a:p>
        </p:txBody>
      </p:sp>
      <p:pic>
        <p:nvPicPr>
          <p:cNvPr id="585" name="Shape 5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14700"/>
            <a:ext cx="5068886" cy="35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Shape 58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75600" y="7031036"/>
            <a:ext cx="2292300" cy="154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Shape 591"/>
          <p:cNvSpPr txBox="1">
            <a:spLocks noGrp="1"/>
          </p:cNvSpPr>
          <p:nvPr>
            <p:ph type="title"/>
          </p:nvPr>
        </p:nvSpPr>
        <p:spPr>
          <a:xfrm>
            <a:off x="1155700" y="0"/>
            <a:ext cx="13931900" cy="19811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720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A browser debugger </a:t>
            </a:r>
            <a:r>
              <a:rPr lang="en-US" sz="7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reveals detail...</a:t>
            </a:r>
          </a:p>
        </p:txBody>
      </p:sp>
      <p:sp>
        <p:nvSpPr>
          <p:cNvPr id="592" name="Shape 592"/>
          <p:cNvSpPr txBox="1">
            <a:spLocks noGrp="1"/>
          </p:cNvSpPr>
          <p:nvPr>
            <p:ph type="body" idx="1"/>
          </p:nvPr>
        </p:nvSpPr>
        <p:spPr>
          <a:xfrm>
            <a:off x="1155700" y="2349500"/>
            <a:ext cx="13932000" cy="59979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2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Most browsers have a developer mode so you can watch it in action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It can help explore the HTTP request-response cycle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Some simple-looking pages involve </a:t>
            </a:r>
            <a:r>
              <a:rPr lang="en-US" sz="32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lots of requests</a:t>
            </a: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:</a:t>
            </a:r>
          </a:p>
          <a:p>
            <a:pPr marL="2286000" marR="0" lvl="4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HTML page(s)</a:t>
            </a:r>
          </a:p>
          <a:p>
            <a:pPr marL="2286000" marR="0" lvl="4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Image files</a:t>
            </a:r>
          </a:p>
          <a:p>
            <a:pPr marL="2286000" marR="0" lvl="4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2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CSS Style Sheets</a:t>
            </a:r>
          </a:p>
          <a:p>
            <a:pPr marL="2286000" marR="0" lvl="4" indent="-228600" algn="l" rtl="0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2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JavaScript files</a:t>
            </a:r>
          </a:p>
        </p:txBody>
      </p:sp>
    </p:spTree>
  </p:cSld>
  <p:clrMapOvr>
    <a:masterClrMapping/>
  </p:clrMapOvr>
  <p:transition spd="slow"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Shape 5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751" y="0"/>
            <a:ext cx="11784996" cy="914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Shape 602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Lets Write a Web Browser!</a:t>
            </a:r>
          </a:p>
        </p:txBody>
      </p:sp>
      <p:sp>
        <p:nvSpPr>
          <p:cNvPr id="603" name="Shape 603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Shape 60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14478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An HTTP Request in Python</a:t>
            </a:r>
          </a:p>
        </p:txBody>
      </p:sp>
      <p:pic>
        <p:nvPicPr>
          <p:cNvPr id="609" name="Shape 6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09400" y="5347825"/>
            <a:ext cx="6883500" cy="3244799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Shape 610"/>
          <p:cNvSpPr txBox="1"/>
          <p:nvPr/>
        </p:nvSpPr>
        <p:spPr>
          <a:xfrm>
            <a:off x="510400" y="1989700"/>
            <a:ext cx="15584700" cy="6224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import socket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mysock = socket.socket(socket.AF_INET, socket.SOCK_STREAM)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mysock.connect(('www.py4inf.com', 80))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baseline="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mysock.send('GET http://www.py4inf.com/code/romeo.txt HTTP/1.0\n\n')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baseline="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data = mysock.recv(512)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if ( len(data) &lt; 1 )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    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data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mysock.close()</a:t>
            </a:r>
          </a:p>
        </p:txBody>
      </p:sp>
    </p:spTree>
  </p:cSld>
  <p:clrMapOvr>
    <a:masterClrMapping/>
  </p:clrMapOvr>
  <p:transition spd="slow"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615"/>
          <p:cNvSpPr txBox="1"/>
          <p:nvPr/>
        </p:nvSpPr>
        <p:spPr>
          <a:xfrm>
            <a:off x="457200" y="687387"/>
            <a:ext cx="9431337" cy="7756525"/>
          </a:xfrm>
          <a:prstGeom prst="rect">
            <a:avLst/>
          </a:prstGeom>
          <a:noFill/>
          <a:ln w="127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HTTP/1.1 200 OK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Date: Sun, 14 Mar 2010 23:52:41 GMT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Server: Apache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Last-Modified: Tue, 29 Dec 2009 01:31:22 GMT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ETag: "143c1b33-a7-4b395bea"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Accept-Ranges: bytes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Content-Length: 167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Connection: close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Content-Type: text/plain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baseline="0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But soft what light through yonder window breaks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It is the east and Juliet is the sun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Arise fair sun and kill the envious moon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Who is already sick and pale with grief</a:t>
            </a:r>
          </a:p>
        </p:txBody>
      </p:sp>
      <p:sp>
        <p:nvSpPr>
          <p:cNvPr id="616" name="Shape 616"/>
          <p:cNvSpPr txBox="1"/>
          <p:nvPr/>
        </p:nvSpPr>
        <p:spPr>
          <a:xfrm>
            <a:off x="10566400" y="2971800"/>
            <a:ext cx="5111750" cy="2768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data = mysock.recv(512)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if ( len(data) &lt; 1 )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    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data</a:t>
            </a:r>
          </a:p>
        </p:txBody>
      </p:sp>
      <p:sp>
        <p:nvSpPr>
          <p:cNvPr id="617" name="Shape 617"/>
          <p:cNvSpPr txBox="1"/>
          <p:nvPr/>
        </p:nvSpPr>
        <p:spPr>
          <a:xfrm>
            <a:off x="10596561" y="1333500"/>
            <a:ext cx="2740024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HTTP Header</a:t>
            </a:r>
          </a:p>
        </p:txBody>
      </p:sp>
      <p:sp>
        <p:nvSpPr>
          <p:cNvPr id="618" name="Shape 618"/>
          <p:cNvSpPr txBox="1"/>
          <p:nvPr/>
        </p:nvSpPr>
        <p:spPr>
          <a:xfrm>
            <a:off x="10656886" y="7175500"/>
            <a:ext cx="2303461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HTTP Body</a:t>
            </a:r>
          </a:p>
        </p:txBody>
      </p:sp>
    </p:spTree>
  </p:cSld>
  <p:clrMapOvr>
    <a:masterClrMapping/>
  </p:clrMapOvr>
  <p:transition spd="slow"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623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Making HTTP Easier With urllib</a:t>
            </a:r>
          </a:p>
        </p:txBody>
      </p:sp>
      <p:sp>
        <p:nvSpPr>
          <p:cNvPr id="624" name="Shape 624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62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Using </a:t>
            </a: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urllib</a:t>
            </a: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in Python</a:t>
            </a:r>
          </a:p>
        </p:txBody>
      </p:sp>
      <p:sp>
        <p:nvSpPr>
          <p:cNvPr id="630" name="Shape 63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1841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Since HTTP is so common, we have a library that does all the socket work for us and makes web pages look like a file</a:t>
            </a:r>
          </a:p>
        </p:txBody>
      </p:sp>
      <p:sp>
        <p:nvSpPr>
          <p:cNvPr id="631" name="Shape 631"/>
          <p:cNvSpPr txBox="1"/>
          <p:nvPr/>
        </p:nvSpPr>
        <p:spPr>
          <a:xfrm>
            <a:off x="709612" y="4768850"/>
            <a:ext cx="14820899" cy="2768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1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US" sz="31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urllib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1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fhand = </a:t>
            </a:r>
            <a:r>
              <a:rPr lang="en-US" sz="31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urllib.urlopen</a:t>
            </a:r>
            <a:r>
              <a:rPr lang="en-US" sz="31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('http://www.py4inf.com/code/romeo.txt')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1" i="0" u="none" strike="noStrike" cap="none" baseline="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1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 line in fhand: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1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line.strip()</a:t>
            </a:r>
          </a:p>
        </p:txBody>
      </p:sp>
      <p:sp>
        <p:nvSpPr>
          <p:cNvPr id="632" name="Shape 632"/>
          <p:cNvSpPr txBox="1"/>
          <p:nvPr/>
        </p:nvSpPr>
        <p:spPr>
          <a:xfrm>
            <a:off x="3401525" y="8216900"/>
            <a:ext cx="84767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600" b="0" i="0" u="sng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http://docs.python.org/library/urllib.html</a:t>
            </a:r>
          </a:p>
        </p:txBody>
      </p:sp>
      <p:sp>
        <p:nvSpPr>
          <p:cNvPr id="633" name="Shape 633"/>
          <p:cNvSpPr txBox="1"/>
          <p:nvPr/>
        </p:nvSpPr>
        <p:spPr>
          <a:xfrm>
            <a:off x="13944600" y="8216900"/>
            <a:ext cx="17939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urllib1.py</a:t>
            </a:r>
          </a:p>
        </p:txBody>
      </p:sp>
    </p:spTree>
  </p:cSld>
  <p:clrMapOvr>
    <a:masterClrMapping/>
  </p:clrMapOvr>
  <p:transition spd="slow"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hape 638"/>
          <p:cNvSpPr txBox="1"/>
          <p:nvPr/>
        </p:nvSpPr>
        <p:spPr>
          <a:xfrm>
            <a:off x="709612" y="1035050"/>
            <a:ext cx="14820899" cy="2768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1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-US" sz="31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urllib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1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fhand = </a:t>
            </a:r>
            <a:r>
              <a:rPr lang="en-US" sz="31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urllib.urlopen</a:t>
            </a:r>
            <a:r>
              <a:rPr lang="en-US" sz="31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('http://www.py4inf.com/code/romeo.txt')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1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 line in fhand: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1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line.strip()</a:t>
            </a:r>
          </a:p>
        </p:txBody>
      </p:sp>
      <p:sp>
        <p:nvSpPr>
          <p:cNvPr id="639" name="Shape 639"/>
          <p:cNvSpPr txBox="1"/>
          <p:nvPr/>
        </p:nvSpPr>
        <p:spPr>
          <a:xfrm>
            <a:off x="3238500" y="4930775"/>
            <a:ext cx="10239000" cy="2354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But soft what light through yonder window breaks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It is the east and Juliet is the sun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Arise fair sun and kill the envious moon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Who is already sick and pale with grief</a:t>
            </a:r>
          </a:p>
        </p:txBody>
      </p:sp>
      <p:sp>
        <p:nvSpPr>
          <p:cNvPr id="640" name="Shape 640"/>
          <p:cNvSpPr txBox="1"/>
          <p:nvPr/>
        </p:nvSpPr>
        <p:spPr>
          <a:xfrm>
            <a:off x="13944600" y="8216900"/>
            <a:ext cx="17939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urllib1.py</a:t>
            </a:r>
          </a:p>
        </p:txBody>
      </p:sp>
      <p:sp>
        <p:nvSpPr>
          <p:cNvPr id="641" name="Shape 641"/>
          <p:cNvSpPr txBox="1"/>
          <p:nvPr/>
        </p:nvSpPr>
        <p:spPr>
          <a:xfrm>
            <a:off x="3401525" y="8216900"/>
            <a:ext cx="84767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600" b="0" i="0" u="sng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http://docs.python.org/library/urllib.html</a:t>
            </a:r>
          </a:p>
        </p:txBody>
      </p:sp>
    </p:spTree>
  </p:cSld>
  <p:clrMapOvr>
    <a:masterClrMapping/>
  </p:clrMapOvr>
  <p:transition spd="slow"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64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Like a file...</a:t>
            </a:r>
          </a:p>
        </p:txBody>
      </p:sp>
      <p:sp>
        <p:nvSpPr>
          <p:cNvPr id="647" name="Shape 647"/>
          <p:cNvSpPr txBox="1"/>
          <p:nvPr/>
        </p:nvSpPr>
        <p:spPr>
          <a:xfrm>
            <a:off x="965200" y="2901950"/>
            <a:ext cx="14566899" cy="4419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import urllib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fhand = urllib.urlopen('http://www.py4inf.com/code/romeo.txt')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baseline="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counts = dict()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for line in fhand: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words = line.split()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for word in words: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 counts[word] = counts.get(word,0)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print counts</a:t>
            </a:r>
          </a:p>
        </p:txBody>
      </p:sp>
      <p:sp>
        <p:nvSpPr>
          <p:cNvPr id="648" name="Shape 648"/>
          <p:cNvSpPr txBox="1"/>
          <p:nvPr/>
        </p:nvSpPr>
        <p:spPr>
          <a:xfrm>
            <a:off x="13527087" y="8229600"/>
            <a:ext cx="24146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urlwords.py </a:t>
            </a:r>
          </a:p>
        </p:txBody>
      </p:sp>
    </p:spTree>
  </p:cSld>
  <p:clrMapOvr>
    <a:masterClrMapping/>
  </p:clrMapOvr>
  <p:transition spd="slow"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Shape 65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1536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Reading Web Pages</a:t>
            </a:r>
          </a:p>
        </p:txBody>
      </p:sp>
      <p:sp>
        <p:nvSpPr>
          <p:cNvPr id="654" name="Shape 654"/>
          <p:cNvSpPr txBox="1"/>
          <p:nvPr/>
        </p:nvSpPr>
        <p:spPr>
          <a:xfrm>
            <a:off x="508000" y="2286000"/>
            <a:ext cx="15557500" cy="245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import urllib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fhand = urllib.urlopen('http://www.dr-chuck.com/page1.htm')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 line in fhand: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line.strip()</a:t>
            </a:r>
          </a:p>
        </p:txBody>
      </p:sp>
      <p:sp>
        <p:nvSpPr>
          <p:cNvPr id="655" name="Shape 655"/>
          <p:cNvSpPr txBox="1"/>
          <p:nvPr/>
        </p:nvSpPr>
        <p:spPr>
          <a:xfrm>
            <a:off x="3683000" y="5651500"/>
            <a:ext cx="12055499" cy="2921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3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&lt;h1&gt;The First Page&lt;/h1&gt;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3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3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If you like, you can switch to the &lt;a href="http://www.dr-chuck.com/page2.htm"&gt;Second Page&lt;/a&gt;.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3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</a:p>
        </p:txBody>
      </p:sp>
      <p:sp>
        <p:nvSpPr>
          <p:cNvPr id="656" name="Shape 656"/>
          <p:cNvSpPr txBox="1"/>
          <p:nvPr/>
        </p:nvSpPr>
        <p:spPr>
          <a:xfrm>
            <a:off x="13944600" y="8216900"/>
            <a:ext cx="17939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urllib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.py</a:t>
            </a:r>
          </a:p>
        </p:txBody>
      </p:sp>
    </p:spTree>
  </p:cSld>
  <p:clrMapOvr>
    <a:masterClrMapping/>
  </p:clrMapOvr>
  <p:transition spd="slow"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Shape 66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1536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Going from one page to another...</a:t>
            </a:r>
          </a:p>
        </p:txBody>
      </p:sp>
      <p:sp>
        <p:nvSpPr>
          <p:cNvPr id="662" name="Shape 662"/>
          <p:cNvSpPr txBox="1"/>
          <p:nvPr/>
        </p:nvSpPr>
        <p:spPr>
          <a:xfrm>
            <a:off x="508000" y="2286000"/>
            <a:ext cx="15557500" cy="245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import urllib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fhand = urllib.urlopen('http://www.dr-chuck.com/page1.htm')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 line in fhand: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line.strip()</a:t>
            </a:r>
          </a:p>
        </p:txBody>
      </p:sp>
      <p:sp>
        <p:nvSpPr>
          <p:cNvPr id="663" name="Shape 663"/>
          <p:cNvSpPr txBox="1"/>
          <p:nvPr/>
        </p:nvSpPr>
        <p:spPr>
          <a:xfrm>
            <a:off x="3683000" y="5651500"/>
            <a:ext cx="11823899" cy="2921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3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&lt;h1&gt;The First Page&lt;/h1&gt;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3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3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If you like, you can switch to the &lt;a href="</a:t>
            </a:r>
            <a:r>
              <a:rPr lang="en-US" sz="33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http://www.dr-chuck.com/page2.htm</a:t>
            </a:r>
            <a:r>
              <a:rPr lang="en-US" sz="33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"&gt;Second Page&lt;/a&gt;.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3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</a:p>
        </p:txBody>
      </p:sp>
    </p:spTree>
  </p:cSld>
  <p:clrMapOvr>
    <a:masterClrMapping/>
  </p:clrMapOvr>
  <p:transition spd="slow"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Shape 674"/>
          <p:cNvSpPr txBox="1">
            <a:spLocks noGrp="1"/>
          </p:cNvSpPr>
          <p:nvPr>
            <p:ph type="title"/>
          </p:nvPr>
        </p:nvSpPr>
        <p:spPr>
          <a:xfrm>
            <a:off x="1511300" y="139700"/>
            <a:ext cx="13207999" cy="39242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25000"/>
              <a:buFont typeface="Cabin"/>
              <a:buNone/>
            </a:pPr>
            <a:r>
              <a:rPr lang="en-US" sz="164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G</a:t>
            </a:r>
            <a:r>
              <a:rPr lang="en-US" sz="164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o</a:t>
            </a:r>
            <a:r>
              <a:rPr lang="en-US" sz="16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o</a:t>
            </a:r>
            <a:r>
              <a:rPr lang="en-US" sz="16400" b="0" i="0" u="none" strike="noStrike" cap="none" baseline="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g</a:t>
            </a:r>
            <a:r>
              <a:rPr lang="en-US" sz="16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</a:t>
            </a:r>
            <a:r>
              <a:rPr lang="en-US" sz="164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e</a:t>
            </a:r>
          </a:p>
        </p:txBody>
      </p:sp>
      <p:sp>
        <p:nvSpPr>
          <p:cNvPr id="675" name="Shape 675"/>
          <p:cNvSpPr txBox="1"/>
          <p:nvPr/>
        </p:nvSpPr>
        <p:spPr>
          <a:xfrm>
            <a:off x="660400" y="4191000"/>
            <a:ext cx="15557500" cy="245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import urllib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fhand = urllib.urlopen('http://www.dr-chuck.com/page1.htm')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 line in fhand: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 line.strip()</a:t>
            </a:r>
          </a:p>
        </p:txBody>
      </p:sp>
    </p:spTree>
  </p:cSld>
  <p:clrMapOvr>
    <a:masterClrMapping/>
  </p:clrMapOvr>
  <p:transition spd="slow"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Shape 680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Parsing HTML </a:t>
            </a:r>
            <a:b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-US" sz="7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(a.k.a. Web Scraping)</a:t>
            </a:r>
          </a:p>
        </p:txBody>
      </p:sp>
      <p:sp>
        <p:nvSpPr>
          <p:cNvPr id="681" name="Shape 681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Shape 68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What is Web Scraping?</a:t>
            </a:r>
          </a:p>
        </p:txBody>
      </p:sp>
      <p:sp>
        <p:nvSpPr>
          <p:cNvPr id="687" name="Shape 687"/>
          <p:cNvSpPr txBox="1">
            <a:spLocks noGrp="1"/>
          </p:cNvSpPr>
          <p:nvPr>
            <p:ph type="body" idx="1"/>
          </p:nvPr>
        </p:nvSpPr>
        <p:spPr>
          <a:xfrm>
            <a:off x="1155700" y="2540000"/>
            <a:ext cx="13931900" cy="34290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When a program or script pretends to be a browser and retrieves web pages, looks at those web pages, extracts information, and then looks at more web pages.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Search engines scrape web pages - we call this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spidering the web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or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web crawling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</p:txBody>
      </p:sp>
      <p:sp>
        <p:nvSpPr>
          <p:cNvPr id="688" name="Shape 688"/>
          <p:cNvSpPr txBox="1"/>
          <p:nvPr/>
        </p:nvSpPr>
        <p:spPr>
          <a:xfrm>
            <a:off x="3975100" y="7029450"/>
            <a:ext cx="88529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http://en.wikipedia.org/wiki/Web_scraping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sng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  <a:hlinkClick r:id="rId4"/>
              </a:rPr>
              <a:t>http://en.wikipedia.org/wiki/Web_crawler</a:t>
            </a:r>
          </a:p>
        </p:txBody>
      </p:sp>
    </p:spTree>
  </p:cSld>
  <p:clrMapOvr>
    <a:masterClrMapping/>
  </p:clrMapOvr>
  <p:transition spd="slow"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Shape 693"/>
          <p:cNvSpPr txBox="1"/>
          <p:nvPr/>
        </p:nvSpPr>
        <p:spPr>
          <a:xfrm>
            <a:off x="13068300" y="571500"/>
            <a:ext cx="2019299" cy="81026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1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41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Server</a:t>
            </a:r>
          </a:p>
        </p:txBody>
      </p:sp>
      <p:cxnSp>
        <p:nvCxnSpPr>
          <p:cNvPr id="694" name="Shape 694"/>
          <p:cNvCxnSpPr/>
          <p:nvPr/>
        </p:nvCxnSpPr>
        <p:spPr>
          <a:xfrm flipH="1">
            <a:off x="7265986" y="1878011"/>
            <a:ext cx="5657849" cy="22225"/>
          </a:xfrm>
          <a:prstGeom prst="straightConnector1">
            <a:avLst/>
          </a:prstGeom>
          <a:noFill/>
          <a:ln w="889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695" name="Shape 695"/>
          <p:cNvSpPr txBox="1"/>
          <p:nvPr/>
        </p:nvSpPr>
        <p:spPr>
          <a:xfrm>
            <a:off x="9607550" y="977900"/>
            <a:ext cx="957261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GET</a:t>
            </a:r>
          </a:p>
        </p:txBody>
      </p:sp>
      <p:cxnSp>
        <p:nvCxnSpPr>
          <p:cNvPr id="696" name="Shape 696"/>
          <p:cNvCxnSpPr/>
          <p:nvPr/>
        </p:nvCxnSpPr>
        <p:spPr>
          <a:xfrm rot="10800000">
            <a:off x="7088187" y="3175000"/>
            <a:ext cx="5611812" cy="0"/>
          </a:xfrm>
          <a:prstGeom prst="straightConnector1">
            <a:avLst/>
          </a:prstGeom>
          <a:noFill/>
          <a:ln w="88900" cap="rnd" cmpd="sng">
            <a:solidFill>
              <a:srgbClr val="00FF00"/>
            </a:solidFill>
            <a:prstDash val="solid"/>
            <a:miter/>
            <a:headEnd type="none" w="med" len="med"/>
            <a:tailEnd type="stealth" w="med" len="med"/>
          </a:ln>
        </p:spPr>
      </p:cxnSp>
      <p:sp>
        <p:nvSpPr>
          <p:cNvPr id="697" name="Shape 697"/>
          <p:cNvSpPr txBox="1"/>
          <p:nvPr/>
        </p:nvSpPr>
        <p:spPr>
          <a:xfrm>
            <a:off x="9434511" y="2247900"/>
            <a:ext cx="1304924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HTML</a:t>
            </a:r>
          </a:p>
        </p:txBody>
      </p:sp>
      <p:pic>
        <p:nvPicPr>
          <p:cNvPr id="698" name="Shape 6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4900" y="722312"/>
            <a:ext cx="4508500" cy="3354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Shape 6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4500" y="4470400"/>
            <a:ext cx="8191499" cy="3809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0" name="Shape 700"/>
          <p:cNvCxnSpPr/>
          <p:nvPr/>
        </p:nvCxnSpPr>
        <p:spPr>
          <a:xfrm flipH="1">
            <a:off x="8026399" y="5857875"/>
            <a:ext cx="4673600" cy="22225"/>
          </a:xfrm>
          <a:prstGeom prst="straightConnector1">
            <a:avLst/>
          </a:prstGeom>
          <a:noFill/>
          <a:ln w="889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701" name="Shape 701"/>
          <p:cNvSpPr txBox="1"/>
          <p:nvPr/>
        </p:nvSpPr>
        <p:spPr>
          <a:xfrm>
            <a:off x="10496550" y="3911600"/>
            <a:ext cx="957261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GET</a:t>
            </a:r>
          </a:p>
        </p:txBody>
      </p:sp>
      <p:cxnSp>
        <p:nvCxnSpPr>
          <p:cNvPr id="702" name="Shape 702"/>
          <p:cNvCxnSpPr/>
          <p:nvPr/>
        </p:nvCxnSpPr>
        <p:spPr>
          <a:xfrm flipH="1">
            <a:off x="4046537" y="7088186"/>
            <a:ext cx="8720136" cy="692149"/>
          </a:xfrm>
          <a:prstGeom prst="straightConnector1">
            <a:avLst/>
          </a:prstGeom>
          <a:noFill/>
          <a:ln w="88900" cap="rnd" cmpd="sng">
            <a:solidFill>
              <a:srgbClr val="00FF00"/>
            </a:solidFill>
            <a:prstDash val="solid"/>
            <a:miter/>
            <a:headEnd type="none" w="med" len="med"/>
            <a:tailEnd type="stealth" w="med" len="med"/>
          </a:ln>
        </p:spPr>
      </p:cxnSp>
      <p:sp>
        <p:nvSpPr>
          <p:cNvPr id="703" name="Shape 703"/>
          <p:cNvSpPr txBox="1"/>
          <p:nvPr/>
        </p:nvSpPr>
        <p:spPr>
          <a:xfrm>
            <a:off x="9078911" y="7645400"/>
            <a:ext cx="1304924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HTML</a:t>
            </a:r>
          </a:p>
        </p:txBody>
      </p:sp>
    </p:spTree>
  </p:cSld>
  <p:clrMapOvr>
    <a:masterClrMapping/>
  </p:clrMapOvr>
  <p:transition spd="slow"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70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Why Scrape?</a:t>
            </a:r>
          </a:p>
        </p:txBody>
      </p:sp>
      <p:sp>
        <p:nvSpPr>
          <p:cNvPr id="709" name="Shape 70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Pull data - particularly social data - who links to who?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Get your own data back out of some system that has no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export capability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Monitor a site for new information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Spider the web to make a database for a search engine</a:t>
            </a:r>
          </a:p>
        </p:txBody>
      </p:sp>
    </p:spTree>
  </p:cSld>
  <p:clrMapOvr>
    <a:masterClrMapping/>
  </p:clrMapOvr>
  <p:transition spd="slow"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Shape 71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Scraping Web Pages</a:t>
            </a:r>
          </a:p>
        </p:txBody>
      </p:sp>
      <p:sp>
        <p:nvSpPr>
          <p:cNvPr id="715" name="Shape 71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There is some controversy about web page scraping and some sites are a bit snippy about it.</a:t>
            </a:r>
          </a:p>
          <a:p>
            <a:pPr marL="1041400" marR="0" lvl="1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Google:   facebook scraping block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Republishing copyrighted information is not allowed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Violating terms of service is not allowed</a:t>
            </a:r>
          </a:p>
        </p:txBody>
      </p:sp>
    </p:spTree>
  </p:cSld>
  <p:clrMapOvr>
    <a:masterClrMapping/>
  </p:clrMapOvr>
  <p:transition spd="slow"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Shape 72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1705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6000" b="0" i="0" u="sng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http://www.facebook.com/terms.php</a:t>
            </a:r>
          </a:p>
        </p:txBody>
      </p:sp>
      <p:pic>
        <p:nvPicPr>
          <p:cNvPr id="721" name="Shape 7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38600" y="2044700"/>
            <a:ext cx="7848599" cy="681989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Shape 722"/>
          <p:cNvSpPr/>
          <p:nvPr/>
        </p:nvSpPr>
        <p:spPr>
          <a:xfrm>
            <a:off x="2400300" y="7912100"/>
            <a:ext cx="1270000" cy="1270000"/>
          </a:xfrm>
          <a:prstGeom prst="rightArrow">
            <a:avLst>
              <a:gd name="adj1" fmla="val 39354"/>
              <a:gd name="adj2" fmla="val 20867"/>
            </a:avLst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hape 727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Easy Way - </a:t>
            </a: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Beautiful Soup</a:t>
            </a:r>
          </a:p>
        </p:txBody>
      </p:sp>
      <p:sp>
        <p:nvSpPr>
          <p:cNvPr id="728" name="Shape 728"/>
          <p:cNvSpPr txBox="1">
            <a:spLocks noGrp="1"/>
          </p:cNvSpPr>
          <p:nvPr>
            <p:ph type="body" idx="1"/>
          </p:nvPr>
        </p:nvSpPr>
        <p:spPr>
          <a:xfrm>
            <a:off x="1511300" y="2590800"/>
            <a:ext cx="13233399" cy="28828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787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You could do string searches the hard way</a:t>
            </a:r>
          </a:p>
          <a:p>
            <a:pPr marL="1104900" marR="0" lvl="0" indent="-78740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Or use the free software called </a:t>
            </a:r>
            <a:r>
              <a:rPr lang="en-US" sz="3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BeautifulSoup</a:t>
            </a: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from www.crummy.com</a:t>
            </a:r>
          </a:p>
        </p:txBody>
      </p:sp>
      <p:sp>
        <p:nvSpPr>
          <p:cNvPr id="729" name="Shape 729"/>
          <p:cNvSpPr txBox="1"/>
          <p:nvPr/>
        </p:nvSpPr>
        <p:spPr>
          <a:xfrm>
            <a:off x="2543075" y="5753775"/>
            <a:ext cx="11022000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800" b="0" i="0" u="sng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http://www.crummy.com/software/BeautifulSoup/</a:t>
            </a:r>
          </a:p>
        </p:txBody>
      </p:sp>
      <p:sp>
        <p:nvSpPr>
          <p:cNvPr id="730" name="Shape 730"/>
          <p:cNvSpPr txBox="1"/>
          <p:nvPr/>
        </p:nvSpPr>
        <p:spPr>
          <a:xfrm>
            <a:off x="696049" y="7747675"/>
            <a:ext cx="14796299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8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Place the </a:t>
            </a:r>
            <a:r>
              <a:rPr lang="en-US" sz="38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BeautifulSoup.py</a:t>
            </a:r>
            <a:r>
              <a:rPr lang="en-US" sz="38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file in the same folder as your Python code...</a:t>
            </a:r>
          </a:p>
        </p:txBody>
      </p:sp>
    </p:spTree>
  </p:cSld>
  <p:clrMapOvr>
    <a:masterClrMapping/>
  </p:clrMapOvr>
  <p:transition spd="slow"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Shape 735"/>
          <p:cNvSpPr txBox="1"/>
          <p:nvPr/>
        </p:nvSpPr>
        <p:spPr>
          <a:xfrm>
            <a:off x="1727200" y="685800"/>
            <a:ext cx="13639799" cy="7478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import urllib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from BeautifulSoup import *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baseline="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url = raw_input('Enter - 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baseline="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html = urllib.urlopen(url).read()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soup = BeautifulSoup(html)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baseline="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Retrieve a list of the anchor tags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Each tag is like a dictionary of HTML attributes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baseline="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tags = soup('a')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baseline="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 tag in tags: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print tag.get('href', None)</a:t>
            </a:r>
          </a:p>
        </p:txBody>
      </p:sp>
      <p:sp>
        <p:nvSpPr>
          <p:cNvPr id="736" name="Shape 736"/>
          <p:cNvSpPr txBox="1"/>
          <p:nvPr/>
        </p:nvSpPr>
        <p:spPr>
          <a:xfrm>
            <a:off x="13485325" y="8229600"/>
            <a:ext cx="2415000" cy="646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urllinks.py</a:t>
            </a:r>
          </a:p>
        </p:txBody>
      </p:sp>
    </p:spTree>
  </p:cSld>
  <p:clrMapOvr>
    <a:masterClrMapping/>
  </p:clrMapOvr>
  <p:transition spd="slow"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Shape 741"/>
          <p:cNvSpPr txBox="1"/>
          <p:nvPr/>
        </p:nvSpPr>
        <p:spPr>
          <a:xfrm>
            <a:off x="660400" y="3124200"/>
            <a:ext cx="9650399" cy="3508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html = urllib.urlopen(url).read()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ourier New"/>
              <a:buNone/>
            </a:pP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soup = BeautifulSoup(html)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baseline="0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tags = soup('a')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 tag in tags: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  print tag.get('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', None)</a:t>
            </a:r>
          </a:p>
        </p:txBody>
      </p:sp>
      <p:sp>
        <p:nvSpPr>
          <p:cNvPr id="742" name="Shape 742"/>
          <p:cNvSpPr txBox="1"/>
          <p:nvPr/>
        </p:nvSpPr>
        <p:spPr>
          <a:xfrm>
            <a:off x="6853775" y="6983400"/>
            <a:ext cx="9069600" cy="1755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python urllinks.py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Enter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-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http://www.dr-chuck.com/page1.htm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http://www.dr-chuck.com/page2.htm</a:t>
            </a:r>
          </a:p>
        </p:txBody>
      </p:sp>
      <p:sp>
        <p:nvSpPr>
          <p:cNvPr id="743" name="Shape 743"/>
          <p:cNvSpPr txBox="1"/>
          <p:nvPr/>
        </p:nvSpPr>
        <p:spPr>
          <a:xfrm>
            <a:off x="7357325" y="531800"/>
            <a:ext cx="8493900" cy="2339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&lt;h1&gt;The First Page&lt;/h1&gt;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&lt;p&gt;If you like, you can switch to the&lt;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href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="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http://www.dr-chuck.com/page2.htm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"&gt;Second Page&lt;/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&gt;.&lt;/p&gt;</a:t>
            </a:r>
          </a:p>
        </p:txBody>
      </p:sp>
    </p:spTree>
  </p:cSld>
  <p:clrMapOvr>
    <a:masterClrMapping/>
  </p:clrMapOvr>
  <p:transition spd="slow"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Shape 748"/>
          <p:cNvSpPr txBox="1">
            <a:spLocks noGrp="1"/>
          </p:cNvSpPr>
          <p:nvPr>
            <p:ph type="title"/>
          </p:nvPr>
        </p:nvSpPr>
        <p:spPr>
          <a:xfrm>
            <a:off x="1511300" y="241300"/>
            <a:ext cx="13233399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Summary</a:t>
            </a:r>
          </a:p>
        </p:txBody>
      </p:sp>
      <p:sp>
        <p:nvSpPr>
          <p:cNvPr id="749" name="Shape 749"/>
          <p:cNvSpPr txBox="1">
            <a:spLocks noGrp="1"/>
          </p:cNvSpPr>
          <p:nvPr>
            <p:ph type="body" idx="1"/>
          </p:nvPr>
        </p:nvSpPr>
        <p:spPr>
          <a:xfrm>
            <a:off x="1511300" y="2819400"/>
            <a:ext cx="13233299" cy="53594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TCP/IP gives us pipes / sockets between applications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23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designed application protocols to make use of these pipes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23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HyperText Transport Protocol (HTTP) is a simple yet powerful protocol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2300"/>
              </a:spcBef>
              <a:spcAft>
                <a:spcPts val="1000"/>
              </a:spcAft>
              <a:buSzPct val="100000"/>
              <a:buFont typeface="Cabin"/>
            </a:pPr>
            <a:r>
              <a:rPr lang="en-US" sz="3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Python has good support for sockets, HTTP, and HTML parsing</a:t>
            </a:r>
          </a:p>
        </p:txBody>
      </p:sp>
    </p:spTree>
  </p:cSld>
  <p:clrMapOvr>
    <a:masterClrMapping/>
  </p:clrMapOvr>
  <p:transition spd="slow"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&amp; Bullets copy 3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FF0000"/>
      </a:accent1>
      <a:accent2>
        <a:srgbClr val="333399"/>
      </a:accent2>
      <a:accent3>
        <a:srgbClr val="AAAAAA"/>
      </a:accent3>
      <a:accent4>
        <a:srgbClr val="DADADA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19191"/>
      </a:accent1>
      <a:accent2>
        <a:srgbClr val="333399"/>
      </a:accent2>
      <a:accent3>
        <a:srgbClr val="AAAAAA"/>
      </a:accent3>
      <a:accent4>
        <a:srgbClr val="DADADA"/>
      </a:accent4>
      <a:accent5>
        <a:srgbClr val="C7C7C7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itle &amp; Bullets - 2 Column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00FFFF"/>
      </a:accent1>
      <a:accent2>
        <a:srgbClr val="333399"/>
      </a:accent2>
      <a:accent3>
        <a:srgbClr val="AAAAAA"/>
      </a:accent3>
      <a:accent4>
        <a:srgbClr val="DADADA"/>
      </a:accent4>
      <a:accent5>
        <a:srgbClr val="AA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333399"/>
      </a:accent2>
      <a:accent3>
        <a:srgbClr val="AAAAAA"/>
      </a:accent3>
      <a:accent4>
        <a:srgbClr val="DADADA"/>
      </a:accent4>
      <a:accent5>
        <a:srgbClr val="FF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FFFF00"/>
      </a:accent1>
      <a:accent2>
        <a:srgbClr val="333399"/>
      </a:accent2>
      <a:accent3>
        <a:srgbClr val="AAAAAA"/>
      </a:accent3>
      <a:accent4>
        <a:srgbClr val="DADADA"/>
      </a:accent4>
      <a:accent5>
        <a:srgbClr val="FFFF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2172</Words>
  <Application>Microsoft Office PowerPoint</Application>
  <PresentationFormat>Custom</PresentationFormat>
  <Paragraphs>358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60</vt:i4>
      </vt:variant>
    </vt:vector>
  </HeadingPairs>
  <TitlesOfParts>
    <vt:vector size="70" baseType="lpstr">
      <vt:lpstr>Arial</vt:lpstr>
      <vt:lpstr>Cabin</vt:lpstr>
      <vt:lpstr>Courier New</vt:lpstr>
      <vt:lpstr>Title &amp; Subtitle</vt:lpstr>
      <vt:lpstr>Title &amp; Bullets copy 3</vt:lpstr>
      <vt:lpstr>Title &amp; Bullets</vt:lpstr>
      <vt:lpstr>Title &amp; Bullets - 2 Column</vt:lpstr>
      <vt:lpstr>1_Title &amp; Bullets</vt:lpstr>
      <vt:lpstr>1_Title &amp; Subtitle</vt:lpstr>
      <vt:lpstr>Title &amp; Bullets</vt:lpstr>
      <vt:lpstr>Networked Programs</vt:lpstr>
      <vt:lpstr>Slide 2</vt:lpstr>
      <vt:lpstr>Slide 3</vt:lpstr>
      <vt:lpstr>Network Architecture....</vt:lpstr>
      <vt:lpstr>Transport Control Protocol (TCP)</vt:lpstr>
      <vt:lpstr>Slide 6</vt:lpstr>
      <vt:lpstr>TCP Connections / Sockets</vt:lpstr>
      <vt:lpstr>TCP Port Numbers</vt:lpstr>
      <vt:lpstr>Slide 9</vt:lpstr>
      <vt:lpstr>Common TCP Ports</vt:lpstr>
      <vt:lpstr>Slide 11</vt:lpstr>
      <vt:lpstr>Sockets in Python</vt:lpstr>
      <vt:lpstr>Slide 13</vt:lpstr>
      <vt:lpstr>Application Protocol </vt:lpstr>
      <vt:lpstr>HTTP - Hypertext Transport Protocol</vt:lpstr>
      <vt:lpstr>HTTP</vt:lpstr>
      <vt:lpstr>What is a Protocol?</vt:lpstr>
      <vt:lpstr>Slide 18</vt:lpstr>
      <vt:lpstr>Getting Data From The Server</vt:lpstr>
      <vt:lpstr>Making an HTTP request</vt:lpstr>
      <vt:lpstr>Slide 21</vt:lpstr>
      <vt:lpstr>Slide 22</vt:lpstr>
      <vt:lpstr>Slide 23</vt:lpstr>
      <vt:lpstr>Slide 24</vt:lpstr>
      <vt:lpstr>Slide 25</vt:lpstr>
      <vt:lpstr>Slide 26</vt:lpstr>
      <vt:lpstr>Internet Standards</vt:lpstr>
      <vt:lpstr>Slide 28</vt:lpstr>
      <vt:lpstr>Slide 29</vt:lpstr>
      <vt:lpstr>Making an HTTP request</vt:lpstr>
      <vt:lpstr>“Hacking” HTTP</vt:lpstr>
      <vt:lpstr>Accurate Hacking in the Movies</vt:lpstr>
      <vt:lpstr>Slide 33</vt:lpstr>
      <vt:lpstr>Slide 34</vt:lpstr>
      <vt:lpstr>Slide 35</vt:lpstr>
      <vt:lpstr>Slide 36</vt:lpstr>
      <vt:lpstr>The big picture...</vt:lpstr>
      <vt:lpstr>A browser debugger reveals detail...</vt:lpstr>
      <vt:lpstr>Slide 39</vt:lpstr>
      <vt:lpstr>Lets Write a Web Browser!</vt:lpstr>
      <vt:lpstr>An HTTP Request in Python</vt:lpstr>
      <vt:lpstr>Slide 42</vt:lpstr>
      <vt:lpstr>Making HTTP Easier With urllib</vt:lpstr>
      <vt:lpstr>Using urllib in Python</vt:lpstr>
      <vt:lpstr>Slide 45</vt:lpstr>
      <vt:lpstr>Like a file...</vt:lpstr>
      <vt:lpstr>Reading Web Pages</vt:lpstr>
      <vt:lpstr>Going from one page to another...</vt:lpstr>
      <vt:lpstr>Google</vt:lpstr>
      <vt:lpstr>Parsing HTML  (a.k.a. Web Scraping)</vt:lpstr>
      <vt:lpstr>What is Web Scraping?</vt:lpstr>
      <vt:lpstr>Slide 52</vt:lpstr>
      <vt:lpstr>Why Scrape?</vt:lpstr>
      <vt:lpstr>Scraping Web Pages</vt:lpstr>
      <vt:lpstr>http://www.facebook.com/terms.php</vt:lpstr>
      <vt:lpstr>The Easy Way - Beautiful Soup</vt:lpstr>
      <vt:lpstr>Slide 57</vt:lpstr>
      <vt:lpstr>Slide 58</vt:lpstr>
      <vt:lpstr>Summary</vt:lpstr>
      <vt:lpstr>Slide 60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Networked Programs</dc:title>
  <cp:lastModifiedBy>Atul Ghumade</cp:lastModifiedBy>
  <cp:revision>1</cp:revision>
  <dcterms:modified xsi:type="dcterms:W3CDTF">2015-09-03T18:39:46Z</dcterms:modified>
</cp:coreProperties>
</file>