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29.xml" ContentType="application/vnd.openxmlformats-officedocument.presentationml.slide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  <p:sldMasterId id="2147483705" r:id="rId3"/>
    <p:sldMasterId id="2147483706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6256000" cy="9144000"/>
  <p:notesSz cx="6858000" cy="9144000"/>
  <p:embeddedFontLst>
    <p:embeddedFont>
      <p:font typeface="Cabin" charset="0"/>
      <p:regular r:id="rId36"/>
      <p:bold r:id="rId37"/>
      <p:italic r:id="rId38"/>
      <p:boldItalic r:id="rId39"/>
    </p:embeddedFont>
  </p:embeddedFontLst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 baseline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0651C3A-4460-11DB-9652-00E08161165F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774" y="-90"/>
      </p:cViewPr>
      <p:guideLst>
        <p:guide orient="horz" pos="2880"/>
        <p:guide pos="5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lang="en-US" dirty="0">
              <a:solidFill>
                <a:schemeClr val="dk2"/>
              </a:solidFill>
            </a:endParaRPr>
          </a:p>
        </p:txBody>
      </p:sp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97" name="Shape 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43" name="Shape 14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0" name="Shape 17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89" name="Shape 18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4" name="Shape 21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22" name="Shape 22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0" name="Shape 230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46" name="Shape 24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8" name="Shape 25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5" name="Shape 28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16" name="Shape 316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47" name="Shape 34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54" name="Shape 35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hape 36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61" name="Shape 36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4" name="Shape 37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79" name="Shape 379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84" name="Shape 384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91" name="Shape 39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Shape 41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11" name="Shape 411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Shape 4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18" name="Shape 41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4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25" name="Shape 425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2" name="Shape 432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Shape 43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38" name="Shape 438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51" name="Shape 45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49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497" name="Shape 497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49" name="Shape 6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 txBox="1">
            <a:spLocks noGrp="1"/>
          </p:cNvSpPr>
          <p:nvPr>
            <p:ph type="title"/>
          </p:nvPr>
        </p:nvSpPr>
        <p:spPr>
          <a:xfrm rot="5400000">
            <a:off x="11231562" y="1909762"/>
            <a:ext cx="4229100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" name="Shape 9"/>
          <p:cNvSpPr txBox="1">
            <a:spLocks noGrp="1"/>
          </p:cNvSpPr>
          <p:nvPr>
            <p:ph type="body" idx="1"/>
          </p:nvPr>
        </p:nvSpPr>
        <p:spPr>
          <a:xfrm rot="5400000">
            <a:off x="4189412" y="-1497012"/>
            <a:ext cx="4229100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 rot="5400000">
            <a:off x="7594599" y="-1727200"/>
            <a:ext cx="1054100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Shape 16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8197850" y="4711700"/>
            <a:ext cx="688975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3" name="Shape 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87" name="Shape 8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90" name="Shape 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03" name="Shape 103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06" name="Shape 106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Shape 110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3" name="Shape 113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0" name="Shape 120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21" name="Shape 121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2" name="Shape 122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123" name="Shape 123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26" name="Shape 12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27" name="Shape 127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36" name="Shape 136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456"/>
          <p:cNvSpPr txBox="1">
            <a:spLocks noGrp="1"/>
          </p:cNvSpPr>
          <p:nvPr>
            <p:ph type="title"/>
          </p:nvPr>
        </p:nvSpPr>
        <p:spPr>
          <a:xfrm rot="5400000">
            <a:off x="9313862" y="2532062"/>
            <a:ext cx="8064499" cy="34829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57" name="Shape 457"/>
          <p:cNvSpPr txBox="1">
            <a:spLocks noGrp="1"/>
          </p:cNvSpPr>
          <p:nvPr>
            <p:ph type="body" idx="1"/>
          </p:nvPr>
        </p:nvSpPr>
        <p:spPr>
          <a:xfrm rot="5400000">
            <a:off x="2271712" y="-874712"/>
            <a:ext cx="8064499" cy="102965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60" name="Shape 460"/>
          <p:cNvSpPr txBox="1">
            <a:spLocks noGrp="1"/>
          </p:cNvSpPr>
          <p:nvPr>
            <p:ph type="body" idx="1"/>
          </p:nvPr>
        </p:nvSpPr>
        <p:spPr>
          <a:xfrm rot="5400000">
            <a:off x="5270500" y="-1511300"/>
            <a:ext cx="5702299" cy="13931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>
            <a:spLocks noGrp="1"/>
          </p:cNvSpPr>
          <p:nvPr>
            <p:ph type="title"/>
          </p:nvPr>
        </p:nvSpPr>
        <p:spPr>
          <a:xfrm>
            <a:off x="3186113" y="6400800"/>
            <a:ext cx="9753599" cy="7556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3" name="Shape 463"/>
          <p:cNvSpPr>
            <a:spLocks noGrp="1"/>
          </p:cNvSpPr>
          <p:nvPr>
            <p:ph type="pic" idx="2"/>
          </p:nvPr>
        </p:nvSpPr>
        <p:spPr>
          <a:xfrm>
            <a:off x="3186113" y="817562"/>
            <a:ext cx="9753599" cy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Shape 464"/>
          <p:cNvSpPr txBox="1">
            <a:spLocks noGrp="1"/>
          </p:cNvSpPr>
          <p:nvPr>
            <p:ph type="body" idx="1"/>
          </p:nvPr>
        </p:nvSpPr>
        <p:spPr>
          <a:xfrm>
            <a:off x="3186113" y="7156450"/>
            <a:ext cx="9753599" cy="1073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 txBox="1">
            <a:spLocks noGrp="1"/>
          </p:cNvSpPr>
          <p:nvPr>
            <p:ph type="title"/>
          </p:nvPr>
        </p:nvSpPr>
        <p:spPr>
          <a:xfrm>
            <a:off x="812800" y="363537"/>
            <a:ext cx="5348287" cy="1549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7" name="Shape 467"/>
          <p:cNvSpPr txBox="1">
            <a:spLocks noGrp="1"/>
          </p:cNvSpPr>
          <p:nvPr>
            <p:ph type="body" idx="1"/>
          </p:nvPr>
        </p:nvSpPr>
        <p:spPr>
          <a:xfrm>
            <a:off x="6356350" y="363537"/>
            <a:ext cx="9086849" cy="78041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68" name="Shape 468"/>
          <p:cNvSpPr txBox="1">
            <a:spLocks noGrp="1"/>
          </p:cNvSpPr>
          <p:nvPr>
            <p:ph type="body" idx="2"/>
          </p:nvPr>
        </p:nvSpPr>
        <p:spPr>
          <a:xfrm>
            <a:off x="812800" y="1912938"/>
            <a:ext cx="5348287" cy="625474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title"/>
          </p:nvPr>
        </p:nvSpPr>
        <p:spPr>
          <a:xfrm>
            <a:off x="812800" y="366712"/>
            <a:ext cx="14630400" cy="1524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4" name="Shape 474"/>
          <p:cNvSpPr txBox="1">
            <a:spLocks noGrp="1"/>
          </p:cNvSpPr>
          <p:nvPr>
            <p:ph type="body" idx="1"/>
          </p:nvPr>
        </p:nvSpPr>
        <p:spPr>
          <a:xfrm>
            <a:off x="812800" y="2046288"/>
            <a:ext cx="7181849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475" name="Shape 475"/>
          <p:cNvSpPr txBox="1">
            <a:spLocks noGrp="1"/>
          </p:cNvSpPr>
          <p:nvPr>
            <p:ph type="body" idx="2"/>
          </p:nvPr>
        </p:nvSpPr>
        <p:spPr>
          <a:xfrm>
            <a:off x="812800" y="2900363"/>
            <a:ext cx="7181849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76" name="Shape 476"/>
          <p:cNvSpPr txBox="1">
            <a:spLocks noGrp="1"/>
          </p:cNvSpPr>
          <p:nvPr>
            <p:ph type="body" idx="3"/>
          </p:nvPr>
        </p:nvSpPr>
        <p:spPr>
          <a:xfrm>
            <a:off x="8258175" y="2046288"/>
            <a:ext cx="7185024" cy="85407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  <p:sp>
        <p:nvSpPr>
          <p:cNvPr id="477" name="Shape 477"/>
          <p:cNvSpPr txBox="1">
            <a:spLocks noGrp="1"/>
          </p:cNvSpPr>
          <p:nvPr>
            <p:ph type="body" idx="4"/>
          </p:nvPr>
        </p:nvSpPr>
        <p:spPr>
          <a:xfrm>
            <a:off x="8258175" y="2900363"/>
            <a:ext cx="7185024" cy="52673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47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1" name="Shape 481"/>
          <p:cNvSpPr txBox="1">
            <a:spLocks noGrp="1"/>
          </p:cNvSpPr>
          <p:nvPr>
            <p:ph type="body" idx="2"/>
          </p:nvPr>
        </p:nvSpPr>
        <p:spPr>
          <a:xfrm>
            <a:off x="8197850" y="2603500"/>
            <a:ext cx="688975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 txBox="1">
            <a:spLocks noGrp="1"/>
          </p:cNvSpPr>
          <p:nvPr>
            <p:ph type="title"/>
          </p:nvPr>
        </p:nvSpPr>
        <p:spPr>
          <a:xfrm>
            <a:off x="1284287" y="5875337"/>
            <a:ext cx="13817599" cy="181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algn="l"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84" name="Shape 484"/>
          <p:cNvSpPr txBox="1">
            <a:spLocks noGrp="1"/>
          </p:cNvSpPr>
          <p:nvPr>
            <p:ph type="body" idx="1"/>
          </p:nvPr>
        </p:nvSpPr>
        <p:spPr>
          <a:xfrm>
            <a:off x="1284287" y="3875087"/>
            <a:ext cx="13817599" cy="20002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indent="0" rtl="0">
              <a:spcBef>
                <a:spcPts val="0"/>
              </a:spcBef>
              <a:buFont typeface="Cabin"/>
              <a:buNone/>
              <a:defRPr/>
            </a:lvl1pPr>
            <a:lvl2pPr marL="457200" indent="0" rtl="0">
              <a:spcBef>
                <a:spcPts val="0"/>
              </a:spcBef>
              <a:buFont typeface="Cabin"/>
              <a:buNone/>
              <a:defRPr/>
            </a:lvl2pPr>
            <a:lvl3pPr marL="914400" indent="0" rtl="0">
              <a:spcBef>
                <a:spcPts val="0"/>
              </a:spcBef>
              <a:buFont typeface="Cabin"/>
              <a:buNone/>
              <a:defRPr/>
            </a:lvl3pPr>
            <a:lvl4pPr marL="1371600" indent="0" rtl="0">
              <a:spcBef>
                <a:spcPts val="0"/>
              </a:spcBef>
              <a:buFont typeface="Cabin"/>
              <a:buNone/>
              <a:defRPr/>
            </a:lvl4pPr>
            <a:lvl5pPr marL="1828800" indent="0" rtl="0">
              <a:spcBef>
                <a:spcPts val="0"/>
              </a:spcBef>
              <a:buFont typeface="Cabin"/>
              <a:buNone/>
              <a:defRPr/>
            </a:lvl5pPr>
            <a:lvl6pPr marL="2286000" indent="0" rtl="0">
              <a:spcBef>
                <a:spcPts val="0"/>
              </a:spcBef>
              <a:buFont typeface="Cabin"/>
              <a:buNone/>
              <a:defRPr/>
            </a:lvl6pPr>
            <a:lvl7pPr marL="2743200" indent="0" rtl="0">
              <a:spcBef>
                <a:spcPts val="0"/>
              </a:spcBef>
              <a:buFont typeface="Cabin"/>
              <a:buNone/>
              <a:defRPr/>
            </a:lvl7pPr>
            <a:lvl8pPr marL="3200400" indent="0" rtl="0">
              <a:spcBef>
                <a:spcPts val="0"/>
              </a:spcBef>
              <a:buFont typeface="Cabin"/>
              <a:buNone/>
              <a:defRPr/>
            </a:lvl8pPr>
            <a:lvl9pPr marL="3657600" indent="0" rtl="0">
              <a:spcBef>
                <a:spcPts val="0"/>
              </a:spcBef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algn="ctr" rtl="0"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87" name="Shape 487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Shape 489"/>
          <p:cNvSpPr txBox="1">
            <a:spLocks noGrp="1"/>
          </p:cNvSpPr>
          <p:nvPr>
            <p:ph type="ctrTitle"/>
          </p:nvPr>
        </p:nvSpPr>
        <p:spPr>
          <a:xfrm>
            <a:off x="1219200" y="2840038"/>
            <a:ext cx="13817599" cy="19605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90" name="Shape 490"/>
          <p:cNvSpPr txBox="1">
            <a:spLocks noGrp="1"/>
          </p:cNvSpPr>
          <p:nvPr>
            <p:ph type="subTitle" idx="1"/>
          </p:nvPr>
        </p:nvSpPr>
        <p:spPr>
          <a:xfrm>
            <a:off x="2438400" y="5181600"/>
            <a:ext cx="11379200" cy="233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1pPr>
            <a:lvl2pPr marL="457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2pPr>
            <a:lvl3pPr marL="914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3pPr>
            <a:lvl4pPr marL="1371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4pPr>
            <a:lvl5pPr marL="18288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5pPr>
            <a:lvl6pPr marL="22860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6pPr>
            <a:lvl7pPr marL="27432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7pPr>
            <a:lvl8pPr marL="32004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8pPr>
            <a:lvl9pPr marL="3657600" marR="0" indent="0" algn="ctr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342900" marR="0" indent="-342900" algn="ctr" rtl="0">
              <a:spcBef>
                <a:spcPts val="0"/>
              </a:spcBef>
              <a:spcAft>
                <a:spcPts val="0"/>
              </a:spcAft>
              <a:defRPr/>
            </a:lvl1pPr>
            <a:lvl2pPr marL="742950" marR="0" indent="-285750" algn="ctr" rtl="0">
              <a:spcBef>
                <a:spcPts val="0"/>
              </a:spcBef>
              <a:spcAft>
                <a:spcPts val="0"/>
              </a:spcAft>
              <a:defRPr/>
            </a:lvl2pPr>
            <a:lvl3pPr marL="1143000" marR="0" indent="-228600" algn="ctr" rtl="0">
              <a:spcBef>
                <a:spcPts val="0"/>
              </a:spcBef>
              <a:spcAft>
                <a:spcPts val="0"/>
              </a:spcAft>
              <a:defRPr/>
            </a:lvl3pPr>
            <a:lvl4pPr marL="1600200" marR="0" indent="-228600" algn="ctr" rtl="0">
              <a:spcBef>
                <a:spcPts val="0"/>
              </a:spcBef>
              <a:spcAft>
                <a:spcPts val="0"/>
              </a:spcAft>
              <a:defRPr/>
            </a:lvl4pPr>
            <a:lvl5pPr marL="2057400" marR="0" indent="-22860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1003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marR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  <p:sp>
        <p:nvSpPr>
          <p:cNvPr id="454" name="Shape 45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1900" cy="57022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647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1pPr>
            <a:lvl2pPr marL="939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319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5367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288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2860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7432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004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657600" marR="0" indent="-165861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hf sldNum="0"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 baseline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Strings</a:t>
            </a:r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Chapter 6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7150099" cy="1549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String Data Type</a:t>
            </a:r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1155700" y="1841500"/>
            <a:ext cx="7150199" cy="67437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 string is a sequence of characters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 string literal uses quotes  </a:t>
            </a:r>
            <a:b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000" b="0" i="0" u="none" strike="noStrike" cap="none" baseline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Hello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'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3000">
                <a:solidFill>
                  <a:srgbClr val="FF00FF"/>
                </a:solidFill>
              </a:rPr>
              <a:t>"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Hello</a:t>
            </a:r>
            <a:r>
              <a:rPr lang="en-US" sz="3000">
                <a:solidFill>
                  <a:srgbClr val="FF00FF"/>
                </a:solidFill>
              </a:rPr>
              <a:t>"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For strings, + means 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concatenate</a:t>
            </a:r>
            <a:r>
              <a:rPr lang="en-US" sz="3000" b="0" i="0" u="none" strike="noStrike" cap="none" baseline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7F00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When a string contains numbers, it is still a string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FF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We can convert numbers in a string into a number using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int</a:t>
            </a:r>
            <a:r>
              <a:rPr lang="en-US" sz="30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</p:txBody>
      </p:sp>
      <p:sp>
        <p:nvSpPr>
          <p:cNvPr id="94" name="Shape 94"/>
          <p:cNvSpPr txBox="1"/>
          <p:nvPr/>
        </p:nvSpPr>
        <p:spPr>
          <a:xfrm>
            <a:off x="9040811" y="749300"/>
            <a:ext cx="6959599" cy="7912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str1 = "Hello</a:t>
            </a:r>
            <a:r>
              <a:rPr lang="en-US" sz="3000" b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str2 = 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bob = str1 + str2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Hellothere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str3 = '123'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str3 = str3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  File "&lt;stdin&gt;", line 1, in &lt;module&gt;TypeError: cannot concatenate 'str' and 'int' objects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 =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(str3) + 1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124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5994399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67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Reading and Converting</a:t>
            </a:r>
          </a:p>
        </p:txBody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9690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329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prefer to read data in using </a:t>
            </a:r>
            <a:r>
              <a:rPr lang="en-US" sz="30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strings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then parse and convert the data as we need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This gives us more control over error situations and/or bad user input</a:t>
            </a:r>
          </a:p>
          <a:p>
            <a:pPr marL="749300" marR="0" lvl="0" indent="-3329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Raw input numbers must be </a:t>
            </a:r>
            <a:r>
              <a:rPr lang="en-US" sz="3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converted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from strings</a:t>
            </a:r>
          </a:p>
        </p:txBody>
      </p:sp>
      <p:sp>
        <p:nvSpPr>
          <p:cNvPr id="140" name="Shape 140"/>
          <p:cNvSpPr txBox="1"/>
          <p:nvPr/>
        </p:nvSpPr>
        <p:spPr>
          <a:xfrm>
            <a:off x="8342311" y="869950"/>
            <a:ext cx="7099200" cy="7391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'Enter:'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Enter: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Chuck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Chuck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apple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raw_input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'Enter:'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Enter: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apple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–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  File "&lt;stdin&gt;", line 1, in &lt;module&gt;TypeError: unsupported operand type(s) for -: 'str' and 'int'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apple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–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10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90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title"/>
          </p:nvPr>
        </p:nvSpPr>
        <p:spPr>
          <a:xfrm>
            <a:off x="14605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 dirty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Looking Inside </a:t>
            </a:r>
            <a:r>
              <a:rPr lang="en-US" sz="7600" b="0" i="0" u="none" strike="noStrike" cap="none" baseline="0" dirty="0" smtClean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Strings</a:t>
            </a:r>
            <a:endParaRPr lang="en-US" sz="7600" b="0" i="0" u="none" strike="noStrike" cap="none" baseline="0" dirty="0">
              <a:solidFill>
                <a:srgbClr val="FF00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body" idx="1"/>
          </p:nvPr>
        </p:nvSpPr>
        <p:spPr>
          <a:xfrm>
            <a:off x="351136" y="2603500"/>
            <a:ext cx="76581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get at any single character in a string using an index specified in</a:t>
            </a:r>
            <a:r>
              <a:rPr lang="en-US" sz="3600" b="0" i="0" u="none" strike="noStrike" cap="none" baseline="0" dirty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 square brackets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index value must be an integer and starts at zero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index value can be an expression that is computed</a:t>
            </a:r>
          </a:p>
        </p:txBody>
      </p:sp>
      <p:sp>
        <p:nvSpPr>
          <p:cNvPr id="147" name="Shape 147"/>
          <p:cNvSpPr txBox="1"/>
          <p:nvPr/>
        </p:nvSpPr>
        <p:spPr>
          <a:xfrm>
            <a:off x="10867921" y="4517525"/>
            <a:ext cx="48788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</a:p>
        </p:txBody>
      </p:sp>
      <p:pic>
        <p:nvPicPr>
          <p:cNvPr id="148" name="Shape 1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750" y="482600"/>
            <a:ext cx="27368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Shape 149"/>
          <p:cNvSpPr txBox="1"/>
          <p:nvPr/>
        </p:nvSpPr>
        <p:spPr>
          <a:xfrm>
            <a:off x="8416032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150" name="Shape 150"/>
          <p:cNvSpPr txBox="1"/>
          <p:nvPr/>
        </p:nvSpPr>
        <p:spPr>
          <a:xfrm>
            <a:off x="105664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1" name="Shape 151"/>
          <p:cNvSpPr txBox="1"/>
          <p:nvPr/>
        </p:nvSpPr>
        <p:spPr>
          <a:xfrm>
            <a:off x="9136112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152" name="Shape 152"/>
          <p:cNvSpPr txBox="1"/>
          <p:nvPr/>
        </p:nvSpPr>
        <p:spPr>
          <a:xfrm>
            <a:off x="113157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3" name="Shape 153"/>
          <p:cNvSpPr txBox="1"/>
          <p:nvPr/>
        </p:nvSpPr>
        <p:spPr>
          <a:xfrm>
            <a:off x="9856192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</p:txBody>
      </p:sp>
      <p:sp>
        <p:nvSpPr>
          <p:cNvPr id="154" name="Shape 154"/>
          <p:cNvSpPr txBox="1"/>
          <p:nvPr/>
        </p:nvSpPr>
        <p:spPr>
          <a:xfrm>
            <a:off x="120904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5" name="Shape 155"/>
          <p:cNvSpPr txBox="1"/>
          <p:nvPr/>
        </p:nvSpPr>
        <p:spPr>
          <a:xfrm>
            <a:off x="10576272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156" name="Shape 156"/>
          <p:cNvSpPr txBox="1"/>
          <p:nvPr/>
        </p:nvSpPr>
        <p:spPr>
          <a:xfrm>
            <a:off x="128397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7" name="Shape 157"/>
          <p:cNvSpPr txBox="1"/>
          <p:nvPr/>
        </p:nvSpPr>
        <p:spPr>
          <a:xfrm>
            <a:off x="11296352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</p:txBody>
      </p:sp>
      <p:sp>
        <p:nvSpPr>
          <p:cNvPr id="158" name="Shape 158"/>
          <p:cNvSpPr txBox="1"/>
          <p:nvPr/>
        </p:nvSpPr>
        <p:spPr>
          <a:xfrm>
            <a:off x="135636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9" name="Shape 159"/>
          <p:cNvSpPr txBox="1"/>
          <p:nvPr/>
        </p:nvSpPr>
        <p:spPr>
          <a:xfrm>
            <a:off x="12088440" y="36703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</p:txBody>
      </p:sp>
      <p:sp>
        <p:nvSpPr>
          <p:cNvPr id="160" name="Shape 160"/>
          <p:cNvSpPr txBox="1"/>
          <p:nvPr/>
        </p:nvSpPr>
        <p:spPr>
          <a:xfrm>
            <a:off x="14312900" y="29337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8" name="Shape 150"/>
          <p:cNvSpPr txBox="1"/>
          <p:nvPr/>
        </p:nvSpPr>
        <p:spPr>
          <a:xfrm>
            <a:off x="9839673" y="2915816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9" name="Shape 150"/>
          <p:cNvSpPr txBox="1"/>
          <p:nvPr/>
        </p:nvSpPr>
        <p:spPr>
          <a:xfrm>
            <a:off x="9119593" y="2915816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" name="Shape 150"/>
          <p:cNvSpPr txBox="1"/>
          <p:nvPr/>
        </p:nvSpPr>
        <p:spPr>
          <a:xfrm>
            <a:off x="15096257" y="2915816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1" name="Shape 150"/>
          <p:cNvSpPr txBox="1"/>
          <p:nvPr/>
        </p:nvSpPr>
        <p:spPr>
          <a:xfrm>
            <a:off x="8344024" y="2915816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2" name="Shape 159"/>
          <p:cNvSpPr txBox="1"/>
          <p:nvPr/>
        </p:nvSpPr>
        <p:spPr>
          <a:xfrm>
            <a:off x="12808520" y="3707904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3" name="Shape 159"/>
          <p:cNvSpPr txBox="1"/>
          <p:nvPr/>
        </p:nvSpPr>
        <p:spPr>
          <a:xfrm>
            <a:off x="13600608" y="3707904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7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4" name="Shape 159"/>
          <p:cNvSpPr txBox="1"/>
          <p:nvPr/>
        </p:nvSpPr>
        <p:spPr>
          <a:xfrm>
            <a:off x="14304169" y="3691385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5" name="Shape 159"/>
          <p:cNvSpPr txBox="1"/>
          <p:nvPr/>
        </p:nvSpPr>
        <p:spPr>
          <a:xfrm>
            <a:off x="15096257" y="3635896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6" name="Shape 159"/>
          <p:cNvSpPr txBox="1"/>
          <p:nvPr/>
        </p:nvSpPr>
        <p:spPr>
          <a:xfrm>
            <a:off x="15040768" y="2123728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7" name="Shape 159"/>
          <p:cNvSpPr txBox="1"/>
          <p:nvPr/>
        </p:nvSpPr>
        <p:spPr>
          <a:xfrm>
            <a:off x="14304169" y="2123728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-2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8" name="Shape 159"/>
          <p:cNvSpPr txBox="1"/>
          <p:nvPr/>
        </p:nvSpPr>
        <p:spPr>
          <a:xfrm>
            <a:off x="13584089" y="2123728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-3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9" name="Shape 159"/>
          <p:cNvSpPr txBox="1"/>
          <p:nvPr/>
        </p:nvSpPr>
        <p:spPr>
          <a:xfrm>
            <a:off x="12864009" y="2123728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-4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0" name="Shape 159"/>
          <p:cNvSpPr txBox="1"/>
          <p:nvPr/>
        </p:nvSpPr>
        <p:spPr>
          <a:xfrm>
            <a:off x="12016432" y="2179217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-5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" name="Shape 159"/>
          <p:cNvSpPr txBox="1"/>
          <p:nvPr/>
        </p:nvSpPr>
        <p:spPr>
          <a:xfrm>
            <a:off x="11296352" y="2195736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-6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2" name="Shape 159"/>
          <p:cNvSpPr txBox="1"/>
          <p:nvPr/>
        </p:nvSpPr>
        <p:spPr>
          <a:xfrm>
            <a:off x="10576272" y="2195736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-7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3" name="Shape 159"/>
          <p:cNvSpPr txBox="1"/>
          <p:nvPr/>
        </p:nvSpPr>
        <p:spPr>
          <a:xfrm>
            <a:off x="9839673" y="2195736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-8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4" name="Shape 159"/>
          <p:cNvSpPr txBox="1"/>
          <p:nvPr/>
        </p:nvSpPr>
        <p:spPr>
          <a:xfrm>
            <a:off x="9064104" y="2195736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-9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5" name="Shape 159"/>
          <p:cNvSpPr txBox="1"/>
          <p:nvPr/>
        </p:nvSpPr>
        <p:spPr>
          <a:xfrm>
            <a:off x="8055992" y="2179217"/>
            <a:ext cx="1024631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-10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66FF"/>
                </a:solidFill>
                <a:latin typeface="Cabin"/>
                <a:ea typeface="Cabin"/>
                <a:cs typeface="Cabin"/>
                <a:sym typeface="Cabin"/>
              </a:rPr>
              <a:t>A Character Too Far</a:t>
            </a: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622300" y="2222500"/>
            <a:ext cx="71627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will get a </a:t>
            </a:r>
            <a:r>
              <a:rPr lang="en-US" sz="3600" b="0" i="0" u="none" strike="noStrike" cap="none" baseline="0">
                <a:solidFill>
                  <a:srgbClr val="FF66FF"/>
                </a:solidFill>
                <a:latin typeface="Cabin"/>
                <a:ea typeface="Cabin"/>
                <a:cs typeface="Cabin"/>
                <a:sym typeface="Cabin"/>
              </a:rPr>
              <a:t>python error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if you attempt to index beyond the end of a string.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 be careful when constructing index values and slices</a:t>
            </a:r>
          </a:p>
        </p:txBody>
      </p:sp>
      <p:sp>
        <p:nvSpPr>
          <p:cNvPr id="167" name="Shape 167"/>
          <p:cNvSpPr txBox="1"/>
          <p:nvPr/>
        </p:nvSpPr>
        <p:spPr>
          <a:xfrm>
            <a:off x="8759825" y="3035300"/>
            <a:ext cx="6845400" cy="374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'abc'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zot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FF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66FF"/>
                </a:solidFill>
                <a:latin typeface="Courier New"/>
                <a:ea typeface="Courier New"/>
                <a:cs typeface="Courier New"/>
                <a:sym typeface="Courier New"/>
              </a:rPr>
              <a:t>Traceback (most recent call last):  File "&lt;stdin&gt;", line 1, in &lt;module&gt;IndexError: string index out of range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Strings Have Length</a:t>
            </a:r>
          </a:p>
        </p:txBody>
      </p:sp>
      <p:sp>
        <p:nvSpPr>
          <p:cNvPr id="173" name="Shape 173"/>
          <p:cNvSpPr txBox="1">
            <a:spLocks noGrp="1"/>
          </p:cNvSpPr>
          <p:nvPr>
            <p:ph type="body" idx="1"/>
          </p:nvPr>
        </p:nvSpPr>
        <p:spPr>
          <a:xfrm>
            <a:off x="-224928" y="2603500"/>
            <a:ext cx="7658100" cy="37217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There is a built-in function </a:t>
            </a:r>
            <a:r>
              <a:rPr lang="en-US" sz="3600" b="0" i="0" u="none" strike="noStrike" cap="none" baseline="0" dirty="0" err="1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len</a:t>
            </a:r>
            <a:r>
              <a:rPr lang="en-US" sz="3600" b="0" i="0" u="none" strike="noStrike" cap="none" baseline="0" dirty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gives us the length of a string</a:t>
            </a:r>
          </a:p>
        </p:txBody>
      </p:sp>
      <p:sp>
        <p:nvSpPr>
          <p:cNvPr id="174" name="Shape 174"/>
          <p:cNvSpPr txBox="1"/>
          <p:nvPr/>
        </p:nvSpPr>
        <p:spPr>
          <a:xfrm>
            <a:off x="9947700" y="5551475"/>
            <a:ext cx="6308099" cy="1660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</a:p>
        </p:txBody>
      </p:sp>
      <p:sp>
        <p:nvSpPr>
          <p:cNvPr id="175" name="Shape 175"/>
          <p:cNvSpPr txBox="1"/>
          <p:nvPr/>
        </p:nvSpPr>
        <p:spPr>
          <a:xfrm>
            <a:off x="103759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176" name="Shape 176"/>
          <p:cNvSpPr txBox="1"/>
          <p:nvPr/>
        </p:nvSpPr>
        <p:spPr>
          <a:xfrm>
            <a:off x="103759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77" name="Shape 177"/>
          <p:cNvSpPr txBox="1"/>
          <p:nvPr/>
        </p:nvSpPr>
        <p:spPr>
          <a:xfrm>
            <a:off x="111252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111252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 dirty="0" smtClean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  <a:endParaRPr lang="en-US" sz="4000" b="0" i="0" u="none" strike="noStrike" cap="none" baseline="0" dirty="0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79" name="Shape 179"/>
          <p:cNvSpPr txBox="1"/>
          <p:nvPr/>
        </p:nvSpPr>
        <p:spPr>
          <a:xfrm>
            <a:off x="118999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</p:txBody>
      </p:sp>
      <p:sp>
        <p:nvSpPr>
          <p:cNvPr id="180" name="Shape 180"/>
          <p:cNvSpPr txBox="1"/>
          <p:nvPr/>
        </p:nvSpPr>
        <p:spPr>
          <a:xfrm>
            <a:off x="118999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181" name="Shape 181"/>
          <p:cNvSpPr txBox="1"/>
          <p:nvPr/>
        </p:nvSpPr>
        <p:spPr>
          <a:xfrm>
            <a:off x="126492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182" name="Shape 182"/>
          <p:cNvSpPr txBox="1"/>
          <p:nvPr/>
        </p:nvSpPr>
        <p:spPr>
          <a:xfrm>
            <a:off x="126492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183" name="Shape 183"/>
          <p:cNvSpPr txBox="1"/>
          <p:nvPr/>
        </p:nvSpPr>
        <p:spPr>
          <a:xfrm>
            <a:off x="133731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</p:txBody>
      </p:sp>
      <p:sp>
        <p:nvSpPr>
          <p:cNvPr id="184" name="Shape 184"/>
          <p:cNvSpPr txBox="1"/>
          <p:nvPr/>
        </p:nvSpPr>
        <p:spPr>
          <a:xfrm>
            <a:off x="133731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185" name="Shape 185"/>
          <p:cNvSpPr txBox="1"/>
          <p:nvPr/>
        </p:nvSpPr>
        <p:spPr>
          <a:xfrm>
            <a:off x="14122400" y="42164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</p:txBody>
      </p:sp>
      <p:sp>
        <p:nvSpPr>
          <p:cNvPr id="186" name="Shape 186"/>
          <p:cNvSpPr txBox="1"/>
          <p:nvPr/>
        </p:nvSpPr>
        <p:spPr>
          <a:xfrm>
            <a:off x="14122400" y="34798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Len Function</a:t>
            </a:r>
          </a:p>
        </p:txBody>
      </p:sp>
      <p:sp>
        <p:nvSpPr>
          <p:cNvPr id="192" name="Shape 192"/>
          <p:cNvSpPr txBox="1"/>
          <p:nvPr/>
        </p:nvSpPr>
        <p:spPr>
          <a:xfrm>
            <a:off x="1200150" y="2339975"/>
            <a:ext cx="56451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len(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</a:p>
        </p:txBody>
      </p:sp>
      <p:sp>
        <p:nvSpPr>
          <p:cNvPr id="193" name="Shape 193"/>
          <p:cNvSpPr txBox="1"/>
          <p:nvPr/>
        </p:nvSpPr>
        <p:spPr>
          <a:xfrm>
            <a:off x="6845300" y="5168900"/>
            <a:ext cx="2819400" cy="281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len()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</a:p>
        </p:txBody>
      </p:sp>
      <p:cxnSp>
        <p:nvCxnSpPr>
          <p:cNvPr id="194" name="Shape 194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95" name="Shape 195"/>
          <p:cNvSpPr txBox="1"/>
          <p:nvPr/>
        </p:nvSpPr>
        <p:spPr>
          <a:xfrm>
            <a:off x="3208336" y="6069012"/>
            <a:ext cx="1666875" cy="1108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'banana'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(a string)</a:t>
            </a:r>
          </a:p>
        </p:txBody>
      </p:sp>
      <p:sp>
        <p:nvSpPr>
          <p:cNvPr id="196" name="Shape 196"/>
          <p:cNvSpPr txBox="1"/>
          <p:nvPr/>
        </p:nvSpPr>
        <p:spPr>
          <a:xfrm>
            <a:off x="11442700" y="6000750"/>
            <a:ext cx="216535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(a number)</a:t>
            </a:r>
          </a:p>
        </p:txBody>
      </p:sp>
      <p:cxnSp>
        <p:nvCxnSpPr>
          <p:cNvPr id="197" name="Shape 197"/>
          <p:cNvCxnSpPr/>
          <p:nvPr/>
        </p:nvCxnSpPr>
        <p:spPr>
          <a:xfrm flipH="1">
            <a:off x="9680574" y="65722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98" name="Shape 198"/>
          <p:cNvSpPr txBox="1"/>
          <p:nvPr/>
        </p:nvSpPr>
        <p:spPr>
          <a:xfrm>
            <a:off x="10283825" y="2508250"/>
            <a:ext cx="5130899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some stored code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we use. A function takes some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produces 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output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  <p:sp>
        <p:nvSpPr>
          <p:cNvPr id="199" name="Shape 199"/>
          <p:cNvSpPr txBox="1"/>
          <p:nvPr/>
        </p:nvSpPr>
        <p:spPr>
          <a:xfrm>
            <a:off x="5953125" y="8318500"/>
            <a:ext cx="4330700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Guido wrote this code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Len Function</a:t>
            </a:r>
          </a:p>
        </p:txBody>
      </p:sp>
      <p:sp>
        <p:nvSpPr>
          <p:cNvPr id="205" name="Shape 205"/>
          <p:cNvSpPr txBox="1"/>
          <p:nvPr/>
        </p:nvSpPr>
        <p:spPr>
          <a:xfrm>
            <a:off x="6845300" y="5168900"/>
            <a:ext cx="3330899" cy="281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6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len(inp):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26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lang="en-US" sz="26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y: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blah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blah</a:t>
            </a:r>
          </a:p>
        </p:txBody>
      </p:sp>
      <p:cxnSp>
        <p:nvCxnSpPr>
          <p:cNvPr id="206" name="Shape 206"/>
          <p:cNvCxnSpPr/>
          <p:nvPr/>
        </p:nvCxnSpPr>
        <p:spPr>
          <a:xfrm flipH="1">
            <a:off x="5299074" y="6623050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7" name="Shape 207"/>
          <p:cNvCxnSpPr/>
          <p:nvPr/>
        </p:nvCxnSpPr>
        <p:spPr>
          <a:xfrm rot="10800000">
            <a:off x="10267124" y="6587374"/>
            <a:ext cx="1135800" cy="35400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08" name="Shape 208"/>
          <p:cNvSpPr txBox="1"/>
          <p:nvPr/>
        </p:nvSpPr>
        <p:spPr>
          <a:xfrm>
            <a:off x="10474325" y="2508250"/>
            <a:ext cx="4940400" cy="218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some stored code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that we use. A function takes some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input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produces 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output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1200150" y="2339975"/>
            <a:ext cx="6597300" cy="22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len(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</a:p>
        </p:txBody>
      </p:sp>
      <p:sp>
        <p:nvSpPr>
          <p:cNvPr id="210" name="Shape 210"/>
          <p:cNvSpPr txBox="1"/>
          <p:nvPr/>
        </p:nvSpPr>
        <p:spPr>
          <a:xfrm>
            <a:off x="3208336" y="6069012"/>
            <a:ext cx="1666875" cy="110807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'banana'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(a string)</a:t>
            </a:r>
          </a:p>
        </p:txBody>
      </p:sp>
      <p:sp>
        <p:nvSpPr>
          <p:cNvPr id="211" name="Shape 211"/>
          <p:cNvSpPr txBox="1"/>
          <p:nvPr/>
        </p:nvSpPr>
        <p:spPr>
          <a:xfrm>
            <a:off x="11442700" y="6000750"/>
            <a:ext cx="216535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(a number)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Looping Through Strings</a:t>
            </a:r>
          </a:p>
        </p:txBody>
      </p:sp>
      <p:sp>
        <p:nvSpPr>
          <p:cNvPr id="217" name="Shape 217"/>
          <p:cNvSpPr txBox="1">
            <a:spLocks noGrp="1"/>
          </p:cNvSpPr>
          <p:nvPr>
            <p:ph type="body" idx="1"/>
          </p:nvPr>
        </p:nvSpPr>
        <p:spPr>
          <a:xfrm>
            <a:off x="698500" y="2603500"/>
            <a:ext cx="65406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Using a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while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and an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, and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len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function, we can construct a loop to look at each of the letters in a string individually</a:t>
            </a:r>
          </a:p>
        </p:txBody>
      </p:sp>
      <p:sp>
        <p:nvSpPr>
          <p:cNvPr id="218" name="Shape 218"/>
          <p:cNvSpPr txBox="1"/>
          <p:nvPr/>
        </p:nvSpPr>
        <p:spPr>
          <a:xfrm>
            <a:off x="8239813" y="3690900"/>
            <a:ext cx="5945399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index,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</p:txBody>
      </p:sp>
      <p:sp>
        <p:nvSpPr>
          <p:cNvPr id="219" name="Shape 219"/>
          <p:cNvSpPr txBox="1"/>
          <p:nvPr/>
        </p:nvSpPr>
        <p:spPr>
          <a:xfrm>
            <a:off x="14728825" y="3740150"/>
            <a:ext cx="698400" cy="32258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0 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1 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2 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3 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4 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5 a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Looping Through Strings</a:t>
            </a:r>
          </a:p>
        </p:txBody>
      </p:sp>
      <p:sp>
        <p:nvSpPr>
          <p:cNvPr id="225" name="Shape 225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5405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definite loop using a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is much more elegant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completely taken care of by 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loop</a:t>
            </a:r>
          </a:p>
        </p:txBody>
      </p:sp>
      <p:sp>
        <p:nvSpPr>
          <p:cNvPr id="226" name="Shape 226"/>
          <p:cNvSpPr txBox="1"/>
          <p:nvPr/>
        </p:nvSpPr>
        <p:spPr>
          <a:xfrm>
            <a:off x="15122525" y="3740150"/>
            <a:ext cx="3428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227" name="Shape 227"/>
          <p:cNvSpPr txBox="1"/>
          <p:nvPr/>
        </p:nvSpPr>
        <p:spPr>
          <a:xfrm>
            <a:off x="8774825" y="4622800"/>
            <a:ext cx="60599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</a:p>
        </p:txBody>
      </p:sp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Looping Through Strings</a:t>
            </a:r>
          </a:p>
        </p:txBody>
      </p:sp>
      <p:sp>
        <p:nvSpPr>
          <p:cNvPr id="233" name="Shape 233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540500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 definite loop using a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statement is much more </a:t>
            </a:r>
            <a:r>
              <a:rPr lang="en-US" sz="3600" b="0" i="0" u="none" strike="noStrike" cap="none" baseline="0">
                <a:solidFill>
                  <a:srgbClr val="B45F06"/>
                </a:solidFill>
                <a:latin typeface="Cabin"/>
                <a:ea typeface="Cabin"/>
                <a:cs typeface="Cabin"/>
                <a:sym typeface="Cabin"/>
              </a:rPr>
              <a:t>elegant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is completely taken care of by 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loop</a:t>
            </a:r>
          </a:p>
        </p:txBody>
      </p:sp>
      <p:sp>
        <p:nvSpPr>
          <p:cNvPr id="234" name="Shape 234"/>
          <p:cNvSpPr txBox="1"/>
          <p:nvPr/>
        </p:nvSpPr>
        <p:spPr>
          <a:xfrm>
            <a:off x="8058071" y="5568950"/>
            <a:ext cx="59832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&lt; 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</p:txBody>
      </p:sp>
      <p:sp>
        <p:nvSpPr>
          <p:cNvPr id="235" name="Shape 235"/>
          <p:cNvSpPr txBox="1"/>
          <p:nvPr/>
        </p:nvSpPr>
        <p:spPr>
          <a:xfrm>
            <a:off x="8058075" y="3222575"/>
            <a:ext cx="5015700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fruit =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</a:p>
        </p:txBody>
      </p:sp>
      <p:sp>
        <p:nvSpPr>
          <p:cNvPr id="236" name="Shape 236"/>
          <p:cNvSpPr txBox="1"/>
          <p:nvPr/>
        </p:nvSpPr>
        <p:spPr>
          <a:xfrm>
            <a:off x="15122525" y="3740150"/>
            <a:ext cx="342899" cy="322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Looping and Counting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xfrm>
            <a:off x="1003300" y="2146300"/>
            <a:ext cx="6565800" cy="53717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This is a simple loop that loops through each letter in a string and counts the number of times the loop encounters the 'a' character</a:t>
            </a:r>
          </a:p>
        </p:txBody>
      </p:sp>
      <p:sp>
        <p:nvSpPr>
          <p:cNvPr id="243" name="Shape 243"/>
          <p:cNvSpPr txBox="1"/>
          <p:nvPr/>
        </p:nvSpPr>
        <p:spPr>
          <a:xfrm>
            <a:off x="8753100" y="3468675"/>
            <a:ext cx="6885000" cy="332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word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letter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word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if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'a'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      count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count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Looking deeper into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</a:p>
        </p:txBody>
      </p:sp>
      <p:sp>
        <p:nvSpPr>
          <p:cNvPr id="249" name="Shape 24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59816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iterates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through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(ordered set)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block (body)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code is executed once for each value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iteration variable 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moves through all of the values </a:t>
            </a: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4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8140700" y="5226050"/>
            <a:ext cx="7193399" cy="1371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'banana'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print letter</a:t>
            </a:r>
          </a:p>
        </p:txBody>
      </p:sp>
      <p:grpSp>
        <p:nvGrpSpPr>
          <p:cNvPr id="251" name="Shape 251"/>
          <p:cNvGrpSpPr/>
          <p:nvPr/>
        </p:nvGrpSpPr>
        <p:grpSpPr>
          <a:xfrm>
            <a:off x="7594589" y="3437028"/>
            <a:ext cx="8391615" cy="1897047"/>
            <a:chOff x="0" y="0"/>
            <a:chExt cx="8389937" cy="1897047"/>
          </a:xfrm>
        </p:grpSpPr>
        <p:sp>
          <p:nvSpPr>
            <p:cNvPr id="252" name="Shape 252"/>
            <p:cNvSpPr txBox="1"/>
            <p:nvPr/>
          </p:nvSpPr>
          <p:spPr>
            <a:xfrm>
              <a:off x="0" y="469900"/>
              <a:ext cx="3255962" cy="6222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FF00"/>
                </a:buClr>
                <a:buSzPct val="25000"/>
                <a:buFont typeface="Cabin"/>
                <a:buNone/>
              </a:pPr>
              <a:r>
                <a:rPr lang="en-US" sz="3600" b="0" i="0" u="none" strike="noStrike" cap="none" baseline="0">
                  <a:solidFill>
                    <a:srgbClr val="00FF00"/>
                  </a:solidFill>
                  <a:latin typeface="Cabin"/>
                  <a:ea typeface="Cabin"/>
                  <a:cs typeface="Cabin"/>
                  <a:sym typeface="Cabin"/>
                </a:rPr>
                <a:t>Iteration variable</a:t>
              </a:r>
            </a:p>
          </p:txBody>
        </p:sp>
        <p:sp>
          <p:nvSpPr>
            <p:cNvPr id="253" name="Shape 253"/>
            <p:cNvSpPr txBox="1"/>
            <p:nvPr/>
          </p:nvSpPr>
          <p:spPr>
            <a:xfrm>
              <a:off x="3703637" y="0"/>
              <a:ext cx="4686300" cy="62229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7F00"/>
                </a:buClr>
                <a:buSzPct val="25000"/>
                <a:buFont typeface="Cabin"/>
                <a:buNone/>
              </a:pPr>
              <a:r>
                <a:rPr lang="en-US" sz="3600" b="0" i="0" u="none" strike="noStrike" cap="none" baseline="0">
                  <a:solidFill>
                    <a:srgbClr val="FF7F00"/>
                  </a:solidFill>
                  <a:latin typeface="Cabin"/>
                  <a:ea typeface="Cabin"/>
                  <a:cs typeface="Cabin"/>
                  <a:sym typeface="Cabin"/>
                </a:rPr>
                <a:t>Six-character string</a:t>
              </a:r>
            </a:p>
          </p:txBody>
        </p:sp>
        <p:cxnSp>
          <p:nvCxnSpPr>
            <p:cNvPr id="254" name="Shape 254"/>
            <p:cNvCxnSpPr/>
            <p:nvPr/>
          </p:nvCxnSpPr>
          <p:spPr>
            <a:xfrm rot="10800000">
              <a:off x="1468265" y="1074747"/>
              <a:ext cx="984600" cy="822300"/>
            </a:xfrm>
            <a:prstGeom prst="straightConnector1">
              <a:avLst/>
            </a:prstGeom>
            <a:noFill/>
            <a:ln w="63500" cap="rnd" cmpd="sng">
              <a:solidFill>
                <a:srgbClr val="00FF00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  <p:cxnSp>
          <p:nvCxnSpPr>
            <p:cNvPr id="255" name="Shape 255"/>
            <p:cNvCxnSpPr/>
            <p:nvPr/>
          </p:nvCxnSpPr>
          <p:spPr>
            <a:xfrm rot="10800000" flipH="1">
              <a:off x="5434424" y="966711"/>
              <a:ext cx="727200" cy="822300"/>
            </a:xfrm>
            <a:prstGeom prst="straightConnector1">
              <a:avLst/>
            </a:prstGeom>
            <a:noFill/>
            <a:ln w="63500" cap="rnd" cmpd="sng">
              <a:solidFill>
                <a:srgbClr val="FF7F00"/>
              </a:solidFill>
              <a:prstDash val="solid"/>
              <a:miter/>
              <a:headEnd type="stealth" w="med" len="med"/>
              <a:tailEnd type="none" w="med" len="med"/>
            </a:ln>
          </p:spPr>
        </p:cxnSp>
      </p:grpSp>
    </p:spTree>
  </p:cSld>
  <p:clrMapOvr>
    <a:masterClrMapping/>
  </p:clrMapOvr>
  <p:transition spd="slow"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Shape 260"/>
          <p:cNvCxnSpPr/>
          <p:nvPr/>
        </p:nvCxnSpPr>
        <p:spPr>
          <a:xfrm rot="10800000">
            <a:off x="3143137" y="1192249"/>
            <a:ext cx="14400" cy="5666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1" name="Shape 261"/>
          <p:cNvSpPr/>
          <p:nvPr/>
        </p:nvSpPr>
        <p:spPr>
          <a:xfrm>
            <a:off x="1727200" y="1752600"/>
            <a:ext cx="2870100" cy="1269899"/>
          </a:xfrm>
          <a:prstGeom prst="diamond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4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Done?</a:t>
            </a:r>
          </a:p>
        </p:txBody>
      </p:sp>
      <p:cxnSp>
        <p:nvCxnSpPr>
          <p:cNvPr id="262" name="Shape 262"/>
          <p:cNvCxnSpPr/>
          <p:nvPr/>
        </p:nvCxnSpPr>
        <p:spPr>
          <a:xfrm rot="10800000">
            <a:off x="3162312" y="3022699"/>
            <a:ext cx="11100" cy="1498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63" name="Shape 263"/>
          <p:cNvCxnSpPr/>
          <p:nvPr/>
        </p:nvCxnSpPr>
        <p:spPr>
          <a:xfrm rot="10800000" flipH="1">
            <a:off x="6700837" y="27115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64" name="Shape 264"/>
          <p:cNvCxnSpPr/>
          <p:nvPr/>
        </p:nvCxnSpPr>
        <p:spPr>
          <a:xfrm flipH="1">
            <a:off x="6697623" y="3209925"/>
            <a:ext cx="4799" cy="13143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5" name="Shape 265"/>
          <p:cNvCxnSpPr/>
          <p:nvPr/>
        </p:nvCxnSpPr>
        <p:spPr>
          <a:xfrm>
            <a:off x="3133200" y="4516675"/>
            <a:ext cx="3596099" cy="45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6" name="Shape 266"/>
          <p:cNvCxnSpPr/>
          <p:nvPr/>
        </p:nvCxnSpPr>
        <p:spPr>
          <a:xfrm flipH="1">
            <a:off x="1371574" y="2397125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cxnSp>
        <p:nvCxnSpPr>
          <p:cNvPr id="267" name="Shape 267"/>
          <p:cNvCxnSpPr/>
          <p:nvPr/>
        </p:nvCxnSpPr>
        <p:spPr>
          <a:xfrm rot="10800000" flipH="1">
            <a:off x="3157537" y="5238874"/>
            <a:ext cx="15899" cy="64440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68" name="Shape 268"/>
          <p:cNvCxnSpPr/>
          <p:nvPr/>
        </p:nvCxnSpPr>
        <p:spPr>
          <a:xfrm rot="10800000">
            <a:off x="1401636" y="2451012"/>
            <a:ext cx="3299" cy="27797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69" name="Shape 269"/>
          <p:cNvCxnSpPr/>
          <p:nvPr/>
        </p:nvCxnSpPr>
        <p:spPr>
          <a:xfrm>
            <a:off x="1401761" y="5256212"/>
            <a:ext cx="1752600" cy="0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70" name="Shape 270"/>
          <p:cNvSpPr txBox="1"/>
          <p:nvPr/>
        </p:nvSpPr>
        <p:spPr>
          <a:xfrm>
            <a:off x="846137" y="1638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Yes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5245100" y="3302000"/>
            <a:ext cx="2921099" cy="7493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print </a:t>
            </a:r>
            <a:r>
              <a:rPr lang="en-US" sz="3500" b="0" i="0" u="none" strike="noStrike" cap="none" baseline="0">
                <a:latin typeface="Cabin"/>
                <a:ea typeface="Cabin"/>
                <a:cs typeface="Cabin"/>
                <a:sym typeface="Cabin"/>
              </a:rPr>
              <a:t>letter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5130800" y="2019300"/>
            <a:ext cx="3111599" cy="74939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25000"/>
              <a:buFont typeface="Cabin"/>
              <a:buNone/>
            </a:pPr>
            <a:r>
              <a:rPr lang="en-US" sz="3500" b="0" i="0" u="none" strike="noStrike" cap="none" baseline="0">
                <a:solidFill>
                  <a:srgbClr val="FF0000"/>
                </a:solidFill>
                <a:latin typeface="Cabin"/>
                <a:ea typeface="Cabin"/>
                <a:cs typeface="Cabin"/>
                <a:sym typeface="Cabin"/>
              </a:rPr>
              <a:t>Advance letter</a:t>
            </a:r>
          </a:p>
        </p:txBody>
      </p:sp>
      <p:sp>
        <p:nvSpPr>
          <p:cNvPr id="273" name="Shape 273"/>
          <p:cNvSpPr txBox="1"/>
          <p:nvPr/>
        </p:nvSpPr>
        <p:spPr>
          <a:xfrm>
            <a:off x="7927750" y="5086350"/>
            <a:ext cx="66390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letter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'banana'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 letter</a:t>
            </a:r>
          </a:p>
        </p:txBody>
      </p:sp>
      <p:sp>
        <p:nvSpPr>
          <p:cNvPr id="274" name="Shape 274"/>
          <p:cNvSpPr txBox="1"/>
          <p:nvPr/>
        </p:nvSpPr>
        <p:spPr>
          <a:xfrm>
            <a:off x="97409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</a:p>
        </p:txBody>
      </p:sp>
      <p:sp>
        <p:nvSpPr>
          <p:cNvPr id="275" name="Shape 275"/>
          <p:cNvSpPr txBox="1"/>
          <p:nvPr/>
        </p:nvSpPr>
        <p:spPr>
          <a:xfrm>
            <a:off x="104902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276" name="Shape 276"/>
          <p:cNvSpPr txBox="1"/>
          <p:nvPr/>
        </p:nvSpPr>
        <p:spPr>
          <a:xfrm>
            <a:off x="112649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277" name="Shape 277"/>
          <p:cNvSpPr txBox="1"/>
          <p:nvPr/>
        </p:nvSpPr>
        <p:spPr>
          <a:xfrm>
            <a:off x="120142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278" name="Shape 278"/>
          <p:cNvSpPr txBox="1"/>
          <p:nvPr/>
        </p:nvSpPr>
        <p:spPr>
          <a:xfrm>
            <a:off x="127381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279" name="Shape 279"/>
          <p:cNvSpPr txBox="1"/>
          <p:nvPr/>
        </p:nvSpPr>
        <p:spPr>
          <a:xfrm>
            <a:off x="13487400" y="17272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280" name="Shape 280"/>
          <p:cNvSpPr txBox="1"/>
          <p:nvPr/>
        </p:nvSpPr>
        <p:spPr>
          <a:xfrm>
            <a:off x="2062161" y="7366000"/>
            <a:ext cx="124461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iteration variable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iterates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through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string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and the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block (body)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code is executed once for each value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the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sequence</a:t>
            </a:r>
          </a:p>
        </p:txBody>
      </p:sp>
      <p:cxnSp>
        <p:nvCxnSpPr>
          <p:cNvPr id="281" name="Shape 281"/>
          <p:cNvCxnSpPr/>
          <p:nvPr/>
        </p:nvCxnSpPr>
        <p:spPr>
          <a:xfrm>
            <a:off x="4703700" y="2385900"/>
            <a:ext cx="396900" cy="3299"/>
          </a:xfrm>
          <a:prstGeom prst="straightConnector1">
            <a:avLst/>
          </a:prstGeom>
          <a:noFill/>
          <a:ln w="76200" cap="rnd" cmpd="sng">
            <a:solidFill>
              <a:srgbClr val="00FF00"/>
            </a:solidFill>
            <a:prstDash val="solid"/>
            <a:miter/>
            <a:headEnd type="none" w="med" len="med"/>
            <a:tailEnd type="stealth" w="med" len="med"/>
          </a:ln>
        </p:spPr>
      </p:cxnSp>
      <p:sp>
        <p:nvSpPr>
          <p:cNvPr id="282" name="Shape 282"/>
          <p:cNvSpPr txBox="1"/>
          <p:nvPr/>
        </p:nvSpPr>
        <p:spPr>
          <a:xfrm>
            <a:off x="4275137" y="1638300"/>
            <a:ext cx="725399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No</a:t>
            </a:r>
          </a:p>
        </p:txBody>
      </p:sp>
    </p:spTree>
  </p:cSld>
  <p:clrMapOvr>
    <a:masterClrMapping/>
  </p:clrMapOvr>
  <p:transition spd="slow"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 txBox="1">
            <a:spLocks noGrp="1"/>
          </p:cNvSpPr>
          <p:nvPr>
            <p:ph type="body" idx="1"/>
          </p:nvPr>
        </p:nvSpPr>
        <p:spPr>
          <a:xfrm>
            <a:off x="1155700" y="2339725"/>
            <a:ext cx="6438900" cy="59661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can also look at any continuous section of a string using a </a:t>
            </a:r>
            <a:r>
              <a:rPr lang="en-US" sz="34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colon operator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The second number is one beyond the end of the slice -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up to but not including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the second number is beyond the end of the string, it stops at the end </a:t>
            </a:r>
          </a:p>
        </p:txBody>
      </p:sp>
      <p:sp>
        <p:nvSpPr>
          <p:cNvPr id="288" name="Shape 288"/>
          <p:cNvSpPr txBox="1">
            <a:spLocks noGrp="1"/>
          </p:cNvSpPr>
          <p:nvPr>
            <p:ph type="title"/>
          </p:nvPr>
        </p:nvSpPr>
        <p:spPr>
          <a:xfrm>
            <a:off x="8890000" y="7073900"/>
            <a:ext cx="6680200" cy="19177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Slicing Strings</a:t>
            </a:r>
          </a:p>
        </p:txBody>
      </p:sp>
      <p:sp>
        <p:nvSpPr>
          <p:cNvPr id="289" name="Shape 289"/>
          <p:cNvSpPr txBox="1"/>
          <p:nvPr/>
        </p:nvSpPr>
        <p:spPr>
          <a:xfrm>
            <a:off x="8777450" y="2708900"/>
            <a:ext cx="6553499" cy="44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'Monty Python'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Mont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6:7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</a:p>
        </p:txBody>
      </p:sp>
      <p:sp>
        <p:nvSpPr>
          <p:cNvPr id="290" name="Shape 290"/>
          <p:cNvSpPr txBox="1"/>
          <p:nvPr/>
        </p:nvSpPr>
        <p:spPr>
          <a:xfrm>
            <a:off x="6705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291" name="Shape 291"/>
          <p:cNvSpPr txBox="1"/>
          <p:nvPr/>
        </p:nvSpPr>
        <p:spPr>
          <a:xfrm>
            <a:off x="6705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</a:t>
            </a:r>
          </a:p>
        </p:txBody>
      </p:sp>
      <p:sp>
        <p:nvSpPr>
          <p:cNvPr id="292" name="Shape 292"/>
          <p:cNvSpPr txBox="1"/>
          <p:nvPr/>
        </p:nvSpPr>
        <p:spPr>
          <a:xfrm>
            <a:off x="7454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293" name="Shape 293"/>
          <p:cNvSpPr txBox="1"/>
          <p:nvPr/>
        </p:nvSpPr>
        <p:spPr>
          <a:xfrm>
            <a:off x="7454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</a:p>
        </p:txBody>
      </p:sp>
      <p:sp>
        <p:nvSpPr>
          <p:cNvPr id="294" name="Shape 294"/>
          <p:cNvSpPr txBox="1"/>
          <p:nvPr/>
        </p:nvSpPr>
        <p:spPr>
          <a:xfrm>
            <a:off x="8229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</p:txBody>
      </p:sp>
      <p:sp>
        <p:nvSpPr>
          <p:cNvPr id="295" name="Shape 295"/>
          <p:cNvSpPr txBox="1"/>
          <p:nvPr/>
        </p:nvSpPr>
        <p:spPr>
          <a:xfrm>
            <a:off x="8229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296" name="Shape 296"/>
          <p:cNvSpPr txBox="1"/>
          <p:nvPr/>
        </p:nvSpPr>
        <p:spPr>
          <a:xfrm>
            <a:off x="8978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297" name="Shape 297"/>
          <p:cNvSpPr txBox="1"/>
          <p:nvPr/>
        </p:nvSpPr>
        <p:spPr>
          <a:xfrm>
            <a:off x="8978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</a:p>
        </p:txBody>
      </p:sp>
      <p:sp>
        <p:nvSpPr>
          <p:cNvPr id="298" name="Shape 298"/>
          <p:cNvSpPr txBox="1"/>
          <p:nvPr/>
        </p:nvSpPr>
        <p:spPr>
          <a:xfrm>
            <a:off x="97028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</p:txBody>
      </p:sp>
      <p:sp>
        <p:nvSpPr>
          <p:cNvPr id="299" name="Shape 299"/>
          <p:cNvSpPr txBox="1"/>
          <p:nvPr/>
        </p:nvSpPr>
        <p:spPr>
          <a:xfrm>
            <a:off x="97028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104521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104521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11150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</a:p>
        </p:txBody>
      </p:sp>
      <p:sp>
        <p:nvSpPr>
          <p:cNvPr id="303" name="Shape 303"/>
          <p:cNvSpPr txBox="1"/>
          <p:nvPr/>
        </p:nvSpPr>
        <p:spPr>
          <a:xfrm>
            <a:off x="11150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11899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7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11899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</a:t>
            </a:r>
          </a:p>
        </p:txBody>
      </p:sp>
      <p:sp>
        <p:nvSpPr>
          <p:cNvPr id="306" name="Shape 306"/>
          <p:cNvSpPr txBox="1"/>
          <p:nvPr/>
        </p:nvSpPr>
        <p:spPr>
          <a:xfrm>
            <a:off x="12674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12674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13423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13423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141478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141478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</a:p>
        </p:txBody>
      </p:sp>
      <p:sp>
        <p:nvSpPr>
          <p:cNvPr id="312" name="Shape 312"/>
          <p:cNvSpPr txBox="1"/>
          <p:nvPr/>
        </p:nvSpPr>
        <p:spPr>
          <a:xfrm>
            <a:off x="148971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11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48971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</p:spTree>
  </p:cSld>
  <p:clrMapOvr>
    <a:masterClrMapping/>
  </p:clrMapOvr>
  <p:transition spd="slow"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hape 318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438900" cy="4110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we leave off the first number or the last number of the slice, it is assumed to be the beginning or end of the string respectively</a:t>
            </a:r>
          </a:p>
        </p:txBody>
      </p:sp>
      <p:sp>
        <p:nvSpPr>
          <p:cNvPr id="319" name="Shape 319"/>
          <p:cNvSpPr txBox="1">
            <a:spLocks noGrp="1"/>
          </p:cNvSpPr>
          <p:nvPr>
            <p:ph type="title"/>
          </p:nvPr>
        </p:nvSpPr>
        <p:spPr>
          <a:xfrm>
            <a:off x="8890000" y="7073900"/>
            <a:ext cx="6680200" cy="19177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Slicing Strings</a:t>
            </a:r>
          </a:p>
        </p:txBody>
      </p:sp>
      <p:sp>
        <p:nvSpPr>
          <p:cNvPr id="320" name="Shape 320"/>
          <p:cNvSpPr txBox="1"/>
          <p:nvPr/>
        </p:nvSpPr>
        <p:spPr>
          <a:xfrm>
            <a:off x="8535900" y="2754300"/>
            <a:ext cx="68634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'Monty Python'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:]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[:]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Monty Python</a:t>
            </a:r>
          </a:p>
        </p:txBody>
      </p:sp>
      <p:sp>
        <p:nvSpPr>
          <p:cNvPr id="321" name="Shape 321"/>
          <p:cNvSpPr txBox="1"/>
          <p:nvPr/>
        </p:nvSpPr>
        <p:spPr>
          <a:xfrm>
            <a:off x="6705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322" name="Shape 322"/>
          <p:cNvSpPr txBox="1"/>
          <p:nvPr/>
        </p:nvSpPr>
        <p:spPr>
          <a:xfrm>
            <a:off x="6705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M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7454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324" name="Shape 324"/>
          <p:cNvSpPr txBox="1"/>
          <p:nvPr/>
        </p:nvSpPr>
        <p:spPr>
          <a:xfrm>
            <a:off x="7454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</a:p>
        </p:txBody>
      </p:sp>
      <p:sp>
        <p:nvSpPr>
          <p:cNvPr id="325" name="Shape 325"/>
          <p:cNvSpPr txBox="1"/>
          <p:nvPr/>
        </p:nvSpPr>
        <p:spPr>
          <a:xfrm>
            <a:off x="8229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</p:txBody>
      </p:sp>
      <p:sp>
        <p:nvSpPr>
          <p:cNvPr id="326" name="Shape 326"/>
          <p:cNvSpPr txBox="1"/>
          <p:nvPr/>
        </p:nvSpPr>
        <p:spPr>
          <a:xfrm>
            <a:off x="8229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327" name="Shape 327"/>
          <p:cNvSpPr txBox="1"/>
          <p:nvPr/>
        </p:nvSpPr>
        <p:spPr>
          <a:xfrm>
            <a:off x="8978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328" name="Shape 328"/>
          <p:cNvSpPr txBox="1"/>
          <p:nvPr/>
        </p:nvSpPr>
        <p:spPr>
          <a:xfrm>
            <a:off x="8978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</a:p>
        </p:txBody>
      </p:sp>
      <p:sp>
        <p:nvSpPr>
          <p:cNvPr id="329" name="Shape 329"/>
          <p:cNvSpPr txBox="1"/>
          <p:nvPr/>
        </p:nvSpPr>
        <p:spPr>
          <a:xfrm>
            <a:off x="97028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</p:txBody>
      </p:sp>
      <p:sp>
        <p:nvSpPr>
          <p:cNvPr id="330" name="Shape 330"/>
          <p:cNvSpPr txBox="1"/>
          <p:nvPr/>
        </p:nvSpPr>
        <p:spPr>
          <a:xfrm>
            <a:off x="97028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104521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104521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</a:p>
        </p:txBody>
      </p:sp>
      <p:sp>
        <p:nvSpPr>
          <p:cNvPr id="333" name="Shape 333"/>
          <p:cNvSpPr txBox="1"/>
          <p:nvPr/>
        </p:nvSpPr>
        <p:spPr>
          <a:xfrm>
            <a:off x="11150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6</a:t>
            </a:r>
          </a:p>
        </p:txBody>
      </p:sp>
      <p:sp>
        <p:nvSpPr>
          <p:cNvPr id="334" name="Shape 334"/>
          <p:cNvSpPr txBox="1"/>
          <p:nvPr/>
        </p:nvSpPr>
        <p:spPr>
          <a:xfrm>
            <a:off x="11150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</a:t>
            </a:r>
          </a:p>
        </p:txBody>
      </p:sp>
      <p:sp>
        <p:nvSpPr>
          <p:cNvPr id="335" name="Shape 335"/>
          <p:cNvSpPr txBox="1"/>
          <p:nvPr/>
        </p:nvSpPr>
        <p:spPr>
          <a:xfrm>
            <a:off x="11899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7</a:t>
            </a:r>
          </a:p>
        </p:txBody>
      </p:sp>
      <p:sp>
        <p:nvSpPr>
          <p:cNvPr id="336" name="Shape 336"/>
          <p:cNvSpPr txBox="1"/>
          <p:nvPr/>
        </p:nvSpPr>
        <p:spPr>
          <a:xfrm>
            <a:off x="11899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</a:t>
            </a:r>
          </a:p>
        </p:txBody>
      </p:sp>
      <p:sp>
        <p:nvSpPr>
          <p:cNvPr id="337" name="Shape 337"/>
          <p:cNvSpPr txBox="1"/>
          <p:nvPr/>
        </p:nvSpPr>
        <p:spPr>
          <a:xfrm>
            <a:off x="126746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8</a:t>
            </a:r>
          </a:p>
        </p:txBody>
      </p:sp>
      <p:sp>
        <p:nvSpPr>
          <p:cNvPr id="338" name="Shape 338"/>
          <p:cNvSpPr txBox="1"/>
          <p:nvPr/>
        </p:nvSpPr>
        <p:spPr>
          <a:xfrm>
            <a:off x="126746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</a:t>
            </a:r>
          </a:p>
        </p:txBody>
      </p:sp>
      <p:sp>
        <p:nvSpPr>
          <p:cNvPr id="339" name="Shape 339"/>
          <p:cNvSpPr txBox="1"/>
          <p:nvPr/>
        </p:nvSpPr>
        <p:spPr>
          <a:xfrm>
            <a:off x="134239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9</a:t>
            </a:r>
          </a:p>
        </p:txBody>
      </p:sp>
      <p:sp>
        <p:nvSpPr>
          <p:cNvPr id="340" name="Shape 340"/>
          <p:cNvSpPr txBox="1"/>
          <p:nvPr/>
        </p:nvSpPr>
        <p:spPr>
          <a:xfrm>
            <a:off x="134239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h</a:t>
            </a:r>
          </a:p>
        </p:txBody>
      </p:sp>
      <p:sp>
        <p:nvSpPr>
          <p:cNvPr id="341" name="Shape 341"/>
          <p:cNvSpPr txBox="1"/>
          <p:nvPr/>
        </p:nvSpPr>
        <p:spPr>
          <a:xfrm>
            <a:off x="141478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</a:p>
        </p:txBody>
      </p:sp>
      <p:sp>
        <p:nvSpPr>
          <p:cNvPr id="342" name="Shape 342"/>
          <p:cNvSpPr txBox="1"/>
          <p:nvPr/>
        </p:nvSpPr>
        <p:spPr>
          <a:xfrm>
            <a:off x="141478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</a:t>
            </a:r>
          </a:p>
        </p:txBody>
      </p:sp>
      <p:sp>
        <p:nvSpPr>
          <p:cNvPr id="343" name="Shape 343"/>
          <p:cNvSpPr txBox="1"/>
          <p:nvPr/>
        </p:nvSpPr>
        <p:spPr>
          <a:xfrm>
            <a:off x="14897100" y="14097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11</a:t>
            </a:r>
          </a:p>
        </p:txBody>
      </p:sp>
      <p:sp>
        <p:nvSpPr>
          <p:cNvPr id="344" name="Shape 344"/>
          <p:cNvSpPr txBox="1"/>
          <p:nvPr/>
        </p:nvSpPr>
        <p:spPr>
          <a:xfrm>
            <a:off x="14897100" y="6731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</p:spTree>
  </p:cSld>
  <p:clrMapOvr>
    <a:masterClrMapping/>
  </p:clrMapOvr>
  <p:transition spd="slow"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349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String Concatenation</a:t>
            </a:r>
          </a:p>
        </p:txBody>
      </p:sp>
      <p:sp>
        <p:nvSpPr>
          <p:cNvPr id="350" name="Shape 350"/>
          <p:cNvSpPr txBox="1">
            <a:spLocks noGrp="1"/>
          </p:cNvSpPr>
          <p:nvPr>
            <p:ph type="body" idx="1"/>
          </p:nvPr>
        </p:nvSpPr>
        <p:spPr>
          <a:xfrm>
            <a:off x="1003300" y="2603500"/>
            <a:ext cx="5714999" cy="40089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When the 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+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operator is applied to strings, it means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1" i="0" u="none" strike="noStrike" cap="none" baseline="0">
                <a:solidFill>
                  <a:srgbClr val="996633"/>
                </a:solidFill>
                <a:latin typeface="Cabin"/>
                <a:ea typeface="Cabin"/>
                <a:cs typeface="Cabin"/>
                <a:sym typeface="Cabin"/>
              </a:rPr>
              <a:t>concatenation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</a:p>
        </p:txBody>
      </p:sp>
      <p:sp>
        <p:nvSpPr>
          <p:cNvPr id="351" name="Shape 351"/>
          <p:cNvSpPr txBox="1"/>
          <p:nvPr/>
        </p:nvSpPr>
        <p:spPr>
          <a:xfrm>
            <a:off x="7900200" y="3101750"/>
            <a:ext cx="71874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'Hello'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6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'There'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Using </a:t>
            </a:r>
            <a:r>
              <a:rPr lang="en-US" sz="7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as a</a:t>
            </a:r>
            <a:r>
              <a:rPr lang="en-US" sz="760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logical</a:t>
            </a: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Operator</a:t>
            </a:r>
          </a:p>
        </p:txBody>
      </p:sp>
      <p:sp>
        <p:nvSpPr>
          <p:cNvPr id="357" name="Shape 357"/>
          <p:cNvSpPr txBox="1">
            <a:spLocks noGrp="1"/>
          </p:cNvSpPr>
          <p:nvPr>
            <p:ph type="body" idx="1"/>
          </p:nvPr>
        </p:nvSpPr>
        <p:spPr>
          <a:xfrm>
            <a:off x="1155700" y="2451100"/>
            <a:ext cx="6134099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keyword can also be used to check to see if one string is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another string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in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expression is a logical expression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that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returns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True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False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can be used in an</a:t>
            </a:r>
            <a:r>
              <a:rPr lang="en-US" sz="36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 if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statement</a:t>
            </a:r>
          </a:p>
        </p:txBody>
      </p:sp>
      <p:sp>
        <p:nvSpPr>
          <p:cNvPr id="358" name="Shape 358"/>
          <p:cNvSpPr txBox="1"/>
          <p:nvPr/>
        </p:nvSpPr>
        <p:spPr>
          <a:xfrm>
            <a:off x="9255125" y="2298700"/>
            <a:ext cx="6721474" cy="6311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'banana</a:t>
            </a:r>
            <a:r>
              <a:rPr lang="en-US" sz="30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'n'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'm'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'nan'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'a'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    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'Found it!</a:t>
            </a:r>
            <a:r>
              <a:rPr lang="en-US" sz="30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Found it!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 txBox="1">
            <a:spLocks noGrp="1"/>
          </p:cNvSpPr>
          <p:nvPr>
            <p:ph type="title"/>
          </p:nvPr>
        </p:nvSpPr>
        <p:spPr>
          <a:xfrm>
            <a:off x="1231900" y="241300"/>
            <a:ext cx="13187699" cy="2057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String Library</a:t>
            </a:r>
          </a:p>
        </p:txBody>
      </p:sp>
      <p:sp>
        <p:nvSpPr>
          <p:cNvPr id="370" name="Shape 370"/>
          <p:cNvSpPr txBox="1">
            <a:spLocks noGrp="1"/>
          </p:cNvSpPr>
          <p:nvPr>
            <p:ph type="body" idx="1"/>
          </p:nvPr>
        </p:nvSpPr>
        <p:spPr>
          <a:xfrm>
            <a:off x="558800" y="2209800"/>
            <a:ext cx="7746899" cy="62357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Python has a number of string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which are in the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string library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These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are already </a:t>
            </a:r>
            <a:r>
              <a:rPr lang="en-US" sz="3400" b="0" i="1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built into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every string - we invoke them by appending the function to the string variable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These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functions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do not modify the original string, instead they return a new string that has been altered</a:t>
            </a:r>
          </a:p>
        </p:txBody>
      </p:sp>
      <p:sp>
        <p:nvSpPr>
          <p:cNvPr id="371" name="Shape 371"/>
          <p:cNvSpPr txBox="1"/>
          <p:nvPr/>
        </p:nvSpPr>
        <p:spPr>
          <a:xfrm>
            <a:off x="8484325" y="2379900"/>
            <a:ext cx="7557299" cy="5895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zap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.lower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zap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4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4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4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'Hi There'</a:t>
            </a:r>
            <a:r>
              <a:rPr lang="en-US" sz="34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.lower</a:t>
            </a: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hi there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4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</a:p>
        </p:txBody>
      </p:sp>
    </p:spTree>
  </p:cSld>
  <p:clrMapOvr>
    <a:masterClrMapping/>
  </p:clrMapOvr>
  <p:transition spd="slow"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 txBox="1"/>
          <p:nvPr/>
        </p:nvSpPr>
        <p:spPr>
          <a:xfrm>
            <a:off x="912300" y="662375"/>
            <a:ext cx="14919599" cy="8203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'Hello world</a:t>
            </a:r>
            <a:r>
              <a:rPr lang="en-US" sz="3600" b="1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 dirty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6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&lt;type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'&gt;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 dirty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dir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6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stuff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['capitalize', 'center', 'count', 'decode', 'encode',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endswith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expandtabs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'find', 'format', 'index',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isalnum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isalpha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isdigit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islower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isspace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istitle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isupper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'join',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ljust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'lower',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lstrip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'partition', 'replace',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rfind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rindex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rjust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rpartition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rsplit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rstrip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'split',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splitlines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startswith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'strip',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swapcase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', 'title', 'translate', 'upper', '</a:t>
            </a:r>
            <a:r>
              <a:rPr lang="en-US" sz="3600" b="1" i="0" u="none" strike="noStrike" cap="none" baseline="0" dirty="0" err="1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zfill</a:t>
            </a:r>
            <a:r>
              <a:rPr lang="en-US" sz="36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bin"/>
              <a:buNone/>
            </a:pPr>
            <a:endParaRPr sz="3000" b="1" dirty="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dirty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https://docs.python.org/2/library/stdtypes.html#string-methods</a:t>
            </a:r>
          </a:p>
        </p:txBody>
      </p:sp>
    </p:spTree>
  </p:cSld>
  <p:clrMapOvr>
    <a:masterClrMapping/>
  </p:clrMapOvr>
  <p:transition spd="slow"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Shape 3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500" y="1109662"/>
            <a:ext cx="13379449" cy="613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 txBox="1"/>
          <p:nvPr/>
        </p:nvSpPr>
        <p:spPr>
          <a:xfrm>
            <a:off x="1700199" y="2565400"/>
            <a:ext cx="6600600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str.capitalize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str.center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(width[, fillchar])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str.endswith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(suffix[, start[, end]])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str.find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(sub[, start[, end]])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str.lstrip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([chars])</a:t>
            </a:r>
          </a:p>
        </p:txBody>
      </p:sp>
      <p:sp>
        <p:nvSpPr>
          <p:cNvPr id="387" name="Shape 387"/>
          <p:cNvSpPr txBox="1"/>
          <p:nvPr/>
        </p:nvSpPr>
        <p:spPr>
          <a:xfrm>
            <a:off x="9080500" y="2565400"/>
            <a:ext cx="6007199" cy="4787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str.replace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(old, new[, count])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str.lower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str.rstrip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([chars])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str.strip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([chars])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str.upper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</a:t>
            </a:r>
          </a:p>
        </p:txBody>
      </p:sp>
      <p:sp>
        <p:nvSpPr>
          <p:cNvPr id="388" name="Shape 388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2000" cy="229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String Library</a:t>
            </a:r>
          </a:p>
        </p:txBody>
      </p:sp>
    </p:spTree>
  </p:cSld>
  <p:clrMapOvr>
    <a:masterClrMapping/>
  </p:clrMapOvr>
  <p:transition spd="slow"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393"/>
          <p:cNvSpPr txBox="1">
            <a:spLocks noGrp="1"/>
          </p:cNvSpPr>
          <p:nvPr>
            <p:ph type="title"/>
          </p:nvPr>
        </p:nvSpPr>
        <p:spPr>
          <a:xfrm>
            <a:off x="609600" y="241300"/>
            <a:ext cx="8305799" cy="1892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7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Searching a String</a:t>
            </a:r>
          </a:p>
        </p:txBody>
      </p:sp>
      <p:sp>
        <p:nvSpPr>
          <p:cNvPr id="394" name="Shape 394"/>
          <p:cNvSpPr txBox="1">
            <a:spLocks noGrp="1"/>
          </p:cNvSpPr>
          <p:nvPr>
            <p:ph type="body" idx="1"/>
          </p:nvPr>
        </p:nvSpPr>
        <p:spPr>
          <a:xfrm>
            <a:off x="1155700" y="2197100"/>
            <a:ext cx="7450500" cy="6108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583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We use the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 find()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 to search for a substring within another string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find()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finds the first </a:t>
            </a:r>
            <a:r>
              <a:rPr lang="en-US" sz="34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occurrence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the substring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If the substring is not found, </a:t>
            </a:r>
            <a:r>
              <a:rPr lang="en-US" sz="34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find()</a:t>
            </a:r>
            <a:r>
              <a:rPr lang="en-US" sz="34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returns </a:t>
            </a:r>
            <a:r>
              <a:rPr lang="en-US" sz="34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-1</a:t>
            </a:r>
          </a:p>
          <a:p>
            <a:pPr marL="749300" marR="0" lvl="0" indent="-3583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Cabin"/>
              <a:buChar char="•"/>
            </a:pPr>
            <a:r>
              <a:rPr lang="en-US" sz="3400" b="0" i="0" u="none" strike="noStrike" cap="none" baseline="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Remember that string position starts at zero</a:t>
            </a:r>
          </a:p>
        </p:txBody>
      </p:sp>
      <p:sp>
        <p:nvSpPr>
          <p:cNvPr id="395" name="Shape 395"/>
          <p:cNvSpPr txBox="1"/>
          <p:nvPr/>
        </p:nvSpPr>
        <p:spPr>
          <a:xfrm>
            <a:off x="9677400" y="3986200"/>
            <a:ext cx="6246600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'banana'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pos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fruit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.find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'na'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pos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aa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fruit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.find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'z'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aa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</a:p>
        </p:txBody>
      </p:sp>
      <p:cxnSp>
        <p:nvCxnSpPr>
          <p:cNvPr id="396" name="Shape 396"/>
          <p:cNvCxnSpPr/>
          <p:nvPr/>
        </p:nvCxnSpPr>
        <p:spPr>
          <a:xfrm rot="10800000">
            <a:off x="10302875" y="1084261"/>
            <a:ext cx="1400174" cy="692149"/>
          </a:xfrm>
          <a:prstGeom prst="straightConnector1">
            <a:avLst/>
          </a:prstGeom>
          <a:noFill/>
          <a:ln w="63500" cap="rnd" cmpd="sng">
            <a:solidFill>
              <a:srgbClr val="FFFF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97" name="Shape 397"/>
          <p:cNvSpPr txBox="1"/>
          <p:nvPr/>
        </p:nvSpPr>
        <p:spPr>
          <a:xfrm>
            <a:off x="97663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</a:p>
        </p:txBody>
      </p:sp>
      <p:sp>
        <p:nvSpPr>
          <p:cNvPr id="398" name="Shape 398"/>
          <p:cNvSpPr txBox="1"/>
          <p:nvPr/>
        </p:nvSpPr>
        <p:spPr>
          <a:xfrm>
            <a:off x="97663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</a:p>
        </p:txBody>
      </p:sp>
      <p:sp>
        <p:nvSpPr>
          <p:cNvPr id="399" name="Shape 399"/>
          <p:cNvSpPr txBox="1"/>
          <p:nvPr/>
        </p:nvSpPr>
        <p:spPr>
          <a:xfrm>
            <a:off x="105156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</a:p>
        </p:txBody>
      </p:sp>
      <p:sp>
        <p:nvSpPr>
          <p:cNvPr id="400" name="Shape 400"/>
          <p:cNvSpPr txBox="1"/>
          <p:nvPr/>
        </p:nvSpPr>
        <p:spPr>
          <a:xfrm>
            <a:off x="105156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401" name="Shape 401"/>
          <p:cNvSpPr txBox="1"/>
          <p:nvPr/>
        </p:nvSpPr>
        <p:spPr>
          <a:xfrm>
            <a:off x="112903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</a:p>
        </p:txBody>
      </p:sp>
      <p:sp>
        <p:nvSpPr>
          <p:cNvPr id="402" name="Shape 402"/>
          <p:cNvSpPr txBox="1"/>
          <p:nvPr/>
        </p:nvSpPr>
        <p:spPr>
          <a:xfrm>
            <a:off x="112903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403" name="Shape 403"/>
          <p:cNvSpPr txBox="1"/>
          <p:nvPr/>
        </p:nvSpPr>
        <p:spPr>
          <a:xfrm>
            <a:off x="120396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</a:p>
        </p:txBody>
      </p:sp>
      <p:sp>
        <p:nvSpPr>
          <p:cNvPr id="404" name="Shape 404"/>
          <p:cNvSpPr txBox="1"/>
          <p:nvPr/>
        </p:nvSpPr>
        <p:spPr>
          <a:xfrm>
            <a:off x="120396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  <p:sp>
        <p:nvSpPr>
          <p:cNvPr id="405" name="Shape 405"/>
          <p:cNvSpPr txBox="1"/>
          <p:nvPr/>
        </p:nvSpPr>
        <p:spPr>
          <a:xfrm>
            <a:off x="127635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</a:p>
        </p:txBody>
      </p:sp>
      <p:sp>
        <p:nvSpPr>
          <p:cNvPr id="406" name="Shape 406"/>
          <p:cNvSpPr txBox="1"/>
          <p:nvPr/>
        </p:nvSpPr>
        <p:spPr>
          <a:xfrm>
            <a:off x="127635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n</a:t>
            </a:r>
          </a:p>
        </p:txBody>
      </p:sp>
      <p:sp>
        <p:nvSpPr>
          <p:cNvPr id="407" name="Shape 407"/>
          <p:cNvSpPr txBox="1"/>
          <p:nvPr/>
        </p:nvSpPr>
        <p:spPr>
          <a:xfrm>
            <a:off x="13512800" y="2857500"/>
            <a:ext cx="736599" cy="73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</a:p>
        </p:txBody>
      </p:sp>
      <p:sp>
        <p:nvSpPr>
          <p:cNvPr id="408" name="Shape 408"/>
          <p:cNvSpPr txBox="1"/>
          <p:nvPr/>
        </p:nvSpPr>
        <p:spPr>
          <a:xfrm>
            <a:off x="13512800" y="2120900"/>
            <a:ext cx="736599" cy="736599"/>
          </a:xfrm>
          <a:prstGeom prst="rect">
            <a:avLst/>
          </a:prstGeom>
          <a:noFill/>
          <a:ln w="50800" cap="rnd" cmpd="sng">
            <a:solidFill>
              <a:srgbClr val="FF7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0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</a:t>
            </a:r>
          </a:p>
        </p:txBody>
      </p:sp>
    </p:spTree>
  </p:cSld>
  <p:clrMapOvr>
    <a:masterClrMapping/>
  </p:clrMapOvr>
  <p:transition spd="slow"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413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Making everything </a:t>
            </a:r>
            <a:r>
              <a:rPr lang="en-US" sz="7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UPPER CASE</a:t>
            </a:r>
          </a:p>
        </p:txBody>
      </p:sp>
      <p:sp>
        <p:nvSpPr>
          <p:cNvPr id="414" name="Shape 414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7308000" cy="52295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You can make a copy of a string in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lower case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or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upper case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Often when we are searching for a string using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find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() - we first convert the string to lower case so we can search a string regardless of case</a:t>
            </a:r>
          </a:p>
        </p:txBody>
      </p:sp>
      <p:sp>
        <p:nvSpPr>
          <p:cNvPr id="415" name="Shape 415"/>
          <p:cNvSpPr txBox="1"/>
          <p:nvPr/>
        </p:nvSpPr>
        <p:spPr>
          <a:xfrm>
            <a:off x="9317825" y="3232150"/>
            <a:ext cx="6689699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nnn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.upper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nnn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www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.lower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www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bob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Shape 420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Search and Replace</a:t>
            </a:r>
          </a:p>
        </p:txBody>
      </p:sp>
      <p:sp>
        <p:nvSpPr>
          <p:cNvPr id="421" name="Shape 421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4978399" cy="57022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replace()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function is like a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search and replace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operation in a word processor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It replaces 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all occurrences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of the </a:t>
            </a: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search string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with the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replacement string</a:t>
            </a:r>
          </a:p>
        </p:txBody>
      </p:sp>
      <p:sp>
        <p:nvSpPr>
          <p:cNvPr id="422" name="Shape 422"/>
          <p:cNvSpPr txBox="1"/>
          <p:nvPr/>
        </p:nvSpPr>
        <p:spPr>
          <a:xfrm>
            <a:off x="7366000" y="3516300"/>
            <a:ext cx="8889899" cy="38765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greet = 'Hello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Bob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nstr = greet.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replace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'Bob'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'Jane'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nstr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Hello 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Jane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nstr = greet.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replace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'o'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'X'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nstr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Hell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B</a:t>
            </a:r>
            <a:r>
              <a:rPr lang="en-US" sz="3000" b="1" i="0" u="none" strike="noStrike" cap="none" baseline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hape 427"/>
          <p:cNvSpPr txBox="1">
            <a:spLocks noGrp="1"/>
          </p:cNvSpPr>
          <p:nvPr>
            <p:ph type="title"/>
          </p:nvPr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Stripping Whitespace</a:t>
            </a:r>
          </a:p>
        </p:txBody>
      </p:sp>
      <p:sp>
        <p:nvSpPr>
          <p:cNvPr id="428" name="Shape 428"/>
          <p:cNvSpPr txBox="1">
            <a:spLocks noGrp="1"/>
          </p:cNvSpPr>
          <p:nvPr>
            <p:ph type="body" idx="1"/>
          </p:nvPr>
        </p:nvSpPr>
        <p:spPr>
          <a:xfrm>
            <a:off x="927100" y="2603500"/>
            <a:ext cx="7353600" cy="57023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533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Sometimes we want to take a string and remove whitespace at the beginning and/or end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lstrip()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rstrip()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remove whitespace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at 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the left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or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right</a:t>
            </a:r>
          </a:p>
          <a:p>
            <a:pPr marL="749300" marR="0" lvl="0" indent="-53340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FF00FF"/>
              </a:buClr>
              <a:buSzPct val="171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strip() 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</a:t>
            </a: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emoves both beginning and ending whitespace</a:t>
            </a:r>
          </a:p>
        </p:txBody>
      </p:sp>
      <p:sp>
        <p:nvSpPr>
          <p:cNvPr id="429" name="Shape 429"/>
          <p:cNvSpPr txBox="1"/>
          <p:nvPr/>
        </p:nvSpPr>
        <p:spPr>
          <a:xfrm>
            <a:off x="8818275" y="3244850"/>
            <a:ext cx="6863400" cy="443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30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 '   Hello Bob  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.lstrip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'Hello Bob  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.rstrip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   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0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greet</a:t>
            </a:r>
            <a:r>
              <a:rPr lang="en-US" sz="30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.strip</a:t>
            </a: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'Hello Bob'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</a:p>
        </p:txBody>
      </p:sp>
    </p:spTree>
  </p:cSld>
  <p:clrMapOvr>
    <a:masterClrMapping/>
  </p:clrMapOvr>
  <p:transition spd="slow"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Shape 434"/>
          <p:cNvSpPr txBox="1"/>
          <p:nvPr/>
        </p:nvSpPr>
        <p:spPr>
          <a:xfrm>
            <a:off x="1411262" y="3422650"/>
            <a:ext cx="13010700" cy="2768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'Please have a nice day</a:t>
            </a:r>
            <a:r>
              <a:rPr lang="en-US" sz="3600" b="1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'Please'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3600" b="1" i="0" u="none" strike="noStrike" cap="none" baseline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en-US" sz="3600" b="1" i="0" u="none" strike="noStrike" cap="none" baseline="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.startswith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3600" b="1" i="0" u="none" strike="noStrike" cap="none" baseline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'p'</a:t>
            </a: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b="1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</a:p>
        </p:txBody>
      </p:sp>
      <p:sp>
        <p:nvSpPr>
          <p:cNvPr id="435" name="Shape 435"/>
          <p:cNvSpPr txBox="1"/>
          <p:nvPr/>
        </p:nvSpPr>
        <p:spPr>
          <a:xfrm>
            <a:off x="1155700" y="241300"/>
            <a:ext cx="13931900" cy="22986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Prefixes</a:t>
            </a:r>
          </a:p>
        </p:txBody>
      </p:sp>
    </p:spTree>
  </p:cSld>
  <p:clrMapOvr>
    <a:masterClrMapping/>
  </p:clrMapOvr>
  <p:transition spd="slow"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Shape 440"/>
          <p:cNvSpPr txBox="1"/>
          <p:nvPr/>
        </p:nvSpPr>
        <p:spPr>
          <a:xfrm>
            <a:off x="832600" y="3383450"/>
            <a:ext cx="15316200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'From stephen.marquard@uct.ac.za Sat Jan  5 09:14:16 2008</a:t>
            </a:r>
            <a:r>
              <a:rPr lang="en-US" sz="2800" b="1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 dirty="0" err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.find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800" b="1" i="0" u="none" strike="noStrike" cap="none" baseline="0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'@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endParaRPr lang="en-US" sz="2800" b="1" i="0" u="none" strike="noStrike" cap="none" baseline="0" dirty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sppos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 dirty="0" err="1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.find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2800" b="1" i="0" u="none" strike="noStrike" cap="none" baseline="0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' '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sppos</a:t>
            </a:r>
            <a:endParaRPr lang="en-US" sz="2800" b="1" i="0" u="none" strike="noStrike" cap="none" baseline="0" dirty="0">
              <a:solidFill>
                <a:srgbClr val="00FF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31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host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US" sz="28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-US" sz="2800" b="1" i="0" u="none" strike="noStrike" cap="none" baseline="0" dirty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28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atpos</a:t>
            </a:r>
            <a:r>
              <a:rPr lang="en-US" sz="2800" b="1" i="0" u="none" strike="noStrike" cap="none" baseline="0" dirty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US" sz="2800" b="1" i="0" u="none" strike="noStrike" cap="none" baseline="0" dirty="0">
                <a:solidFill>
                  <a:srgbClr val="FF7F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800" b="1" i="0" u="none" strike="noStrike" cap="none" baseline="0" dirty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en-US" sz="2800" b="1" i="0" u="none" strike="noStrike" cap="none" baseline="0" dirty="0" err="1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sppos</a:t>
            </a:r>
            <a:r>
              <a:rPr lang="en-US" sz="2800" b="1" i="0" u="none" strike="noStrike" cap="none" baseline="0" dirty="0">
                <a:solidFill>
                  <a:srgbClr val="00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lang="en-US" sz="2800" b="1" i="0" u="none" strike="noStrike" cap="none" baseline="0" dirty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800" b="1" i="0" u="none" strike="noStrike" cap="none" baseline="0" dirty="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host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b="1" i="0" u="none" strike="noStrike" cap="none" baseline="0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uct.ac.za</a:t>
            </a:r>
          </a:p>
        </p:txBody>
      </p:sp>
      <p:sp>
        <p:nvSpPr>
          <p:cNvPr id="441" name="Shape 441"/>
          <p:cNvSpPr txBox="1"/>
          <p:nvPr/>
        </p:nvSpPr>
        <p:spPr>
          <a:xfrm>
            <a:off x="1016000" y="2749550"/>
            <a:ext cx="14649899" cy="673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Arial"/>
              <a:buNone/>
            </a:pP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From stephen.marquard</a:t>
            </a:r>
            <a:r>
              <a:rPr lang="en-US" sz="3000" b="0" i="0" u="none" strike="noStrike" cap="none" baseline="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@</a:t>
            </a:r>
            <a:r>
              <a:rPr lang="en-US" sz="3000" b="0" i="0" u="none" strike="noStrike" cap="none" baseline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uct.ac.za Sat Jan  5 09:14:16 2008</a:t>
            </a:r>
          </a:p>
        </p:txBody>
      </p:sp>
      <p:sp>
        <p:nvSpPr>
          <p:cNvPr id="442" name="Shape 442"/>
          <p:cNvSpPr txBox="1"/>
          <p:nvPr/>
        </p:nvSpPr>
        <p:spPr>
          <a:xfrm>
            <a:off x="5599987" y="1764575"/>
            <a:ext cx="537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21</a:t>
            </a:r>
          </a:p>
        </p:txBody>
      </p:sp>
      <p:sp>
        <p:nvSpPr>
          <p:cNvPr id="443" name="Shape 443"/>
          <p:cNvSpPr txBox="1"/>
          <p:nvPr/>
        </p:nvSpPr>
        <p:spPr>
          <a:xfrm>
            <a:off x="7917521" y="1816100"/>
            <a:ext cx="537300" cy="6221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b="0" i="0" u="none" strike="noStrike" cap="none" baseline="0">
                <a:solidFill>
                  <a:srgbClr val="00FF00"/>
                </a:solidFill>
                <a:latin typeface="Cabin"/>
                <a:ea typeface="Cabin"/>
                <a:cs typeface="Cabin"/>
                <a:sym typeface="Cabin"/>
              </a:rPr>
              <a:t>31</a:t>
            </a:r>
          </a:p>
        </p:txBody>
      </p:sp>
      <p:cxnSp>
        <p:nvCxnSpPr>
          <p:cNvPr id="444" name="Shape 444"/>
          <p:cNvCxnSpPr/>
          <p:nvPr/>
        </p:nvCxnSpPr>
        <p:spPr>
          <a:xfrm rot="10800000">
            <a:off x="5859764" y="2395399"/>
            <a:ext cx="17700" cy="3731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5" name="Shape 445"/>
          <p:cNvCxnSpPr/>
          <p:nvPr/>
        </p:nvCxnSpPr>
        <p:spPr>
          <a:xfrm rot="10800000">
            <a:off x="8180110" y="2476361"/>
            <a:ext cx="16499" cy="373199"/>
          </a:xfrm>
          <a:prstGeom prst="straightConnector1">
            <a:avLst/>
          </a:prstGeom>
          <a:noFill/>
          <a:ln w="508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46" name="Shape 446"/>
          <p:cNvCxnSpPr/>
          <p:nvPr/>
        </p:nvCxnSpPr>
        <p:spPr>
          <a:xfrm rot="10800000" flipH="1">
            <a:off x="6116450" y="3362449"/>
            <a:ext cx="1877699" cy="17700"/>
          </a:xfrm>
          <a:prstGeom prst="straightConnector1">
            <a:avLst/>
          </a:prstGeom>
          <a:noFill/>
          <a:ln w="76200" cap="rnd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47" name="Shape 447"/>
          <p:cNvSpPr txBox="1"/>
          <p:nvPr/>
        </p:nvSpPr>
        <p:spPr>
          <a:xfrm>
            <a:off x="3708647" y="258800"/>
            <a:ext cx="87837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60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Parsing and Extracting</a:t>
            </a:r>
          </a:p>
        </p:txBody>
      </p:sp>
    </p:spTree>
  </p:cSld>
  <p:clrMapOvr>
    <a:masterClrMapping/>
  </p:clrMapOvr>
  <p:transition spd="slow"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492"/>
          <p:cNvSpPr txBox="1">
            <a:spLocks noGrp="1"/>
          </p:cNvSpPr>
          <p:nvPr>
            <p:ph type="title"/>
          </p:nvPr>
        </p:nvSpPr>
        <p:spPr>
          <a:xfrm>
            <a:off x="1917700" y="469900"/>
            <a:ext cx="11438100" cy="18924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b="0" i="0" u="none" strike="noStrike" cap="none" baseline="0">
                <a:solidFill>
                  <a:srgbClr val="FF00FF"/>
                </a:solidFill>
                <a:latin typeface="Cabin"/>
                <a:ea typeface="Cabin"/>
                <a:cs typeface="Cabin"/>
                <a:sym typeface="Cabin"/>
              </a:rPr>
              <a:t>Summary</a:t>
            </a:r>
          </a:p>
        </p:txBody>
      </p:sp>
      <p:sp>
        <p:nvSpPr>
          <p:cNvPr id="493" name="Shape 493"/>
          <p:cNvSpPr txBox="1">
            <a:spLocks noGrp="1"/>
          </p:cNvSpPr>
          <p:nvPr>
            <p:ph type="body" idx="1"/>
          </p:nvPr>
        </p:nvSpPr>
        <p:spPr>
          <a:xfrm>
            <a:off x="1073775" y="2514450"/>
            <a:ext cx="6628799" cy="58239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String type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Read/Convert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Indexing strings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[]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Slicing strings 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[</a:t>
            </a:r>
            <a:r>
              <a:rPr lang="en-US" sz="3600" b="0" i="0" u="none" strike="noStrike" cap="none" baseline="0">
                <a:solidFill>
                  <a:srgbClr val="FF7F00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US" sz="3600" b="0" i="0" u="none" strike="noStrike" cap="none" baseline="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:4]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Looping through strings </a:t>
            </a:r>
            <a:b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with </a:t>
            </a:r>
            <a:r>
              <a:rPr lang="en-US" sz="36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for</a:t>
            </a: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 and </a:t>
            </a:r>
            <a:r>
              <a:rPr lang="en-US" sz="3600">
                <a:solidFill>
                  <a:srgbClr val="FFFF00"/>
                </a:solidFill>
                <a:latin typeface="Cabin"/>
                <a:ea typeface="Cabin"/>
                <a:cs typeface="Cabin"/>
                <a:sym typeface="Cabin"/>
              </a:rPr>
              <a:t>while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Concatenating strings with  </a:t>
            </a:r>
            <a:r>
              <a:rPr lang="en-US" sz="3600">
                <a:solidFill>
                  <a:srgbClr val="00FFFF"/>
                </a:solidFill>
                <a:latin typeface="Cabin"/>
                <a:ea typeface="Cabin"/>
                <a:cs typeface="Cabin"/>
                <a:sym typeface="Cabin"/>
              </a:rPr>
              <a:t>+</a:t>
            </a:r>
          </a:p>
        </p:txBody>
      </p:sp>
      <p:sp>
        <p:nvSpPr>
          <p:cNvPr id="494" name="Shape 494"/>
          <p:cNvSpPr txBox="1">
            <a:spLocks noGrp="1"/>
          </p:cNvSpPr>
          <p:nvPr>
            <p:ph type="body" idx="2"/>
          </p:nvPr>
        </p:nvSpPr>
        <p:spPr>
          <a:xfrm>
            <a:off x="8065875" y="2514450"/>
            <a:ext cx="7145100" cy="5627099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baseline="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String operations 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String library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String Comparisons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Searching in strings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Replacing text</a:t>
            </a:r>
          </a:p>
          <a:p>
            <a:pPr marL="685800" marR="0" lvl="0" indent="-329311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rPr>
              <a:t>Stripping white space</a:t>
            </a:r>
          </a:p>
        </p:txBody>
      </p:sp>
    </p:spTree>
  </p:cSld>
  <p:clrMapOvr>
    <a:masterClrMapping/>
  </p:clrMapOvr>
  <p:transition spd="slow"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35112" y="251520"/>
            <a:ext cx="108732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Chapter 6 : Finished</a:t>
            </a:r>
          </a:p>
          <a:p>
            <a:endParaRPr lang="en-US" sz="8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10000208" y="7209001"/>
            <a:ext cx="69847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 smtClean="0"/>
              <a:t>Any Doubt?</a:t>
            </a:r>
            <a:endParaRPr lang="en-US" sz="8000" b="1" dirty="0"/>
          </a:p>
        </p:txBody>
      </p:sp>
      <p:pic>
        <p:nvPicPr>
          <p:cNvPr id="1026" name="Picture 2" descr="C:\Users\ATUL one\Desktop\Do_the_Ed_dance.gif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71416" y="971600"/>
            <a:ext cx="4596699" cy="846760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itle &amp; Bullets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FF00FF"/>
      </a:accent1>
      <a:accent2>
        <a:srgbClr val="333399"/>
      </a:accent2>
      <a:accent3>
        <a:srgbClr val="AAAAAA"/>
      </a:accent3>
      <a:accent4>
        <a:srgbClr val="DADADA"/>
      </a:accent4>
      <a:accent5>
        <a:srgbClr val="FFAAF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itle &amp; Bullets - 2 Column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1810</Words>
  <Application>Microsoft Office PowerPoint</Application>
  <PresentationFormat>Custom</PresentationFormat>
  <Paragraphs>420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Cabin</vt:lpstr>
      <vt:lpstr>Courier New</vt:lpstr>
      <vt:lpstr>Title &amp; Subtitle</vt:lpstr>
      <vt:lpstr>1_Title &amp; Bullets</vt:lpstr>
      <vt:lpstr>2_Title &amp; Bullets</vt:lpstr>
      <vt:lpstr>Title &amp; Bullets - 2 Column</vt:lpstr>
      <vt:lpstr>Strings</vt:lpstr>
      <vt:lpstr>String Data Type</vt:lpstr>
      <vt:lpstr>Reading and Converting</vt:lpstr>
      <vt:lpstr>Looking Inside Strings</vt:lpstr>
      <vt:lpstr>A Character Too Far</vt:lpstr>
      <vt:lpstr>Strings Have Length</vt:lpstr>
      <vt:lpstr>Len Function</vt:lpstr>
      <vt:lpstr>Len Function</vt:lpstr>
      <vt:lpstr>Looping Through Strings</vt:lpstr>
      <vt:lpstr>Looping Through Strings</vt:lpstr>
      <vt:lpstr>Looping Through Strings</vt:lpstr>
      <vt:lpstr>Looping and Counting</vt:lpstr>
      <vt:lpstr>Looking deeper into in</vt:lpstr>
      <vt:lpstr>Slide 14</vt:lpstr>
      <vt:lpstr>Slicing Strings</vt:lpstr>
      <vt:lpstr>Slicing Strings</vt:lpstr>
      <vt:lpstr>String Concatenation</vt:lpstr>
      <vt:lpstr>Using in as a logical Operator</vt:lpstr>
      <vt:lpstr>String Library</vt:lpstr>
      <vt:lpstr>Slide 20</vt:lpstr>
      <vt:lpstr>Slide 21</vt:lpstr>
      <vt:lpstr>String Library</vt:lpstr>
      <vt:lpstr>Searching a String</vt:lpstr>
      <vt:lpstr>Making everything UPPER CASE</vt:lpstr>
      <vt:lpstr>Search and Replace</vt:lpstr>
      <vt:lpstr>Stripping Whitespace</vt:lpstr>
      <vt:lpstr>Slide 27</vt:lpstr>
      <vt:lpstr>Slide 28</vt:lpstr>
      <vt:lpstr>Summary</vt:lpstr>
      <vt:lpstr>Slide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Strings</dc:title>
  <cp:lastModifiedBy>Atul Ghumade</cp:lastModifiedBy>
  <cp:revision>8</cp:revision>
  <dcterms:modified xsi:type="dcterms:W3CDTF">2015-09-11T18:09:54Z</dcterms:modified>
</cp:coreProperties>
</file>